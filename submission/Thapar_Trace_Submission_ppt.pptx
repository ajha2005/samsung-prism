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8" r:id="rId3"/>
    <p:sldId id="259" r:id="rId4"/>
    <p:sldId id="260" r:id="rId5"/>
    <p:sldId id="261" r:id="rId6"/>
    <p:sldId id="262" r:id="rId7"/>
    <p:sldId id="263" r:id="rId8"/>
    <p:sldId id="264" r:id="rId9"/>
    <p:sldId id="265" r:id="rId10"/>
    <p:sldId id="266" r:id="rId11"/>
    <p:sldId id="271" r:id="rId12"/>
    <p:sldId id="27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4E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5" d="100"/>
          <a:sy n="85" d="100"/>
        </p:scale>
        <p:origin x="590"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2CE9A8C-3F50-49F8-A835-316C22A1110D}" type="datetimeFigureOut">
              <a:rPr lang="en-IN" smtClean="0"/>
              <a:t>08-09-2026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3343F9-2D09-4642-A3BD-5BF627A067F3}" type="slidenum">
              <a:rPr lang="en-IN" smtClean="0"/>
              <a:t>‹#›</a:t>
            </a:fld>
            <a:endParaRPr lang="en-IN"/>
          </a:p>
        </p:txBody>
      </p:sp>
    </p:spTree>
    <p:extLst>
      <p:ext uri="{BB962C8B-B14F-4D97-AF65-F5344CB8AC3E}">
        <p14:creationId xmlns:p14="http://schemas.microsoft.com/office/powerpoint/2010/main" val="569163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slide for the 3rd edition of the PRISM Generative AI Hackathon. Replace the SAMSUNG PRISM pill with the official PRISM logo image if you have the asset. Confirm the academic year label (2026-27) before circulating.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Add the Google Form URL and a contact email before sharing. Edition 2 organising team for reference: Language AI - Sourabh Tiwari, Gaurav, Sanjeeth Pothireddy, Gorang Maniar; PRISM - Binny Lakra, Prakhar Chandrakar, Vishu Kumar; Kick-off and mentors - Giridhar Jakki, Deepraj Prabhakar Patkar (Language AI), Srimanu Prasad Nagaraju, Ashish Kumar (Tech Strategy).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One-sentence framing: given a natural-language query and a library of code snippets, return them ranked by relevance. Pure retrieval, no generation. Screening is a leaderboard on the CoIR AppsRetrieval test split, scored by MTEB with NDCG@10 and MRR — the outcome is a number, not a vote. The three constraints below aren't limitations we work around; they define the shape of the problem we're solving.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Two-column contrast: what most teams reach for on the left, and where each of those choices actually falls apart on AppsRetrieval on the right. Note the cross-version gap — the P1 requirement isn't optional and it's usually bolted on at the end; we designed the index versioned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CPU-friendly embedding model at the center, picked by measurement (submitted: e5-base-v2 with its query:/passage: prefixes, 512-token window). Query path: preprocess + code-flavored HyDE. Snippet path: preprocess + optional multi-view (raw + AST-normalized + identifier bag) fused into one vector so the system stays a pure MTEB encoder. Score merges the two, with optional cross-version disambiguation for near-duplicate versions of the same snippet.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shows retrieval working on real behavioral queries — 'find two numbers that sum to a target', 'detect if a string is a palindrome' — with the right snippet ranked first in every case. This is the offline demo (hashing backend, no downloads), so the latency shown is that backend's: sub-millisecond per query. The pipeline and ranking code are the same ones the leaderboard run uses; the submitted model swaps in by config. No LLM in the ranking loop.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Kept deliberately boring. Core ML: PyTorch CPU, sentence-transformers, MTEB as the official scorer — the same one the leaderboard uses. Retrieval signals: NumPy for dense scoring, rank-bm25 for sparse, Python's own ast module for structural normalization (no third-party parser). Reproducibility: Docker for one-command runs, 78 offline tests, and a GitHub-Actions-ready CLI. Nothing exotic; everything runs where the judges will run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concrete places this pays off. Onboarding: search behavior, not memorized names. Agentic coding: a fast retrieval step an AI agent calls before generating. Review/audit: find every place a pattern appears, not just a text match. Legacy modernization: compare behavior across historical versions — the P1 use case.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Submitted: e5-base-v2 with its query:/passage: prefixes and a 512-token window, NDCG@10 = 0.1151, MRR@10 = 0.0986 on the real CoIR AppsRetrieval test split via MTEB — +73.9% over the MiniLM baseline (0.0662). Ten configs measured, one kept. The pipeline differentiators on the left all lost to baseline on MiniLM — multi-view (−22%), HyDE (−6%), front-load keywords (−2.4%) — and so did every code-specialized model: UniXcoder (−34.5%), CodeSearchNet (−50%). What won was a stronger general model: mpnet (+30.1% at 512 tokens), then e5-base-v2, the same size but trained for query→passage retrieval (+33.7% over mpnet). Limitations up front: larger models are untested within the CPU budget, and the dropped features haven't been re-measured on e5.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 from ten real ablations: the gains came from picking a stronger general retrieval model — e5-base-v2, trained for query→passage retrieval, beat a same-size sentence-similarity model by a third — while every code-specialized swap lost. Next steps: re-test HyDE, multi-view and front-loading on top of e5; try e5-large-v2 within the CPU budget; then validate cross-version retrieval on real multi-version repositories — every step still measured against the current best.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separates this submission: we verified the full MTEB scoring path end-to-end on our own local synthetic task before trusting a number on the real split (our metrics match MTEB's trec_eval to 1e-4). Every feature is logged config → NDCG@10 → MRR → kept/dropped, so nothing ships on a hunch. The index is versioned from day one, not bolted on. Limitations are reported next to results, on purpose.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CFE64-7CE6-4299-B8FE-939866A3EB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9E4360C-492F-4E2E-B967-599B2BD31D7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6870CDB-78C3-4602-B35C-A826CBF20916}"/>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585EF81-E96A-4C8D-A4F0-A9DF05C49CC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9FA2448-68BE-42AE-8001-48ECE62DC431}"/>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5512066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C5E08-CE8A-45BE-8C3E-C04A49CC8A6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5FCCB0C-95AB-4F7A-955D-2DC18750BF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96DA85-2FDE-4136-B9F6-AF0965475E5A}"/>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299B0367-ACE7-48B9-82C8-A7BFD1F98E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09A210-6017-4F71-9E78-B2C329B4A7E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58124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AE6C5-6752-4963-B842-280808B201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FEA6DFC-697D-4605-86C0-8572E022BEC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341469-A18C-498E-BACC-28BCBFE904BB}"/>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AED5D3B-1983-426F-A1AE-7470C43BB0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135ABB1-45F2-4FEA-BB5A-3B053892DBC7}"/>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026530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3F4AE-F142-401B-A5D1-4A52FF92CA0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C7C9BD1-2876-4C52-83CF-1CBA9D931B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CE624D8-76A7-478F-ACA3-5749DEFD0E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F29A939-0957-4E96-B38D-0B2E39D4137F}"/>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C89D44E1-B8BA-490F-B30A-538CC4D48FF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84BB79-7CA5-414E-B5B6-6A8E9AEE4A94}"/>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74354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86CE8-8BA4-4FB1-ACAA-E38F8ED7F74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2570902-F321-482A-924A-FF9A87CA5D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85B6F67-E437-4FE8-851B-B016F33CFE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7CE7897-2D17-49F8-8762-68F8D5794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3AE8E8-43BB-400D-8934-6D6B21D3A58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FDB6608-03F3-45EF-80BD-C6E305C07128}"/>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8" name="Footer Placeholder 7">
            <a:extLst>
              <a:ext uri="{FF2B5EF4-FFF2-40B4-BE49-F238E27FC236}">
                <a16:creationId xmlns:a16="http://schemas.microsoft.com/office/drawing/2014/main" id="{E665D75D-3AD4-4D0E-A5BC-9000973FD8E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706A546-DC61-467F-A112-3AC0277BB9A8}"/>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716692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C8549-E392-4F05-B762-B5370E51C92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1059880-A67D-4A24-9138-E937AE75075F}"/>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4" name="Footer Placeholder 3">
            <a:extLst>
              <a:ext uri="{FF2B5EF4-FFF2-40B4-BE49-F238E27FC236}">
                <a16:creationId xmlns:a16="http://schemas.microsoft.com/office/drawing/2014/main" id="{01BF6EC7-BFAB-4137-9343-C66B7829AB5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8FA6B929-B579-4261-8171-35357AE9A33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3372945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BAFEDF-BA35-4A7C-9388-604C048D57D0}"/>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3" name="Footer Placeholder 2">
            <a:extLst>
              <a:ext uri="{FF2B5EF4-FFF2-40B4-BE49-F238E27FC236}">
                <a16:creationId xmlns:a16="http://schemas.microsoft.com/office/drawing/2014/main" id="{11C80271-5700-43CC-A9BA-B2AAB47B214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EA712EA-BE6D-4AE5-B09E-215DE5B0EE9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759072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A6235-A416-4C23-BE8E-8FC1CF0EC1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4A2C36B-7DDF-4371-9F0A-6E5B64554F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13FA19A-E15E-47EA-B9B9-5F7FD0AA0B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E84724-CA93-4332-A03F-0909AC5249AD}"/>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E403302F-D853-499A-BB91-3BD5366E677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34AD427-BF9D-4A47-AF08-E4983B90C65A}"/>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4041188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1B540-7747-44F5-A3A4-69F051F363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A4392B5-0943-4B18-9708-C9FA86F835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47DFA04-BB4C-4DC0-9831-EB32549F5E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01BDBD-01E1-44D7-AB93-513FF196A2C4}"/>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D87D7BDB-9CCD-44F3-A4FB-D4BAE589BE3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ABC8D8A-A70C-4D57-8271-DCF5EEFC33AE}"/>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122362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A63EB-C66D-4D2D-9928-25D57CFDCDD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D91A17B-5319-4265-82A2-5D286CFAFD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E972F85-7902-4426-947E-3509F7A06CB1}"/>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D08658F-7DA3-40F3-B6FA-CF740F858EB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6B0DE9-130B-4DA8-9A0C-06A295C9D82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4819505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54594E2-CBC8-4A0C-A110-E3B5A301CF6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CFBD2EA-CB7C-4CAB-855D-57F79191044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2348B0-3CBB-41FA-A8EC-5DFC833D7ECD}"/>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1A7E08DA-D399-4DC8-89B1-C4EBC64DC9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DA6177-D647-4C5F-BA43-C02A1390F47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8146870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634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E67A62-7E64-4BE9-8EDF-4904E871A04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8CA73B9-1A82-4479-978C-9C873CC677B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9977FC6-3D78-48A7-A3DB-BFC7C0EA3E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27CDC877-1137-446E-919A-C66E313317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A258D39-C9B6-4DA9-9C05-38A0ECD4CE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5B04A4-2082-4D7E-8466-9BA22C990A78}" type="slidenum">
              <a:rPr lang="en-IN" smtClean="0"/>
              <a:t>‹#›</a:t>
            </a:fld>
            <a:endParaRPr lang="en-IN"/>
          </a:p>
        </p:txBody>
      </p:sp>
    </p:spTree>
    <p:extLst>
      <p:ext uri="{BB962C8B-B14F-4D97-AF65-F5344CB8AC3E}">
        <p14:creationId xmlns:p14="http://schemas.microsoft.com/office/powerpoint/2010/main" val="3279178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77240" y="676656"/>
            <a:ext cx="2423160" cy="347472"/>
          </a:xfrm>
          <a:prstGeom prst="roundRect">
            <a:avLst>
              <a:gd name="adj" fmla="val 50000"/>
            </a:avLst>
          </a:prstGeom>
          <a:solidFill>
            <a:srgbClr val="FFFFFF"/>
          </a:solidFill>
          <a:ln w="12700">
            <a:solidFill>
              <a:srgbClr val="D9D3F0"/>
            </a:solidFill>
            <a:prstDash val="solid"/>
          </a:ln>
        </p:spPr>
        <p:txBody>
          <a:bodyPr/>
          <a:p/>
        </p:txBody>
      </p:sp>
      <p:sp>
        <p:nvSpPr>
          <p:cNvPr id="3" name="Text 1"/>
          <p:cNvSpPr txBox="1"/>
          <p:nvPr/>
        </p:nvSpPr>
        <p:spPr>
          <a:xfrm>
            <a:off x="777240" y="676656"/>
            <a:ext cx="2423160" cy="347472"/>
          </a:xfrm>
          <a:prstGeom prst="rect">
            <a:avLst/>
          </a:prstGeom>
          <a:noFill/>
          <a:ln/>
        </p:spPr>
        <p:txBody>
          <a:bodyPr wrap="square" lIns="0" tIns="0" rIns="0" bIns="0" rtlCol="0" anchor="ctr"/>
          <a:lstStyle/>
          <a:p>
            <a:pPr marL="0" indent="0" algn="ctr">
              <a:buNone/>
            </a:pPr>
            <a:r>
              <a:rPr lang="en-US" sz="1100" b="1" kern="0" spc="110" dirty="0">
                <a:solidFill>
                  <a:srgbClr val="6D28D9"/>
                </a:solidFill>
                <a:latin typeface="Arial" pitchFamily="34" charset="0"/>
                <a:ea typeface="Arial" pitchFamily="34" charset="-122"/>
                <a:cs typeface="Arial" pitchFamily="34" charset="-120"/>
              </a:rPr>
              <a:t>SAMSUNG PRISM</a:t>
            </a:r>
            <a:endParaRPr lang="en-US" sz="1100" dirty="0"/>
          </a:p>
        </p:txBody>
      </p:sp>
      <p:sp>
        <p:nvSpPr>
          <p:cNvPr id="4" name="Text 2"/>
          <p:cNvSpPr txBox="1"/>
          <p:nvPr/>
        </p:nvSpPr>
        <p:spPr>
          <a:xfrm>
            <a:off x="777240" y="1207008"/>
            <a:ext cx="6126480" cy="749808"/>
          </a:xfrm>
          <a:prstGeom prst="rect">
            <a:avLst/>
          </a:prstGeom>
          <a:noFill/>
          <a:ln/>
        </p:spPr>
        <p:txBody>
          <a:bodyPr wrap="square" lIns="0" tIns="0" rIns="0" bIns="0" rtlCol="0" anchor="ctr"/>
          <a:lstStyle/>
          <a:p>
            <a:pPr marL="0" indent="0">
              <a:buNone/>
            </a:pPr>
            <a:r>
              <a:rPr lang="en-US" sz="5000" b="1" dirty="0">
                <a:solidFill>
                  <a:srgbClr val="14142B"/>
                </a:solidFill>
                <a:latin typeface="Arial" pitchFamily="34" charset="0"/>
                <a:ea typeface="Arial" pitchFamily="34" charset="-122"/>
                <a:cs typeface="Arial" pitchFamily="34" charset="-120"/>
              </a:rPr>
              <a:t>Generative AI</a:t>
            </a:r>
            <a:endParaRPr lang="en-US" sz="5000" dirty="0"/>
          </a:p>
        </p:txBody>
      </p:sp>
      <p:sp>
        <p:nvSpPr>
          <p:cNvPr id="5" name="Text 3"/>
          <p:cNvSpPr txBox="1"/>
          <p:nvPr/>
        </p:nvSpPr>
        <p:spPr>
          <a:xfrm>
            <a:off x="777240" y="1901952"/>
            <a:ext cx="6126480" cy="749808"/>
          </a:xfrm>
          <a:prstGeom prst="rect">
            <a:avLst/>
          </a:prstGeom>
          <a:noFill/>
          <a:ln/>
        </p:spPr>
        <p:txBody>
          <a:bodyPr wrap="square" lIns="0" tIns="0" rIns="0" bIns="0" rtlCol="0" anchor="ctr"/>
          <a:lstStyle/>
          <a:p>
            <a:pPr marL="0" indent="0">
              <a:buNone/>
            </a:pPr>
            <a:r>
              <a:rPr lang="en-US" sz="5000" b="1" dirty="0">
                <a:solidFill>
                  <a:srgbClr val="6D28D9"/>
                </a:solidFill>
                <a:latin typeface="Arial" pitchFamily="34" charset="0"/>
                <a:ea typeface="Arial" pitchFamily="34" charset="-122"/>
                <a:cs typeface="Arial" pitchFamily="34" charset="-120"/>
              </a:rPr>
              <a:t>Hackathon</a:t>
            </a:r>
            <a:endParaRPr lang="en-US" sz="5000" dirty="0"/>
          </a:p>
        </p:txBody>
      </p:sp>
      <p:sp>
        <p:nvSpPr>
          <p:cNvPr id="6" name="Text 4"/>
          <p:cNvSpPr txBox="1"/>
          <p:nvPr/>
        </p:nvSpPr>
        <p:spPr>
          <a:xfrm>
            <a:off x="777240" y="2724912"/>
            <a:ext cx="6126480" cy="457200"/>
          </a:xfrm>
          <a:prstGeom prst="rect">
            <a:avLst/>
          </a:prstGeom>
          <a:noFill/>
          <a:ln/>
        </p:spPr>
        <p:txBody>
          <a:bodyPr wrap="square" lIns="0" tIns="0" rIns="0" bIns="0" rtlCol="0" anchor="ctr"/>
          <a:lstStyle/>
          <a:p>
            <a:pPr marL="0" indent="0">
              <a:buNone/>
            </a:pPr>
            <a:r>
              <a:rPr lang="en-US" sz="2500" b="1" dirty="0">
                <a:solidFill>
                  <a:srgbClr val="14142B"/>
                </a:solidFill>
                <a:latin typeface="Arial" pitchFamily="34" charset="0"/>
                <a:ea typeface="Arial" pitchFamily="34" charset="-122"/>
                <a:cs typeface="Arial" pitchFamily="34" charset="-120"/>
              </a:rPr>
              <a:t>3rd Edition</a:t>
            </a:r>
            <a:r>
              <a:rPr lang="en-US" sz="2000" dirty="0">
                <a:solidFill>
                  <a:srgbClr val="63637E"/>
                </a:solidFill>
                <a:latin typeface="Calibri" pitchFamily="34" charset="0"/>
                <a:ea typeface="Calibri" pitchFamily="34" charset="-122"/>
                <a:cs typeface="Calibri" pitchFamily="34" charset="-120"/>
              </a:rPr>
              <a:t>   2026 – 27</a:t>
            </a:r>
            <a:endParaRPr lang="en-US" sz="2500" dirty="0"/>
          </a:p>
        </p:txBody>
      </p:sp>
      <p:sp>
        <p:nvSpPr>
          <p:cNvPr id="7" name="Text 5"/>
          <p:cNvSpPr txBox="1"/>
          <p:nvPr/>
        </p:nvSpPr>
        <p:spPr>
          <a:xfrm>
            <a:off x="777240" y="3310128"/>
            <a:ext cx="5852160" cy="777240"/>
          </a:xfrm>
          <a:prstGeom prst="rect">
            <a:avLst/>
          </a:prstGeom>
          <a:noFill/>
          <a:ln/>
        </p:spPr>
        <p:txBody>
          <a:bodyPr wrap="square" lIns="0" tIns="0" rIns="0" bIns="0" rtlCol="0" anchor="t"/>
          <a:lstStyle/>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Theme ID  –  1 (Agentic Code Intelligence)</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Team Name  –  Trace</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College Name  –  Thapar Institute of Engineering and Technology, Patiala</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Member  –  Abhavya Jha  –  ajha2_be24@thapar.edu</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Submission GitHub link  –  https://github.com/Ajha2005/samsung-prism</a:t>
            </a:r>
            <a:r>
              <a:rPr lang="en-US" sz="1600" dirty="0" err="1">
                <a:solidFill>
                  <a:srgbClr val="63637E"/>
                </a:solidFill>
                <a:latin typeface="Calibri" pitchFamily="34" charset="0"/>
                <a:ea typeface="Calibri" pitchFamily="34" charset="-122"/>
                <a:cs typeface="Calibri" pitchFamily="34" charset="-120"/>
              </a:rPr>
              <a:t/>
            </a:r>
            <a:r>
              <a:rPr lang="en-US" sz="1600" dirty="0">
                <a:solidFill>
                  <a:srgbClr val="63637E"/>
                </a:solidFill>
                <a:latin typeface="Calibri" pitchFamily="34" charset="0"/>
                <a:ea typeface="Calibri" pitchFamily="34" charset="-122"/>
                <a:cs typeface="Calibri" pitchFamily="34" charset="-120"/>
              </a:rPr>
              <a:t/>
            </a:r>
          </a:p>
          <a:p>
            <a:pPr marL="177800" indent="-177800">
              <a:spcAft>
                <a:spcPts val="500"/>
              </a:spcAft>
              <a:buSzPct val="100000"/>
              <a:buChar char="•"/>
            </a:pPr>
            <a:endParaRPr lang="en-US" sz="1600" dirty="0">
              <a:solidFill>
                <a:srgbClr val="63637E"/>
              </a:solidFill>
              <a:latin typeface="Calibri" pitchFamily="34" charset="0"/>
              <a:ea typeface="Calibri" pitchFamily="34" charset="-122"/>
              <a:cs typeface="Calibri" pitchFamily="34" charset="-120"/>
            </a:endParaRPr>
          </a:p>
        </p:txBody>
      </p:sp>
      <p:pic>
        <p:nvPicPr>
          <p:cNvPr id="14" name="Image 0" descr="hero_network.png"/>
          <p:cNvPicPr>
            <a:picLocks noChangeAspect="1"/>
          </p:cNvPicPr>
          <p:nvPr/>
        </p:nvPicPr>
        <p:blipFill>
          <a:blip r:embed="rId3"/>
          <a:stretch>
            <a:fillRect/>
          </a:stretch>
        </p:blipFill>
        <p:spPr>
          <a:xfrm>
            <a:off x="7059168" y="1051560"/>
            <a:ext cx="4572000" cy="4572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Theme</a:t>
            </a:r>
          </a:p>
        </p:txBody>
      </p:sp>
      <p:sp>
        <p:nvSpPr>
          <p:cNvPr id="3" name="TextBox 2"/>
          <p:cNvSpPr txBox="1"/>
          <p:nvPr/>
        </p:nvSpPr>
        <p:spPr>
          <a:xfrm>
            <a:off x="841248" y="1874519"/>
            <a:ext cx="10515600" cy="457200"/>
          </a:xfrm>
          <a:prstGeom prst="rect">
            <a:avLst/>
          </a:prstGeom>
          <a:noFill/>
        </p:spPr>
        <p:txBody>
          <a:bodyPr wrap="square" lIns="0" rIns="0" tIns="0" bIns="0">
            <a:spAutoFit/>
          </a:bodyPr>
          <a:lstStyle/>
          <a:p>
            <a:pPr algn="l">
              <a:spcBef>
                <a:spcPts val="0"/>
              </a:spcBef>
              <a:spcAft>
                <a:spcPts val="600"/>
              </a:spcAft>
            </a:pPr>
            <a:r>
              <a:rPr sz="2200" b="1" i="0">
                <a:solidFill>
                  <a:srgbClr val="6D28D9"/>
                </a:solidFill>
                <a:latin typeface="Calibri"/>
              </a:rPr>
              <a:t>Theme 1 — Agentic Code Intelligence</a:t>
            </a:r>
          </a:p>
        </p:txBody>
      </p:sp>
      <p:sp>
        <p:nvSpPr>
          <p:cNvPr id="4" name="TextBox 3"/>
          <p:cNvSpPr txBox="1"/>
          <p:nvPr/>
        </p:nvSpPr>
        <p:spPr>
          <a:xfrm>
            <a:off x="841248" y="2441448"/>
            <a:ext cx="10515600" cy="1417320"/>
          </a:xfrm>
          <a:prstGeom prst="rect">
            <a:avLst/>
          </a:prstGeom>
          <a:noFill/>
        </p:spPr>
        <p:txBody>
          <a:bodyPr wrap="square" lIns="0" rIns="0" tIns="0" bIns="0">
            <a:spAutoFit/>
          </a:bodyPr>
          <a:lstStyle/>
          <a:p>
            <a:pPr algn="l">
              <a:lnSpc>
                <a:spcPct val="115000"/>
              </a:lnSpc>
              <a:spcBef>
                <a:spcPts val="0"/>
              </a:spcBef>
              <a:spcAft>
                <a:spcPts val="800"/>
              </a:spcAft>
            </a:pPr>
            <a:r>
              <a:rPr sz="1700" b="1" i="0">
                <a:solidFill>
                  <a:srgbClr val="14142B"/>
                </a:solidFill>
                <a:latin typeface="Calibri"/>
              </a:rPr>
              <a:t>Given a natural-language query and a library of code snippets, return the snippets ranked by relevance — pure retrieval, no generation or explanation.</a:t>
            </a:r>
          </a:p>
          <a:p>
            <a:pPr algn="l">
              <a:lnSpc>
                <a:spcPct val="120000"/>
              </a:lnSpc>
              <a:spcBef>
                <a:spcPts val="0"/>
              </a:spcBef>
              <a:spcAft>
                <a:spcPts val="600"/>
              </a:spcAft>
            </a:pPr>
            <a:r>
              <a:rPr sz="1450" b="0" i="1">
                <a:solidFill>
                  <a:srgbClr val="6B6B76"/>
                </a:solidFill>
                <a:latin typeface="Calibri"/>
              </a:rPr>
              <a:t>Scored by MTEB’s NDCG@10 and MRR on the CoIR AppsRetrieval test split: a real, objective leaderboard number decides the outcome — not a live demo or a jury.</a:t>
            </a:r>
          </a:p>
        </p:txBody>
      </p:sp>
      <p:sp>
        <p:nvSpPr>
          <p:cNvPr id="5" name="Rounded Rectangle 4"/>
          <p:cNvSpPr/>
          <p:nvPr/>
        </p:nvSpPr>
        <p:spPr>
          <a:xfrm>
            <a:off x="841248" y="3886200"/>
            <a:ext cx="4480560" cy="1234440"/>
          </a:xfrm>
          <a:prstGeom prst="roundRect">
            <a:avLst>
              <a:gd name="adj" fmla="val 8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4014215"/>
            <a:ext cx="3931920" cy="237744"/>
          </a:xfrm>
          <a:prstGeom prst="rect">
            <a:avLst/>
          </a:prstGeom>
          <a:noFill/>
        </p:spPr>
        <p:txBody>
          <a:bodyPr wrap="square" lIns="0" rIns="0" tIns="0" bIns="0">
            <a:spAutoFit/>
          </a:bodyPr>
          <a:lstStyle/>
          <a:p>
            <a:pPr algn="l">
              <a:spcBef>
                <a:spcPts val="0"/>
              </a:spcBef>
              <a:spcAft>
                <a:spcPts val="600"/>
              </a:spcAft>
            </a:pPr>
            <a:r>
              <a:rPr sz="950" b="1" i="0">
                <a:solidFill>
                  <a:srgbClr val="E3DAF7"/>
                </a:solidFill>
                <a:latin typeface="Calibri"/>
              </a:rPr>
              <a:t>THE SCOREBOARD  ·  SUBMITTED: e5-base-v2</a:t>
            </a:r>
          </a:p>
        </p:txBody>
      </p:sp>
      <p:sp>
        <p:nvSpPr>
          <p:cNvPr id="7" name="TextBox 6"/>
          <p:cNvSpPr txBox="1"/>
          <p:nvPr/>
        </p:nvSpPr>
        <p:spPr>
          <a:xfrm>
            <a:off x="1115568" y="4306824"/>
            <a:ext cx="3931920" cy="438912"/>
          </a:xfrm>
          <a:prstGeom prst="rect">
            <a:avLst/>
          </a:prstGeom>
          <a:noFill/>
        </p:spPr>
        <p:txBody>
          <a:bodyPr wrap="square" lIns="0" rIns="0" tIns="0" bIns="0">
            <a:spAutoFit/>
          </a:bodyPr>
          <a:lstStyle/>
          <a:p>
            <a:pPr algn="l">
              <a:lnSpc>
                <a:spcPct val="100000"/>
              </a:lnSpc>
              <a:spcBef>
                <a:spcPts val="0"/>
              </a:spcBef>
              <a:spcAft>
                <a:spcPts val="0"/>
              </a:spcAft>
            </a:pPr>
            <a:r>
              <a:rPr sz="2200" b="1" i="0">
                <a:solidFill>
                  <a:srgbClr val="FFFFFF"/>
                </a:solidFill>
                <a:latin typeface="Calibri"/>
              </a:rPr>
              <a:t>NDCG@10 = 0.1151</a:t>
            </a:r>
          </a:p>
        </p:txBody>
      </p:sp>
      <p:sp>
        <p:nvSpPr>
          <p:cNvPr id="8" name="TextBox 7"/>
          <p:cNvSpPr txBox="1"/>
          <p:nvPr/>
        </p:nvSpPr>
        <p:spPr>
          <a:xfrm>
            <a:off x="1115568" y="4764024"/>
            <a:ext cx="3931920" cy="237744"/>
          </a:xfrm>
          <a:prstGeom prst="rect">
            <a:avLst/>
          </a:prstGeom>
          <a:noFill/>
        </p:spPr>
        <p:txBody>
          <a:bodyPr wrap="square" lIns="0" rIns="0" tIns="0" bIns="0">
            <a:spAutoFit/>
          </a:bodyPr>
          <a:lstStyle/>
          <a:p>
            <a:pPr algn="l">
              <a:spcBef>
                <a:spcPts val="0"/>
              </a:spcBef>
              <a:spcAft>
                <a:spcPts val="0"/>
              </a:spcAft>
            </a:pPr>
            <a:r>
              <a:rPr sz="1200" b="0" i="0">
                <a:solidFill>
                  <a:srgbClr val="E3DAF7"/>
                </a:solidFill>
                <a:latin typeface="Calibri"/>
              </a:rPr>
              <a:t>MRR@10 = 0.0986   ·   +73.9% over baseline</a:t>
            </a:r>
          </a:p>
        </p:txBody>
      </p:sp>
      <p:sp>
        <p:nvSpPr>
          <p:cNvPr id="9" name="Rounded Rectangle 8"/>
          <p:cNvSpPr/>
          <p:nvPr/>
        </p:nvSpPr>
        <p:spPr>
          <a:xfrm>
            <a:off x="5596128" y="3886200"/>
            <a:ext cx="5760720" cy="123444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4014215"/>
            <a:ext cx="5248656" cy="237744"/>
          </a:xfrm>
          <a:prstGeom prst="rect">
            <a:avLst/>
          </a:prstGeom>
          <a:noFill/>
        </p:spPr>
        <p:txBody>
          <a:bodyPr wrap="square" lIns="0" rIns="0" tIns="0" bIns="0">
            <a:spAutoFit/>
          </a:bodyPr>
          <a:lstStyle/>
          <a:p>
            <a:pPr algn="l">
              <a:spcBef>
                <a:spcPts val="0"/>
              </a:spcBef>
              <a:spcAft>
                <a:spcPts val="600"/>
              </a:spcAft>
            </a:pPr>
            <a:r>
              <a:rPr sz="950" b="1" i="0">
                <a:solidFill>
                  <a:srgbClr val="6D28D9"/>
                </a:solidFill>
                <a:latin typeface="Calibri"/>
              </a:rPr>
              <a:t>THE DISCIPLINE THAT PRODUCED IT</a:t>
            </a:r>
          </a:p>
        </p:txBody>
      </p:sp>
      <p:sp>
        <p:nvSpPr>
          <p:cNvPr id="11" name="TextBox 10"/>
          <p:cNvSpPr txBox="1"/>
          <p:nvPr/>
        </p:nvSpPr>
        <p:spPr>
          <a:xfrm>
            <a:off x="5779008" y="4270248"/>
            <a:ext cx="1252728" cy="758952"/>
          </a:xfrm>
          <a:prstGeom prst="rect">
            <a:avLst/>
          </a:prstGeom>
          <a:noFill/>
        </p:spPr>
        <p:txBody>
          <a:bodyPr wrap="square" lIns="0" rIns="0" tIns="0" bIns="0" anchor="ctr">
            <a:spAutoFit/>
          </a:bodyPr>
          <a:lstStyle/>
          <a:p>
            <a:pPr algn="ctr">
              <a:lnSpc>
                <a:spcPct val="100000"/>
              </a:lnSpc>
              <a:spcBef>
                <a:spcPts val="0"/>
              </a:spcBef>
              <a:spcAft>
                <a:spcPts val="0"/>
              </a:spcAft>
            </a:pPr>
            <a:r>
              <a:rPr sz="2000" b="1" i="0">
                <a:solidFill>
                  <a:srgbClr val="6D28D9"/>
                </a:solidFill>
                <a:latin typeface="Calibri"/>
              </a:rPr>
              <a:t>10</a:t>
            </a:r>
          </a:p>
          <a:p>
            <a:pPr algn="ctr">
              <a:lnSpc>
                <a:spcPct val="105000"/>
              </a:lnSpc>
              <a:spcBef>
                <a:spcPts val="100"/>
              </a:spcBef>
              <a:spcAft>
                <a:spcPts val="600"/>
              </a:spcAft>
            </a:pPr>
            <a:r>
              <a:rPr sz="850" b="0" i="0">
                <a:solidFill>
                  <a:srgbClr val="6B6B76"/>
                </a:solidFill>
                <a:latin typeface="Calibri"/>
              </a:rPr>
              <a:t>configs measured</a:t>
            </a:r>
          </a:p>
        </p:txBody>
      </p:sp>
      <p:sp>
        <p:nvSpPr>
          <p:cNvPr id="12" name="TextBox 11"/>
          <p:cNvSpPr txBox="1"/>
          <p:nvPr/>
        </p:nvSpPr>
        <p:spPr>
          <a:xfrm>
            <a:off x="7159752" y="4270248"/>
            <a:ext cx="1252728" cy="758952"/>
          </a:xfrm>
          <a:prstGeom prst="rect">
            <a:avLst/>
          </a:prstGeom>
          <a:noFill/>
        </p:spPr>
        <p:txBody>
          <a:bodyPr wrap="square" lIns="0" rIns="0" tIns="0" bIns="0" anchor="ctr">
            <a:spAutoFit/>
          </a:bodyPr>
          <a:lstStyle/>
          <a:p>
            <a:pPr algn="ctr">
              <a:lnSpc>
                <a:spcPct val="100000"/>
              </a:lnSpc>
              <a:spcBef>
                <a:spcPts val="0"/>
              </a:spcBef>
              <a:spcAft>
                <a:spcPts val="0"/>
              </a:spcAft>
            </a:pPr>
            <a:r>
              <a:rPr sz="2000" b="1" i="0">
                <a:solidFill>
                  <a:srgbClr val="6D28D9"/>
                </a:solidFill>
                <a:latin typeface="Calibri"/>
              </a:rPr>
              <a:t>8</a:t>
            </a:r>
          </a:p>
          <a:p>
            <a:pPr algn="ctr">
              <a:lnSpc>
                <a:spcPct val="105000"/>
              </a:lnSpc>
              <a:spcBef>
                <a:spcPts val="100"/>
              </a:spcBef>
              <a:spcAft>
                <a:spcPts val="600"/>
              </a:spcAft>
            </a:pPr>
            <a:r>
              <a:rPr sz="850" b="0" i="0">
                <a:solidFill>
                  <a:srgbClr val="6B6B76"/>
                </a:solidFill>
                <a:latin typeface="Calibri"/>
              </a:rPr>
              <a:t>dropped</a:t>
            </a:r>
          </a:p>
        </p:txBody>
      </p:sp>
      <p:sp>
        <p:nvSpPr>
          <p:cNvPr id="13" name="TextBox 12"/>
          <p:cNvSpPr txBox="1"/>
          <p:nvPr/>
        </p:nvSpPr>
        <p:spPr>
          <a:xfrm>
            <a:off x="8540496" y="4270248"/>
            <a:ext cx="1252728" cy="758952"/>
          </a:xfrm>
          <a:prstGeom prst="rect">
            <a:avLst/>
          </a:prstGeom>
          <a:noFill/>
        </p:spPr>
        <p:txBody>
          <a:bodyPr wrap="square" lIns="0" rIns="0" tIns="0" bIns="0" anchor="ctr">
            <a:spAutoFit/>
          </a:bodyPr>
          <a:lstStyle/>
          <a:p>
            <a:pPr algn="ctr">
              <a:lnSpc>
                <a:spcPct val="100000"/>
              </a:lnSpc>
              <a:spcBef>
                <a:spcPts val="0"/>
              </a:spcBef>
              <a:spcAft>
                <a:spcPts val="0"/>
              </a:spcAft>
            </a:pPr>
            <a:r>
              <a:rPr sz="2000" b="1" i="0">
                <a:solidFill>
                  <a:srgbClr val="6D28D9"/>
                </a:solidFill>
                <a:latin typeface="Calibri"/>
              </a:rPr>
              <a:t>1</a:t>
            </a:r>
          </a:p>
          <a:p>
            <a:pPr algn="ctr">
              <a:lnSpc>
                <a:spcPct val="105000"/>
              </a:lnSpc>
              <a:spcBef>
                <a:spcPts val="100"/>
              </a:spcBef>
              <a:spcAft>
                <a:spcPts val="600"/>
              </a:spcAft>
            </a:pPr>
            <a:r>
              <a:rPr sz="850" b="0" i="0">
                <a:solidFill>
                  <a:srgbClr val="6B6B76"/>
                </a:solidFill>
                <a:latin typeface="Calibri"/>
              </a:rPr>
              <a:t>kept: e5-base</a:t>
            </a:r>
          </a:p>
        </p:txBody>
      </p:sp>
      <p:sp>
        <p:nvSpPr>
          <p:cNvPr id="14" name="TextBox 13"/>
          <p:cNvSpPr txBox="1"/>
          <p:nvPr/>
        </p:nvSpPr>
        <p:spPr>
          <a:xfrm>
            <a:off x="9921240" y="4270248"/>
            <a:ext cx="1252728" cy="758952"/>
          </a:xfrm>
          <a:prstGeom prst="rect">
            <a:avLst/>
          </a:prstGeom>
          <a:noFill/>
        </p:spPr>
        <p:txBody>
          <a:bodyPr wrap="square" lIns="0" rIns="0" tIns="0" bIns="0" anchor="ctr">
            <a:spAutoFit/>
          </a:bodyPr>
          <a:lstStyle/>
          <a:p>
            <a:pPr algn="ctr">
              <a:lnSpc>
                <a:spcPct val="100000"/>
              </a:lnSpc>
              <a:spcBef>
                <a:spcPts val="0"/>
              </a:spcBef>
              <a:spcAft>
                <a:spcPts val="0"/>
              </a:spcAft>
            </a:pPr>
            <a:r>
              <a:rPr sz="2000" b="1" i="0">
                <a:solidFill>
                  <a:srgbClr val="6D28D9"/>
                </a:solidFill>
                <a:latin typeface="Calibri"/>
              </a:rPr>
              <a:t>78</a:t>
            </a:r>
          </a:p>
          <a:p>
            <a:pPr algn="ctr">
              <a:lnSpc>
                <a:spcPct val="105000"/>
              </a:lnSpc>
              <a:spcBef>
                <a:spcPts val="100"/>
              </a:spcBef>
              <a:spcAft>
                <a:spcPts val="600"/>
              </a:spcAft>
            </a:pPr>
            <a:r>
              <a:rPr sz="850" b="0" i="0">
                <a:solidFill>
                  <a:srgbClr val="6B6B76"/>
                </a:solidFill>
                <a:latin typeface="Calibri"/>
              </a:rPr>
              <a:t>offline tests</a:t>
            </a:r>
          </a:p>
        </p:txBody>
      </p:sp>
      <p:sp>
        <p:nvSpPr>
          <p:cNvPr id="15" name="Rounded Rectangle 14"/>
          <p:cNvSpPr/>
          <p:nvPr/>
        </p:nvSpPr>
        <p:spPr>
          <a:xfrm>
            <a:off x="841248" y="5349240"/>
            <a:ext cx="3352800" cy="82296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55547" y="5509259"/>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1</a:t>
            </a:r>
          </a:p>
        </p:txBody>
      </p:sp>
      <p:sp>
        <p:nvSpPr>
          <p:cNvPr id="17" name="TextBox 16"/>
          <p:cNvSpPr txBox="1"/>
          <p:nvPr/>
        </p:nvSpPr>
        <p:spPr>
          <a:xfrm>
            <a:off x="1527048" y="5513831"/>
            <a:ext cx="2529840" cy="493776"/>
          </a:xfrm>
          <a:prstGeom prst="rect">
            <a:avLst/>
          </a:prstGeom>
          <a:noFill/>
        </p:spPr>
        <p:txBody>
          <a:bodyPr wrap="square" lIns="0" rIns="0" tIns="0" bIns="0" anchor="ctr">
            <a:spAutoFit/>
          </a:bodyPr>
          <a:lstStyle/>
          <a:p>
            <a:pPr algn="l">
              <a:lnSpc>
                <a:spcPct val="110000"/>
              </a:lnSpc>
              <a:spcBef>
                <a:spcPts val="0"/>
              </a:spcBef>
              <a:spcAft>
                <a:spcPts val="300"/>
              </a:spcAft>
            </a:pPr>
            <a:r>
              <a:rPr sz="1250" b="1" i="0">
                <a:solidFill>
                  <a:srgbClr val="14142B"/>
                </a:solidFill>
                <a:latin typeface="Calibri"/>
              </a:rPr>
              <a:t>CPU-only, minimal GPU</a:t>
            </a:r>
          </a:p>
          <a:p>
            <a:pPr algn="l">
              <a:lnSpc>
                <a:spcPct val="115000"/>
              </a:lnSpc>
              <a:spcBef>
                <a:spcPts val="0"/>
              </a:spcBef>
              <a:spcAft>
                <a:spcPts val="600"/>
              </a:spcAft>
            </a:pPr>
            <a:r>
              <a:rPr sz="1000" b="0" i="0">
                <a:solidFill>
                  <a:srgbClr val="6B6B76"/>
                </a:solidFill>
                <a:latin typeface="Calibri"/>
              </a:rPr>
              <a:t>Innovation has to come from representation, not scale</a:t>
            </a:r>
          </a:p>
        </p:txBody>
      </p:sp>
      <p:sp>
        <p:nvSpPr>
          <p:cNvPr id="18" name="Rounded Rectangle 17"/>
          <p:cNvSpPr/>
          <p:nvPr/>
        </p:nvSpPr>
        <p:spPr>
          <a:xfrm>
            <a:off x="4422648" y="5349240"/>
            <a:ext cx="3352800" cy="82296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6948" y="5509259"/>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2</a:t>
            </a:r>
          </a:p>
        </p:txBody>
      </p:sp>
      <p:sp>
        <p:nvSpPr>
          <p:cNvPr id="20" name="TextBox 19"/>
          <p:cNvSpPr txBox="1"/>
          <p:nvPr/>
        </p:nvSpPr>
        <p:spPr>
          <a:xfrm>
            <a:off x="5108448" y="5513831"/>
            <a:ext cx="2529840" cy="493776"/>
          </a:xfrm>
          <a:prstGeom prst="rect">
            <a:avLst/>
          </a:prstGeom>
          <a:noFill/>
        </p:spPr>
        <p:txBody>
          <a:bodyPr wrap="square" lIns="0" rIns="0" tIns="0" bIns="0" anchor="ctr">
            <a:spAutoFit/>
          </a:bodyPr>
          <a:lstStyle/>
          <a:p>
            <a:pPr algn="l">
              <a:lnSpc>
                <a:spcPct val="110000"/>
              </a:lnSpc>
              <a:spcBef>
                <a:spcPts val="0"/>
              </a:spcBef>
              <a:spcAft>
                <a:spcPts val="300"/>
              </a:spcAft>
            </a:pPr>
            <a:r>
              <a:rPr sz="1250" b="1" i="0">
                <a:solidFill>
                  <a:srgbClr val="14142B"/>
                </a:solidFill>
                <a:latin typeface="Calibri"/>
              </a:rPr>
              <a:t>No LLM in the ranking loop</a:t>
            </a:r>
          </a:p>
          <a:p>
            <a:pPr algn="l">
              <a:lnSpc>
                <a:spcPct val="115000"/>
              </a:lnSpc>
              <a:spcBef>
                <a:spcPts val="0"/>
              </a:spcBef>
              <a:spcAft>
                <a:spcPts val="600"/>
              </a:spcAft>
            </a:pPr>
            <a:r>
              <a:rPr sz="1000" b="0" i="0">
                <a:solidFill>
                  <a:srgbClr val="6B6B76"/>
                </a:solidFill>
                <a:latin typeface="Calibri"/>
              </a:rPr>
              <a:t>Retrieval must beat generation on speed on a thousand-snippet corpus</a:t>
            </a:r>
          </a:p>
        </p:txBody>
      </p:sp>
      <p:sp>
        <p:nvSpPr>
          <p:cNvPr id="21" name="Rounded Rectangle 20"/>
          <p:cNvSpPr/>
          <p:nvPr/>
        </p:nvSpPr>
        <p:spPr>
          <a:xfrm>
            <a:off x="8004048" y="5349240"/>
            <a:ext cx="3352800" cy="82296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118348" y="5509259"/>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3</a:t>
            </a:r>
          </a:p>
        </p:txBody>
      </p:sp>
      <p:sp>
        <p:nvSpPr>
          <p:cNvPr id="23" name="TextBox 22"/>
          <p:cNvSpPr txBox="1"/>
          <p:nvPr/>
        </p:nvSpPr>
        <p:spPr>
          <a:xfrm>
            <a:off x="8689848" y="5513831"/>
            <a:ext cx="2529840" cy="493776"/>
          </a:xfrm>
          <a:prstGeom prst="rect">
            <a:avLst/>
          </a:prstGeom>
          <a:noFill/>
        </p:spPr>
        <p:txBody>
          <a:bodyPr wrap="square" lIns="0" rIns="0" tIns="0" bIns="0" anchor="ctr">
            <a:spAutoFit/>
          </a:bodyPr>
          <a:lstStyle/>
          <a:p>
            <a:pPr algn="l">
              <a:lnSpc>
                <a:spcPct val="110000"/>
              </a:lnSpc>
              <a:spcBef>
                <a:spcPts val="0"/>
              </a:spcBef>
              <a:spcAft>
                <a:spcPts val="300"/>
              </a:spcAft>
            </a:pPr>
            <a:r>
              <a:rPr sz="1250" b="1" i="0">
                <a:solidFill>
                  <a:srgbClr val="14142B"/>
                </a:solidFill>
                <a:latin typeface="Calibri"/>
              </a:rPr>
              <a:t>Cross-version retrieval (P1)</a:t>
            </a:r>
          </a:p>
          <a:p>
            <a:pPr algn="l">
              <a:lnSpc>
                <a:spcPct val="115000"/>
              </a:lnSpc>
              <a:spcBef>
                <a:spcPts val="0"/>
              </a:spcBef>
              <a:spcAft>
                <a:spcPts val="600"/>
              </a:spcAft>
            </a:pPr>
            <a:r>
              <a:rPr sz="1000" b="0" i="0">
                <a:solidFill>
                  <a:srgbClr val="6B6B76"/>
                </a:solidFill>
                <a:latin typeface="Calibri"/>
              </a:rPr>
              <a:t>The index must rebuild cheaply as code changes, by design from day one</a:t>
            </a:r>
          </a:p>
        </p:txBody>
      </p:sp>
    </p:spTree>
    <p:extLst>
      <p:ext uri="{BB962C8B-B14F-4D97-AF65-F5344CB8AC3E}">
        <p14:creationId xmlns:p14="http://schemas.microsoft.com/office/powerpoint/2010/main" val="256478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Existing Solutions &amp; Gaps</a:t>
            </a:r>
          </a:p>
        </p:txBody>
      </p:sp>
      <p:sp>
        <p:nvSpPr>
          <p:cNvPr id="3" name="Rounded Rectangle 2"/>
          <p:cNvSpPr/>
          <p:nvPr/>
        </p:nvSpPr>
        <p:spPr>
          <a:xfrm>
            <a:off x="841248" y="1874519"/>
            <a:ext cx="3395472" cy="384048"/>
          </a:xfrm>
          <a:prstGeom prst="roundRect">
            <a:avLst>
              <a:gd name="adj" fmla="val 6000"/>
            </a:avLst>
          </a:prstGeom>
          <a:solidFill>
            <a:srgbClr val="F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401312" y="1874519"/>
            <a:ext cx="3395472" cy="384048"/>
          </a:xfrm>
          <a:prstGeom prst="roundRect">
            <a:avLst>
              <a:gd name="adj" fmla="val 6000"/>
            </a:avLst>
          </a:prstGeom>
          <a:solidFill>
            <a:srgbClr val="FB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961376" y="1874519"/>
            <a:ext cx="3395472" cy="384048"/>
          </a:xfrm>
          <a:prstGeom prst="roundRect">
            <a:avLst>
              <a:gd name="adj" fmla="val 6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1874519"/>
            <a:ext cx="3029712" cy="384048"/>
          </a:xfrm>
          <a:prstGeom prst="rect">
            <a:avLst/>
          </a:prstGeom>
          <a:noFill/>
        </p:spPr>
        <p:txBody>
          <a:bodyPr wrap="square" lIns="0" rIns="0" tIns="0" bIns="0" anchor="ctr">
            <a:spAutoFit/>
          </a:bodyPr>
          <a:lstStyle/>
          <a:p>
            <a:pPr algn="l">
              <a:spcBef>
                <a:spcPts val="0"/>
              </a:spcBef>
              <a:spcAft>
                <a:spcPts val="600"/>
              </a:spcAft>
            </a:pPr>
            <a:r>
              <a:rPr sz="1050" b="1" i="0">
                <a:solidFill>
                  <a:srgbClr val="6B6B76"/>
                </a:solidFill>
                <a:latin typeface="Calibri"/>
              </a:rPr>
              <a:t>WHAT TEAMS USUALLY TRY</a:t>
            </a:r>
          </a:p>
        </p:txBody>
      </p:sp>
      <p:sp>
        <p:nvSpPr>
          <p:cNvPr id="7" name="TextBox 6"/>
          <p:cNvSpPr txBox="1"/>
          <p:nvPr/>
        </p:nvSpPr>
        <p:spPr>
          <a:xfrm>
            <a:off x="4584192" y="1874519"/>
            <a:ext cx="3029712" cy="384048"/>
          </a:xfrm>
          <a:prstGeom prst="rect">
            <a:avLst/>
          </a:prstGeom>
          <a:noFill/>
        </p:spPr>
        <p:txBody>
          <a:bodyPr wrap="square" lIns="0" rIns="0" tIns="0" bIns="0" anchor="ctr">
            <a:spAutoFit/>
          </a:bodyPr>
          <a:lstStyle/>
          <a:p>
            <a:pPr algn="l">
              <a:spcBef>
                <a:spcPts val="0"/>
              </a:spcBef>
              <a:spcAft>
                <a:spcPts val="600"/>
              </a:spcAft>
            </a:pPr>
            <a:r>
              <a:rPr sz="1050" b="1" i="0">
                <a:solidFill>
                  <a:srgbClr val="B33B3B"/>
                </a:solidFill>
                <a:latin typeface="Calibri"/>
              </a:rPr>
              <a:t>WHERE IT BREAKS DOWN</a:t>
            </a:r>
          </a:p>
        </p:txBody>
      </p:sp>
      <p:sp>
        <p:nvSpPr>
          <p:cNvPr id="8" name="TextBox 7"/>
          <p:cNvSpPr txBox="1"/>
          <p:nvPr/>
        </p:nvSpPr>
        <p:spPr>
          <a:xfrm>
            <a:off x="8144256" y="1874519"/>
            <a:ext cx="3029712" cy="384048"/>
          </a:xfrm>
          <a:prstGeom prst="rect">
            <a:avLst/>
          </a:prstGeom>
          <a:noFill/>
        </p:spPr>
        <p:txBody>
          <a:bodyPr wrap="square" lIns="0" rIns="0" tIns="0" bIns="0" anchor="ctr">
            <a:spAutoFit/>
          </a:bodyPr>
          <a:lstStyle/>
          <a:p>
            <a:pPr algn="l">
              <a:spcBef>
                <a:spcPts val="0"/>
              </a:spcBef>
              <a:spcAft>
                <a:spcPts val="600"/>
              </a:spcAft>
            </a:pPr>
            <a:r>
              <a:rPr sz="1050" b="1" i="0">
                <a:solidFill>
                  <a:srgbClr val="FFFFFF"/>
                </a:solidFill>
                <a:latin typeface="Calibri"/>
              </a:rPr>
              <a:t>HOW WE DESIGNED FOR THIS</a:t>
            </a:r>
          </a:p>
        </p:txBody>
      </p:sp>
      <p:sp>
        <p:nvSpPr>
          <p:cNvPr id="9" name="Rounded Rectangle 8"/>
          <p:cNvSpPr/>
          <p:nvPr/>
        </p:nvSpPr>
        <p:spPr>
          <a:xfrm>
            <a:off x="841248" y="2386584"/>
            <a:ext cx="3395472" cy="850392"/>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01312" y="2386584"/>
            <a:ext cx="3395472" cy="850392"/>
          </a:xfrm>
          <a:prstGeom prst="roundRect">
            <a:avLst>
              <a:gd name="adj" fmla="val 6000"/>
            </a:avLst>
          </a:prstGeom>
          <a:solidFill>
            <a:srgbClr val="FB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961376" y="2386584"/>
            <a:ext cx="3395472" cy="850392"/>
          </a:xfrm>
          <a:prstGeom prst="roundRect">
            <a:avLst>
              <a:gd name="adj" fmla="val 6000"/>
            </a:avLst>
          </a:prstGeom>
          <a:solidFill>
            <a:srgbClr val="EDE9FB"/>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1832" y="2619756"/>
            <a:ext cx="384048" cy="384048"/>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1</a:t>
            </a:r>
          </a:p>
        </p:txBody>
      </p:sp>
      <p:sp>
        <p:nvSpPr>
          <p:cNvPr id="13" name="TextBox 12"/>
          <p:cNvSpPr txBox="1"/>
          <p:nvPr/>
        </p:nvSpPr>
        <p:spPr>
          <a:xfrm>
            <a:off x="1435608" y="2496312"/>
            <a:ext cx="266395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33333D"/>
                </a:solidFill>
                <a:latin typeface="Calibri"/>
              </a:rPr>
              <a:t>Dense embedding + cosine similarity with an off-the-shelf text model</a:t>
            </a:r>
          </a:p>
        </p:txBody>
      </p:sp>
      <p:sp>
        <p:nvSpPr>
          <p:cNvPr id="14" name="TextBox 13"/>
          <p:cNvSpPr txBox="1"/>
          <p:nvPr/>
        </p:nvSpPr>
        <p:spPr>
          <a:xfrm>
            <a:off x="4584192" y="2496312"/>
            <a:ext cx="302971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B33B3B"/>
                </a:solidFill>
                <a:latin typeface="Calibri"/>
              </a:rPr>
              <a:t>NL and code sit in different “languages” — behavioral queries blur</a:t>
            </a:r>
          </a:p>
        </p:txBody>
      </p:sp>
      <p:sp>
        <p:nvSpPr>
          <p:cNvPr id="15" name="TextBox 14"/>
          <p:cNvSpPr txBox="1"/>
          <p:nvPr/>
        </p:nvSpPr>
        <p:spPr>
          <a:xfrm>
            <a:off x="8144256" y="2496312"/>
            <a:ext cx="302971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1" i="0">
                <a:solidFill>
                  <a:srgbClr val="14142B"/>
                </a:solidFill>
                <a:latin typeface="Calibri"/>
              </a:rPr>
              <a:t>Code-flavored HyDE: compile query → deterministic code sketch, then embed code-vs-code</a:t>
            </a:r>
          </a:p>
        </p:txBody>
      </p:sp>
      <p:sp>
        <p:nvSpPr>
          <p:cNvPr id="16" name="TextBox 15"/>
          <p:cNvSpPr txBox="1"/>
          <p:nvPr/>
        </p:nvSpPr>
        <p:spPr>
          <a:xfrm>
            <a:off x="4209288" y="2674620"/>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17" name="TextBox 16"/>
          <p:cNvSpPr txBox="1"/>
          <p:nvPr/>
        </p:nvSpPr>
        <p:spPr>
          <a:xfrm>
            <a:off x="7769352" y="2674620"/>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18" name="Rounded Rectangle 17"/>
          <p:cNvSpPr/>
          <p:nvPr/>
        </p:nvSpPr>
        <p:spPr>
          <a:xfrm>
            <a:off x="841248" y="3364992"/>
            <a:ext cx="3395472" cy="850392"/>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401312" y="3364992"/>
            <a:ext cx="3395472" cy="850392"/>
          </a:xfrm>
          <a:prstGeom prst="roundRect">
            <a:avLst>
              <a:gd name="adj" fmla="val 6000"/>
            </a:avLst>
          </a:prstGeom>
          <a:solidFill>
            <a:srgbClr val="FB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961376" y="3364992"/>
            <a:ext cx="3395472" cy="850392"/>
          </a:xfrm>
          <a:prstGeom prst="roundRect">
            <a:avLst>
              <a:gd name="adj" fmla="val 6000"/>
            </a:avLst>
          </a:prstGeom>
          <a:solidFill>
            <a:srgbClr val="EDE9FB"/>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41832" y="3598164"/>
            <a:ext cx="384048" cy="384048"/>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2</a:t>
            </a:r>
          </a:p>
        </p:txBody>
      </p:sp>
      <p:sp>
        <p:nvSpPr>
          <p:cNvPr id="22" name="TextBox 21"/>
          <p:cNvSpPr txBox="1"/>
          <p:nvPr/>
        </p:nvSpPr>
        <p:spPr>
          <a:xfrm>
            <a:off x="1435608" y="3474720"/>
            <a:ext cx="266395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33333D"/>
                </a:solidFill>
                <a:latin typeface="Calibri"/>
              </a:rPr>
              <a:t>LLM re-ranking on top of a first-pass retriever</a:t>
            </a:r>
          </a:p>
        </p:txBody>
      </p:sp>
      <p:sp>
        <p:nvSpPr>
          <p:cNvPr id="23" name="TextBox 22"/>
          <p:cNvSpPr txBox="1"/>
          <p:nvPr/>
        </p:nvSpPr>
        <p:spPr>
          <a:xfrm>
            <a:off x="4584192" y="3474720"/>
            <a:ext cx="302971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B33B3B"/>
                </a:solidFill>
                <a:latin typeface="Calibri"/>
              </a:rPr>
              <a:t>Corpus in the thousands → per-query LLM ranking slower than retrieval itself</a:t>
            </a:r>
          </a:p>
        </p:txBody>
      </p:sp>
      <p:sp>
        <p:nvSpPr>
          <p:cNvPr id="24" name="TextBox 23"/>
          <p:cNvSpPr txBox="1"/>
          <p:nvPr/>
        </p:nvSpPr>
        <p:spPr>
          <a:xfrm>
            <a:off x="8144256" y="3474720"/>
            <a:ext cx="302971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1" i="0">
                <a:solidFill>
                  <a:srgbClr val="14142B"/>
                </a:solidFill>
                <a:latin typeface="Calibri"/>
              </a:rPr>
              <a:t>No LLM in the ranking loop; any LLM use is offline pre-processing, cached</a:t>
            </a:r>
          </a:p>
        </p:txBody>
      </p:sp>
      <p:sp>
        <p:nvSpPr>
          <p:cNvPr id="25" name="TextBox 24"/>
          <p:cNvSpPr txBox="1"/>
          <p:nvPr/>
        </p:nvSpPr>
        <p:spPr>
          <a:xfrm>
            <a:off x="4209288" y="3653028"/>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26" name="TextBox 25"/>
          <p:cNvSpPr txBox="1"/>
          <p:nvPr/>
        </p:nvSpPr>
        <p:spPr>
          <a:xfrm>
            <a:off x="7769352" y="3653028"/>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27" name="Rounded Rectangle 26"/>
          <p:cNvSpPr/>
          <p:nvPr/>
        </p:nvSpPr>
        <p:spPr>
          <a:xfrm>
            <a:off x="841248" y="4343400"/>
            <a:ext cx="3395472" cy="850392"/>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4401312" y="4343400"/>
            <a:ext cx="3395472" cy="850392"/>
          </a:xfrm>
          <a:prstGeom prst="roundRect">
            <a:avLst>
              <a:gd name="adj" fmla="val 6000"/>
            </a:avLst>
          </a:prstGeom>
          <a:solidFill>
            <a:srgbClr val="FB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61376" y="4343400"/>
            <a:ext cx="3395472" cy="850392"/>
          </a:xfrm>
          <a:prstGeom prst="roundRect">
            <a:avLst>
              <a:gd name="adj" fmla="val 6000"/>
            </a:avLst>
          </a:prstGeom>
          <a:solidFill>
            <a:srgbClr val="EDE9FB"/>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41832" y="4576572"/>
            <a:ext cx="384048" cy="384048"/>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3</a:t>
            </a:r>
          </a:p>
        </p:txBody>
      </p:sp>
      <p:sp>
        <p:nvSpPr>
          <p:cNvPr id="31" name="TextBox 30"/>
          <p:cNvSpPr txBox="1"/>
          <p:nvPr/>
        </p:nvSpPr>
        <p:spPr>
          <a:xfrm>
            <a:off x="1435608" y="4453128"/>
            <a:ext cx="266395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33333D"/>
                </a:solidFill>
                <a:latin typeface="Calibri"/>
              </a:rPr>
              <a:t>One raw-text view per snippet, straight into the encoder</a:t>
            </a:r>
          </a:p>
        </p:txBody>
      </p:sp>
      <p:sp>
        <p:nvSpPr>
          <p:cNvPr id="32" name="TextBox 31"/>
          <p:cNvSpPr txBox="1"/>
          <p:nvPr/>
        </p:nvSpPr>
        <p:spPr>
          <a:xfrm>
            <a:off x="4584192" y="4453128"/>
            <a:ext cx="302971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B33B3B"/>
                </a:solidFill>
                <a:latin typeface="Calibri"/>
              </a:rPr>
              <a:t>Raw text blurs the structure and identifiers usage &amp; structural queries need</a:t>
            </a:r>
          </a:p>
        </p:txBody>
      </p:sp>
      <p:sp>
        <p:nvSpPr>
          <p:cNvPr id="33" name="TextBox 32"/>
          <p:cNvSpPr txBox="1"/>
          <p:nvPr/>
        </p:nvSpPr>
        <p:spPr>
          <a:xfrm>
            <a:off x="8144256" y="4453128"/>
            <a:ext cx="302971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1" i="0">
                <a:solidFill>
                  <a:srgbClr val="14142B"/>
                </a:solidFill>
                <a:latin typeface="Calibri"/>
              </a:rPr>
              <a:t>Multi-view snippet embedding: raw + AST-normalized + identifier bag, fused</a:t>
            </a:r>
          </a:p>
        </p:txBody>
      </p:sp>
      <p:sp>
        <p:nvSpPr>
          <p:cNvPr id="34" name="TextBox 33"/>
          <p:cNvSpPr txBox="1"/>
          <p:nvPr/>
        </p:nvSpPr>
        <p:spPr>
          <a:xfrm>
            <a:off x="4209288" y="4631436"/>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35" name="TextBox 34"/>
          <p:cNvSpPr txBox="1"/>
          <p:nvPr/>
        </p:nvSpPr>
        <p:spPr>
          <a:xfrm>
            <a:off x="7769352" y="4631436"/>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36" name="Rounded Rectangle 35"/>
          <p:cNvSpPr/>
          <p:nvPr/>
        </p:nvSpPr>
        <p:spPr>
          <a:xfrm>
            <a:off x="841248" y="5321808"/>
            <a:ext cx="3395472" cy="850392"/>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01312" y="5321808"/>
            <a:ext cx="3395472" cy="850392"/>
          </a:xfrm>
          <a:prstGeom prst="roundRect">
            <a:avLst>
              <a:gd name="adj" fmla="val 6000"/>
            </a:avLst>
          </a:prstGeom>
          <a:solidFill>
            <a:srgbClr val="FB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61376" y="5321808"/>
            <a:ext cx="3395472" cy="850392"/>
          </a:xfrm>
          <a:prstGeom prst="roundRect">
            <a:avLst>
              <a:gd name="adj" fmla="val 6000"/>
            </a:avLst>
          </a:prstGeom>
          <a:solidFill>
            <a:srgbClr val="EDE9FB"/>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941832" y="5554980"/>
            <a:ext cx="384048" cy="384048"/>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4</a:t>
            </a:r>
          </a:p>
        </p:txBody>
      </p:sp>
      <p:sp>
        <p:nvSpPr>
          <p:cNvPr id="40" name="TextBox 39"/>
          <p:cNvSpPr txBox="1"/>
          <p:nvPr/>
        </p:nvSpPr>
        <p:spPr>
          <a:xfrm>
            <a:off x="1435608" y="5431536"/>
            <a:ext cx="266395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33333D"/>
                </a:solidFill>
                <a:latin typeface="Calibri"/>
              </a:rPr>
              <a:t>A single index built once for one code version</a:t>
            </a:r>
          </a:p>
        </p:txBody>
      </p:sp>
      <p:sp>
        <p:nvSpPr>
          <p:cNvPr id="41" name="TextBox 40"/>
          <p:cNvSpPr txBox="1"/>
          <p:nvPr/>
        </p:nvSpPr>
        <p:spPr>
          <a:xfrm>
            <a:off x="4584192" y="5431536"/>
            <a:ext cx="302971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B33B3B"/>
                </a:solidFill>
                <a:latin typeface="Calibri"/>
              </a:rPr>
              <a:t>Near-identical versions become indistinguishable; every change rebuilds all</a:t>
            </a:r>
          </a:p>
        </p:txBody>
      </p:sp>
      <p:sp>
        <p:nvSpPr>
          <p:cNvPr id="42" name="TextBox 41"/>
          <p:cNvSpPr txBox="1"/>
          <p:nvPr/>
        </p:nvSpPr>
        <p:spPr>
          <a:xfrm>
            <a:off x="8144256" y="5431536"/>
            <a:ext cx="302971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1" i="0">
                <a:solidFill>
                  <a:srgbClr val="14142B"/>
                </a:solidFill>
                <a:latin typeface="Calibri"/>
              </a:rPr>
              <a:t>Content-addressed versioned index + stable-core / version-delta representation</a:t>
            </a:r>
          </a:p>
        </p:txBody>
      </p:sp>
      <p:sp>
        <p:nvSpPr>
          <p:cNvPr id="43" name="TextBox 42"/>
          <p:cNvSpPr txBox="1"/>
          <p:nvPr/>
        </p:nvSpPr>
        <p:spPr>
          <a:xfrm>
            <a:off x="4209288" y="5609844"/>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44" name="TextBox 43"/>
          <p:cNvSpPr txBox="1"/>
          <p:nvPr/>
        </p:nvSpPr>
        <p:spPr>
          <a:xfrm>
            <a:off x="7769352" y="5609844"/>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Tree>
    <p:extLst>
      <p:ext uri="{BB962C8B-B14F-4D97-AF65-F5344CB8AC3E}">
        <p14:creationId xmlns:p14="http://schemas.microsoft.com/office/powerpoint/2010/main" val="1549970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909917" y="266513"/>
            <a:ext cx="10515600" cy="1325563"/>
          </a:xfrm>
        </p:spPr>
        <p:txBody>
          <a:bodyPr/>
          <a:lstStyle/>
          <a:p>
            <a:r>
              <a:rPr lang="en-IN" b="1" dirty="0">
                <a:solidFill>
                  <a:srgbClr val="704EA6"/>
                </a:solidFill>
                <a:latin typeface="+mn-lt"/>
              </a:rPr>
              <a:t>Our Solutions &amp; Architecture Diagram</a:t>
            </a:r>
          </a:p>
        </p:txBody>
      </p:sp>
      <p:sp>
        <p:nvSpPr>
          <p:cNvPr id="3" name="TextBox 2"/>
          <p:cNvSpPr txBox="1"/>
          <p:nvPr/>
        </p:nvSpPr>
        <p:spPr>
          <a:xfrm>
            <a:off x="841248" y="1810511"/>
            <a:ext cx="2743200" cy="274320"/>
          </a:xfrm>
          <a:prstGeom prst="rect">
            <a:avLst/>
          </a:prstGeom>
          <a:noFill/>
        </p:spPr>
        <p:txBody>
          <a:bodyPr wrap="square" lIns="0" rIns="0" tIns="0" bIns="0">
            <a:spAutoFit/>
          </a:bodyPr>
          <a:lstStyle/>
          <a:p>
            <a:pPr algn="l">
              <a:spcBef>
                <a:spcPts val="0"/>
              </a:spcBef>
              <a:spcAft>
                <a:spcPts val="600"/>
              </a:spcAft>
            </a:pPr>
            <a:r>
              <a:rPr sz="1000" b="1" i="0">
                <a:solidFill>
                  <a:srgbClr val="6D28D9"/>
                </a:solidFill>
                <a:latin typeface="Calibri"/>
              </a:rPr>
              <a:t>QUERY PATH</a:t>
            </a:r>
          </a:p>
        </p:txBody>
      </p:sp>
      <p:sp>
        <p:nvSpPr>
          <p:cNvPr id="4" name="TextBox 3"/>
          <p:cNvSpPr txBox="1"/>
          <p:nvPr/>
        </p:nvSpPr>
        <p:spPr>
          <a:xfrm>
            <a:off x="841248" y="3822191"/>
            <a:ext cx="2743200" cy="274320"/>
          </a:xfrm>
          <a:prstGeom prst="rect">
            <a:avLst/>
          </a:prstGeom>
          <a:noFill/>
        </p:spPr>
        <p:txBody>
          <a:bodyPr wrap="square" lIns="0" rIns="0" tIns="0" bIns="0">
            <a:spAutoFit/>
          </a:bodyPr>
          <a:lstStyle/>
          <a:p>
            <a:pPr algn="l">
              <a:spcBef>
                <a:spcPts val="0"/>
              </a:spcBef>
              <a:spcAft>
                <a:spcPts val="600"/>
              </a:spcAft>
            </a:pPr>
            <a:r>
              <a:rPr sz="1000" b="1" i="0">
                <a:solidFill>
                  <a:srgbClr val="6D28D9"/>
                </a:solidFill>
                <a:latin typeface="Calibri"/>
              </a:rPr>
              <a:t>SNIPPET PATH</a:t>
            </a:r>
          </a:p>
        </p:txBody>
      </p:sp>
      <p:sp>
        <p:nvSpPr>
          <p:cNvPr id="5" name="Rounded Rectangle 4"/>
          <p:cNvSpPr/>
          <p:nvPr/>
        </p:nvSpPr>
        <p:spPr>
          <a:xfrm>
            <a:off x="841248" y="2103120"/>
            <a:ext cx="1417320" cy="777240"/>
          </a:xfrm>
          <a:prstGeom prst="roundRect">
            <a:avLst>
              <a:gd name="adj" fmla="val 9000"/>
            </a:avLst>
          </a:prstGeom>
          <a:solidFill>
            <a:srgbClr val="EDE9FB"/>
          </a:solidFill>
          <a:ln w="1587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NL query</a:t>
            </a:r>
          </a:p>
        </p:txBody>
      </p:sp>
      <p:sp>
        <p:nvSpPr>
          <p:cNvPr id="6" name="Rounded Rectangle 5"/>
          <p:cNvSpPr/>
          <p:nvPr/>
        </p:nvSpPr>
        <p:spPr>
          <a:xfrm>
            <a:off x="2578608" y="2103120"/>
            <a:ext cx="2331720" cy="777240"/>
          </a:xfrm>
          <a:prstGeom prst="roundRect">
            <a:avLst>
              <a:gd name="adj" fmla="val 9000"/>
            </a:avLst>
          </a:prstGeom>
          <a:solidFill>
            <a:srgbClr val="FFFFFF"/>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Query preprocess</a:t>
            </a:r>
          </a:p>
          <a:p>
            <a:pPr algn="ctr">
              <a:lnSpc>
                <a:spcPct val="105000"/>
              </a:lnSpc>
            </a:pPr>
            <a:r>
              <a:rPr sz="1150" b="0" i="0">
                <a:solidFill>
                  <a:srgbClr val="14142B"/>
                </a:solidFill>
                <a:latin typeface="Calibri"/>
              </a:rPr>
              <a:t>+ “query: ” prefix</a:t>
            </a:r>
          </a:p>
          <a:p>
            <a:pPr algn="ctr">
              <a:lnSpc>
                <a:spcPct val="105000"/>
              </a:lnSpc>
            </a:pPr>
            <a:r>
              <a:rPr sz="1000" b="0" i="1">
                <a:solidFill>
                  <a:srgbClr val="6B6B76"/>
                </a:solidFill>
                <a:latin typeface="Calibri"/>
              </a:rPr>
              <a:t>query→code HyDE: measured, off</a:t>
            </a:r>
          </a:p>
        </p:txBody>
      </p:sp>
      <p:sp>
        <p:nvSpPr>
          <p:cNvPr id="7" name="Rounded Rectangle 6"/>
          <p:cNvSpPr/>
          <p:nvPr/>
        </p:nvSpPr>
        <p:spPr>
          <a:xfrm>
            <a:off x="5230368" y="2103120"/>
            <a:ext cx="1783080" cy="777240"/>
          </a:xfrm>
          <a:prstGeom prst="roundRect">
            <a:avLst>
              <a:gd name="adj" fmla="val 9000"/>
            </a:avLst>
          </a:prstGeom>
          <a:solidFill>
            <a:srgbClr val="FFFFFF"/>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Query encode</a:t>
            </a:r>
          </a:p>
          <a:p>
            <a:pPr algn="ctr">
              <a:lnSpc>
                <a:spcPct val="105000"/>
              </a:lnSpc>
            </a:pPr>
            <a:r>
              <a:rPr sz="1150" b="0" i="0">
                <a:solidFill>
                  <a:srgbClr val="14142B"/>
                </a:solidFill>
                <a:latin typeface="Calibri"/>
              </a:rPr>
              <a:t>e5-base-v2</a:t>
            </a:r>
          </a:p>
        </p:txBody>
      </p:sp>
      <p:sp>
        <p:nvSpPr>
          <p:cNvPr id="8" name="Rounded Rectangle 7"/>
          <p:cNvSpPr/>
          <p:nvPr/>
        </p:nvSpPr>
        <p:spPr>
          <a:xfrm>
            <a:off x="841248" y="4114800"/>
            <a:ext cx="1417320" cy="777240"/>
          </a:xfrm>
          <a:prstGeom prst="roundRect">
            <a:avLst>
              <a:gd name="adj" fmla="val 9000"/>
            </a:avLst>
          </a:prstGeom>
          <a:solidFill>
            <a:srgbClr val="EDE9FB"/>
          </a:solidFill>
          <a:ln w="1587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Code snippets</a:t>
            </a:r>
          </a:p>
        </p:txBody>
      </p:sp>
      <p:sp>
        <p:nvSpPr>
          <p:cNvPr id="9" name="Rounded Rectangle 8"/>
          <p:cNvSpPr/>
          <p:nvPr/>
        </p:nvSpPr>
        <p:spPr>
          <a:xfrm>
            <a:off x="2578608" y="4114800"/>
            <a:ext cx="2331720" cy="777240"/>
          </a:xfrm>
          <a:prstGeom prst="roundRect">
            <a:avLst>
              <a:gd name="adj" fmla="val 9000"/>
            </a:avLst>
          </a:prstGeom>
          <a:solidFill>
            <a:srgbClr val="FFFFFF"/>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Snippet cleanup</a:t>
            </a:r>
          </a:p>
          <a:p>
            <a:pPr algn="ctr">
              <a:lnSpc>
                <a:spcPct val="105000"/>
              </a:lnSpc>
            </a:pPr>
            <a:r>
              <a:rPr sz="1150" b="0" i="0">
                <a:solidFill>
                  <a:srgbClr val="14142B"/>
                </a:solidFill>
                <a:latin typeface="Calibri"/>
              </a:rPr>
              <a:t>+ chunking + “passage: ”</a:t>
            </a:r>
          </a:p>
          <a:p>
            <a:pPr algn="ctr">
              <a:lnSpc>
                <a:spcPct val="105000"/>
              </a:lnSpc>
            </a:pPr>
            <a:r>
              <a:rPr sz="1000" b="0" i="1">
                <a:solidFill>
                  <a:srgbClr val="6B6B76"/>
                </a:solidFill>
                <a:latin typeface="Calibri"/>
              </a:rPr>
              <a:t>multi-view: measured, off</a:t>
            </a:r>
          </a:p>
        </p:txBody>
      </p:sp>
      <p:sp>
        <p:nvSpPr>
          <p:cNvPr id="10" name="Rounded Rectangle 9"/>
          <p:cNvSpPr/>
          <p:nvPr/>
        </p:nvSpPr>
        <p:spPr>
          <a:xfrm>
            <a:off x="5230368" y="4114800"/>
            <a:ext cx="1783080" cy="777240"/>
          </a:xfrm>
          <a:prstGeom prst="roundRect">
            <a:avLst>
              <a:gd name="adj" fmla="val 9000"/>
            </a:avLst>
          </a:prstGeom>
          <a:solidFill>
            <a:srgbClr val="FFFFFF"/>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Snippet encode</a:t>
            </a:r>
          </a:p>
          <a:p>
            <a:pPr algn="ctr">
              <a:lnSpc>
                <a:spcPct val="105000"/>
              </a:lnSpc>
            </a:pPr>
            <a:r>
              <a:rPr sz="1150" b="0" i="0">
                <a:solidFill>
                  <a:srgbClr val="14142B"/>
                </a:solidFill>
                <a:latin typeface="Calibri"/>
              </a:rPr>
              <a:t>e5-base-v2</a:t>
            </a:r>
          </a:p>
          <a:p>
            <a:pPr algn="ctr">
              <a:lnSpc>
                <a:spcPct val="105000"/>
              </a:lnSpc>
            </a:pPr>
            <a:r>
              <a:rPr sz="1150" b="0" i="0">
                <a:solidFill>
                  <a:srgbClr val="14142B"/>
                </a:solidFill>
                <a:latin typeface="Calibri"/>
              </a:rPr>
              <a:t>+ versioned index</a:t>
            </a:r>
          </a:p>
        </p:txBody>
      </p:sp>
      <p:sp>
        <p:nvSpPr>
          <p:cNvPr id="11" name="Rounded Rectangle 10"/>
          <p:cNvSpPr/>
          <p:nvPr/>
        </p:nvSpPr>
        <p:spPr>
          <a:xfrm>
            <a:off x="7516368" y="3017520"/>
            <a:ext cx="1965960" cy="1600200"/>
          </a:xfrm>
          <a:prstGeom prst="roundRect">
            <a:avLst>
              <a:gd name="adj" fmla="val 9000"/>
            </a:avLst>
          </a:prstGeom>
          <a:solidFill>
            <a:srgbClr val="704EA6"/>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250" b="1" i="0">
                <a:solidFill>
                  <a:srgbClr val="FFFFFF"/>
                </a:solidFill>
                <a:latin typeface="Calibri"/>
              </a:rPr>
              <a:t>Cosine score</a:t>
            </a:r>
          </a:p>
          <a:p>
            <a:pPr algn="ctr">
              <a:lnSpc>
                <a:spcPct val="105000"/>
              </a:lnSpc>
            </a:pPr>
            <a:r>
              <a:rPr sz="1250" b="0" i="0">
                <a:solidFill>
                  <a:srgbClr val="FFFFFF"/>
                </a:solidFill>
                <a:latin typeface="Calibri"/>
              </a:rPr>
              <a:t>(+ cross-version, P1)</a:t>
            </a:r>
          </a:p>
        </p:txBody>
      </p:sp>
      <p:sp>
        <p:nvSpPr>
          <p:cNvPr id="12" name="Rounded Rectangle 11"/>
          <p:cNvSpPr/>
          <p:nvPr/>
        </p:nvSpPr>
        <p:spPr>
          <a:xfrm>
            <a:off x="9802368" y="3017520"/>
            <a:ext cx="1371600" cy="1600200"/>
          </a:xfrm>
          <a:prstGeom prst="roundRect">
            <a:avLst>
              <a:gd name="adj" fmla="val 9000"/>
            </a:avLst>
          </a:prstGeom>
          <a:solidFill>
            <a:srgbClr val="FFFFFF"/>
          </a:solidFill>
          <a:ln w="15875">
            <a:solidFill>
              <a:srgbClr val="D9A44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250" b="1" i="0">
                <a:solidFill>
                  <a:srgbClr val="14142B"/>
                </a:solidFill>
                <a:latin typeface="Calibri"/>
              </a:rPr>
              <a:t>Ranked</a:t>
            </a:r>
          </a:p>
          <a:p>
            <a:pPr algn="ctr">
              <a:lnSpc>
                <a:spcPct val="105000"/>
              </a:lnSpc>
            </a:pPr>
            <a:r>
              <a:rPr sz="1250" b="0" i="0">
                <a:solidFill>
                  <a:srgbClr val="14142B"/>
                </a:solidFill>
                <a:latin typeface="Calibri"/>
              </a:rPr>
              <a:t>snippets</a:t>
            </a:r>
          </a:p>
        </p:txBody>
      </p:sp>
      <p:cxnSp>
        <p:nvCxnSpPr>
          <p:cNvPr id="13" name="Connector 12"/>
          <p:cNvCxnSpPr/>
          <p:nvPr/>
        </p:nvCxnSpPr>
        <p:spPr>
          <a:xfrm>
            <a:off x="2258568" y="2491739"/>
            <a:ext cx="320040" cy="0"/>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910328" y="2491739"/>
            <a:ext cx="320040" cy="0"/>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58568" y="4503420"/>
            <a:ext cx="320040" cy="0"/>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910328" y="4503420"/>
            <a:ext cx="320040" cy="0"/>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013448" y="2491739"/>
            <a:ext cx="502920" cy="973837"/>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7013448" y="4169663"/>
            <a:ext cx="502920" cy="333757"/>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482328" y="3817620"/>
            <a:ext cx="320040" cy="0"/>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41248" y="5074920"/>
            <a:ext cx="10515600" cy="365760"/>
          </a:xfrm>
          <a:prstGeom prst="rect">
            <a:avLst/>
          </a:prstGeom>
          <a:noFill/>
        </p:spPr>
        <p:txBody>
          <a:bodyPr wrap="square" lIns="0" rIns="0" tIns="0" bIns="0">
            <a:spAutoFit/>
          </a:bodyPr>
          <a:lstStyle/>
          <a:p>
            <a:pPr algn="ctr">
              <a:spcBef>
                <a:spcPts val="0"/>
              </a:spcBef>
              <a:spcAft>
                <a:spcPts val="600"/>
              </a:spcAft>
            </a:pPr>
            <a:r>
              <a:rPr sz="1150" b="0" i="1">
                <a:solidFill>
                  <a:srgbClr val="6B6B76"/>
                </a:solidFill>
                <a:latin typeface="Calibri"/>
              </a:rPr>
              <a:t>Submitted: e5-base-v2, 512-token window, CPU-only. Grey items are built and switchable by config, but lost on the real split and are off.</a:t>
            </a:r>
          </a:p>
        </p:txBody>
      </p:sp>
      <p:sp>
        <p:nvSpPr>
          <p:cNvPr id="21" name="Rounded Rectangle 20"/>
          <p:cNvSpPr/>
          <p:nvPr/>
        </p:nvSpPr>
        <p:spPr>
          <a:xfrm>
            <a:off x="841248" y="5486400"/>
            <a:ext cx="10515600" cy="777240"/>
          </a:xfrm>
          <a:prstGeom prst="roundRect">
            <a:avLst>
              <a:gd name="adj" fmla="val 6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9848" y="5559552"/>
            <a:ext cx="10058400" cy="256032"/>
          </a:xfrm>
          <a:prstGeom prst="rect">
            <a:avLst/>
          </a:prstGeom>
          <a:noFill/>
        </p:spPr>
        <p:txBody>
          <a:bodyPr wrap="square" lIns="0" rIns="0" tIns="0" bIns="0">
            <a:spAutoFit/>
          </a:bodyPr>
          <a:lstStyle/>
          <a:p>
            <a:pPr algn="l">
              <a:spcBef>
                <a:spcPts val="0"/>
              </a:spcBef>
              <a:spcAft>
                <a:spcPts val="600"/>
              </a:spcAft>
            </a:pPr>
            <a:r>
              <a:rPr sz="950" b="1" i="0">
                <a:solidFill>
                  <a:srgbClr val="6D28D9"/>
                </a:solidFill>
                <a:latin typeface="Calibri"/>
              </a:rPr>
              <a:t>EXAMPLE TRACE  —  one real query through the pipeline</a:t>
            </a:r>
          </a:p>
        </p:txBody>
      </p:sp>
      <p:sp>
        <p:nvSpPr>
          <p:cNvPr id="23" name="Rounded Rectangle 22"/>
          <p:cNvSpPr/>
          <p:nvPr/>
        </p:nvSpPr>
        <p:spPr>
          <a:xfrm>
            <a:off x="1115568" y="5833872"/>
            <a:ext cx="1861718" cy="365760"/>
          </a:xfrm>
          <a:prstGeom prst="roundRect">
            <a:avLst>
              <a:gd name="adj" fmla="val 5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88720" y="5852159"/>
            <a:ext cx="1715414" cy="329184"/>
          </a:xfrm>
          <a:prstGeom prst="rect">
            <a:avLst/>
          </a:prstGeom>
          <a:noFill/>
        </p:spPr>
        <p:txBody>
          <a:bodyPr wrap="square" lIns="0" rIns="0" tIns="0" bIns="0" anchor="ctr">
            <a:spAutoFit/>
          </a:bodyPr>
          <a:lstStyle/>
          <a:p>
            <a:pPr algn="ctr">
              <a:spcBef>
                <a:spcPts val="0"/>
              </a:spcBef>
              <a:spcAft>
                <a:spcPts val="0"/>
              </a:spcAft>
            </a:pPr>
            <a:r>
              <a:rPr sz="850" b="1" i="0">
                <a:solidFill>
                  <a:srgbClr val="6D28D9"/>
                </a:solidFill>
                <a:latin typeface="Calibri"/>
              </a:rPr>
              <a:t>Query</a:t>
            </a:r>
          </a:p>
          <a:p>
            <a:pPr algn="ctr">
              <a:spcBef>
                <a:spcPts val="0"/>
              </a:spcBef>
              <a:spcAft>
                <a:spcPts val="600"/>
              </a:spcAft>
            </a:pPr>
            <a:r>
              <a:rPr sz="850" b="0" i="0">
                <a:solidFill>
                  <a:srgbClr val="14142B"/>
                </a:solidFill>
                <a:latin typeface="Calibri"/>
              </a:rPr>
              <a:t>“find two numbers that sum to a target”</a:t>
            </a:r>
          </a:p>
        </p:txBody>
      </p:sp>
      <p:sp>
        <p:nvSpPr>
          <p:cNvPr id="25" name="TextBox 24"/>
          <p:cNvSpPr txBox="1"/>
          <p:nvPr/>
        </p:nvSpPr>
        <p:spPr>
          <a:xfrm>
            <a:off x="2986430" y="5852159"/>
            <a:ext cx="146304" cy="329184"/>
          </a:xfrm>
          <a:prstGeom prst="rect">
            <a:avLst/>
          </a:prstGeom>
          <a:noFill/>
        </p:spPr>
        <p:txBody>
          <a:bodyPr wrap="square" lIns="0" rIns="0" tIns="0" bIns="0" anchor="ctr">
            <a:spAutoFit/>
          </a:bodyPr>
          <a:lstStyle/>
          <a:p>
            <a:pPr algn="ctr">
              <a:spcBef>
                <a:spcPts val="0"/>
              </a:spcBef>
              <a:spcAft>
                <a:spcPts val="600"/>
              </a:spcAft>
            </a:pPr>
            <a:r>
              <a:rPr sz="1400" b="1" i="0">
                <a:solidFill>
                  <a:srgbClr val="6B6B76"/>
                </a:solidFill>
                <a:latin typeface="Calibri"/>
              </a:rPr>
              <a:t>›</a:t>
            </a:r>
          </a:p>
        </p:txBody>
      </p:sp>
      <p:sp>
        <p:nvSpPr>
          <p:cNvPr id="26" name="Rounded Rectangle 25"/>
          <p:cNvSpPr/>
          <p:nvPr/>
        </p:nvSpPr>
        <p:spPr>
          <a:xfrm>
            <a:off x="3141878" y="5833872"/>
            <a:ext cx="1861718" cy="365760"/>
          </a:xfrm>
          <a:prstGeom prst="roundRect">
            <a:avLst>
              <a:gd name="adj" fmla="val 5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15030" y="5852159"/>
            <a:ext cx="1715414" cy="329184"/>
          </a:xfrm>
          <a:prstGeom prst="rect">
            <a:avLst/>
          </a:prstGeom>
          <a:noFill/>
        </p:spPr>
        <p:txBody>
          <a:bodyPr wrap="square" lIns="0" rIns="0" tIns="0" bIns="0" anchor="ctr">
            <a:spAutoFit/>
          </a:bodyPr>
          <a:lstStyle/>
          <a:p>
            <a:pPr algn="ctr">
              <a:spcBef>
                <a:spcPts val="0"/>
              </a:spcBef>
              <a:spcAft>
                <a:spcPts val="0"/>
              </a:spcAft>
            </a:pPr>
            <a:r>
              <a:rPr sz="850" b="1" i="0">
                <a:solidFill>
                  <a:srgbClr val="6D28D9"/>
                </a:solidFill>
                <a:latin typeface="Calibri"/>
              </a:rPr>
              <a:t>Preprocess</a:t>
            </a:r>
          </a:p>
          <a:p>
            <a:pPr algn="ctr">
              <a:spcBef>
                <a:spcPts val="0"/>
              </a:spcBef>
              <a:spcAft>
                <a:spcPts val="600"/>
              </a:spcAft>
            </a:pPr>
            <a:r>
              <a:rPr sz="850" b="0" i="0">
                <a:solidFill>
                  <a:srgbClr val="14142B"/>
                </a:solidFill>
                <a:latin typeface="Calibri"/>
              </a:rPr>
              <a:t>“query: ” + normalized text</a:t>
            </a:r>
          </a:p>
        </p:txBody>
      </p:sp>
      <p:sp>
        <p:nvSpPr>
          <p:cNvPr id="28" name="TextBox 27"/>
          <p:cNvSpPr txBox="1"/>
          <p:nvPr/>
        </p:nvSpPr>
        <p:spPr>
          <a:xfrm>
            <a:off x="5012740" y="5852159"/>
            <a:ext cx="146304" cy="329184"/>
          </a:xfrm>
          <a:prstGeom prst="rect">
            <a:avLst/>
          </a:prstGeom>
          <a:noFill/>
        </p:spPr>
        <p:txBody>
          <a:bodyPr wrap="square" lIns="0" rIns="0" tIns="0" bIns="0" anchor="ctr">
            <a:spAutoFit/>
          </a:bodyPr>
          <a:lstStyle/>
          <a:p>
            <a:pPr algn="ctr">
              <a:spcBef>
                <a:spcPts val="0"/>
              </a:spcBef>
              <a:spcAft>
                <a:spcPts val="600"/>
              </a:spcAft>
            </a:pPr>
            <a:r>
              <a:rPr sz="1400" b="1" i="0">
                <a:solidFill>
                  <a:srgbClr val="6B6B76"/>
                </a:solidFill>
                <a:latin typeface="Calibri"/>
              </a:rPr>
              <a:t>›</a:t>
            </a:r>
          </a:p>
        </p:txBody>
      </p:sp>
      <p:sp>
        <p:nvSpPr>
          <p:cNvPr id="29" name="Rounded Rectangle 28"/>
          <p:cNvSpPr/>
          <p:nvPr/>
        </p:nvSpPr>
        <p:spPr>
          <a:xfrm>
            <a:off x="5168188" y="5833872"/>
            <a:ext cx="1861718" cy="365760"/>
          </a:xfrm>
          <a:prstGeom prst="roundRect">
            <a:avLst>
              <a:gd name="adj" fmla="val 5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41340" y="5852159"/>
            <a:ext cx="1715414" cy="329184"/>
          </a:xfrm>
          <a:prstGeom prst="rect">
            <a:avLst/>
          </a:prstGeom>
          <a:noFill/>
        </p:spPr>
        <p:txBody>
          <a:bodyPr wrap="square" lIns="0" rIns="0" tIns="0" bIns="0" anchor="ctr">
            <a:spAutoFit/>
          </a:bodyPr>
          <a:lstStyle/>
          <a:p>
            <a:pPr algn="ctr">
              <a:spcBef>
                <a:spcPts val="0"/>
              </a:spcBef>
              <a:spcAft>
                <a:spcPts val="0"/>
              </a:spcAft>
            </a:pPr>
            <a:r>
              <a:rPr sz="850" b="1" i="0">
                <a:solidFill>
                  <a:srgbClr val="6D28D9"/>
                </a:solidFill>
                <a:latin typeface="Calibri"/>
              </a:rPr>
              <a:t>Encode</a:t>
            </a:r>
          </a:p>
          <a:p>
            <a:pPr algn="ctr">
              <a:spcBef>
                <a:spcPts val="0"/>
              </a:spcBef>
              <a:spcAft>
                <a:spcPts val="600"/>
              </a:spcAft>
            </a:pPr>
            <a:r>
              <a:rPr sz="850" b="0" i="0">
                <a:solidFill>
                  <a:srgbClr val="14142B"/>
                </a:solidFill>
                <a:latin typeface="Calibri"/>
              </a:rPr>
              <a:t>768-d vector (e5)</a:t>
            </a:r>
          </a:p>
        </p:txBody>
      </p:sp>
      <p:sp>
        <p:nvSpPr>
          <p:cNvPr id="31" name="TextBox 30"/>
          <p:cNvSpPr txBox="1"/>
          <p:nvPr/>
        </p:nvSpPr>
        <p:spPr>
          <a:xfrm>
            <a:off x="7039051" y="5852159"/>
            <a:ext cx="146304" cy="329184"/>
          </a:xfrm>
          <a:prstGeom prst="rect">
            <a:avLst/>
          </a:prstGeom>
          <a:noFill/>
        </p:spPr>
        <p:txBody>
          <a:bodyPr wrap="square" lIns="0" rIns="0" tIns="0" bIns="0" anchor="ctr">
            <a:spAutoFit/>
          </a:bodyPr>
          <a:lstStyle/>
          <a:p>
            <a:pPr algn="ctr">
              <a:spcBef>
                <a:spcPts val="0"/>
              </a:spcBef>
              <a:spcAft>
                <a:spcPts val="600"/>
              </a:spcAft>
            </a:pPr>
            <a:r>
              <a:rPr sz="1400" b="1" i="0">
                <a:solidFill>
                  <a:srgbClr val="6B6B76"/>
                </a:solidFill>
                <a:latin typeface="Calibri"/>
              </a:rPr>
              <a:t>›</a:t>
            </a:r>
          </a:p>
        </p:txBody>
      </p:sp>
      <p:sp>
        <p:nvSpPr>
          <p:cNvPr id="32" name="Rounded Rectangle 31"/>
          <p:cNvSpPr/>
          <p:nvPr/>
        </p:nvSpPr>
        <p:spPr>
          <a:xfrm>
            <a:off x="7194499" y="5833872"/>
            <a:ext cx="1861718" cy="365760"/>
          </a:xfrm>
          <a:prstGeom prst="roundRect">
            <a:avLst>
              <a:gd name="adj" fmla="val 5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67651" y="5852159"/>
            <a:ext cx="1715414" cy="329184"/>
          </a:xfrm>
          <a:prstGeom prst="rect">
            <a:avLst/>
          </a:prstGeom>
          <a:noFill/>
        </p:spPr>
        <p:txBody>
          <a:bodyPr wrap="square" lIns="0" rIns="0" tIns="0" bIns="0" anchor="ctr">
            <a:spAutoFit/>
          </a:bodyPr>
          <a:lstStyle/>
          <a:p>
            <a:pPr algn="ctr">
              <a:spcBef>
                <a:spcPts val="0"/>
              </a:spcBef>
              <a:spcAft>
                <a:spcPts val="0"/>
              </a:spcAft>
            </a:pPr>
            <a:r>
              <a:rPr sz="850" b="1" i="0">
                <a:solidFill>
                  <a:srgbClr val="6D28D9"/>
                </a:solidFill>
                <a:latin typeface="Calibri"/>
              </a:rPr>
              <a:t>Score</a:t>
            </a:r>
          </a:p>
          <a:p>
            <a:pPr algn="ctr">
              <a:spcBef>
                <a:spcPts val="0"/>
              </a:spcBef>
              <a:spcAft>
                <a:spcPts val="600"/>
              </a:spcAft>
            </a:pPr>
            <a:r>
              <a:rPr sz="850" b="0" i="0">
                <a:solidFill>
                  <a:srgbClr val="14142B"/>
                </a:solidFill>
                <a:latin typeface="Calibri"/>
              </a:rPr>
              <a:t>cosine vs every snippet</a:t>
            </a:r>
          </a:p>
        </p:txBody>
      </p:sp>
      <p:sp>
        <p:nvSpPr>
          <p:cNvPr id="34" name="TextBox 33"/>
          <p:cNvSpPr txBox="1"/>
          <p:nvPr/>
        </p:nvSpPr>
        <p:spPr>
          <a:xfrm>
            <a:off x="9065361" y="5852159"/>
            <a:ext cx="146304" cy="329184"/>
          </a:xfrm>
          <a:prstGeom prst="rect">
            <a:avLst/>
          </a:prstGeom>
          <a:noFill/>
        </p:spPr>
        <p:txBody>
          <a:bodyPr wrap="square" lIns="0" rIns="0" tIns="0" bIns="0" anchor="ctr">
            <a:spAutoFit/>
          </a:bodyPr>
          <a:lstStyle/>
          <a:p>
            <a:pPr algn="ctr">
              <a:spcBef>
                <a:spcPts val="0"/>
              </a:spcBef>
              <a:spcAft>
                <a:spcPts val="600"/>
              </a:spcAft>
            </a:pPr>
            <a:r>
              <a:rPr sz="1400" b="1" i="0">
                <a:solidFill>
                  <a:srgbClr val="6B6B76"/>
                </a:solidFill>
                <a:latin typeface="Calibri"/>
              </a:rPr>
              <a:t>›</a:t>
            </a:r>
          </a:p>
        </p:txBody>
      </p:sp>
      <p:sp>
        <p:nvSpPr>
          <p:cNvPr id="35" name="Rounded Rectangle 34"/>
          <p:cNvSpPr/>
          <p:nvPr/>
        </p:nvSpPr>
        <p:spPr>
          <a:xfrm>
            <a:off x="9220809" y="5833872"/>
            <a:ext cx="1861718" cy="365760"/>
          </a:xfrm>
          <a:prstGeom prst="roundRect">
            <a:avLst>
              <a:gd name="adj" fmla="val 50000"/>
            </a:avLst>
          </a:prstGeom>
          <a:solidFill>
            <a:srgbClr val="D9A441"/>
          </a:solidFill>
          <a:ln w="12700">
            <a:solidFill>
              <a:srgbClr val="D9A4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93961" y="5852159"/>
            <a:ext cx="1715414" cy="329184"/>
          </a:xfrm>
          <a:prstGeom prst="rect">
            <a:avLst/>
          </a:prstGeom>
          <a:noFill/>
        </p:spPr>
        <p:txBody>
          <a:bodyPr wrap="square" lIns="0" rIns="0" tIns="0" bIns="0" anchor="ctr">
            <a:spAutoFit/>
          </a:bodyPr>
          <a:lstStyle/>
          <a:p>
            <a:pPr algn="ctr">
              <a:spcBef>
                <a:spcPts val="0"/>
              </a:spcBef>
              <a:spcAft>
                <a:spcPts val="0"/>
              </a:spcAft>
            </a:pPr>
            <a:r>
              <a:rPr sz="850" b="1" i="0">
                <a:solidFill>
                  <a:srgbClr val="6D28D9"/>
                </a:solidFill>
                <a:latin typeface="Calibri"/>
              </a:rPr>
              <a:t>Top hit</a:t>
            </a:r>
          </a:p>
          <a:p>
            <a:pPr algn="ctr">
              <a:spcBef>
                <a:spcPts val="0"/>
              </a:spcBef>
              <a:spcAft>
                <a:spcPts val="600"/>
              </a:spcAft>
            </a:pPr>
            <a:r>
              <a:rPr sz="850" b="0" i="0">
                <a:solidFill>
                  <a:srgbClr val="14142B"/>
                </a:solidFill>
                <a:latin typeface="Calibri"/>
              </a:rPr>
              <a:t>[two_sum]</a:t>
            </a:r>
          </a:p>
        </p:txBody>
      </p:sp>
    </p:spTree>
    <p:extLst>
      <p:ext uri="{BB962C8B-B14F-4D97-AF65-F5344CB8AC3E}">
        <p14:creationId xmlns:p14="http://schemas.microsoft.com/office/powerpoint/2010/main" val="2579789072"/>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IN" b="1" dirty="0">
                <a:solidFill>
                  <a:srgbClr val="704EA6"/>
                </a:solidFill>
                <a:latin typeface="+mn-lt"/>
              </a:rPr>
              <a:t>Demo &amp; Product Walkthrough</a:t>
            </a:r>
          </a:p>
        </p:txBody>
      </p:sp>
      <p:sp>
        <p:nvSpPr>
          <p:cNvPr id="3" name="Rounded Rectangle 2"/>
          <p:cNvSpPr/>
          <p:nvPr/>
        </p:nvSpPr>
        <p:spPr>
          <a:xfrm>
            <a:off x="841248" y="1874519"/>
            <a:ext cx="6720840" cy="2880360"/>
          </a:xfrm>
          <a:prstGeom prst="roundRect">
            <a:avLst>
              <a:gd name="adj" fmla="val 3500"/>
            </a:avLst>
          </a:prstGeom>
          <a:solidFill>
            <a:srgbClr val="1C1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97280" y="2103120"/>
            <a:ext cx="128016" cy="128016"/>
          </a:xfrm>
          <a:prstGeom prst="ellipse">
            <a:avLst/>
          </a:prstGeom>
          <a:solidFill>
            <a:srgbClr val="E06C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353312" y="2103120"/>
            <a:ext cx="128016" cy="128016"/>
          </a:xfrm>
          <a:prstGeom prst="ellipse">
            <a:avLst/>
          </a:prstGeom>
          <a:solidFill>
            <a:srgbClr val="E8C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609344" y="2103120"/>
            <a:ext cx="128016" cy="128016"/>
          </a:xfrm>
          <a:prstGeom prst="ellipse">
            <a:avLst/>
          </a:prstGeom>
          <a:solidFill>
            <a:srgbClr val="7BC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61288" y="2468879"/>
            <a:ext cx="6080759" cy="2103120"/>
          </a:xfrm>
          <a:prstGeom prst="rect">
            <a:avLst/>
          </a:prstGeom>
          <a:noFill/>
        </p:spPr>
        <p:txBody>
          <a:bodyPr wrap="square" lIns="0" rIns="0" tIns="0" bIns="0">
            <a:spAutoFit/>
          </a:bodyPr>
          <a:lstStyle/>
          <a:p>
            <a:pPr algn="l">
              <a:spcBef>
                <a:spcPts val="0"/>
              </a:spcBef>
              <a:spcAft>
                <a:spcPts val="500"/>
              </a:spcAft>
            </a:pPr>
            <a:r>
              <a:rPr sz="1200" b="0" i="0">
                <a:solidFill>
                  <a:srgbClr val="9C94B8"/>
                </a:solidFill>
                <a:latin typeface="Courier New"/>
              </a:rPr>
              <a:t>$ python -m prism.cli demo --backend hashing</a:t>
            </a:r>
          </a:p>
          <a:p>
            <a:pPr algn="l">
              <a:spcBef>
                <a:spcPts val="0"/>
              </a:spcBef>
              <a:spcAft>
                <a:spcPts val="500"/>
              </a:spcAft>
            </a:pPr>
            <a:r>
              <a:rPr sz="1200" b="0" i="0">
                <a:solidFill>
                  <a:srgbClr val="9C94B8"/>
                </a:solidFill>
                <a:latin typeface="Courier New"/>
              </a:rPr>
              <a:t>[prism-demo] embedding backend: offline HashingBackend</a:t>
            </a:r>
          </a:p>
          <a:p>
            <a:pPr algn="l">
              <a:spcBef>
                <a:spcPts val="0"/>
              </a:spcBef>
              <a:spcAft>
                <a:spcPts val="500"/>
              </a:spcAft>
            </a:pPr>
            <a:r>
              <a:rPr sz="1200" b="0" i="0">
                <a:solidFill>
                  <a:srgbClr val="9C94B8"/>
                </a:solidFill>
                <a:latin typeface="Courier New"/>
              </a:rPr>
              <a:t> </a:t>
            </a:r>
          </a:p>
          <a:p>
            <a:pPr algn="l">
              <a:spcBef>
                <a:spcPts val="0"/>
              </a:spcBef>
              <a:spcAft>
                <a:spcPts val="500"/>
              </a:spcAft>
            </a:pPr>
            <a:r>
              <a:rPr sz="1200" b="0" i="0">
                <a:solidFill>
                  <a:srgbClr val="EFECF9"/>
                </a:solidFill>
                <a:latin typeface="Courier New"/>
              </a:rPr>
              <a:t>Q: find two numbers that sum to a target</a:t>
            </a:r>
          </a:p>
          <a:p>
            <a:pPr algn="l">
              <a:spcBef>
                <a:spcPts val="0"/>
              </a:spcBef>
              <a:spcAft>
                <a:spcPts val="500"/>
              </a:spcAft>
            </a:pPr>
            <a:r>
              <a:rPr sz="1200" b="0" i="0">
                <a:solidFill>
                  <a:srgbClr val="E8C17A"/>
                </a:solidFill>
                <a:latin typeface="Courier New"/>
              </a:rPr>
              <a:t>  1. [two_sum]         score=0.3810</a:t>
            </a:r>
          </a:p>
          <a:p>
            <a:pPr algn="l">
              <a:spcBef>
                <a:spcPts val="0"/>
              </a:spcBef>
              <a:spcAft>
                <a:spcPts val="500"/>
              </a:spcAft>
            </a:pPr>
            <a:r>
              <a:rPr sz="1200" b="0" i="0">
                <a:solidFill>
                  <a:srgbClr val="9C94B8"/>
                </a:solidFill>
                <a:latin typeface="Courier New"/>
              </a:rPr>
              <a:t>  2. [binary_search]   score=0.1483</a:t>
            </a:r>
          </a:p>
          <a:p>
            <a:pPr algn="l">
              <a:spcBef>
                <a:spcPts val="0"/>
              </a:spcBef>
              <a:spcAft>
                <a:spcPts val="500"/>
              </a:spcAft>
            </a:pPr>
            <a:r>
              <a:rPr sz="1200" b="0" i="0">
                <a:solidFill>
                  <a:srgbClr val="9C94B8"/>
                </a:solidFill>
                <a:latin typeface="Courier New"/>
              </a:rPr>
              <a:t> </a:t>
            </a:r>
          </a:p>
          <a:p>
            <a:pPr algn="l">
              <a:spcBef>
                <a:spcPts val="0"/>
              </a:spcBef>
              <a:spcAft>
                <a:spcPts val="500"/>
              </a:spcAft>
            </a:pPr>
            <a:r>
              <a:rPr sz="1200" b="1" i="0">
                <a:solidFill>
                  <a:srgbClr val="8FD9A8"/>
                </a:solidFill>
                <a:latin typeface="Courier New"/>
              </a:rPr>
              <a:t>mean query latency: 0.03 ms  (36,000+ q/s)</a:t>
            </a:r>
          </a:p>
        </p:txBody>
      </p:sp>
      <p:sp>
        <p:nvSpPr>
          <p:cNvPr id="8" name="Rounded Rectangle 7"/>
          <p:cNvSpPr/>
          <p:nvPr/>
        </p:nvSpPr>
        <p:spPr>
          <a:xfrm>
            <a:off x="7836408" y="1874519"/>
            <a:ext cx="3520439" cy="1303020"/>
          </a:xfrm>
          <a:prstGeom prst="roundRect">
            <a:avLst>
              <a:gd name="adj" fmla="val 8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73568" y="2039112"/>
            <a:ext cx="3246120" cy="973836"/>
          </a:xfrm>
          <a:prstGeom prst="rect">
            <a:avLst/>
          </a:prstGeom>
          <a:noFill/>
        </p:spPr>
        <p:txBody>
          <a:bodyPr wrap="square" lIns="0" rIns="0" tIns="0" bIns="0" anchor="ctr">
            <a:spAutoFit/>
          </a:bodyPr>
          <a:lstStyle/>
          <a:p>
            <a:pPr algn="ctr">
              <a:spcBef>
                <a:spcPts val="0"/>
              </a:spcBef>
              <a:spcAft>
                <a:spcPts val="200"/>
              </a:spcAft>
            </a:pPr>
            <a:r>
              <a:rPr sz="2800" b="1" i="0">
                <a:solidFill>
                  <a:srgbClr val="6D28D9"/>
                </a:solidFill>
                <a:latin typeface="Calibri"/>
              </a:rPr>
              <a:t>0.03 ms</a:t>
            </a:r>
          </a:p>
          <a:p>
            <a:pPr algn="ctr">
              <a:spcBef>
                <a:spcPts val="0"/>
              </a:spcBef>
              <a:spcAft>
                <a:spcPts val="600"/>
              </a:spcAft>
            </a:pPr>
            <a:r>
              <a:rPr sz="1100" b="0" i="0">
                <a:solidFill>
                  <a:srgbClr val="6B6B76"/>
                </a:solidFill>
                <a:latin typeface="Calibri"/>
              </a:rPr>
              <a:t>mean query latency (offline demo)</a:t>
            </a:r>
          </a:p>
        </p:txBody>
      </p:sp>
      <p:sp>
        <p:nvSpPr>
          <p:cNvPr id="10" name="Rounded Rectangle 9"/>
          <p:cNvSpPr/>
          <p:nvPr/>
        </p:nvSpPr>
        <p:spPr>
          <a:xfrm>
            <a:off x="7836408" y="3451860"/>
            <a:ext cx="3520439" cy="1303020"/>
          </a:xfrm>
          <a:prstGeom prst="roundRect">
            <a:avLst>
              <a:gd name="adj" fmla="val 8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73568" y="3616452"/>
            <a:ext cx="3246120" cy="973836"/>
          </a:xfrm>
          <a:prstGeom prst="rect">
            <a:avLst/>
          </a:prstGeom>
          <a:noFill/>
        </p:spPr>
        <p:txBody>
          <a:bodyPr wrap="square" lIns="0" rIns="0" tIns="0" bIns="0" anchor="ctr">
            <a:spAutoFit/>
          </a:bodyPr>
          <a:lstStyle/>
          <a:p>
            <a:pPr algn="ctr">
              <a:spcBef>
                <a:spcPts val="0"/>
              </a:spcBef>
              <a:spcAft>
                <a:spcPts val="200"/>
              </a:spcAft>
            </a:pPr>
            <a:r>
              <a:rPr sz="2800" b="1" i="0">
                <a:solidFill>
                  <a:srgbClr val="6D28D9"/>
                </a:solidFill>
                <a:latin typeface="Calibri"/>
              </a:rPr>
              <a:t>36,000+</a:t>
            </a:r>
          </a:p>
          <a:p>
            <a:pPr algn="ctr">
              <a:spcBef>
                <a:spcPts val="0"/>
              </a:spcBef>
              <a:spcAft>
                <a:spcPts val="600"/>
              </a:spcAft>
            </a:pPr>
            <a:r>
              <a:rPr sz="1100" b="0" i="0">
                <a:solidFill>
                  <a:srgbClr val="6B6B76"/>
                </a:solidFill>
                <a:latin typeface="Calibri"/>
              </a:rPr>
              <a:t>queries / second (offline demo)</a:t>
            </a:r>
          </a:p>
        </p:txBody>
      </p:sp>
      <p:sp>
        <p:nvSpPr>
          <p:cNvPr id="12" name="TextBox 11"/>
          <p:cNvSpPr txBox="1"/>
          <p:nvPr/>
        </p:nvSpPr>
        <p:spPr>
          <a:xfrm>
            <a:off x="841248" y="4727447"/>
            <a:ext cx="10515600" cy="256032"/>
          </a:xfrm>
          <a:prstGeom prst="rect">
            <a:avLst/>
          </a:prstGeom>
          <a:noFill/>
        </p:spPr>
        <p:txBody>
          <a:bodyPr wrap="square" lIns="0" rIns="0" tIns="0" bIns="0">
            <a:spAutoFit/>
          </a:bodyPr>
          <a:lstStyle/>
          <a:p>
            <a:pPr algn="l">
              <a:spcBef>
                <a:spcPts val="0"/>
              </a:spcBef>
              <a:spcAft>
                <a:spcPts val="600"/>
              </a:spcAft>
            </a:pPr>
            <a:r>
              <a:rPr sz="1050" b="1" i="0">
                <a:solidFill>
                  <a:srgbClr val="6D28D9"/>
                </a:solidFill>
                <a:latin typeface="Calibri"/>
              </a:rPr>
              <a:t>3 more behavioural queries, top-1 hits on the same corpus</a:t>
            </a:r>
          </a:p>
        </p:txBody>
      </p:sp>
      <p:sp>
        <p:nvSpPr>
          <p:cNvPr id="13" name="Rounded Rectangle 12"/>
          <p:cNvSpPr/>
          <p:nvPr/>
        </p:nvSpPr>
        <p:spPr>
          <a:xfrm>
            <a:off x="841248" y="4983479"/>
            <a:ext cx="3352800" cy="105156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 y="5074919"/>
            <a:ext cx="3060192" cy="365760"/>
          </a:xfrm>
          <a:prstGeom prst="rect">
            <a:avLst/>
          </a:prstGeom>
          <a:noFill/>
        </p:spPr>
        <p:txBody>
          <a:bodyPr wrap="square" lIns="0" rIns="0" tIns="0" bIns="0">
            <a:spAutoFit/>
          </a:bodyPr>
          <a:lstStyle/>
          <a:p>
            <a:pPr algn="l">
              <a:lnSpc>
                <a:spcPct val="110000"/>
              </a:lnSpc>
              <a:spcBef>
                <a:spcPts val="0"/>
              </a:spcBef>
              <a:spcAft>
                <a:spcPts val="600"/>
              </a:spcAft>
            </a:pPr>
            <a:r>
              <a:rPr sz="1050" b="0" i="1">
                <a:solidFill>
                  <a:srgbClr val="6B6B76"/>
                </a:solidFill>
                <a:latin typeface="Calibri"/>
              </a:rPr>
              <a:t>Q  “check if a string is a palindrome”</a:t>
            </a:r>
          </a:p>
        </p:txBody>
      </p:sp>
      <p:sp>
        <p:nvSpPr>
          <p:cNvPr id="15" name="TextBox 14"/>
          <p:cNvSpPr txBox="1"/>
          <p:nvPr/>
        </p:nvSpPr>
        <p:spPr>
          <a:xfrm>
            <a:off x="987552" y="5513831"/>
            <a:ext cx="3060192" cy="457200"/>
          </a:xfrm>
          <a:prstGeom prst="rect">
            <a:avLst/>
          </a:prstGeom>
          <a:noFill/>
        </p:spPr>
        <p:txBody>
          <a:bodyPr wrap="square" lIns="0" rIns="0" tIns="0" bIns="0">
            <a:spAutoFit/>
          </a:bodyPr>
          <a:lstStyle/>
          <a:p>
            <a:pPr algn="l">
              <a:spcBef>
                <a:spcPts val="0"/>
              </a:spcBef>
              <a:spcAft>
                <a:spcPts val="0"/>
              </a:spcAft>
            </a:pPr>
            <a:r>
              <a:rPr sz="1500" b="1" i="0">
                <a:solidFill>
                  <a:srgbClr val="6D28D9"/>
                </a:solidFill>
                <a:latin typeface="Calibri"/>
              </a:rPr>
              <a:t>▶  is_palindrome</a:t>
            </a:r>
          </a:p>
          <a:p>
            <a:pPr algn="l">
              <a:spcBef>
                <a:spcPts val="0"/>
              </a:spcBef>
              <a:spcAft>
                <a:spcPts val="0"/>
              </a:spcAft>
            </a:pPr>
            <a:r>
              <a:rPr sz="1000" b="0" i="0">
                <a:solidFill>
                  <a:srgbClr val="6B6B76"/>
                </a:solidFill>
                <a:latin typeface="Calibri"/>
              </a:rPr>
              <a:t>score  0.44</a:t>
            </a:r>
          </a:p>
        </p:txBody>
      </p:sp>
      <p:sp>
        <p:nvSpPr>
          <p:cNvPr id="16" name="Rounded Rectangle 15"/>
          <p:cNvSpPr/>
          <p:nvPr/>
        </p:nvSpPr>
        <p:spPr>
          <a:xfrm>
            <a:off x="4422648" y="4983479"/>
            <a:ext cx="3352800" cy="105156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8952" y="5074919"/>
            <a:ext cx="3060192" cy="365760"/>
          </a:xfrm>
          <a:prstGeom prst="rect">
            <a:avLst/>
          </a:prstGeom>
          <a:noFill/>
        </p:spPr>
        <p:txBody>
          <a:bodyPr wrap="square" lIns="0" rIns="0" tIns="0" bIns="0">
            <a:spAutoFit/>
          </a:bodyPr>
          <a:lstStyle/>
          <a:p>
            <a:pPr algn="l">
              <a:lnSpc>
                <a:spcPct val="110000"/>
              </a:lnSpc>
              <a:spcBef>
                <a:spcPts val="0"/>
              </a:spcBef>
              <a:spcAft>
                <a:spcPts val="600"/>
              </a:spcAft>
            </a:pPr>
            <a:r>
              <a:rPr sz="1050" b="0" i="1">
                <a:solidFill>
                  <a:srgbClr val="6B6B76"/>
                </a:solidFill>
                <a:latin typeface="Calibri"/>
              </a:rPr>
              <a:t>Q  “shortest path in an unweighted graph”</a:t>
            </a:r>
          </a:p>
        </p:txBody>
      </p:sp>
      <p:sp>
        <p:nvSpPr>
          <p:cNvPr id="18" name="TextBox 17"/>
          <p:cNvSpPr txBox="1"/>
          <p:nvPr/>
        </p:nvSpPr>
        <p:spPr>
          <a:xfrm>
            <a:off x="4568952" y="5513831"/>
            <a:ext cx="3060192" cy="457200"/>
          </a:xfrm>
          <a:prstGeom prst="rect">
            <a:avLst/>
          </a:prstGeom>
          <a:noFill/>
        </p:spPr>
        <p:txBody>
          <a:bodyPr wrap="square" lIns="0" rIns="0" tIns="0" bIns="0">
            <a:spAutoFit/>
          </a:bodyPr>
          <a:lstStyle/>
          <a:p>
            <a:pPr algn="l">
              <a:spcBef>
                <a:spcPts val="0"/>
              </a:spcBef>
              <a:spcAft>
                <a:spcPts val="0"/>
              </a:spcAft>
            </a:pPr>
            <a:r>
              <a:rPr sz="1500" b="1" i="0">
                <a:solidFill>
                  <a:srgbClr val="6D28D9"/>
                </a:solidFill>
                <a:latin typeface="Calibri"/>
              </a:rPr>
              <a:t>▶  bfs</a:t>
            </a:r>
          </a:p>
          <a:p>
            <a:pPr algn="l">
              <a:spcBef>
                <a:spcPts val="0"/>
              </a:spcBef>
              <a:spcAft>
                <a:spcPts val="0"/>
              </a:spcAft>
            </a:pPr>
            <a:r>
              <a:rPr sz="1000" b="0" i="0">
                <a:solidFill>
                  <a:srgbClr val="6B6B76"/>
                </a:solidFill>
                <a:latin typeface="Calibri"/>
              </a:rPr>
              <a:t>score  0.15</a:t>
            </a:r>
          </a:p>
        </p:txBody>
      </p:sp>
      <p:sp>
        <p:nvSpPr>
          <p:cNvPr id="19" name="Rounded Rectangle 18"/>
          <p:cNvSpPr/>
          <p:nvPr/>
        </p:nvSpPr>
        <p:spPr>
          <a:xfrm>
            <a:off x="8004048" y="4983479"/>
            <a:ext cx="3352800" cy="105156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0352" y="5074919"/>
            <a:ext cx="3060192" cy="365760"/>
          </a:xfrm>
          <a:prstGeom prst="rect">
            <a:avLst/>
          </a:prstGeom>
          <a:noFill/>
        </p:spPr>
        <p:txBody>
          <a:bodyPr wrap="square" lIns="0" rIns="0" tIns="0" bIns="0">
            <a:spAutoFit/>
          </a:bodyPr>
          <a:lstStyle/>
          <a:p>
            <a:pPr algn="l">
              <a:lnSpc>
                <a:spcPct val="110000"/>
              </a:lnSpc>
              <a:spcBef>
                <a:spcPts val="0"/>
              </a:spcBef>
              <a:spcAft>
                <a:spcPts val="600"/>
              </a:spcAft>
            </a:pPr>
            <a:r>
              <a:rPr sz="1050" b="0" i="1">
                <a:solidFill>
                  <a:srgbClr val="6B6B76"/>
                </a:solidFill>
                <a:latin typeface="Calibri"/>
              </a:rPr>
              <a:t>Q  “count word frequencies in a text”</a:t>
            </a:r>
          </a:p>
        </p:txBody>
      </p:sp>
      <p:sp>
        <p:nvSpPr>
          <p:cNvPr id="21" name="TextBox 20"/>
          <p:cNvSpPr txBox="1"/>
          <p:nvPr/>
        </p:nvSpPr>
        <p:spPr>
          <a:xfrm>
            <a:off x="8150352" y="5513831"/>
            <a:ext cx="3060192" cy="457200"/>
          </a:xfrm>
          <a:prstGeom prst="rect">
            <a:avLst/>
          </a:prstGeom>
          <a:noFill/>
        </p:spPr>
        <p:txBody>
          <a:bodyPr wrap="square" lIns="0" rIns="0" tIns="0" bIns="0">
            <a:spAutoFit/>
          </a:bodyPr>
          <a:lstStyle/>
          <a:p>
            <a:pPr algn="l">
              <a:spcBef>
                <a:spcPts val="0"/>
              </a:spcBef>
              <a:spcAft>
                <a:spcPts val="0"/>
              </a:spcAft>
            </a:pPr>
            <a:r>
              <a:rPr sz="1500" b="1" i="0">
                <a:solidFill>
                  <a:srgbClr val="6D28D9"/>
                </a:solidFill>
                <a:latin typeface="Calibri"/>
              </a:rPr>
              <a:t>▶  word_count</a:t>
            </a:r>
          </a:p>
          <a:p>
            <a:pPr algn="l">
              <a:spcBef>
                <a:spcPts val="0"/>
              </a:spcBef>
              <a:spcAft>
                <a:spcPts val="0"/>
              </a:spcAft>
            </a:pPr>
            <a:r>
              <a:rPr sz="1000" b="0" i="0">
                <a:solidFill>
                  <a:srgbClr val="6B6B76"/>
                </a:solidFill>
                <a:latin typeface="Calibri"/>
              </a:rPr>
              <a:t>score  0.48</a:t>
            </a:r>
          </a:p>
        </p:txBody>
      </p:sp>
      <p:sp>
        <p:nvSpPr>
          <p:cNvPr id="22" name="TextBox 21"/>
          <p:cNvSpPr txBox="1"/>
          <p:nvPr/>
        </p:nvSpPr>
        <p:spPr>
          <a:xfrm>
            <a:off x="841248" y="6126479"/>
            <a:ext cx="10515600" cy="274320"/>
          </a:xfrm>
          <a:prstGeom prst="rect">
            <a:avLst/>
          </a:prstGeom>
          <a:noFill/>
        </p:spPr>
        <p:txBody>
          <a:bodyPr wrap="square" lIns="0" rIns="0" tIns="0" bIns="0">
            <a:spAutoFit/>
          </a:bodyPr>
          <a:lstStyle/>
          <a:p>
            <a:pPr algn="l">
              <a:spcBef>
                <a:spcPts val="0"/>
              </a:spcBef>
              <a:spcAft>
                <a:spcPts val="600"/>
              </a:spcAft>
            </a:pPr>
            <a:r>
              <a:rPr sz="1050" b="0" i="1">
                <a:solidFill>
                  <a:srgbClr val="6B6B76"/>
                </a:solidFill>
                <a:latin typeface="Calibri"/>
              </a:rPr>
              <a:t>Offline demo (hashing backend, no downloads): same pipeline and ranking code as the leaderboard run — the submitted model swaps in by config.</a:t>
            </a:r>
          </a:p>
        </p:txBody>
      </p:sp>
    </p:spTree>
    <p:extLst>
      <p:ext uri="{BB962C8B-B14F-4D97-AF65-F5344CB8AC3E}">
        <p14:creationId xmlns:p14="http://schemas.microsoft.com/office/powerpoint/2010/main" val="117824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Tools and tech stack used</a:t>
            </a:r>
            <a:endParaRPr lang="en-IN" b="1" dirty="0">
              <a:solidFill>
                <a:srgbClr val="704EA6"/>
              </a:solidFill>
            </a:endParaRPr>
          </a:p>
        </p:txBody>
      </p:sp>
      <p:sp>
        <p:nvSpPr>
          <p:cNvPr id="3" name="Rounded Rectangle 2"/>
          <p:cNvSpPr/>
          <p:nvPr/>
        </p:nvSpPr>
        <p:spPr>
          <a:xfrm>
            <a:off x="841248" y="1874519"/>
            <a:ext cx="10515600" cy="88392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9848" y="2087880"/>
            <a:ext cx="457200" cy="45720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1</a:t>
            </a:r>
          </a:p>
        </p:txBody>
      </p:sp>
      <p:sp>
        <p:nvSpPr>
          <p:cNvPr id="5" name="TextBox 4"/>
          <p:cNvSpPr txBox="1"/>
          <p:nvPr/>
        </p:nvSpPr>
        <p:spPr>
          <a:xfrm>
            <a:off x="1709928" y="2002536"/>
            <a:ext cx="2286000" cy="627888"/>
          </a:xfrm>
          <a:prstGeom prst="rect">
            <a:avLst/>
          </a:prstGeom>
          <a:noFill/>
        </p:spPr>
        <p:txBody>
          <a:bodyPr wrap="square" lIns="0" rIns="0" tIns="0" bIns="0" anchor="ctr">
            <a:spAutoFit/>
          </a:bodyPr>
          <a:lstStyle/>
          <a:p>
            <a:pPr algn="l">
              <a:spcBef>
                <a:spcPts val="0"/>
              </a:spcBef>
              <a:spcAft>
                <a:spcPts val="100"/>
              </a:spcAft>
            </a:pPr>
            <a:r>
              <a:rPr sz="1350" b="1" i="0">
                <a:solidFill>
                  <a:srgbClr val="14142B"/>
                </a:solidFill>
                <a:latin typeface="Calibri"/>
              </a:rPr>
              <a:t>Core ML &amp; evaluation</a:t>
            </a:r>
          </a:p>
          <a:p>
            <a:pPr algn="l">
              <a:lnSpc>
                <a:spcPct val="112000"/>
              </a:lnSpc>
              <a:spcBef>
                <a:spcPts val="0"/>
              </a:spcBef>
              <a:spcAft>
                <a:spcPts val="600"/>
              </a:spcAft>
            </a:pPr>
            <a:r>
              <a:rPr sz="950" b="0" i="1">
                <a:solidFill>
                  <a:srgbClr val="6B6B76"/>
                </a:solidFill>
                <a:latin typeface="Calibri"/>
              </a:rPr>
              <a:t>MTEB is the same library the leaderboard runs; picking it removes any doubt about metric parity.</a:t>
            </a:r>
          </a:p>
        </p:txBody>
      </p:sp>
      <p:sp>
        <p:nvSpPr>
          <p:cNvPr id="6" name="TextBox 5"/>
          <p:cNvSpPr txBox="1"/>
          <p:nvPr/>
        </p:nvSpPr>
        <p:spPr>
          <a:xfrm>
            <a:off x="4087368" y="2002536"/>
            <a:ext cx="7132320" cy="627888"/>
          </a:xfrm>
          <a:prstGeom prst="rect">
            <a:avLst/>
          </a:prstGeom>
          <a:noFill/>
        </p:spPr>
        <p:txBody>
          <a:bodyPr wrap="square" lIns="0" rIns="0" tIns="0" bIns="0" anchor="ctr">
            <a:spAutoFit/>
          </a:bodyPr>
          <a:lstStyle/>
          <a:p>
            <a:pPr algn="l">
              <a:lnSpc>
                <a:spcPct val="115000"/>
              </a:lnSpc>
              <a:spcBef>
                <a:spcPts val="0"/>
              </a:spcBef>
              <a:spcAft>
                <a:spcPts val="600"/>
              </a:spcAft>
            </a:pPr>
            <a:r>
              <a:rPr sz="1200" b="0" i="0">
                <a:solidFill>
                  <a:srgbClr val="33333D"/>
                </a:solidFill>
                <a:latin typeface="Calibri"/>
              </a:rPr>
              <a:t>Python 3.11   ·   PyTorch (CPU)   ·   sentence-transformers   ·   MTEB (official scorer)</a:t>
            </a:r>
          </a:p>
        </p:txBody>
      </p:sp>
      <p:sp>
        <p:nvSpPr>
          <p:cNvPr id="7" name="Rounded Rectangle 6"/>
          <p:cNvSpPr/>
          <p:nvPr/>
        </p:nvSpPr>
        <p:spPr>
          <a:xfrm>
            <a:off x="841248" y="2941320"/>
            <a:ext cx="10515600" cy="883920"/>
          </a:xfrm>
          <a:prstGeom prst="roundRect">
            <a:avLst>
              <a:gd name="adj" fmla="val 6000"/>
            </a:avLst>
          </a:prstGeom>
          <a:solidFill>
            <a:srgbClr val="EDE9FB"/>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69848" y="3154680"/>
            <a:ext cx="457200" cy="45720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2</a:t>
            </a:r>
          </a:p>
        </p:txBody>
      </p:sp>
      <p:sp>
        <p:nvSpPr>
          <p:cNvPr id="9" name="TextBox 8"/>
          <p:cNvSpPr txBox="1"/>
          <p:nvPr/>
        </p:nvSpPr>
        <p:spPr>
          <a:xfrm>
            <a:off x="1709928" y="3069336"/>
            <a:ext cx="2286000" cy="627888"/>
          </a:xfrm>
          <a:prstGeom prst="rect">
            <a:avLst/>
          </a:prstGeom>
          <a:noFill/>
        </p:spPr>
        <p:txBody>
          <a:bodyPr wrap="square" lIns="0" rIns="0" tIns="0" bIns="0" anchor="ctr">
            <a:spAutoFit/>
          </a:bodyPr>
          <a:lstStyle/>
          <a:p>
            <a:pPr algn="l">
              <a:spcBef>
                <a:spcPts val="0"/>
              </a:spcBef>
              <a:spcAft>
                <a:spcPts val="100"/>
              </a:spcAft>
            </a:pPr>
            <a:r>
              <a:rPr sz="1350" b="1" i="0">
                <a:solidFill>
                  <a:srgbClr val="14142B"/>
                </a:solidFill>
                <a:latin typeface="Calibri"/>
              </a:rPr>
              <a:t>Retrieval signals</a:t>
            </a:r>
          </a:p>
          <a:p>
            <a:pPr algn="l">
              <a:lnSpc>
                <a:spcPct val="112000"/>
              </a:lnSpc>
              <a:spcBef>
                <a:spcPts val="0"/>
              </a:spcBef>
              <a:spcAft>
                <a:spcPts val="600"/>
              </a:spcAft>
            </a:pPr>
            <a:r>
              <a:rPr sz="950" b="0" i="1">
                <a:solidFill>
                  <a:srgbClr val="6B6B76"/>
                </a:solidFill>
                <a:latin typeface="Calibri"/>
              </a:rPr>
              <a:t>Stdlib `ast` avoids a third-party parser dependency — the eval box does not need to install one.</a:t>
            </a:r>
          </a:p>
        </p:txBody>
      </p:sp>
      <p:sp>
        <p:nvSpPr>
          <p:cNvPr id="10" name="TextBox 9"/>
          <p:cNvSpPr txBox="1"/>
          <p:nvPr/>
        </p:nvSpPr>
        <p:spPr>
          <a:xfrm>
            <a:off x="4087368" y="3069336"/>
            <a:ext cx="7132320" cy="627888"/>
          </a:xfrm>
          <a:prstGeom prst="rect">
            <a:avLst/>
          </a:prstGeom>
          <a:noFill/>
        </p:spPr>
        <p:txBody>
          <a:bodyPr wrap="square" lIns="0" rIns="0" tIns="0" bIns="0" anchor="ctr">
            <a:spAutoFit/>
          </a:bodyPr>
          <a:lstStyle/>
          <a:p>
            <a:pPr algn="l">
              <a:lnSpc>
                <a:spcPct val="115000"/>
              </a:lnSpc>
              <a:spcBef>
                <a:spcPts val="0"/>
              </a:spcBef>
              <a:spcAft>
                <a:spcPts val="600"/>
              </a:spcAft>
            </a:pPr>
            <a:r>
              <a:rPr sz="1200" b="0" i="0">
                <a:solidFill>
                  <a:srgbClr val="33333D"/>
                </a:solidFill>
                <a:latin typeface="Calibri"/>
              </a:rPr>
              <a:t>NumPy   ·   rank-bm25 (sparse/BM25)   ·   Python `ast` (structural normalization)</a:t>
            </a:r>
          </a:p>
        </p:txBody>
      </p:sp>
      <p:sp>
        <p:nvSpPr>
          <p:cNvPr id="11" name="Rounded Rectangle 10"/>
          <p:cNvSpPr/>
          <p:nvPr/>
        </p:nvSpPr>
        <p:spPr>
          <a:xfrm>
            <a:off x="841248" y="4008119"/>
            <a:ext cx="10515600" cy="88392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9848" y="4221480"/>
            <a:ext cx="457200" cy="45720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3</a:t>
            </a:r>
          </a:p>
        </p:txBody>
      </p:sp>
      <p:sp>
        <p:nvSpPr>
          <p:cNvPr id="13" name="TextBox 12"/>
          <p:cNvSpPr txBox="1"/>
          <p:nvPr/>
        </p:nvSpPr>
        <p:spPr>
          <a:xfrm>
            <a:off x="1709928" y="4136135"/>
            <a:ext cx="2286000" cy="627888"/>
          </a:xfrm>
          <a:prstGeom prst="rect">
            <a:avLst/>
          </a:prstGeom>
          <a:noFill/>
        </p:spPr>
        <p:txBody>
          <a:bodyPr wrap="square" lIns="0" rIns="0" tIns="0" bIns="0" anchor="ctr">
            <a:spAutoFit/>
          </a:bodyPr>
          <a:lstStyle/>
          <a:p>
            <a:pPr algn="l">
              <a:spcBef>
                <a:spcPts val="0"/>
              </a:spcBef>
              <a:spcAft>
                <a:spcPts val="100"/>
              </a:spcAft>
            </a:pPr>
            <a:r>
              <a:rPr sz="1350" b="1" i="0">
                <a:solidFill>
                  <a:srgbClr val="14142B"/>
                </a:solidFill>
                <a:latin typeface="Calibri"/>
              </a:rPr>
              <a:t>Reproducibility &amp; infra</a:t>
            </a:r>
          </a:p>
          <a:p>
            <a:pPr algn="l">
              <a:lnSpc>
                <a:spcPct val="112000"/>
              </a:lnSpc>
              <a:spcBef>
                <a:spcPts val="0"/>
              </a:spcBef>
              <a:spcAft>
                <a:spcPts val="600"/>
              </a:spcAft>
            </a:pPr>
            <a:r>
              <a:rPr sz="950" b="0" i="1">
                <a:solidFill>
                  <a:srgbClr val="6B6B76"/>
                </a:solidFill>
                <a:latin typeface="Calibri"/>
              </a:rPr>
              <a:t>The default `docker run` runs the whole test suite and demo with no HuggingFace round-trip needed.</a:t>
            </a:r>
          </a:p>
        </p:txBody>
      </p:sp>
      <p:sp>
        <p:nvSpPr>
          <p:cNvPr id="14" name="TextBox 13"/>
          <p:cNvSpPr txBox="1"/>
          <p:nvPr/>
        </p:nvSpPr>
        <p:spPr>
          <a:xfrm>
            <a:off x="4087368" y="4136135"/>
            <a:ext cx="7132320" cy="627888"/>
          </a:xfrm>
          <a:prstGeom prst="rect">
            <a:avLst/>
          </a:prstGeom>
          <a:noFill/>
        </p:spPr>
        <p:txBody>
          <a:bodyPr wrap="square" lIns="0" rIns="0" tIns="0" bIns="0" anchor="ctr">
            <a:spAutoFit/>
          </a:bodyPr>
          <a:lstStyle/>
          <a:p>
            <a:pPr algn="l">
              <a:lnSpc>
                <a:spcPct val="115000"/>
              </a:lnSpc>
              <a:spcBef>
                <a:spcPts val="0"/>
              </a:spcBef>
              <a:spcAft>
                <a:spcPts val="600"/>
              </a:spcAft>
            </a:pPr>
            <a:r>
              <a:rPr sz="1200" b="0" i="0">
                <a:solidFill>
                  <a:srgbClr val="33333D"/>
                </a:solidFill>
                <a:latin typeface="Calibri"/>
              </a:rPr>
              <a:t>Docker   ·   pytest — 78 offline tests   ·   GitHub Actions-ready CLI</a:t>
            </a:r>
          </a:p>
        </p:txBody>
      </p:sp>
      <p:sp>
        <p:nvSpPr>
          <p:cNvPr id="15" name="Rounded Rectangle 14"/>
          <p:cNvSpPr/>
          <p:nvPr/>
        </p:nvSpPr>
        <p:spPr>
          <a:xfrm>
            <a:off x="841248" y="4937759"/>
            <a:ext cx="10515600" cy="1051560"/>
          </a:xfrm>
          <a:prstGeom prst="roundRect">
            <a:avLst>
              <a:gd name="adj" fmla="val 8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15568" y="5056631"/>
            <a:ext cx="9966960" cy="274320"/>
          </a:xfrm>
          <a:prstGeom prst="rect">
            <a:avLst/>
          </a:prstGeom>
          <a:noFill/>
        </p:spPr>
        <p:txBody>
          <a:bodyPr wrap="square" lIns="0" rIns="0" tIns="0" bIns="0">
            <a:spAutoFit/>
          </a:bodyPr>
          <a:lstStyle/>
          <a:p>
            <a:pPr algn="l">
              <a:spcBef>
                <a:spcPts val="0"/>
              </a:spcBef>
              <a:spcAft>
                <a:spcPts val="600"/>
              </a:spcAft>
            </a:pPr>
            <a:r>
              <a:rPr sz="950" b="1" i="0">
                <a:solidFill>
                  <a:srgbClr val="E3DAF7"/>
                </a:solidFill>
                <a:latin typeface="Calibri"/>
              </a:rPr>
              <a:t>BY THE NUMBERS</a:t>
            </a:r>
          </a:p>
        </p:txBody>
      </p:sp>
      <p:sp>
        <p:nvSpPr>
          <p:cNvPr id="17" name="TextBox 16"/>
          <p:cNvSpPr txBox="1"/>
          <p:nvPr/>
        </p:nvSpPr>
        <p:spPr>
          <a:xfrm>
            <a:off x="1115568" y="5321807"/>
            <a:ext cx="1810512" cy="594360"/>
          </a:xfrm>
          <a:prstGeom prst="rect">
            <a:avLst/>
          </a:prstGeom>
          <a:noFill/>
        </p:spPr>
        <p:txBody>
          <a:bodyPr wrap="square" lIns="0" rIns="0" tIns="0" bIns="0" anchor="ctr">
            <a:spAutoFit/>
          </a:bodyPr>
          <a:lstStyle/>
          <a:p>
            <a:pPr algn="ctr">
              <a:spcBef>
                <a:spcPts val="0"/>
              </a:spcBef>
              <a:spcAft>
                <a:spcPts val="100"/>
              </a:spcAft>
            </a:pPr>
            <a:r>
              <a:rPr sz="2200" b="1" i="0">
                <a:solidFill>
                  <a:srgbClr val="FFFFFF"/>
                </a:solidFill>
                <a:latin typeface="Calibri"/>
              </a:rPr>
              <a:t>78</a:t>
            </a:r>
          </a:p>
          <a:p>
            <a:pPr algn="ctr">
              <a:spcBef>
                <a:spcPts val="0"/>
              </a:spcBef>
              <a:spcAft>
                <a:spcPts val="600"/>
              </a:spcAft>
            </a:pPr>
            <a:r>
              <a:rPr sz="1000" b="0" i="0">
                <a:solidFill>
                  <a:srgbClr val="E3DAF7"/>
                </a:solidFill>
                <a:latin typeface="Calibri"/>
              </a:rPr>
              <a:t>offline tests</a:t>
            </a:r>
          </a:p>
        </p:txBody>
      </p:sp>
      <p:sp>
        <p:nvSpPr>
          <p:cNvPr id="18" name="TextBox 17"/>
          <p:cNvSpPr txBox="1"/>
          <p:nvPr/>
        </p:nvSpPr>
        <p:spPr>
          <a:xfrm>
            <a:off x="3154680" y="5321807"/>
            <a:ext cx="1810512" cy="594360"/>
          </a:xfrm>
          <a:prstGeom prst="rect">
            <a:avLst/>
          </a:prstGeom>
          <a:noFill/>
        </p:spPr>
        <p:txBody>
          <a:bodyPr wrap="square" lIns="0" rIns="0" tIns="0" bIns="0" anchor="ctr">
            <a:spAutoFit/>
          </a:bodyPr>
          <a:lstStyle/>
          <a:p>
            <a:pPr algn="ctr">
              <a:spcBef>
                <a:spcPts val="0"/>
              </a:spcBef>
              <a:spcAft>
                <a:spcPts val="100"/>
              </a:spcAft>
            </a:pPr>
            <a:r>
              <a:rPr sz="2200" b="1" i="0">
                <a:solidFill>
                  <a:srgbClr val="FFFFFF"/>
                </a:solidFill>
                <a:latin typeface="Calibri"/>
              </a:rPr>
              <a:t>10</a:t>
            </a:r>
          </a:p>
          <a:p>
            <a:pPr algn="ctr">
              <a:spcBef>
                <a:spcPts val="0"/>
              </a:spcBef>
              <a:spcAft>
                <a:spcPts val="600"/>
              </a:spcAft>
            </a:pPr>
            <a:r>
              <a:rPr sz="1000" b="0" i="0">
                <a:solidFill>
                  <a:srgbClr val="E3DAF7"/>
                </a:solidFill>
                <a:latin typeface="Calibri"/>
              </a:rPr>
              <a:t>configs measured</a:t>
            </a:r>
          </a:p>
        </p:txBody>
      </p:sp>
      <p:sp>
        <p:nvSpPr>
          <p:cNvPr id="19" name="TextBox 18"/>
          <p:cNvSpPr txBox="1"/>
          <p:nvPr/>
        </p:nvSpPr>
        <p:spPr>
          <a:xfrm>
            <a:off x="5193792" y="5321807"/>
            <a:ext cx="1810512" cy="594360"/>
          </a:xfrm>
          <a:prstGeom prst="rect">
            <a:avLst/>
          </a:prstGeom>
          <a:noFill/>
        </p:spPr>
        <p:txBody>
          <a:bodyPr wrap="square" lIns="0" rIns="0" tIns="0" bIns="0" anchor="ctr">
            <a:spAutoFit/>
          </a:bodyPr>
          <a:lstStyle/>
          <a:p>
            <a:pPr algn="ctr">
              <a:spcBef>
                <a:spcPts val="0"/>
              </a:spcBef>
              <a:spcAft>
                <a:spcPts val="100"/>
              </a:spcAft>
            </a:pPr>
            <a:r>
              <a:rPr sz="2200" b="1" i="0">
                <a:solidFill>
                  <a:srgbClr val="FFFFFF"/>
                </a:solidFill>
                <a:latin typeface="Calibri"/>
              </a:rPr>
              <a:t>1</a:t>
            </a:r>
          </a:p>
          <a:p>
            <a:pPr algn="ctr">
              <a:spcBef>
                <a:spcPts val="0"/>
              </a:spcBef>
              <a:spcAft>
                <a:spcPts val="600"/>
              </a:spcAft>
            </a:pPr>
            <a:r>
              <a:rPr sz="1000" b="0" i="0">
                <a:solidFill>
                  <a:srgbClr val="E3DAF7"/>
                </a:solidFill>
                <a:latin typeface="Calibri"/>
              </a:rPr>
              <a:t>docker run</a:t>
            </a:r>
          </a:p>
        </p:txBody>
      </p:sp>
      <p:sp>
        <p:nvSpPr>
          <p:cNvPr id="20" name="TextBox 19"/>
          <p:cNvSpPr txBox="1"/>
          <p:nvPr/>
        </p:nvSpPr>
        <p:spPr>
          <a:xfrm>
            <a:off x="7232903" y="5321807"/>
            <a:ext cx="1810512" cy="594360"/>
          </a:xfrm>
          <a:prstGeom prst="rect">
            <a:avLst/>
          </a:prstGeom>
          <a:noFill/>
        </p:spPr>
        <p:txBody>
          <a:bodyPr wrap="square" lIns="0" rIns="0" tIns="0" bIns="0" anchor="ctr">
            <a:spAutoFit/>
          </a:bodyPr>
          <a:lstStyle/>
          <a:p>
            <a:pPr algn="ctr">
              <a:spcBef>
                <a:spcPts val="0"/>
              </a:spcBef>
              <a:spcAft>
                <a:spcPts val="100"/>
              </a:spcAft>
            </a:pPr>
            <a:r>
              <a:rPr sz="2200" b="1" i="0">
                <a:solidFill>
                  <a:srgbClr val="FFFFFF"/>
                </a:solidFill>
                <a:latin typeface="Calibri"/>
              </a:rPr>
              <a:t>~0.04 ms</a:t>
            </a:r>
          </a:p>
          <a:p>
            <a:pPr algn="ctr">
              <a:spcBef>
                <a:spcPts val="0"/>
              </a:spcBef>
              <a:spcAft>
                <a:spcPts val="600"/>
              </a:spcAft>
            </a:pPr>
            <a:r>
              <a:rPr sz="1000" b="0" i="0">
                <a:solidFill>
                  <a:srgbClr val="E3DAF7"/>
                </a:solidFill>
                <a:latin typeface="Calibri"/>
              </a:rPr>
              <a:t>offline demo latency</a:t>
            </a:r>
          </a:p>
        </p:txBody>
      </p:sp>
      <p:sp>
        <p:nvSpPr>
          <p:cNvPr id="21" name="TextBox 20"/>
          <p:cNvSpPr txBox="1"/>
          <p:nvPr/>
        </p:nvSpPr>
        <p:spPr>
          <a:xfrm>
            <a:off x="9272016" y="5321807"/>
            <a:ext cx="1810512" cy="594360"/>
          </a:xfrm>
          <a:prstGeom prst="rect">
            <a:avLst/>
          </a:prstGeom>
          <a:noFill/>
        </p:spPr>
        <p:txBody>
          <a:bodyPr wrap="square" lIns="0" rIns="0" tIns="0" bIns="0" anchor="ctr">
            <a:spAutoFit/>
          </a:bodyPr>
          <a:lstStyle/>
          <a:p>
            <a:pPr algn="ctr">
              <a:spcBef>
                <a:spcPts val="0"/>
              </a:spcBef>
              <a:spcAft>
                <a:spcPts val="100"/>
              </a:spcAft>
            </a:pPr>
            <a:r>
              <a:rPr sz="2200" b="1" i="0">
                <a:solidFill>
                  <a:srgbClr val="FFFFFF"/>
                </a:solidFill>
                <a:latin typeface="Calibri"/>
              </a:rPr>
              <a:t>100%</a:t>
            </a:r>
          </a:p>
          <a:p>
            <a:pPr algn="ctr">
              <a:spcBef>
                <a:spcPts val="0"/>
              </a:spcBef>
              <a:spcAft>
                <a:spcPts val="600"/>
              </a:spcAft>
            </a:pPr>
            <a:r>
              <a:rPr sz="1000" b="0" i="0">
                <a:solidFill>
                  <a:srgbClr val="E3DAF7"/>
                </a:solidFill>
                <a:latin typeface="Calibri"/>
              </a:rPr>
              <a:t>CPU inference</a:t>
            </a:r>
          </a:p>
        </p:txBody>
      </p:sp>
    </p:spTree>
    <p:extLst>
      <p:ext uri="{BB962C8B-B14F-4D97-AF65-F5344CB8AC3E}">
        <p14:creationId xmlns:p14="http://schemas.microsoft.com/office/powerpoint/2010/main" val="3724828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Impact &amp; Use case</a:t>
            </a:r>
            <a:endParaRPr lang="en-IN" b="1" dirty="0">
              <a:solidFill>
                <a:srgbClr val="704EA6"/>
              </a:solidFill>
            </a:endParaRPr>
          </a:p>
        </p:txBody>
      </p:sp>
      <p:sp>
        <p:nvSpPr>
          <p:cNvPr id="3" name="Rounded Rectangle 2"/>
          <p:cNvSpPr/>
          <p:nvPr/>
        </p:nvSpPr>
        <p:spPr>
          <a:xfrm>
            <a:off x="841248" y="1874519"/>
            <a:ext cx="5120640" cy="201168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46988" y="2080260"/>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1</a:t>
            </a:r>
          </a:p>
        </p:txBody>
      </p:sp>
      <p:sp>
        <p:nvSpPr>
          <p:cNvPr id="5" name="TextBox 4"/>
          <p:cNvSpPr txBox="1"/>
          <p:nvPr/>
        </p:nvSpPr>
        <p:spPr>
          <a:xfrm>
            <a:off x="1709928" y="2075688"/>
            <a:ext cx="4069079" cy="329184"/>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Faster onboarding</a:t>
            </a:r>
          </a:p>
        </p:txBody>
      </p:sp>
      <p:sp>
        <p:nvSpPr>
          <p:cNvPr id="6" name="Rounded Rectangle 5"/>
          <p:cNvSpPr/>
          <p:nvPr/>
        </p:nvSpPr>
        <p:spPr>
          <a:xfrm>
            <a:off x="1709928" y="2423160"/>
            <a:ext cx="1691640" cy="237744"/>
          </a:xfrm>
          <a:prstGeom prst="roundRect">
            <a:avLst>
              <a:gd name="adj" fmla="val 50000"/>
            </a:avLst>
          </a:prstGeom>
          <a:solidFill>
            <a:srgbClr val="EDE9FB"/>
          </a:solidFill>
          <a:ln w="952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709928" y="2423160"/>
            <a:ext cx="1691640" cy="237744"/>
          </a:xfrm>
          <a:prstGeom prst="rect">
            <a:avLst/>
          </a:prstGeom>
          <a:noFill/>
        </p:spPr>
        <p:txBody>
          <a:bodyPr wrap="square" lIns="0" rIns="0" tIns="0" bIns="0" anchor="ctr">
            <a:spAutoFit/>
          </a:bodyPr>
          <a:lstStyle/>
          <a:p>
            <a:pPr algn="ctr">
              <a:spcBef>
                <a:spcPts val="0"/>
              </a:spcBef>
              <a:spcAft>
                <a:spcPts val="600"/>
              </a:spcAft>
            </a:pPr>
            <a:r>
              <a:rPr sz="850" b="1" i="0">
                <a:solidFill>
                  <a:srgbClr val="6D28D9"/>
                </a:solidFill>
                <a:latin typeface="Calibri"/>
              </a:rPr>
              <a:t>For: new engineers</a:t>
            </a:r>
          </a:p>
        </p:txBody>
      </p:sp>
      <p:sp>
        <p:nvSpPr>
          <p:cNvPr id="8" name="TextBox 7"/>
          <p:cNvSpPr txBox="1"/>
          <p:nvPr/>
        </p:nvSpPr>
        <p:spPr>
          <a:xfrm>
            <a:off x="1097280" y="2743200"/>
            <a:ext cx="4608575" cy="365760"/>
          </a:xfrm>
          <a:prstGeom prst="rect">
            <a:avLst/>
          </a:prstGeom>
          <a:noFill/>
        </p:spPr>
        <p:txBody>
          <a:bodyPr wrap="square" lIns="0" rIns="0" tIns="0" bIns="0">
            <a:spAutoFit/>
          </a:bodyPr>
          <a:lstStyle/>
          <a:p>
            <a:pPr algn="l">
              <a:lnSpc>
                <a:spcPct val="120000"/>
              </a:lnSpc>
              <a:spcBef>
                <a:spcPts val="0"/>
              </a:spcBef>
              <a:spcAft>
                <a:spcPts val="600"/>
              </a:spcAft>
            </a:pPr>
            <a:r>
              <a:rPr sz="1050" b="0" i="0">
                <a:solidFill>
                  <a:srgbClr val="6B6B76"/>
                </a:solidFill>
                <a:latin typeface="Calibri"/>
              </a:rPr>
              <a:t>Search unfamiliar code by describing behavior, not memorized function names.</a:t>
            </a:r>
          </a:p>
        </p:txBody>
      </p:sp>
      <p:sp>
        <p:nvSpPr>
          <p:cNvPr id="9" name="Rounded Rectangle 8"/>
          <p:cNvSpPr/>
          <p:nvPr/>
        </p:nvSpPr>
        <p:spPr>
          <a:xfrm>
            <a:off x="1097280" y="3154679"/>
            <a:ext cx="4608575" cy="457200"/>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191256"/>
            <a:ext cx="4315968" cy="182880"/>
          </a:xfrm>
          <a:prstGeom prst="rect">
            <a:avLst/>
          </a:prstGeom>
          <a:noFill/>
        </p:spPr>
        <p:txBody>
          <a:bodyPr wrap="square" lIns="0" rIns="0" tIns="0" bIns="0">
            <a:spAutoFit/>
          </a:bodyPr>
          <a:lstStyle/>
          <a:p>
            <a:pPr algn="l">
              <a:spcBef>
                <a:spcPts val="0"/>
              </a:spcBef>
              <a:spcAft>
                <a:spcPts val="600"/>
              </a:spcAft>
            </a:pPr>
            <a:r>
              <a:rPr sz="800" b="1" i="0">
                <a:solidFill>
                  <a:srgbClr val="6D28D9"/>
                </a:solidFill>
                <a:latin typeface="Calibri"/>
              </a:rPr>
              <a:t>EXAMPLE QUERY</a:t>
            </a:r>
          </a:p>
        </p:txBody>
      </p:sp>
      <p:sp>
        <p:nvSpPr>
          <p:cNvPr id="11" name="TextBox 10"/>
          <p:cNvSpPr txBox="1"/>
          <p:nvPr/>
        </p:nvSpPr>
        <p:spPr>
          <a:xfrm>
            <a:off x="1243584" y="3374135"/>
            <a:ext cx="4315968" cy="237744"/>
          </a:xfrm>
          <a:prstGeom prst="rect">
            <a:avLst/>
          </a:prstGeom>
          <a:noFill/>
        </p:spPr>
        <p:txBody>
          <a:bodyPr wrap="square" lIns="0" rIns="0" tIns="0" bIns="0">
            <a:spAutoFit/>
          </a:bodyPr>
          <a:lstStyle/>
          <a:p>
            <a:pPr algn="l">
              <a:lnSpc>
                <a:spcPct val="110000"/>
              </a:lnSpc>
              <a:spcBef>
                <a:spcPts val="0"/>
              </a:spcBef>
              <a:spcAft>
                <a:spcPts val="600"/>
              </a:spcAft>
            </a:pPr>
            <a:r>
              <a:rPr sz="1000" b="0" i="0">
                <a:solidFill>
                  <a:srgbClr val="14142B"/>
                </a:solidFill>
                <a:latin typeface="Courier New"/>
              </a:rPr>
              <a:t>“where do we retry a failed payment?”</a:t>
            </a:r>
          </a:p>
        </p:txBody>
      </p:sp>
      <p:sp>
        <p:nvSpPr>
          <p:cNvPr id="12" name="TextBox 11"/>
          <p:cNvSpPr txBox="1"/>
          <p:nvPr/>
        </p:nvSpPr>
        <p:spPr>
          <a:xfrm>
            <a:off x="1097280" y="3611880"/>
            <a:ext cx="4608575" cy="219456"/>
          </a:xfrm>
          <a:prstGeom prst="rect">
            <a:avLst/>
          </a:prstGeom>
          <a:noFill/>
        </p:spPr>
        <p:txBody>
          <a:bodyPr wrap="square" lIns="0" rIns="0" tIns="0" bIns="0">
            <a:spAutoFit/>
          </a:bodyPr>
          <a:lstStyle/>
          <a:p>
            <a:pPr algn="l">
              <a:spcBef>
                <a:spcPts val="0"/>
              </a:spcBef>
              <a:spcAft>
                <a:spcPts val="600"/>
              </a:spcAft>
            </a:pPr>
            <a:r>
              <a:rPr sz="1000" b="1" i="1">
                <a:solidFill>
                  <a:srgbClr val="D9A441"/>
                </a:solidFill>
                <a:latin typeface="Calibri"/>
              </a:rPr>
              <a:t>▸ Days-to-productivity → hours.</a:t>
            </a:r>
          </a:p>
        </p:txBody>
      </p:sp>
      <p:sp>
        <p:nvSpPr>
          <p:cNvPr id="13" name="Rounded Rectangle 12"/>
          <p:cNvSpPr/>
          <p:nvPr/>
        </p:nvSpPr>
        <p:spPr>
          <a:xfrm>
            <a:off x="6236207" y="1874519"/>
            <a:ext cx="5120640" cy="201168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1947" y="2080260"/>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2</a:t>
            </a:r>
          </a:p>
        </p:txBody>
      </p:sp>
      <p:sp>
        <p:nvSpPr>
          <p:cNvPr id="15" name="TextBox 14"/>
          <p:cNvSpPr txBox="1"/>
          <p:nvPr/>
        </p:nvSpPr>
        <p:spPr>
          <a:xfrm>
            <a:off x="7104888" y="2075688"/>
            <a:ext cx="4069079" cy="329184"/>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Agentic coding backend</a:t>
            </a:r>
          </a:p>
        </p:txBody>
      </p:sp>
      <p:sp>
        <p:nvSpPr>
          <p:cNvPr id="16" name="Rounded Rectangle 15"/>
          <p:cNvSpPr/>
          <p:nvPr/>
        </p:nvSpPr>
        <p:spPr>
          <a:xfrm>
            <a:off x="7104888" y="2423160"/>
            <a:ext cx="1691640" cy="237744"/>
          </a:xfrm>
          <a:prstGeom prst="roundRect">
            <a:avLst>
              <a:gd name="adj" fmla="val 50000"/>
            </a:avLst>
          </a:prstGeom>
          <a:solidFill>
            <a:srgbClr val="EDE9FB"/>
          </a:solidFill>
          <a:ln w="952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04888" y="2423160"/>
            <a:ext cx="1691640" cy="237744"/>
          </a:xfrm>
          <a:prstGeom prst="rect">
            <a:avLst/>
          </a:prstGeom>
          <a:noFill/>
        </p:spPr>
        <p:txBody>
          <a:bodyPr wrap="square" lIns="0" rIns="0" tIns="0" bIns="0" anchor="ctr">
            <a:spAutoFit/>
          </a:bodyPr>
          <a:lstStyle/>
          <a:p>
            <a:pPr algn="ctr">
              <a:spcBef>
                <a:spcPts val="0"/>
              </a:spcBef>
              <a:spcAft>
                <a:spcPts val="600"/>
              </a:spcAft>
            </a:pPr>
            <a:r>
              <a:rPr sz="850" b="1" i="0">
                <a:solidFill>
                  <a:srgbClr val="6D28D9"/>
                </a:solidFill>
                <a:latin typeface="Calibri"/>
              </a:rPr>
              <a:t>For: AI coding agents</a:t>
            </a:r>
          </a:p>
        </p:txBody>
      </p:sp>
      <p:sp>
        <p:nvSpPr>
          <p:cNvPr id="18" name="TextBox 17"/>
          <p:cNvSpPr txBox="1"/>
          <p:nvPr/>
        </p:nvSpPr>
        <p:spPr>
          <a:xfrm>
            <a:off x="6492240" y="2743200"/>
            <a:ext cx="4608575" cy="365760"/>
          </a:xfrm>
          <a:prstGeom prst="rect">
            <a:avLst/>
          </a:prstGeom>
          <a:noFill/>
        </p:spPr>
        <p:txBody>
          <a:bodyPr wrap="square" lIns="0" rIns="0" tIns="0" bIns="0">
            <a:spAutoFit/>
          </a:bodyPr>
          <a:lstStyle/>
          <a:p>
            <a:pPr algn="l">
              <a:lnSpc>
                <a:spcPct val="120000"/>
              </a:lnSpc>
              <a:spcBef>
                <a:spcPts val="0"/>
              </a:spcBef>
              <a:spcAft>
                <a:spcPts val="600"/>
              </a:spcAft>
            </a:pPr>
            <a:r>
              <a:rPr sz="1050" b="0" i="0">
                <a:solidFill>
                  <a:srgbClr val="6B6B76"/>
                </a:solidFill>
                <a:latin typeface="Calibri"/>
              </a:rPr>
              <a:t>A fast retrieval step an agent calls before it generates or edits code.</a:t>
            </a:r>
          </a:p>
        </p:txBody>
      </p:sp>
      <p:sp>
        <p:nvSpPr>
          <p:cNvPr id="19" name="Rounded Rectangle 18"/>
          <p:cNvSpPr/>
          <p:nvPr/>
        </p:nvSpPr>
        <p:spPr>
          <a:xfrm>
            <a:off x="6492240" y="3154679"/>
            <a:ext cx="4608575" cy="457200"/>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38544" y="3191256"/>
            <a:ext cx="4315968" cy="182880"/>
          </a:xfrm>
          <a:prstGeom prst="rect">
            <a:avLst/>
          </a:prstGeom>
          <a:noFill/>
        </p:spPr>
        <p:txBody>
          <a:bodyPr wrap="square" lIns="0" rIns="0" tIns="0" bIns="0">
            <a:spAutoFit/>
          </a:bodyPr>
          <a:lstStyle/>
          <a:p>
            <a:pPr algn="l">
              <a:spcBef>
                <a:spcPts val="0"/>
              </a:spcBef>
              <a:spcAft>
                <a:spcPts val="600"/>
              </a:spcAft>
            </a:pPr>
            <a:r>
              <a:rPr sz="800" b="1" i="0">
                <a:solidFill>
                  <a:srgbClr val="6D28D9"/>
                </a:solidFill>
                <a:latin typeface="Calibri"/>
              </a:rPr>
              <a:t>RETRIEVAL BUDGET</a:t>
            </a:r>
          </a:p>
        </p:txBody>
      </p:sp>
      <p:sp>
        <p:nvSpPr>
          <p:cNvPr id="21" name="TextBox 20"/>
          <p:cNvSpPr txBox="1"/>
          <p:nvPr/>
        </p:nvSpPr>
        <p:spPr>
          <a:xfrm>
            <a:off x="6638544" y="3374135"/>
            <a:ext cx="4315968" cy="237744"/>
          </a:xfrm>
          <a:prstGeom prst="rect">
            <a:avLst/>
          </a:prstGeom>
          <a:noFill/>
        </p:spPr>
        <p:txBody>
          <a:bodyPr wrap="square" lIns="0" rIns="0" tIns="0" bIns="0">
            <a:spAutoFit/>
          </a:bodyPr>
          <a:lstStyle/>
          <a:p>
            <a:pPr algn="l">
              <a:lnSpc>
                <a:spcPct val="110000"/>
              </a:lnSpc>
              <a:spcBef>
                <a:spcPts val="0"/>
              </a:spcBef>
              <a:spcAft>
                <a:spcPts val="600"/>
              </a:spcAft>
            </a:pPr>
            <a:r>
              <a:rPr sz="1000" b="0" i="0">
                <a:solidFill>
                  <a:srgbClr val="14142B"/>
                </a:solidFill>
                <a:latin typeface="Courier New"/>
              </a:rPr>
              <a:t>one encoder pass per query, no LLM in the loop.</a:t>
            </a:r>
          </a:p>
        </p:txBody>
      </p:sp>
      <p:sp>
        <p:nvSpPr>
          <p:cNvPr id="22" name="TextBox 21"/>
          <p:cNvSpPr txBox="1"/>
          <p:nvPr/>
        </p:nvSpPr>
        <p:spPr>
          <a:xfrm>
            <a:off x="6492240" y="3611880"/>
            <a:ext cx="4608575" cy="219456"/>
          </a:xfrm>
          <a:prstGeom prst="rect">
            <a:avLst/>
          </a:prstGeom>
          <a:noFill/>
        </p:spPr>
        <p:txBody>
          <a:bodyPr wrap="square" lIns="0" rIns="0" tIns="0" bIns="0">
            <a:spAutoFit/>
          </a:bodyPr>
          <a:lstStyle/>
          <a:p>
            <a:pPr algn="l">
              <a:spcBef>
                <a:spcPts val="0"/>
              </a:spcBef>
              <a:spcAft>
                <a:spcPts val="600"/>
              </a:spcAft>
            </a:pPr>
            <a:r>
              <a:rPr sz="1000" b="1" i="1">
                <a:solidFill>
                  <a:srgbClr val="D9A441"/>
                </a:solidFill>
                <a:latin typeface="Calibri"/>
              </a:rPr>
              <a:t>▸ Retrieval faster than generation, by design.</a:t>
            </a:r>
          </a:p>
        </p:txBody>
      </p:sp>
      <p:sp>
        <p:nvSpPr>
          <p:cNvPr id="23" name="Rounded Rectangle 22"/>
          <p:cNvSpPr/>
          <p:nvPr/>
        </p:nvSpPr>
        <p:spPr>
          <a:xfrm>
            <a:off x="841248" y="4160520"/>
            <a:ext cx="5120640" cy="201168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46988" y="4366259"/>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3</a:t>
            </a:r>
          </a:p>
        </p:txBody>
      </p:sp>
      <p:sp>
        <p:nvSpPr>
          <p:cNvPr id="25" name="TextBox 24"/>
          <p:cNvSpPr txBox="1"/>
          <p:nvPr/>
        </p:nvSpPr>
        <p:spPr>
          <a:xfrm>
            <a:off x="1709928" y="4361688"/>
            <a:ext cx="4069079" cy="329184"/>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Code review &amp; audit</a:t>
            </a:r>
          </a:p>
        </p:txBody>
      </p:sp>
      <p:sp>
        <p:nvSpPr>
          <p:cNvPr id="26" name="Rounded Rectangle 25"/>
          <p:cNvSpPr/>
          <p:nvPr/>
        </p:nvSpPr>
        <p:spPr>
          <a:xfrm>
            <a:off x="1709928" y="4709159"/>
            <a:ext cx="1691640" cy="237744"/>
          </a:xfrm>
          <a:prstGeom prst="roundRect">
            <a:avLst>
              <a:gd name="adj" fmla="val 50000"/>
            </a:avLst>
          </a:prstGeom>
          <a:solidFill>
            <a:srgbClr val="EDE9FB"/>
          </a:solidFill>
          <a:ln w="952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09928" y="4709159"/>
            <a:ext cx="1691640" cy="237744"/>
          </a:xfrm>
          <a:prstGeom prst="rect">
            <a:avLst/>
          </a:prstGeom>
          <a:noFill/>
        </p:spPr>
        <p:txBody>
          <a:bodyPr wrap="square" lIns="0" rIns="0" tIns="0" bIns="0" anchor="ctr">
            <a:spAutoFit/>
          </a:bodyPr>
          <a:lstStyle/>
          <a:p>
            <a:pPr algn="ctr">
              <a:spcBef>
                <a:spcPts val="0"/>
              </a:spcBef>
              <a:spcAft>
                <a:spcPts val="600"/>
              </a:spcAft>
            </a:pPr>
            <a:r>
              <a:rPr sz="850" b="1" i="0">
                <a:solidFill>
                  <a:srgbClr val="6D28D9"/>
                </a:solidFill>
                <a:latin typeface="Calibri"/>
              </a:rPr>
              <a:t>For: reviewers / security</a:t>
            </a:r>
          </a:p>
        </p:txBody>
      </p:sp>
      <p:sp>
        <p:nvSpPr>
          <p:cNvPr id="28" name="TextBox 27"/>
          <p:cNvSpPr txBox="1"/>
          <p:nvPr/>
        </p:nvSpPr>
        <p:spPr>
          <a:xfrm>
            <a:off x="1097280" y="5029200"/>
            <a:ext cx="4608575" cy="365760"/>
          </a:xfrm>
          <a:prstGeom prst="rect">
            <a:avLst/>
          </a:prstGeom>
          <a:noFill/>
        </p:spPr>
        <p:txBody>
          <a:bodyPr wrap="square" lIns="0" rIns="0" tIns="0" bIns="0">
            <a:spAutoFit/>
          </a:bodyPr>
          <a:lstStyle/>
          <a:p>
            <a:pPr algn="l">
              <a:lnSpc>
                <a:spcPct val="120000"/>
              </a:lnSpc>
              <a:spcBef>
                <a:spcPts val="0"/>
              </a:spcBef>
              <a:spcAft>
                <a:spcPts val="600"/>
              </a:spcAft>
            </a:pPr>
            <a:r>
              <a:rPr sz="1050" b="0" i="0">
                <a:solidFill>
                  <a:srgbClr val="6B6B76"/>
                </a:solidFill>
                <a:latin typeface="Calibri"/>
              </a:rPr>
              <a:t>Locate every place a pattern or behavior appears — not just a grep match.</a:t>
            </a:r>
          </a:p>
        </p:txBody>
      </p:sp>
      <p:sp>
        <p:nvSpPr>
          <p:cNvPr id="29" name="Rounded Rectangle 28"/>
          <p:cNvSpPr/>
          <p:nvPr/>
        </p:nvSpPr>
        <p:spPr>
          <a:xfrm>
            <a:off x="1097280" y="5440679"/>
            <a:ext cx="4608575" cy="457200"/>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43584" y="5477255"/>
            <a:ext cx="4315968" cy="182880"/>
          </a:xfrm>
          <a:prstGeom prst="rect">
            <a:avLst/>
          </a:prstGeom>
          <a:noFill/>
        </p:spPr>
        <p:txBody>
          <a:bodyPr wrap="square" lIns="0" rIns="0" tIns="0" bIns="0">
            <a:spAutoFit/>
          </a:bodyPr>
          <a:lstStyle/>
          <a:p>
            <a:pPr algn="l">
              <a:spcBef>
                <a:spcPts val="0"/>
              </a:spcBef>
              <a:spcAft>
                <a:spcPts val="600"/>
              </a:spcAft>
            </a:pPr>
            <a:r>
              <a:rPr sz="800" b="1" i="0">
                <a:solidFill>
                  <a:srgbClr val="6D28D9"/>
                </a:solidFill>
                <a:latin typeface="Calibri"/>
              </a:rPr>
              <a:t>EXAMPLE QUERY</a:t>
            </a:r>
          </a:p>
        </p:txBody>
      </p:sp>
      <p:sp>
        <p:nvSpPr>
          <p:cNvPr id="31" name="TextBox 30"/>
          <p:cNvSpPr txBox="1"/>
          <p:nvPr/>
        </p:nvSpPr>
        <p:spPr>
          <a:xfrm>
            <a:off x="1243584" y="5660136"/>
            <a:ext cx="4315968" cy="237744"/>
          </a:xfrm>
          <a:prstGeom prst="rect">
            <a:avLst/>
          </a:prstGeom>
          <a:noFill/>
        </p:spPr>
        <p:txBody>
          <a:bodyPr wrap="square" lIns="0" rIns="0" tIns="0" bIns="0">
            <a:spAutoFit/>
          </a:bodyPr>
          <a:lstStyle/>
          <a:p>
            <a:pPr algn="l">
              <a:lnSpc>
                <a:spcPct val="110000"/>
              </a:lnSpc>
              <a:spcBef>
                <a:spcPts val="0"/>
              </a:spcBef>
              <a:spcAft>
                <a:spcPts val="600"/>
              </a:spcAft>
            </a:pPr>
            <a:r>
              <a:rPr sz="1000" b="0" i="0">
                <a:solidFill>
                  <a:srgbClr val="14142B"/>
                </a:solidFill>
                <a:latin typeface="Courier New"/>
              </a:rPr>
              <a:t>“all endpoints that write user email unmasked”</a:t>
            </a:r>
          </a:p>
        </p:txBody>
      </p:sp>
      <p:sp>
        <p:nvSpPr>
          <p:cNvPr id="32" name="TextBox 31"/>
          <p:cNvSpPr txBox="1"/>
          <p:nvPr/>
        </p:nvSpPr>
        <p:spPr>
          <a:xfrm>
            <a:off x="1097280" y="5897880"/>
            <a:ext cx="4608575" cy="219456"/>
          </a:xfrm>
          <a:prstGeom prst="rect">
            <a:avLst/>
          </a:prstGeom>
          <a:noFill/>
        </p:spPr>
        <p:txBody>
          <a:bodyPr wrap="square" lIns="0" rIns="0" tIns="0" bIns="0">
            <a:spAutoFit/>
          </a:bodyPr>
          <a:lstStyle/>
          <a:p>
            <a:pPr algn="l">
              <a:spcBef>
                <a:spcPts val="0"/>
              </a:spcBef>
              <a:spcAft>
                <a:spcPts val="600"/>
              </a:spcAft>
            </a:pPr>
            <a:r>
              <a:rPr sz="1000" b="1" i="1">
                <a:solidFill>
                  <a:srgbClr val="D9A441"/>
                </a:solidFill>
                <a:latin typeface="Calibri"/>
              </a:rPr>
              <a:t>▸ Finds behavioral clones grep misses.</a:t>
            </a:r>
          </a:p>
        </p:txBody>
      </p:sp>
      <p:sp>
        <p:nvSpPr>
          <p:cNvPr id="33" name="Rounded Rectangle 32"/>
          <p:cNvSpPr/>
          <p:nvPr/>
        </p:nvSpPr>
        <p:spPr>
          <a:xfrm>
            <a:off x="6236207" y="4160520"/>
            <a:ext cx="5120640" cy="201168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41947" y="4366259"/>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4</a:t>
            </a:r>
          </a:p>
        </p:txBody>
      </p:sp>
      <p:sp>
        <p:nvSpPr>
          <p:cNvPr id="35" name="TextBox 34"/>
          <p:cNvSpPr txBox="1"/>
          <p:nvPr/>
        </p:nvSpPr>
        <p:spPr>
          <a:xfrm>
            <a:off x="7104888" y="4361688"/>
            <a:ext cx="4069079" cy="329184"/>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Legacy modernization</a:t>
            </a:r>
          </a:p>
        </p:txBody>
      </p:sp>
      <p:sp>
        <p:nvSpPr>
          <p:cNvPr id="36" name="Rounded Rectangle 35"/>
          <p:cNvSpPr/>
          <p:nvPr/>
        </p:nvSpPr>
        <p:spPr>
          <a:xfrm>
            <a:off x="7104888" y="4709159"/>
            <a:ext cx="1691640" cy="237744"/>
          </a:xfrm>
          <a:prstGeom prst="roundRect">
            <a:avLst>
              <a:gd name="adj" fmla="val 50000"/>
            </a:avLst>
          </a:prstGeom>
          <a:solidFill>
            <a:srgbClr val="EDE9FB"/>
          </a:solidFill>
          <a:ln w="952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04888" y="4709159"/>
            <a:ext cx="1691640" cy="237744"/>
          </a:xfrm>
          <a:prstGeom prst="rect">
            <a:avLst/>
          </a:prstGeom>
          <a:noFill/>
        </p:spPr>
        <p:txBody>
          <a:bodyPr wrap="square" lIns="0" rIns="0" tIns="0" bIns="0" anchor="ctr">
            <a:spAutoFit/>
          </a:bodyPr>
          <a:lstStyle/>
          <a:p>
            <a:pPr algn="ctr">
              <a:spcBef>
                <a:spcPts val="0"/>
              </a:spcBef>
              <a:spcAft>
                <a:spcPts val="600"/>
              </a:spcAft>
            </a:pPr>
            <a:r>
              <a:rPr sz="850" b="1" i="0">
                <a:solidFill>
                  <a:srgbClr val="6D28D9"/>
                </a:solidFill>
                <a:latin typeface="Calibri"/>
              </a:rPr>
              <a:t>For: platform teams (P1)</a:t>
            </a:r>
          </a:p>
        </p:txBody>
      </p:sp>
      <p:sp>
        <p:nvSpPr>
          <p:cNvPr id="38" name="TextBox 37"/>
          <p:cNvSpPr txBox="1"/>
          <p:nvPr/>
        </p:nvSpPr>
        <p:spPr>
          <a:xfrm>
            <a:off x="6492240" y="5029200"/>
            <a:ext cx="4608575" cy="365760"/>
          </a:xfrm>
          <a:prstGeom prst="rect">
            <a:avLst/>
          </a:prstGeom>
          <a:noFill/>
        </p:spPr>
        <p:txBody>
          <a:bodyPr wrap="square" lIns="0" rIns="0" tIns="0" bIns="0">
            <a:spAutoFit/>
          </a:bodyPr>
          <a:lstStyle/>
          <a:p>
            <a:pPr algn="l">
              <a:lnSpc>
                <a:spcPct val="120000"/>
              </a:lnSpc>
              <a:spcBef>
                <a:spcPts val="0"/>
              </a:spcBef>
              <a:spcAft>
                <a:spcPts val="600"/>
              </a:spcAft>
            </a:pPr>
            <a:r>
              <a:rPr sz="1050" b="0" i="0">
                <a:solidFill>
                  <a:srgbClr val="6B6B76"/>
                </a:solidFill>
                <a:latin typeface="Calibri"/>
              </a:rPr>
              <a:t>Search &amp; compare behavior across many historical versions of the same code.</a:t>
            </a:r>
          </a:p>
        </p:txBody>
      </p:sp>
      <p:sp>
        <p:nvSpPr>
          <p:cNvPr id="39" name="Rounded Rectangle 38"/>
          <p:cNvSpPr/>
          <p:nvPr/>
        </p:nvSpPr>
        <p:spPr>
          <a:xfrm>
            <a:off x="6492240" y="5440679"/>
            <a:ext cx="4608575" cy="457200"/>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38544" y="5477255"/>
            <a:ext cx="4315968" cy="182880"/>
          </a:xfrm>
          <a:prstGeom prst="rect">
            <a:avLst/>
          </a:prstGeom>
          <a:noFill/>
        </p:spPr>
        <p:txBody>
          <a:bodyPr wrap="square" lIns="0" rIns="0" tIns="0" bIns="0">
            <a:spAutoFit/>
          </a:bodyPr>
          <a:lstStyle/>
          <a:p>
            <a:pPr algn="l">
              <a:spcBef>
                <a:spcPts val="0"/>
              </a:spcBef>
              <a:spcAft>
                <a:spcPts val="600"/>
              </a:spcAft>
            </a:pPr>
            <a:r>
              <a:rPr sz="800" b="1" i="0">
                <a:solidFill>
                  <a:srgbClr val="6D28D9"/>
                </a:solidFill>
                <a:latin typeface="Calibri"/>
              </a:rPr>
              <a:t>EXAMPLE QUERY</a:t>
            </a:r>
          </a:p>
        </p:txBody>
      </p:sp>
      <p:sp>
        <p:nvSpPr>
          <p:cNvPr id="41" name="TextBox 40"/>
          <p:cNvSpPr txBox="1"/>
          <p:nvPr/>
        </p:nvSpPr>
        <p:spPr>
          <a:xfrm>
            <a:off x="6638544" y="5660136"/>
            <a:ext cx="4315968" cy="237744"/>
          </a:xfrm>
          <a:prstGeom prst="rect">
            <a:avLst/>
          </a:prstGeom>
          <a:noFill/>
        </p:spPr>
        <p:txBody>
          <a:bodyPr wrap="square" lIns="0" rIns="0" tIns="0" bIns="0">
            <a:spAutoFit/>
          </a:bodyPr>
          <a:lstStyle/>
          <a:p>
            <a:pPr algn="l">
              <a:lnSpc>
                <a:spcPct val="110000"/>
              </a:lnSpc>
              <a:spcBef>
                <a:spcPts val="0"/>
              </a:spcBef>
              <a:spcAft>
                <a:spcPts val="600"/>
              </a:spcAft>
            </a:pPr>
            <a:r>
              <a:rPr sz="1000" b="0" i="0">
                <a:solidFill>
                  <a:srgbClr val="14142B"/>
                </a:solidFill>
                <a:latin typeface="Courier New"/>
              </a:rPr>
              <a:t>“auth check pre-v3.2 vs post-v3.2”</a:t>
            </a:r>
          </a:p>
        </p:txBody>
      </p:sp>
      <p:sp>
        <p:nvSpPr>
          <p:cNvPr id="42" name="TextBox 41"/>
          <p:cNvSpPr txBox="1"/>
          <p:nvPr/>
        </p:nvSpPr>
        <p:spPr>
          <a:xfrm>
            <a:off x="6492240" y="5897880"/>
            <a:ext cx="4608575" cy="219456"/>
          </a:xfrm>
          <a:prstGeom prst="rect">
            <a:avLst/>
          </a:prstGeom>
          <a:noFill/>
        </p:spPr>
        <p:txBody>
          <a:bodyPr wrap="square" lIns="0" rIns="0" tIns="0" bIns="0">
            <a:spAutoFit/>
          </a:bodyPr>
          <a:lstStyle/>
          <a:p>
            <a:pPr algn="l">
              <a:spcBef>
                <a:spcPts val="0"/>
              </a:spcBef>
              <a:spcAft>
                <a:spcPts val="600"/>
              </a:spcAft>
            </a:pPr>
            <a:r>
              <a:rPr sz="1000" b="1" i="1">
                <a:solidFill>
                  <a:srgbClr val="D9A441"/>
                </a:solidFill>
                <a:latin typeface="Calibri"/>
              </a:rPr>
              <a:t>▸ Cross-version rebuilds cheap by design.</a:t>
            </a:r>
          </a:p>
        </p:txBody>
      </p:sp>
    </p:spTree>
    <p:extLst>
      <p:ext uri="{BB962C8B-B14F-4D97-AF65-F5344CB8AC3E}">
        <p14:creationId xmlns:p14="http://schemas.microsoft.com/office/powerpoint/2010/main" val="3668119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Innovation highlights, results and limitations</a:t>
            </a:r>
            <a:endParaRPr lang="en-US" sz="4400" b="1" dirty="0">
              <a:solidFill>
                <a:srgbClr val="704EA6"/>
              </a:solidFill>
            </a:endParaRPr>
          </a:p>
        </p:txBody>
      </p:sp>
      <p:sp>
        <p:nvSpPr>
          <p:cNvPr id="3" name="Rounded Rectangle 2"/>
          <p:cNvSpPr/>
          <p:nvPr/>
        </p:nvSpPr>
        <p:spPr>
          <a:xfrm>
            <a:off x="841248" y="1874519"/>
            <a:ext cx="4663440" cy="4297680"/>
          </a:xfrm>
          <a:prstGeom prst="roundRect">
            <a:avLst>
              <a:gd name="adj" fmla="val 35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2039112"/>
            <a:ext cx="4151375" cy="329184"/>
          </a:xfrm>
          <a:prstGeom prst="rect">
            <a:avLst/>
          </a:prstGeom>
          <a:noFill/>
        </p:spPr>
        <p:txBody>
          <a:bodyPr wrap="square" lIns="0" rIns="0" tIns="0" bIns="0">
            <a:spAutoFit/>
          </a:bodyPr>
          <a:lstStyle/>
          <a:p>
            <a:pPr algn="l">
              <a:spcBef>
                <a:spcPts val="0"/>
              </a:spcBef>
              <a:spcAft>
                <a:spcPts val="600"/>
              </a:spcAft>
            </a:pPr>
            <a:r>
              <a:rPr sz="1400" b="1" i="0">
                <a:solidFill>
                  <a:srgbClr val="6D28D9"/>
                </a:solidFill>
                <a:latin typeface="Calibri"/>
              </a:rPr>
              <a:t>Innovation highlights</a:t>
            </a:r>
          </a:p>
        </p:txBody>
      </p:sp>
      <p:sp>
        <p:nvSpPr>
          <p:cNvPr id="5" name="TextBox 4"/>
          <p:cNvSpPr txBox="1"/>
          <p:nvPr/>
        </p:nvSpPr>
        <p:spPr>
          <a:xfrm>
            <a:off x="1097280" y="2313432"/>
            <a:ext cx="4151375" cy="274320"/>
          </a:xfrm>
          <a:prstGeom prst="rect">
            <a:avLst/>
          </a:prstGeom>
          <a:noFill/>
        </p:spPr>
        <p:txBody>
          <a:bodyPr wrap="square" lIns="0" rIns="0" tIns="0" bIns="0">
            <a:spAutoFit/>
          </a:bodyPr>
          <a:lstStyle/>
          <a:p>
            <a:pPr algn="l">
              <a:lnSpc>
                <a:spcPct val="110000"/>
              </a:lnSpc>
              <a:spcBef>
                <a:spcPts val="0"/>
              </a:spcBef>
              <a:spcAft>
                <a:spcPts val="600"/>
              </a:spcAft>
            </a:pPr>
            <a:r>
              <a:rPr sz="1000" b="0" i="1">
                <a:solidFill>
                  <a:srgbClr val="6B6B76"/>
                </a:solidFill>
                <a:latin typeface="Calibri"/>
              </a:rPr>
              <a:t>Built and rigorously measured — kept only where the number agreed (see results →)</a:t>
            </a:r>
          </a:p>
        </p:txBody>
      </p:sp>
      <p:sp>
        <p:nvSpPr>
          <p:cNvPr id="6" name="TextBox 5"/>
          <p:cNvSpPr txBox="1"/>
          <p:nvPr/>
        </p:nvSpPr>
        <p:spPr>
          <a:xfrm>
            <a:off x="1097280" y="2651760"/>
            <a:ext cx="4151375" cy="1965960"/>
          </a:xfrm>
          <a:prstGeom prst="rect">
            <a:avLst/>
          </a:prstGeom>
          <a:noFill/>
        </p:spPr>
        <p:txBody>
          <a:bodyPr wrap="square" lIns="0" rIns="0" tIns="0" bIns="0">
            <a:spAutoFit/>
          </a:bodyPr>
          <a:lstStyle/>
          <a:p>
            <a:pPr algn="l">
              <a:lnSpc>
                <a:spcPct val="112000"/>
              </a:lnSpc>
              <a:spcBef>
                <a:spcPts val="0"/>
              </a:spcBef>
              <a:spcAft>
                <a:spcPts val="600"/>
              </a:spcAft>
            </a:pPr>
            <a:r>
              <a:rPr sz="1050" b="0" i="0">
                <a:solidFill>
                  <a:srgbClr val="33333D"/>
                </a:solidFill>
                <a:latin typeface="Calibri"/>
              </a:rPr>
              <a:t>—  Query→code compilation (code-flavored HyDE), LLM-free at eval time</a:t>
            </a:r>
          </a:p>
          <a:p>
            <a:pPr algn="l">
              <a:lnSpc>
                <a:spcPct val="112000"/>
              </a:lnSpc>
              <a:spcBef>
                <a:spcPts val="0"/>
              </a:spcBef>
              <a:spcAft>
                <a:spcPts val="600"/>
              </a:spcAft>
            </a:pPr>
            <a:r>
              <a:rPr sz="1050" b="0" i="0">
                <a:solidFill>
                  <a:srgbClr val="33333D"/>
                </a:solidFill>
                <a:latin typeface="Calibri"/>
              </a:rPr>
              <a:t>—  Multi-view snippet embedding: raw + AST-normalized + identifier bag</a:t>
            </a:r>
          </a:p>
          <a:p>
            <a:pPr algn="l">
              <a:lnSpc>
                <a:spcPct val="112000"/>
              </a:lnSpc>
              <a:spcBef>
                <a:spcPts val="0"/>
              </a:spcBef>
              <a:spcAft>
                <a:spcPts val="600"/>
              </a:spcAft>
            </a:pPr>
            <a:r>
              <a:rPr sz="1050" b="0" i="0">
                <a:solidFill>
                  <a:srgbClr val="33333D"/>
                </a:solidFill>
                <a:latin typeface="Calibri"/>
              </a:rPr>
              <a:t>—  Keyword front-loading: salient signals survive a 256-token tokenizer cap</a:t>
            </a:r>
          </a:p>
          <a:p>
            <a:pPr algn="l">
              <a:lnSpc>
                <a:spcPct val="112000"/>
              </a:lnSpc>
              <a:spcBef>
                <a:spcPts val="0"/>
              </a:spcBef>
              <a:spcAft>
                <a:spcPts val="600"/>
              </a:spcAft>
            </a:pPr>
            <a:r>
              <a:rPr sz="1050" b="0" i="0">
                <a:solidFill>
                  <a:srgbClr val="33333D"/>
                </a:solidFill>
                <a:latin typeface="Calibri"/>
              </a:rPr>
              <a:t>—  Stable-core + version-delta representation for cross-version retrieval</a:t>
            </a:r>
          </a:p>
          <a:p>
            <a:pPr algn="l">
              <a:lnSpc>
                <a:spcPct val="112000"/>
              </a:lnSpc>
              <a:spcBef>
                <a:spcPts val="0"/>
              </a:spcBef>
              <a:spcAft>
                <a:spcPts val="600"/>
              </a:spcAft>
            </a:pPr>
            <a:r>
              <a:rPr sz="1050" b="0" i="0">
                <a:solidFill>
                  <a:srgbClr val="33333D"/>
                </a:solidFill>
                <a:latin typeface="Calibri"/>
              </a:rPr>
              <a:t>—  Content-addressed versioned index — rebuilds only what changed</a:t>
            </a:r>
          </a:p>
        </p:txBody>
      </p:sp>
      <p:sp>
        <p:nvSpPr>
          <p:cNvPr id="7" name="Rounded Rectangle 6"/>
          <p:cNvSpPr/>
          <p:nvPr/>
        </p:nvSpPr>
        <p:spPr>
          <a:xfrm>
            <a:off x="950976" y="4754879"/>
            <a:ext cx="4443983" cy="1371600"/>
          </a:xfrm>
          <a:prstGeom prst="roundRect">
            <a:avLst>
              <a:gd name="adj" fmla="val 6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846319"/>
            <a:ext cx="4151375" cy="256032"/>
          </a:xfrm>
          <a:prstGeom prst="rect">
            <a:avLst/>
          </a:prstGeom>
          <a:noFill/>
        </p:spPr>
        <p:txBody>
          <a:bodyPr wrap="square" lIns="0" rIns="0" tIns="0" bIns="0">
            <a:spAutoFit/>
          </a:bodyPr>
          <a:lstStyle/>
          <a:p>
            <a:pPr algn="l">
              <a:spcBef>
                <a:spcPts val="0"/>
              </a:spcBef>
              <a:spcAft>
                <a:spcPts val="600"/>
              </a:spcAft>
            </a:pPr>
            <a:r>
              <a:rPr sz="850" b="1" i="0">
                <a:solidFill>
                  <a:srgbClr val="6D28D9"/>
                </a:solidFill>
                <a:latin typeface="Calibri"/>
              </a:rPr>
              <a:t>THE DISCIPLINE THAT PRODUCED THAT NUMBER</a:t>
            </a:r>
          </a:p>
        </p:txBody>
      </p:sp>
      <p:sp>
        <p:nvSpPr>
          <p:cNvPr id="9" name="Rounded Rectangle 8"/>
          <p:cNvSpPr/>
          <p:nvPr/>
        </p:nvSpPr>
        <p:spPr>
          <a:xfrm>
            <a:off x="1115568" y="5138927"/>
            <a:ext cx="932688" cy="91440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61288" y="5230367"/>
            <a:ext cx="841248" cy="731520"/>
          </a:xfrm>
          <a:prstGeom prst="rect">
            <a:avLst/>
          </a:prstGeom>
          <a:noFill/>
        </p:spPr>
        <p:txBody>
          <a:bodyPr wrap="square" lIns="0" rIns="0" tIns="0" bIns="0" anchor="ctr">
            <a:spAutoFit/>
          </a:bodyPr>
          <a:lstStyle/>
          <a:p>
            <a:pPr algn="ctr">
              <a:lnSpc>
                <a:spcPct val="105000"/>
              </a:lnSpc>
              <a:spcBef>
                <a:spcPts val="0"/>
              </a:spcBef>
              <a:spcAft>
                <a:spcPts val="100"/>
              </a:spcAft>
            </a:pPr>
            <a:r>
              <a:rPr sz="1000" b="1" i="0">
                <a:solidFill>
                  <a:srgbClr val="6D28D9"/>
                </a:solidFill>
                <a:latin typeface="Calibri"/>
              </a:rPr>
              <a:t>Propose</a:t>
            </a:r>
          </a:p>
          <a:p>
            <a:pPr algn="ctr">
              <a:lnSpc>
                <a:spcPct val="110000"/>
              </a:lnSpc>
              <a:spcBef>
                <a:spcPts val="0"/>
              </a:spcBef>
              <a:spcAft>
                <a:spcPts val="600"/>
              </a:spcAft>
            </a:pPr>
            <a:r>
              <a:rPr sz="800" b="0" i="0">
                <a:solidFill>
                  <a:srgbClr val="6B6B76"/>
                </a:solidFill>
                <a:latin typeface="Calibri"/>
              </a:rPr>
              <a:t>one config</a:t>
            </a:r>
          </a:p>
        </p:txBody>
      </p:sp>
      <p:sp>
        <p:nvSpPr>
          <p:cNvPr id="11" name="TextBox 10"/>
          <p:cNvSpPr txBox="1"/>
          <p:nvPr/>
        </p:nvSpPr>
        <p:spPr>
          <a:xfrm>
            <a:off x="2039112" y="5468112"/>
            <a:ext cx="146304" cy="274320"/>
          </a:xfrm>
          <a:prstGeom prst="rect">
            <a:avLst/>
          </a:prstGeom>
          <a:noFill/>
        </p:spPr>
        <p:txBody>
          <a:bodyPr wrap="square" lIns="0" rIns="0" tIns="0" bIns="0" anchor="ctr">
            <a:spAutoFit/>
          </a:bodyPr>
          <a:lstStyle/>
          <a:p>
            <a:pPr algn="ctr">
              <a:spcBef>
                <a:spcPts val="0"/>
              </a:spcBef>
              <a:spcAft>
                <a:spcPts val="600"/>
              </a:spcAft>
            </a:pPr>
            <a:r>
              <a:rPr sz="1300" b="1" i="0">
                <a:solidFill>
                  <a:srgbClr val="6B6B76"/>
                </a:solidFill>
                <a:latin typeface="Calibri"/>
              </a:rPr>
              <a:t>›</a:t>
            </a:r>
          </a:p>
        </p:txBody>
      </p:sp>
      <p:sp>
        <p:nvSpPr>
          <p:cNvPr id="12" name="Rounded Rectangle 11"/>
          <p:cNvSpPr/>
          <p:nvPr/>
        </p:nvSpPr>
        <p:spPr>
          <a:xfrm>
            <a:off x="2176272" y="5138927"/>
            <a:ext cx="932688" cy="91440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21991" y="5230367"/>
            <a:ext cx="841248" cy="731520"/>
          </a:xfrm>
          <a:prstGeom prst="rect">
            <a:avLst/>
          </a:prstGeom>
          <a:noFill/>
        </p:spPr>
        <p:txBody>
          <a:bodyPr wrap="square" lIns="0" rIns="0" tIns="0" bIns="0" anchor="ctr">
            <a:spAutoFit/>
          </a:bodyPr>
          <a:lstStyle/>
          <a:p>
            <a:pPr algn="ctr">
              <a:lnSpc>
                <a:spcPct val="105000"/>
              </a:lnSpc>
              <a:spcBef>
                <a:spcPts val="0"/>
              </a:spcBef>
              <a:spcAft>
                <a:spcPts val="100"/>
              </a:spcAft>
            </a:pPr>
            <a:r>
              <a:rPr sz="1000" b="1" i="0">
                <a:solidFill>
                  <a:srgbClr val="6D28D9"/>
                </a:solidFill>
                <a:latin typeface="Calibri"/>
              </a:rPr>
              <a:t>Measure</a:t>
            </a:r>
          </a:p>
          <a:p>
            <a:pPr algn="ctr">
              <a:lnSpc>
                <a:spcPct val="110000"/>
              </a:lnSpc>
              <a:spcBef>
                <a:spcPts val="0"/>
              </a:spcBef>
              <a:spcAft>
                <a:spcPts val="600"/>
              </a:spcAft>
            </a:pPr>
            <a:r>
              <a:rPr sz="800" b="0" i="0">
                <a:solidFill>
                  <a:srgbClr val="6B6B76"/>
                </a:solidFill>
                <a:latin typeface="Calibri"/>
              </a:rPr>
              <a:t>NDCG@10 on real split</a:t>
            </a:r>
          </a:p>
        </p:txBody>
      </p:sp>
      <p:sp>
        <p:nvSpPr>
          <p:cNvPr id="14" name="TextBox 13"/>
          <p:cNvSpPr txBox="1"/>
          <p:nvPr/>
        </p:nvSpPr>
        <p:spPr>
          <a:xfrm>
            <a:off x="3099815" y="5468112"/>
            <a:ext cx="146304" cy="274320"/>
          </a:xfrm>
          <a:prstGeom prst="rect">
            <a:avLst/>
          </a:prstGeom>
          <a:noFill/>
        </p:spPr>
        <p:txBody>
          <a:bodyPr wrap="square" lIns="0" rIns="0" tIns="0" bIns="0" anchor="ctr">
            <a:spAutoFit/>
          </a:bodyPr>
          <a:lstStyle/>
          <a:p>
            <a:pPr algn="ctr">
              <a:spcBef>
                <a:spcPts val="0"/>
              </a:spcBef>
              <a:spcAft>
                <a:spcPts val="600"/>
              </a:spcAft>
            </a:pPr>
            <a:r>
              <a:rPr sz="1300" b="1" i="0">
                <a:solidFill>
                  <a:srgbClr val="6B6B76"/>
                </a:solidFill>
                <a:latin typeface="Calibri"/>
              </a:rPr>
              <a:t>›</a:t>
            </a:r>
          </a:p>
        </p:txBody>
      </p:sp>
      <p:sp>
        <p:nvSpPr>
          <p:cNvPr id="15" name="Rounded Rectangle 14"/>
          <p:cNvSpPr/>
          <p:nvPr/>
        </p:nvSpPr>
        <p:spPr>
          <a:xfrm>
            <a:off x="3236976" y="5138927"/>
            <a:ext cx="932688" cy="91440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2696" y="5230367"/>
            <a:ext cx="841248" cy="731520"/>
          </a:xfrm>
          <a:prstGeom prst="rect">
            <a:avLst/>
          </a:prstGeom>
          <a:noFill/>
        </p:spPr>
        <p:txBody>
          <a:bodyPr wrap="square" lIns="0" rIns="0" tIns="0" bIns="0" anchor="ctr">
            <a:spAutoFit/>
          </a:bodyPr>
          <a:lstStyle/>
          <a:p>
            <a:pPr algn="ctr">
              <a:lnSpc>
                <a:spcPct val="105000"/>
              </a:lnSpc>
              <a:spcBef>
                <a:spcPts val="0"/>
              </a:spcBef>
              <a:spcAft>
                <a:spcPts val="100"/>
              </a:spcAft>
            </a:pPr>
            <a:r>
              <a:rPr sz="1000" b="1" i="0">
                <a:solidFill>
                  <a:srgbClr val="6D28D9"/>
                </a:solidFill>
                <a:latin typeface="Calibri"/>
              </a:rPr>
              <a:t>Compare</a:t>
            </a:r>
          </a:p>
          <a:p>
            <a:pPr algn="ctr">
              <a:lnSpc>
                <a:spcPct val="110000"/>
              </a:lnSpc>
              <a:spcBef>
                <a:spcPts val="0"/>
              </a:spcBef>
              <a:spcAft>
                <a:spcPts val="600"/>
              </a:spcAft>
            </a:pPr>
            <a:r>
              <a:rPr sz="800" b="0" i="0">
                <a:solidFill>
                  <a:srgbClr val="6B6B76"/>
                </a:solidFill>
                <a:latin typeface="Calibri"/>
              </a:rPr>
              <a:t>vs live baseline</a:t>
            </a:r>
          </a:p>
        </p:txBody>
      </p:sp>
      <p:sp>
        <p:nvSpPr>
          <p:cNvPr id="17" name="TextBox 16"/>
          <p:cNvSpPr txBox="1"/>
          <p:nvPr/>
        </p:nvSpPr>
        <p:spPr>
          <a:xfrm>
            <a:off x="4160520" y="5468112"/>
            <a:ext cx="146304" cy="274320"/>
          </a:xfrm>
          <a:prstGeom prst="rect">
            <a:avLst/>
          </a:prstGeom>
          <a:noFill/>
        </p:spPr>
        <p:txBody>
          <a:bodyPr wrap="square" lIns="0" rIns="0" tIns="0" bIns="0" anchor="ctr">
            <a:spAutoFit/>
          </a:bodyPr>
          <a:lstStyle/>
          <a:p>
            <a:pPr algn="ctr">
              <a:spcBef>
                <a:spcPts val="0"/>
              </a:spcBef>
              <a:spcAft>
                <a:spcPts val="600"/>
              </a:spcAft>
            </a:pPr>
            <a:r>
              <a:rPr sz="1300" b="1" i="0">
                <a:solidFill>
                  <a:srgbClr val="6B6B76"/>
                </a:solidFill>
                <a:latin typeface="Calibri"/>
              </a:rPr>
              <a:t>›</a:t>
            </a:r>
          </a:p>
        </p:txBody>
      </p:sp>
      <p:sp>
        <p:nvSpPr>
          <p:cNvPr id="18" name="Rounded Rectangle 17"/>
          <p:cNvSpPr/>
          <p:nvPr/>
        </p:nvSpPr>
        <p:spPr>
          <a:xfrm>
            <a:off x="4297680" y="5138927"/>
            <a:ext cx="932688" cy="914400"/>
          </a:xfrm>
          <a:prstGeom prst="roundRect">
            <a:avLst>
              <a:gd name="adj" fmla="val 6000"/>
            </a:avLst>
          </a:prstGeom>
          <a:solidFill>
            <a:srgbClr val="D9A441"/>
          </a:solidFill>
          <a:ln w="12700">
            <a:solidFill>
              <a:srgbClr val="D9A4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43400" y="5230367"/>
            <a:ext cx="841248" cy="731520"/>
          </a:xfrm>
          <a:prstGeom prst="rect">
            <a:avLst/>
          </a:prstGeom>
          <a:noFill/>
        </p:spPr>
        <p:txBody>
          <a:bodyPr wrap="square" lIns="0" rIns="0" tIns="0" bIns="0" anchor="ctr">
            <a:spAutoFit/>
          </a:bodyPr>
          <a:lstStyle/>
          <a:p>
            <a:pPr algn="ctr">
              <a:lnSpc>
                <a:spcPct val="105000"/>
              </a:lnSpc>
              <a:spcBef>
                <a:spcPts val="0"/>
              </a:spcBef>
              <a:spcAft>
                <a:spcPts val="100"/>
              </a:spcAft>
            </a:pPr>
            <a:r>
              <a:rPr sz="1000" b="1" i="0">
                <a:solidFill>
                  <a:srgbClr val="14142B"/>
                </a:solidFill>
                <a:latin typeface="Calibri"/>
              </a:rPr>
              <a:t>Keep or drop</a:t>
            </a:r>
          </a:p>
          <a:p>
            <a:pPr algn="ctr">
              <a:lnSpc>
                <a:spcPct val="110000"/>
              </a:lnSpc>
              <a:spcBef>
                <a:spcPts val="0"/>
              </a:spcBef>
              <a:spcAft>
                <a:spcPts val="600"/>
              </a:spcAft>
            </a:pPr>
            <a:r>
              <a:rPr sz="800" b="0" i="0">
                <a:solidFill>
                  <a:srgbClr val="33333D"/>
                </a:solidFill>
                <a:latin typeface="Calibri"/>
              </a:rPr>
              <a:t>no drift, ever</a:t>
            </a:r>
          </a:p>
        </p:txBody>
      </p:sp>
      <p:sp>
        <p:nvSpPr>
          <p:cNvPr id="20" name="TextBox 19"/>
          <p:cNvSpPr txBox="1"/>
          <p:nvPr/>
        </p:nvSpPr>
        <p:spPr>
          <a:xfrm>
            <a:off x="5824727" y="1874519"/>
            <a:ext cx="5532120" cy="320040"/>
          </a:xfrm>
          <a:prstGeom prst="rect">
            <a:avLst/>
          </a:prstGeom>
          <a:noFill/>
        </p:spPr>
        <p:txBody>
          <a:bodyPr wrap="square" lIns="0" rIns="0" tIns="0" bIns="0">
            <a:spAutoFit/>
          </a:bodyPr>
          <a:lstStyle/>
          <a:p>
            <a:pPr algn="l">
              <a:spcBef>
                <a:spcPts val="0"/>
              </a:spcBef>
              <a:spcAft>
                <a:spcPts val="600"/>
              </a:spcAft>
            </a:pPr>
            <a:r>
              <a:rPr sz="1100" b="1" i="0">
                <a:solidFill>
                  <a:srgbClr val="6D28D9"/>
                </a:solidFill>
                <a:latin typeface="Calibri"/>
              </a:rPr>
              <a:t>NDCG@10, real CoIR AppsRetrieval split  ·  10 configs, 1 kept</a:t>
            </a:r>
          </a:p>
        </p:txBody>
      </p:sp>
      <p:sp>
        <p:nvSpPr>
          <p:cNvPr id="21" name="TextBox 20"/>
          <p:cNvSpPr txBox="1"/>
          <p:nvPr/>
        </p:nvSpPr>
        <p:spPr>
          <a:xfrm>
            <a:off x="5824727" y="2167127"/>
            <a:ext cx="5532120" cy="274320"/>
          </a:xfrm>
          <a:prstGeom prst="rect">
            <a:avLst/>
          </a:prstGeom>
          <a:noFill/>
        </p:spPr>
        <p:txBody>
          <a:bodyPr wrap="square" lIns="0" rIns="0" tIns="0" bIns="0">
            <a:spAutoFit/>
          </a:bodyPr>
          <a:lstStyle/>
          <a:p>
            <a:pPr algn="l">
              <a:spcBef>
                <a:spcPts val="0"/>
              </a:spcBef>
              <a:spcAft>
                <a:spcPts val="600"/>
              </a:spcAft>
            </a:pPr>
            <a:r>
              <a:rPr sz="1000" b="0" i="1">
                <a:solidFill>
                  <a:srgbClr val="6B6B76"/>
                </a:solidFill>
                <a:latin typeface="Calibri"/>
              </a:rPr>
              <a:t>Submitted: e5-base-v2 — MRR@10 0.0986 (baseline 0.0561).</a:t>
            </a:r>
          </a:p>
        </p:txBody>
      </p:sp>
      <p:pic>
        <p:nvPicPr>
          <p:cNvPr id="22" name="Picture 21" descr="ablation_chart.png"/>
          <p:cNvPicPr>
            <a:picLocks noChangeAspect="1"/>
          </p:cNvPicPr>
          <p:nvPr/>
        </p:nvPicPr>
        <p:blipFill>
          <a:blip r:embed="rId2"/>
          <a:stretch>
            <a:fillRect/>
          </a:stretch>
        </p:blipFill>
        <p:spPr>
          <a:xfrm>
            <a:off x="6130515" y="2478024"/>
            <a:ext cx="4920545" cy="2642615"/>
          </a:xfrm>
          <a:prstGeom prst="rect">
            <a:avLst/>
          </a:prstGeom>
        </p:spPr>
      </p:pic>
      <p:sp>
        <p:nvSpPr>
          <p:cNvPr id="23" name="Rounded Rectangle 22"/>
          <p:cNvSpPr/>
          <p:nvPr/>
        </p:nvSpPr>
        <p:spPr>
          <a:xfrm>
            <a:off x="5824727" y="5212079"/>
            <a:ext cx="5532120" cy="960120"/>
          </a:xfrm>
          <a:prstGeom prst="roundRect">
            <a:avLst>
              <a:gd name="adj" fmla="val 6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53327" y="5285231"/>
            <a:ext cx="5074920" cy="256032"/>
          </a:xfrm>
          <a:prstGeom prst="rect">
            <a:avLst/>
          </a:prstGeom>
          <a:noFill/>
        </p:spPr>
        <p:txBody>
          <a:bodyPr wrap="square" lIns="0" rIns="0" tIns="0" bIns="0">
            <a:spAutoFit/>
          </a:bodyPr>
          <a:lstStyle/>
          <a:p>
            <a:pPr algn="l">
              <a:spcBef>
                <a:spcPts val="0"/>
              </a:spcBef>
              <a:spcAft>
                <a:spcPts val="600"/>
              </a:spcAft>
            </a:pPr>
            <a:r>
              <a:rPr sz="1200" b="1" i="0">
                <a:solidFill>
                  <a:srgbClr val="14142B"/>
                </a:solidFill>
                <a:latin typeface="Calibri"/>
              </a:rPr>
              <a:t>Limitations — stated up front</a:t>
            </a:r>
          </a:p>
        </p:txBody>
      </p:sp>
      <p:sp>
        <p:nvSpPr>
          <p:cNvPr id="25" name="TextBox 24"/>
          <p:cNvSpPr txBox="1"/>
          <p:nvPr/>
        </p:nvSpPr>
        <p:spPr>
          <a:xfrm>
            <a:off x="6053327" y="5559551"/>
            <a:ext cx="5074920" cy="557784"/>
          </a:xfrm>
          <a:prstGeom prst="rect">
            <a:avLst/>
          </a:prstGeom>
          <a:noFill/>
        </p:spPr>
        <p:txBody>
          <a:bodyPr wrap="square" lIns="0" rIns="0" tIns="0" bIns="0">
            <a:spAutoFit/>
          </a:bodyPr>
          <a:lstStyle/>
          <a:p>
            <a:pPr algn="l">
              <a:lnSpc>
                <a:spcPct val="105000"/>
              </a:lnSpc>
              <a:spcBef>
                <a:spcPts val="0"/>
              </a:spcBef>
              <a:spcAft>
                <a:spcPts val="200"/>
              </a:spcAft>
            </a:pPr>
            <a:r>
              <a:rPr sz="1000" b="0" i="0">
                <a:solidFill>
                  <a:srgbClr val="33333D"/>
                </a:solidFill>
                <a:latin typeface="Calibri"/>
              </a:rPr>
              <a:t>—  CPU-only caps model size by design — the trade this theme asks for</a:t>
            </a:r>
          </a:p>
          <a:p>
            <a:pPr algn="l">
              <a:lnSpc>
                <a:spcPct val="105000"/>
              </a:lnSpc>
              <a:spcBef>
                <a:spcPts val="0"/>
              </a:spcBef>
              <a:spcAft>
                <a:spcPts val="200"/>
              </a:spcAft>
            </a:pPr>
            <a:r>
              <a:rPr sz="1000" b="0" i="0">
                <a:solidFill>
                  <a:srgbClr val="33333D"/>
                </a:solidFill>
                <a:latin typeface="Calibri"/>
              </a:rPr>
              <a:t>—  Larger retrieval models (e.g. e5-large) untested — ~3× the CPU time</a:t>
            </a:r>
          </a:p>
          <a:p>
            <a:pPr algn="l">
              <a:lnSpc>
                <a:spcPct val="105000"/>
              </a:lnSpc>
              <a:spcBef>
                <a:spcPts val="0"/>
              </a:spcBef>
              <a:spcAft>
                <a:spcPts val="200"/>
              </a:spcAft>
            </a:pPr>
            <a:r>
              <a:rPr sz="1000" b="0" i="0">
                <a:solidFill>
                  <a:srgbClr val="33333D"/>
                </a:solidFill>
                <a:latin typeface="Calibri"/>
              </a:rPr>
              <a:t>—  HyDE, multi-view, front-load not yet re-measured on top of e5</a:t>
            </a:r>
          </a:p>
        </p:txBody>
      </p:sp>
    </p:spTree>
    <p:extLst>
      <p:ext uri="{BB962C8B-B14F-4D97-AF65-F5344CB8AC3E}">
        <p14:creationId xmlns:p14="http://schemas.microsoft.com/office/powerpoint/2010/main" val="1993237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What’s next</a:t>
            </a:r>
            <a:endParaRPr lang="en-US" sz="4400" b="1" dirty="0">
              <a:solidFill>
                <a:srgbClr val="704EA6"/>
              </a:solidFill>
            </a:endParaRPr>
          </a:p>
        </p:txBody>
      </p:sp>
      <p:sp>
        <p:nvSpPr>
          <p:cNvPr id="3" name="Rounded Rectangle 2"/>
          <p:cNvSpPr/>
          <p:nvPr/>
        </p:nvSpPr>
        <p:spPr>
          <a:xfrm>
            <a:off x="841248" y="1874519"/>
            <a:ext cx="10515600" cy="914400"/>
          </a:xfrm>
          <a:prstGeom prst="roundRect">
            <a:avLst>
              <a:gd name="adj" fmla="val 8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15568" y="1965960"/>
            <a:ext cx="9966960" cy="256032"/>
          </a:xfrm>
          <a:prstGeom prst="rect">
            <a:avLst/>
          </a:prstGeom>
          <a:noFill/>
        </p:spPr>
        <p:txBody>
          <a:bodyPr wrap="square" lIns="0" rIns="0" tIns="0" bIns="0">
            <a:spAutoFit/>
          </a:bodyPr>
          <a:lstStyle/>
          <a:p>
            <a:pPr algn="l">
              <a:spcBef>
                <a:spcPts val="0"/>
              </a:spcBef>
              <a:spcAft>
                <a:spcPts val="600"/>
              </a:spcAft>
            </a:pPr>
            <a:r>
              <a:rPr sz="950" b="1" i="0">
                <a:solidFill>
                  <a:srgbClr val="6D28D9"/>
                </a:solidFill>
                <a:latin typeface="Calibri"/>
              </a:rPr>
              <a:t>WHAT THE ABLATION TAUGHT US</a:t>
            </a:r>
          </a:p>
        </p:txBody>
      </p:sp>
      <p:sp>
        <p:nvSpPr>
          <p:cNvPr id="5" name="TextBox 4"/>
          <p:cNvSpPr txBox="1"/>
          <p:nvPr/>
        </p:nvSpPr>
        <p:spPr>
          <a:xfrm>
            <a:off x="1115568" y="2203703"/>
            <a:ext cx="9966960" cy="512064"/>
          </a:xfrm>
          <a:prstGeom prst="rect">
            <a:avLst/>
          </a:prstGeom>
          <a:noFill/>
        </p:spPr>
        <p:txBody>
          <a:bodyPr wrap="square" lIns="0" rIns="0" tIns="0" bIns="0">
            <a:spAutoFit/>
          </a:bodyPr>
          <a:lstStyle/>
          <a:p>
            <a:pPr algn="l">
              <a:lnSpc>
                <a:spcPct val="120000"/>
              </a:lnSpc>
              <a:spcBef>
                <a:spcPts val="0"/>
              </a:spcBef>
              <a:spcAft>
                <a:spcPts val="600"/>
              </a:spcAft>
            </a:pPr>
            <a:r>
              <a:rPr sz="1100" b="0" i="0">
                <a:solidFill>
                  <a:srgbClr val="33333D"/>
                </a:solidFill>
                <a:latin typeface="Calibri"/>
              </a:rPr>
              <a:t>Ten configs on the real split. The winner, e5-base-v2, is the same size as mpnet but trained for query→passage retrieval: +73.9% over baseline, +33.7% over mpnet. Every code-specialized swap (CodeSearchNet, UniXcoder) lost — the roadmap follows that evidence.</a:t>
            </a:r>
          </a:p>
        </p:txBody>
      </p:sp>
      <p:cxnSp>
        <p:nvCxnSpPr>
          <p:cNvPr id="6" name="Connector 5"/>
          <p:cNvCxnSpPr/>
          <p:nvPr/>
        </p:nvCxnSpPr>
        <p:spPr>
          <a:xfrm>
            <a:off x="2475738" y="3337560"/>
            <a:ext cx="7246620" cy="0"/>
          </a:xfrm>
          <a:prstGeom prst="line">
            <a:avLst/>
          </a:prstGeom>
          <a:ln w="31750">
            <a:solidFill>
              <a:srgbClr val="D9D3F0"/>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835657" y="3017520"/>
            <a:ext cx="640080" cy="64008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Calibri"/>
              </a:rPr>
              <a:t>1</a:t>
            </a:r>
          </a:p>
        </p:txBody>
      </p:sp>
      <p:sp>
        <p:nvSpPr>
          <p:cNvPr id="8" name="TextBox 7"/>
          <p:cNvSpPr txBox="1"/>
          <p:nvPr/>
        </p:nvSpPr>
        <p:spPr>
          <a:xfrm>
            <a:off x="932688" y="3931920"/>
            <a:ext cx="2446020" cy="320040"/>
          </a:xfrm>
          <a:prstGeom prst="rect">
            <a:avLst/>
          </a:prstGeom>
          <a:noFill/>
        </p:spPr>
        <p:txBody>
          <a:bodyPr wrap="square" lIns="0" rIns="0" tIns="0" bIns="0">
            <a:spAutoFit/>
          </a:bodyPr>
          <a:lstStyle/>
          <a:p>
            <a:pPr algn="ctr">
              <a:lnSpc>
                <a:spcPct val="110000"/>
              </a:lnSpc>
              <a:spcBef>
                <a:spcPts val="0"/>
              </a:spcBef>
              <a:spcAft>
                <a:spcPts val="600"/>
              </a:spcAft>
            </a:pPr>
            <a:r>
              <a:rPr sz="1350" b="1" i="0">
                <a:solidFill>
                  <a:srgbClr val="14142B"/>
                </a:solidFill>
                <a:latin typeface="Calibri"/>
              </a:rPr>
              <a:t>Re-test on e5</a:t>
            </a:r>
          </a:p>
        </p:txBody>
      </p:sp>
      <p:sp>
        <p:nvSpPr>
          <p:cNvPr id="9" name="Rounded Rectangle 8"/>
          <p:cNvSpPr/>
          <p:nvPr/>
        </p:nvSpPr>
        <p:spPr>
          <a:xfrm>
            <a:off x="1835657" y="4315968"/>
            <a:ext cx="640080" cy="219456"/>
          </a:xfrm>
          <a:prstGeom prst="roundRect">
            <a:avLst>
              <a:gd name="adj" fmla="val 4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35657" y="4315968"/>
            <a:ext cx="640080" cy="219456"/>
          </a:xfrm>
          <a:prstGeom prst="rect">
            <a:avLst/>
          </a:prstGeom>
          <a:noFill/>
        </p:spPr>
        <p:txBody>
          <a:bodyPr wrap="square" lIns="0" rIns="0" tIns="0" bIns="0" anchor="ctr">
            <a:spAutoFit/>
          </a:bodyPr>
          <a:lstStyle/>
          <a:p>
            <a:pPr algn="ctr">
              <a:spcBef>
                <a:spcPts val="0"/>
              </a:spcBef>
              <a:spcAft>
                <a:spcPts val="600"/>
              </a:spcAft>
            </a:pPr>
            <a:r>
              <a:rPr sz="800" b="1" i="0">
                <a:solidFill>
                  <a:srgbClr val="FFFFFF"/>
                </a:solidFill>
                <a:latin typeface="Calibri"/>
              </a:rPr>
              <a:t>HIGH</a:t>
            </a:r>
          </a:p>
        </p:txBody>
      </p:sp>
      <p:sp>
        <p:nvSpPr>
          <p:cNvPr id="11" name="TextBox 10"/>
          <p:cNvSpPr txBox="1"/>
          <p:nvPr/>
        </p:nvSpPr>
        <p:spPr>
          <a:xfrm>
            <a:off x="932688" y="4617720"/>
            <a:ext cx="2446020" cy="1371600"/>
          </a:xfrm>
          <a:prstGeom prst="rect">
            <a:avLst/>
          </a:prstGeom>
          <a:noFill/>
        </p:spPr>
        <p:txBody>
          <a:bodyPr wrap="square" lIns="0" rIns="0" tIns="0" bIns="0">
            <a:spAutoFit/>
          </a:bodyPr>
          <a:lstStyle/>
          <a:p>
            <a:pPr algn="ctr">
              <a:lnSpc>
                <a:spcPct val="125000"/>
              </a:lnSpc>
              <a:spcBef>
                <a:spcPts val="0"/>
              </a:spcBef>
              <a:spcAft>
                <a:spcPts val="600"/>
              </a:spcAft>
            </a:pPr>
            <a:r>
              <a:rPr sz="1050" b="0" i="0">
                <a:solidFill>
                  <a:srgbClr val="6B6B76"/>
                </a:solidFill>
                <a:latin typeface="Calibri"/>
              </a:rPr>
              <a:t>HyDE, multi-view and front-loading lost on MiniLM; the stronger e5 encoder may use them differently.</a:t>
            </a:r>
          </a:p>
        </p:txBody>
      </p:sp>
      <p:sp>
        <p:nvSpPr>
          <p:cNvPr id="12" name="Oval 11"/>
          <p:cNvSpPr/>
          <p:nvPr/>
        </p:nvSpPr>
        <p:spPr>
          <a:xfrm>
            <a:off x="4464558" y="3017520"/>
            <a:ext cx="640080" cy="64008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Calibri"/>
              </a:rPr>
              <a:t>2</a:t>
            </a:r>
          </a:p>
        </p:txBody>
      </p:sp>
      <p:sp>
        <p:nvSpPr>
          <p:cNvPr id="13" name="TextBox 12"/>
          <p:cNvSpPr txBox="1"/>
          <p:nvPr/>
        </p:nvSpPr>
        <p:spPr>
          <a:xfrm>
            <a:off x="3561588" y="3931920"/>
            <a:ext cx="2446020" cy="320040"/>
          </a:xfrm>
          <a:prstGeom prst="rect">
            <a:avLst/>
          </a:prstGeom>
          <a:noFill/>
        </p:spPr>
        <p:txBody>
          <a:bodyPr wrap="square" lIns="0" rIns="0" tIns="0" bIns="0">
            <a:spAutoFit/>
          </a:bodyPr>
          <a:lstStyle/>
          <a:p>
            <a:pPr algn="ctr">
              <a:lnSpc>
                <a:spcPct val="110000"/>
              </a:lnSpc>
              <a:spcBef>
                <a:spcPts val="0"/>
              </a:spcBef>
              <a:spcAft>
                <a:spcPts val="600"/>
              </a:spcAft>
            </a:pPr>
            <a:r>
              <a:rPr sz="1350" b="1" i="0">
                <a:solidFill>
                  <a:srgbClr val="14142B"/>
                </a:solidFill>
                <a:latin typeface="Calibri"/>
              </a:rPr>
              <a:t>Scale the winner</a:t>
            </a:r>
          </a:p>
        </p:txBody>
      </p:sp>
      <p:sp>
        <p:nvSpPr>
          <p:cNvPr id="14" name="Rounded Rectangle 13"/>
          <p:cNvSpPr/>
          <p:nvPr/>
        </p:nvSpPr>
        <p:spPr>
          <a:xfrm>
            <a:off x="4464558" y="4315968"/>
            <a:ext cx="640080" cy="219456"/>
          </a:xfrm>
          <a:prstGeom prst="roundRect">
            <a:avLst>
              <a:gd name="adj" fmla="val 40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4558" y="4315968"/>
            <a:ext cx="640080" cy="219456"/>
          </a:xfrm>
          <a:prstGeom prst="rect">
            <a:avLst/>
          </a:prstGeom>
          <a:noFill/>
        </p:spPr>
        <p:txBody>
          <a:bodyPr wrap="square" lIns="0" rIns="0" tIns="0" bIns="0" anchor="ctr">
            <a:spAutoFit/>
          </a:bodyPr>
          <a:lstStyle/>
          <a:p>
            <a:pPr algn="ctr">
              <a:spcBef>
                <a:spcPts val="0"/>
              </a:spcBef>
              <a:spcAft>
                <a:spcPts val="600"/>
              </a:spcAft>
            </a:pPr>
            <a:r>
              <a:rPr sz="800" b="1" i="0">
                <a:solidFill>
                  <a:srgbClr val="FFFFFF"/>
                </a:solidFill>
                <a:latin typeface="Calibri"/>
              </a:rPr>
              <a:t>MED</a:t>
            </a:r>
          </a:p>
        </p:txBody>
      </p:sp>
      <p:sp>
        <p:nvSpPr>
          <p:cNvPr id="16" name="TextBox 15"/>
          <p:cNvSpPr txBox="1"/>
          <p:nvPr/>
        </p:nvSpPr>
        <p:spPr>
          <a:xfrm>
            <a:off x="3561588" y="4617720"/>
            <a:ext cx="2446020" cy="1371600"/>
          </a:xfrm>
          <a:prstGeom prst="rect">
            <a:avLst/>
          </a:prstGeom>
          <a:noFill/>
        </p:spPr>
        <p:txBody>
          <a:bodyPr wrap="square" lIns="0" rIns="0" tIns="0" bIns="0">
            <a:spAutoFit/>
          </a:bodyPr>
          <a:lstStyle/>
          <a:p>
            <a:pPr algn="ctr">
              <a:lnSpc>
                <a:spcPct val="125000"/>
              </a:lnSpc>
              <a:spcBef>
                <a:spcPts val="0"/>
              </a:spcBef>
              <a:spcAft>
                <a:spcPts val="600"/>
              </a:spcAft>
            </a:pPr>
            <a:r>
              <a:rPr sz="1050" b="0" i="0">
                <a:solidFill>
                  <a:srgbClr val="6B6B76"/>
                </a:solidFill>
                <a:latin typeface="Calibri"/>
              </a:rPr>
              <a:t>e5-large-v2 is the natural next test, at roughly 3× the CPU time.</a:t>
            </a:r>
          </a:p>
        </p:txBody>
      </p:sp>
      <p:sp>
        <p:nvSpPr>
          <p:cNvPr id="17" name="Oval 16"/>
          <p:cNvSpPr/>
          <p:nvPr/>
        </p:nvSpPr>
        <p:spPr>
          <a:xfrm>
            <a:off x="7093458" y="3017520"/>
            <a:ext cx="640080" cy="64008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Calibri"/>
              </a:rPr>
              <a:t>3</a:t>
            </a:r>
          </a:p>
        </p:txBody>
      </p:sp>
      <p:sp>
        <p:nvSpPr>
          <p:cNvPr id="18" name="TextBox 17"/>
          <p:cNvSpPr txBox="1"/>
          <p:nvPr/>
        </p:nvSpPr>
        <p:spPr>
          <a:xfrm>
            <a:off x="6190488" y="3931920"/>
            <a:ext cx="2446020" cy="320040"/>
          </a:xfrm>
          <a:prstGeom prst="rect">
            <a:avLst/>
          </a:prstGeom>
          <a:noFill/>
        </p:spPr>
        <p:txBody>
          <a:bodyPr wrap="square" lIns="0" rIns="0" tIns="0" bIns="0">
            <a:spAutoFit/>
          </a:bodyPr>
          <a:lstStyle/>
          <a:p>
            <a:pPr algn="ctr">
              <a:lnSpc>
                <a:spcPct val="110000"/>
              </a:lnSpc>
              <a:spcBef>
                <a:spcPts val="0"/>
              </a:spcBef>
              <a:spcAft>
                <a:spcPts val="600"/>
              </a:spcAft>
            </a:pPr>
            <a:r>
              <a:rPr sz="1350" b="1" i="0">
                <a:solidFill>
                  <a:srgbClr val="14142B"/>
                </a:solidFill>
                <a:latin typeface="Calibri"/>
              </a:rPr>
              <a:t>Validate at scale</a:t>
            </a:r>
          </a:p>
        </p:txBody>
      </p:sp>
      <p:sp>
        <p:nvSpPr>
          <p:cNvPr id="19" name="Rounded Rectangle 18"/>
          <p:cNvSpPr/>
          <p:nvPr/>
        </p:nvSpPr>
        <p:spPr>
          <a:xfrm>
            <a:off x="7093458" y="4315968"/>
            <a:ext cx="640080" cy="219456"/>
          </a:xfrm>
          <a:prstGeom prst="roundRect">
            <a:avLst>
              <a:gd name="adj" fmla="val 40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3458" y="4315968"/>
            <a:ext cx="640080" cy="219456"/>
          </a:xfrm>
          <a:prstGeom prst="rect">
            <a:avLst/>
          </a:prstGeom>
          <a:noFill/>
        </p:spPr>
        <p:txBody>
          <a:bodyPr wrap="square" lIns="0" rIns="0" tIns="0" bIns="0" anchor="ctr">
            <a:spAutoFit/>
          </a:bodyPr>
          <a:lstStyle/>
          <a:p>
            <a:pPr algn="ctr">
              <a:spcBef>
                <a:spcPts val="0"/>
              </a:spcBef>
              <a:spcAft>
                <a:spcPts val="600"/>
              </a:spcAft>
            </a:pPr>
            <a:r>
              <a:rPr sz="800" b="1" i="0">
                <a:solidFill>
                  <a:srgbClr val="FFFFFF"/>
                </a:solidFill>
                <a:latin typeface="Calibri"/>
              </a:rPr>
              <a:t>MED</a:t>
            </a:r>
          </a:p>
        </p:txBody>
      </p:sp>
      <p:sp>
        <p:nvSpPr>
          <p:cNvPr id="21" name="TextBox 20"/>
          <p:cNvSpPr txBox="1"/>
          <p:nvPr/>
        </p:nvSpPr>
        <p:spPr>
          <a:xfrm>
            <a:off x="6190488" y="4617720"/>
            <a:ext cx="2446020" cy="1371600"/>
          </a:xfrm>
          <a:prstGeom prst="rect">
            <a:avLst/>
          </a:prstGeom>
          <a:noFill/>
        </p:spPr>
        <p:txBody>
          <a:bodyPr wrap="square" lIns="0" rIns="0" tIns="0" bIns="0">
            <a:spAutoFit/>
          </a:bodyPr>
          <a:lstStyle/>
          <a:p>
            <a:pPr algn="ctr">
              <a:lnSpc>
                <a:spcPct val="125000"/>
              </a:lnSpc>
              <a:spcBef>
                <a:spcPts val="0"/>
              </a:spcBef>
              <a:spcAft>
                <a:spcPts val="600"/>
              </a:spcAft>
            </a:pPr>
            <a:r>
              <a:rPr sz="1050" b="0" i="0">
                <a:solidFill>
                  <a:srgbClr val="6B6B76"/>
                </a:solidFill>
                <a:latin typeface="Calibri"/>
              </a:rPr>
              <a:t>Prove cross-version retrieval on real multi-version repositories, not just the prototype set.</a:t>
            </a:r>
          </a:p>
        </p:txBody>
      </p:sp>
      <p:sp>
        <p:nvSpPr>
          <p:cNvPr id="22" name="Oval 21"/>
          <p:cNvSpPr/>
          <p:nvPr/>
        </p:nvSpPr>
        <p:spPr>
          <a:xfrm>
            <a:off x="9722358" y="3017520"/>
            <a:ext cx="640080" cy="64008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Calibri"/>
              </a:rPr>
              <a:t>4</a:t>
            </a:r>
          </a:p>
        </p:txBody>
      </p:sp>
      <p:sp>
        <p:nvSpPr>
          <p:cNvPr id="23" name="TextBox 22"/>
          <p:cNvSpPr txBox="1"/>
          <p:nvPr/>
        </p:nvSpPr>
        <p:spPr>
          <a:xfrm>
            <a:off x="8819388" y="3931920"/>
            <a:ext cx="2446020" cy="320040"/>
          </a:xfrm>
          <a:prstGeom prst="rect">
            <a:avLst/>
          </a:prstGeom>
          <a:noFill/>
        </p:spPr>
        <p:txBody>
          <a:bodyPr wrap="square" lIns="0" rIns="0" tIns="0" bIns="0">
            <a:spAutoFit/>
          </a:bodyPr>
          <a:lstStyle/>
          <a:p>
            <a:pPr algn="ctr">
              <a:lnSpc>
                <a:spcPct val="110000"/>
              </a:lnSpc>
              <a:spcBef>
                <a:spcPts val="0"/>
              </a:spcBef>
              <a:spcAft>
                <a:spcPts val="600"/>
              </a:spcAft>
            </a:pPr>
            <a:r>
              <a:rPr sz="1350" b="1" i="0">
                <a:solidFill>
                  <a:srgbClr val="14142B"/>
                </a:solidFill>
                <a:latin typeface="Calibri"/>
              </a:rPr>
              <a:t>Publish the findings</a:t>
            </a:r>
          </a:p>
        </p:txBody>
      </p:sp>
      <p:sp>
        <p:nvSpPr>
          <p:cNvPr id="24" name="Rounded Rectangle 23"/>
          <p:cNvSpPr/>
          <p:nvPr/>
        </p:nvSpPr>
        <p:spPr>
          <a:xfrm>
            <a:off x="9722358" y="4315968"/>
            <a:ext cx="640080" cy="219456"/>
          </a:xfrm>
          <a:prstGeom prst="roundRect">
            <a:avLst>
              <a:gd name="adj" fmla="val 40000"/>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22358" y="4315968"/>
            <a:ext cx="640080" cy="219456"/>
          </a:xfrm>
          <a:prstGeom prst="rect">
            <a:avLst/>
          </a:prstGeom>
          <a:noFill/>
        </p:spPr>
        <p:txBody>
          <a:bodyPr wrap="square" lIns="0" rIns="0" tIns="0" bIns="0" anchor="ctr">
            <a:spAutoFit/>
          </a:bodyPr>
          <a:lstStyle/>
          <a:p>
            <a:pPr algn="ctr">
              <a:spcBef>
                <a:spcPts val="0"/>
              </a:spcBef>
              <a:spcAft>
                <a:spcPts val="600"/>
              </a:spcAft>
            </a:pPr>
            <a:r>
              <a:rPr sz="800" b="1" i="0">
                <a:solidFill>
                  <a:srgbClr val="FFFFFF"/>
                </a:solidFill>
                <a:latin typeface="Calibri"/>
              </a:rPr>
              <a:t>LONG</a:t>
            </a:r>
          </a:p>
        </p:txBody>
      </p:sp>
      <p:sp>
        <p:nvSpPr>
          <p:cNvPr id="26" name="TextBox 25"/>
          <p:cNvSpPr txBox="1"/>
          <p:nvPr/>
        </p:nvSpPr>
        <p:spPr>
          <a:xfrm>
            <a:off x="8819388" y="4617720"/>
            <a:ext cx="2446020" cy="1371600"/>
          </a:xfrm>
          <a:prstGeom prst="rect">
            <a:avLst/>
          </a:prstGeom>
          <a:noFill/>
        </p:spPr>
        <p:txBody>
          <a:bodyPr wrap="square" lIns="0" rIns="0" tIns="0" bIns="0">
            <a:spAutoFit/>
          </a:bodyPr>
          <a:lstStyle/>
          <a:p>
            <a:pPr algn="ctr">
              <a:lnSpc>
                <a:spcPct val="125000"/>
              </a:lnSpc>
              <a:spcBef>
                <a:spcPts val="0"/>
              </a:spcBef>
              <a:spcAft>
                <a:spcPts val="600"/>
              </a:spcAft>
            </a:pPr>
            <a:r>
              <a:rPr sz="1050" b="0" i="0">
                <a:solidFill>
                  <a:srgbClr val="6B6B76"/>
                </a:solidFill>
                <a:latin typeface="Calibri"/>
              </a:rPr>
              <a:t>Cross-version code retrieval is under-solved territory — PRISM cohorts have taken this to IEEE.</a:t>
            </a:r>
          </a:p>
        </p:txBody>
      </p:sp>
      <p:sp>
        <p:nvSpPr>
          <p:cNvPr id="27" name="Rounded Rectangle 26"/>
          <p:cNvSpPr/>
          <p:nvPr/>
        </p:nvSpPr>
        <p:spPr>
          <a:xfrm>
            <a:off x="841248" y="5669280"/>
            <a:ext cx="10515600" cy="457200"/>
          </a:xfrm>
          <a:prstGeom prst="roundRect">
            <a:avLst>
              <a:gd name="adj" fmla="val 8000"/>
            </a:avLst>
          </a:prstGeom>
          <a:solidFill>
            <a:srgbClr val="FFFFFF"/>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15568" y="5669280"/>
            <a:ext cx="9966960" cy="457200"/>
          </a:xfrm>
          <a:prstGeom prst="rect">
            <a:avLst/>
          </a:prstGeom>
          <a:noFill/>
        </p:spPr>
        <p:txBody>
          <a:bodyPr wrap="square" lIns="0" rIns="0" tIns="0" bIns="0" anchor="ctr">
            <a:spAutoFit/>
          </a:bodyPr>
          <a:lstStyle/>
          <a:p>
            <a:pPr algn="ctr">
              <a:spcBef>
                <a:spcPts val="0"/>
              </a:spcBef>
              <a:spcAft>
                <a:spcPts val="600"/>
              </a:spcAft>
            </a:pPr>
            <a:r>
              <a:rPr sz="1150" b="1" i="1">
                <a:solidFill>
                  <a:srgbClr val="6D28D9"/>
                </a:solidFill>
                <a:latin typeface="Calibri"/>
              </a:rPr>
              <a:t>Every step above is measured the same way as everything before it — one change, one number, keep or revert.</a:t>
            </a:r>
          </a:p>
        </p:txBody>
      </p:sp>
    </p:spTree>
    <p:extLst>
      <p:ext uri="{BB962C8B-B14F-4D97-AF65-F5344CB8AC3E}">
        <p14:creationId xmlns:p14="http://schemas.microsoft.com/office/powerpoint/2010/main" val="3985914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Brownie points slide( differentiation)</a:t>
            </a:r>
            <a:endParaRPr lang="en-US" sz="4400" b="1" dirty="0">
              <a:solidFill>
                <a:srgbClr val="704EA6"/>
              </a:solidFill>
            </a:endParaRPr>
          </a:p>
        </p:txBody>
      </p:sp>
      <p:sp>
        <p:nvSpPr>
          <p:cNvPr id="3" name="Rounded Rectangle 2"/>
          <p:cNvSpPr/>
          <p:nvPr/>
        </p:nvSpPr>
        <p:spPr>
          <a:xfrm>
            <a:off x="841248" y="1874519"/>
            <a:ext cx="5120640" cy="1485900"/>
          </a:xfrm>
          <a:prstGeom prst="roundRect">
            <a:avLst>
              <a:gd name="adj" fmla="val 6000"/>
            </a:avLst>
          </a:prstGeom>
          <a:solidFill>
            <a:srgbClr val="EDE9FB"/>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9848" y="2057400"/>
            <a:ext cx="457200" cy="457200"/>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Calibri"/>
              </a:rPr>
              <a:t>✓</a:t>
            </a:r>
          </a:p>
        </p:txBody>
      </p:sp>
      <p:sp>
        <p:nvSpPr>
          <p:cNvPr id="5" name="TextBox 4"/>
          <p:cNvSpPr txBox="1"/>
          <p:nvPr/>
        </p:nvSpPr>
        <p:spPr>
          <a:xfrm>
            <a:off x="1664208" y="2075688"/>
            <a:ext cx="4114800" cy="292608"/>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Verified, not assumed</a:t>
            </a:r>
          </a:p>
        </p:txBody>
      </p:sp>
      <p:sp>
        <p:nvSpPr>
          <p:cNvPr id="6" name="TextBox 5"/>
          <p:cNvSpPr txBox="1"/>
          <p:nvPr/>
        </p:nvSpPr>
        <p:spPr>
          <a:xfrm>
            <a:off x="1097280" y="2514600"/>
            <a:ext cx="4608575" cy="274320"/>
          </a:xfrm>
          <a:prstGeom prst="rect">
            <a:avLst/>
          </a:prstGeom>
          <a:noFill/>
        </p:spPr>
        <p:txBody>
          <a:bodyPr wrap="square" lIns="0" rIns="0" tIns="0" bIns="0">
            <a:spAutoFit/>
          </a:bodyPr>
          <a:lstStyle/>
          <a:p>
            <a:pPr algn="l">
              <a:lnSpc>
                <a:spcPct val="115000"/>
              </a:lnSpc>
              <a:spcBef>
                <a:spcPts val="0"/>
              </a:spcBef>
              <a:spcAft>
                <a:spcPts val="600"/>
              </a:spcAft>
            </a:pPr>
            <a:r>
              <a:rPr sz="1000" b="0" i="0">
                <a:solidFill>
                  <a:srgbClr val="6B6B76"/>
                </a:solidFill>
                <a:latin typeface="Calibri"/>
              </a:rPr>
              <a:t>Proven end-to-end against a real mteb.evaluate() run.</a:t>
            </a:r>
          </a:p>
        </p:txBody>
      </p:sp>
      <p:sp>
        <p:nvSpPr>
          <p:cNvPr id="7" name="Rounded Rectangle 6"/>
          <p:cNvSpPr/>
          <p:nvPr/>
        </p:nvSpPr>
        <p:spPr>
          <a:xfrm>
            <a:off x="1097280" y="2738627"/>
            <a:ext cx="4608575" cy="512064"/>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2775203"/>
            <a:ext cx="4315968" cy="164592"/>
          </a:xfrm>
          <a:prstGeom prst="rect">
            <a:avLst/>
          </a:prstGeom>
          <a:noFill/>
        </p:spPr>
        <p:txBody>
          <a:bodyPr wrap="square" lIns="0" rIns="0" tIns="0" bIns="0">
            <a:spAutoFit/>
          </a:bodyPr>
          <a:lstStyle/>
          <a:p>
            <a:pPr algn="l">
              <a:spcBef>
                <a:spcPts val="0"/>
              </a:spcBef>
              <a:spcAft>
                <a:spcPts val="600"/>
              </a:spcAft>
            </a:pPr>
            <a:r>
              <a:rPr sz="750" b="1" i="0">
                <a:solidFill>
                  <a:srgbClr val="6D28D9"/>
                </a:solidFill>
                <a:latin typeface="Calibri"/>
              </a:rPr>
              <a:t>EVIDENCE</a:t>
            </a:r>
          </a:p>
        </p:txBody>
      </p:sp>
      <p:sp>
        <p:nvSpPr>
          <p:cNvPr id="9" name="TextBox 8"/>
          <p:cNvSpPr txBox="1"/>
          <p:nvPr/>
        </p:nvSpPr>
        <p:spPr>
          <a:xfrm>
            <a:off x="1243584" y="2921508"/>
            <a:ext cx="4315968" cy="310896"/>
          </a:xfrm>
          <a:prstGeom prst="rect">
            <a:avLst/>
          </a:prstGeom>
          <a:noFill/>
        </p:spPr>
        <p:txBody>
          <a:bodyPr wrap="square" lIns="0" rIns="0" tIns="0" bIns="0">
            <a:spAutoFit/>
          </a:bodyPr>
          <a:lstStyle/>
          <a:p>
            <a:pPr algn="l">
              <a:lnSpc>
                <a:spcPct val="115000"/>
              </a:lnSpc>
              <a:spcBef>
                <a:spcPts val="0"/>
              </a:spcBef>
              <a:spcAft>
                <a:spcPts val="600"/>
              </a:spcAft>
            </a:pPr>
            <a:r>
              <a:rPr sz="900" b="0" i="0">
                <a:solidFill>
                  <a:srgbClr val="14142B"/>
                </a:solidFill>
                <a:latin typeface="Calibri"/>
              </a:rPr>
              <a:t>tests/test_submission_format.py — 6 tests lock the leaderboard file shape byte-for-byte to the problem statement.</a:t>
            </a:r>
          </a:p>
        </p:txBody>
      </p:sp>
      <p:sp>
        <p:nvSpPr>
          <p:cNvPr id="10" name="Rounded Rectangle 9"/>
          <p:cNvSpPr/>
          <p:nvPr/>
        </p:nvSpPr>
        <p:spPr>
          <a:xfrm>
            <a:off x="6236207" y="1874519"/>
            <a:ext cx="5120640" cy="148590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4807" y="2057400"/>
            <a:ext cx="457200" cy="457200"/>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Calibri"/>
              </a:rPr>
              <a:t>✓</a:t>
            </a:r>
          </a:p>
        </p:txBody>
      </p:sp>
      <p:sp>
        <p:nvSpPr>
          <p:cNvPr id="12" name="TextBox 11"/>
          <p:cNvSpPr txBox="1"/>
          <p:nvPr/>
        </p:nvSpPr>
        <p:spPr>
          <a:xfrm>
            <a:off x="7059168" y="2075688"/>
            <a:ext cx="4114800" cy="292608"/>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Discipline over guesswork</a:t>
            </a:r>
          </a:p>
        </p:txBody>
      </p:sp>
      <p:sp>
        <p:nvSpPr>
          <p:cNvPr id="13" name="TextBox 12"/>
          <p:cNvSpPr txBox="1"/>
          <p:nvPr/>
        </p:nvSpPr>
        <p:spPr>
          <a:xfrm>
            <a:off x="6492240" y="2514600"/>
            <a:ext cx="4608575" cy="274320"/>
          </a:xfrm>
          <a:prstGeom prst="rect">
            <a:avLst/>
          </a:prstGeom>
          <a:noFill/>
        </p:spPr>
        <p:txBody>
          <a:bodyPr wrap="square" lIns="0" rIns="0" tIns="0" bIns="0">
            <a:spAutoFit/>
          </a:bodyPr>
          <a:lstStyle/>
          <a:p>
            <a:pPr algn="l">
              <a:lnSpc>
                <a:spcPct val="115000"/>
              </a:lnSpc>
              <a:spcBef>
                <a:spcPts val="0"/>
              </a:spcBef>
              <a:spcAft>
                <a:spcPts val="600"/>
              </a:spcAft>
            </a:pPr>
            <a:r>
              <a:rPr sz="1000" b="0" i="0">
                <a:solidFill>
                  <a:srgbClr val="6B6B76"/>
                </a:solidFill>
                <a:latin typeface="Calibri"/>
              </a:rPr>
              <a:t>Every feature logged config → NDCG@10 → kept/dropped, every time.</a:t>
            </a:r>
          </a:p>
        </p:txBody>
      </p:sp>
      <p:sp>
        <p:nvSpPr>
          <p:cNvPr id="14" name="Rounded Rectangle 13"/>
          <p:cNvSpPr/>
          <p:nvPr/>
        </p:nvSpPr>
        <p:spPr>
          <a:xfrm>
            <a:off x="6492240" y="2738627"/>
            <a:ext cx="4608575" cy="512064"/>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38544" y="2775203"/>
            <a:ext cx="4315968" cy="164592"/>
          </a:xfrm>
          <a:prstGeom prst="rect">
            <a:avLst/>
          </a:prstGeom>
          <a:noFill/>
        </p:spPr>
        <p:txBody>
          <a:bodyPr wrap="square" lIns="0" rIns="0" tIns="0" bIns="0">
            <a:spAutoFit/>
          </a:bodyPr>
          <a:lstStyle/>
          <a:p>
            <a:pPr algn="l">
              <a:spcBef>
                <a:spcPts val="0"/>
              </a:spcBef>
              <a:spcAft>
                <a:spcPts val="600"/>
              </a:spcAft>
            </a:pPr>
            <a:r>
              <a:rPr sz="750" b="1" i="0">
                <a:solidFill>
                  <a:srgbClr val="6D28D9"/>
                </a:solidFill>
                <a:latin typeface="Calibri"/>
              </a:rPr>
              <a:t>EVIDENCE</a:t>
            </a:r>
          </a:p>
        </p:txBody>
      </p:sp>
      <p:sp>
        <p:nvSpPr>
          <p:cNvPr id="16" name="TextBox 15"/>
          <p:cNvSpPr txBox="1"/>
          <p:nvPr/>
        </p:nvSpPr>
        <p:spPr>
          <a:xfrm>
            <a:off x="6638544" y="2921508"/>
            <a:ext cx="4315968" cy="310896"/>
          </a:xfrm>
          <a:prstGeom prst="rect">
            <a:avLst/>
          </a:prstGeom>
          <a:noFill/>
        </p:spPr>
        <p:txBody>
          <a:bodyPr wrap="square" lIns="0" rIns="0" tIns="0" bIns="0">
            <a:spAutoFit/>
          </a:bodyPr>
          <a:lstStyle/>
          <a:p>
            <a:pPr algn="l">
              <a:lnSpc>
                <a:spcPct val="115000"/>
              </a:lnSpc>
              <a:spcBef>
                <a:spcPts val="0"/>
              </a:spcBef>
              <a:spcAft>
                <a:spcPts val="600"/>
              </a:spcAft>
            </a:pPr>
            <a:r>
              <a:rPr sz="900" b="0" i="0">
                <a:solidFill>
                  <a:srgbClr val="14142B"/>
                </a:solidFill>
                <a:latin typeface="Calibri"/>
              </a:rPr>
              <a:t>docs/ablation_log.md — 10 real experiments, 8 dropped, 1 kept (+73.9%); every row reproducible from a config file.</a:t>
            </a:r>
          </a:p>
        </p:txBody>
      </p:sp>
      <p:sp>
        <p:nvSpPr>
          <p:cNvPr id="17" name="Rounded Rectangle 16"/>
          <p:cNvSpPr/>
          <p:nvPr/>
        </p:nvSpPr>
        <p:spPr>
          <a:xfrm>
            <a:off x="841248" y="3634740"/>
            <a:ext cx="5120640" cy="148590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69848" y="3817620"/>
            <a:ext cx="457200" cy="457200"/>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Calibri"/>
              </a:rPr>
              <a:t>✓</a:t>
            </a:r>
          </a:p>
        </p:txBody>
      </p:sp>
      <p:sp>
        <p:nvSpPr>
          <p:cNvPr id="19" name="TextBox 18"/>
          <p:cNvSpPr txBox="1"/>
          <p:nvPr/>
        </p:nvSpPr>
        <p:spPr>
          <a:xfrm>
            <a:off x="1664208" y="3835908"/>
            <a:ext cx="4114800" cy="292608"/>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Versioned from day one</a:t>
            </a:r>
          </a:p>
        </p:txBody>
      </p:sp>
      <p:sp>
        <p:nvSpPr>
          <p:cNvPr id="20" name="TextBox 19"/>
          <p:cNvSpPr txBox="1"/>
          <p:nvPr/>
        </p:nvSpPr>
        <p:spPr>
          <a:xfrm>
            <a:off x="1097280" y="4274820"/>
            <a:ext cx="4608575" cy="274320"/>
          </a:xfrm>
          <a:prstGeom prst="rect">
            <a:avLst/>
          </a:prstGeom>
          <a:noFill/>
        </p:spPr>
        <p:txBody>
          <a:bodyPr wrap="square" lIns="0" rIns="0" tIns="0" bIns="0">
            <a:spAutoFit/>
          </a:bodyPr>
          <a:lstStyle/>
          <a:p>
            <a:pPr algn="l">
              <a:lnSpc>
                <a:spcPct val="115000"/>
              </a:lnSpc>
              <a:spcBef>
                <a:spcPts val="0"/>
              </a:spcBef>
              <a:spcAft>
                <a:spcPts val="600"/>
              </a:spcAft>
            </a:pPr>
            <a:r>
              <a:rPr sz="1000" b="0" i="0">
                <a:solidFill>
                  <a:srgbClr val="6B6B76"/>
                </a:solidFill>
                <a:latin typeface="Calibri"/>
              </a:rPr>
              <a:t>Content-addressed index; cross-version retrieval never bolted on.</a:t>
            </a:r>
          </a:p>
        </p:txBody>
      </p:sp>
      <p:sp>
        <p:nvSpPr>
          <p:cNvPr id="21" name="Rounded Rectangle 20"/>
          <p:cNvSpPr/>
          <p:nvPr/>
        </p:nvSpPr>
        <p:spPr>
          <a:xfrm>
            <a:off x="1097280" y="4498848"/>
            <a:ext cx="4608575" cy="512064"/>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43584" y="4535424"/>
            <a:ext cx="4315968" cy="164592"/>
          </a:xfrm>
          <a:prstGeom prst="rect">
            <a:avLst/>
          </a:prstGeom>
          <a:noFill/>
        </p:spPr>
        <p:txBody>
          <a:bodyPr wrap="square" lIns="0" rIns="0" tIns="0" bIns="0">
            <a:spAutoFit/>
          </a:bodyPr>
          <a:lstStyle/>
          <a:p>
            <a:pPr algn="l">
              <a:spcBef>
                <a:spcPts val="0"/>
              </a:spcBef>
              <a:spcAft>
                <a:spcPts val="600"/>
              </a:spcAft>
            </a:pPr>
            <a:r>
              <a:rPr sz="750" b="1" i="0">
                <a:solidFill>
                  <a:srgbClr val="6D28D9"/>
                </a:solidFill>
                <a:latin typeface="Calibri"/>
              </a:rPr>
              <a:t>EVIDENCE</a:t>
            </a:r>
          </a:p>
        </p:txBody>
      </p:sp>
      <p:sp>
        <p:nvSpPr>
          <p:cNvPr id="23" name="TextBox 22"/>
          <p:cNvSpPr txBox="1"/>
          <p:nvPr/>
        </p:nvSpPr>
        <p:spPr>
          <a:xfrm>
            <a:off x="1243584" y="4681728"/>
            <a:ext cx="4315968" cy="310896"/>
          </a:xfrm>
          <a:prstGeom prst="rect">
            <a:avLst/>
          </a:prstGeom>
          <a:noFill/>
        </p:spPr>
        <p:txBody>
          <a:bodyPr wrap="square" lIns="0" rIns="0" tIns="0" bIns="0">
            <a:spAutoFit/>
          </a:bodyPr>
          <a:lstStyle/>
          <a:p>
            <a:pPr algn="l">
              <a:lnSpc>
                <a:spcPct val="115000"/>
              </a:lnSpc>
              <a:spcBef>
                <a:spcPts val="0"/>
              </a:spcBef>
              <a:spcAft>
                <a:spcPts val="600"/>
              </a:spcAft>
            </a:pPr>
            <a:r>
              <a:rPr sz="900" b="0" i="0">
                <a:solidFill>
                  <a:srgbClr val="14142B"/>
                </a:solidFill>
                <a:latin typeface="Calibri"/>
              </a:rPr>
              <a:t>prism/index/versioned.py + stable-core / version-delta — the P1 requirement is a first-class feature.</a:t>
            </a:r>
          </a:p>
        </p:txBody>
      </p:sp>
      <p:sp>
        <p:nvSpPr>
          <p:cNvPr id="24" name="Rounded Rectangle 23"/>
          <p:cNvSpPr/>
          <p:nvPr/>
        </p:nvSpPr>
        <p:spPr>
          <a:xfrm>
            <a:off x="6236207" y="3634740"/>
            <a:ext cx="5120640" cy="1485900"/>
          </a:xfrm>
          <a:prstGeom prst="roundRect">
            <a:avLst>
              <a:gd name="adj" fmla="val 6000"/>
            </a:avLst>
          </a:prstGeom>
          <a:solidFill>
            <a:srgbClr val="EDE9FB"/>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64807" y="3817620"/>
            <a:ext cx="457200" cy="457200"/>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Calibri"/>
              </a:rPr>
              <a:t>✓</a:t>
            </a:r>
          </a:p>
        </p:txBody>
      </p:sp>
      <p:sp>
        <p:nvSpPr>
          <p:cNvPr id="26" name="TextBox 25"/>
          <p:cNvSpPr txBox="1"/>
          <p:nvPr/>
        </p:nvSpPr>
        <p:spPr>
          <a:xfrm>
            <a:off x="7059168" y="3835908"/>
            <a:ext cx="4114800" cy="292608"/>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Honest about limits</a:t>
            </a:r>
          </a:p>
        </p:txBody>
      </p:sp>
      <p:sp>
        <p:nvSpPr>
          <p:cNvPr id="27" name="TextBox 26"/>
          <p:cNvSpPr txBox="1"/>
          <p:nvPr/>
        </p:nvSpPr>
        <p:spPr>
          <a:xfrm>
            <a:off x="6492240" y="4274820"/>
            <a:ext cx="4608575" cy="274320"/>
          </a:xfrm>
          <a:prstGeom prst="rect">
            <a:avLst/>
          </a:prstGeom>
          <a:noFill/>
        </p:spPr>
        <p:txBody>
          <a:bodyPr wrap="square" lIns="0" rIns="0" tIns="0" bIns="0">
            <a:spAutoFit/>
          </a:bodyPr>
          <a:lstStyle/>
          <a:p>
            <a:pPr algn="l">
              <a:lnSpc>
                <a:spcPct val="115000"/>
              </a:lnSpc>
              <a:spcBef>
                <a:spcPts val="0"/>
              </a:spcBef>
              <a:spcAft>
                <a:spcPts val="600"/>
              </a:spcAft>
            </a:pPr>
            <a:r>
              <a:rPr sz="1000" b="0" i="0">
                <a:solidFill>
                  <a:srgbClr val="6B6B76"/>
                </a:solidFill>
                <a:latin typeface="Calibri"/>
              </a:rPr>
              <a:t>Limitations reported next to results — credibility over overselling.</a:t>
            </a:r>
          </a:p>
        </p:txBody>
      </p:sp>
      <p:sp>
        <p:nvSpPr>
          <p:cNvPr id="28" name="Rounded Rectangle 27"/>
          <p:cNvSpPr/>
          <p:nvPr/>
        </p:nvSpPr>
        <p:spPr>
          <a:xfrm>
            <a:off x="6492240" y="4498848"/>
            <a:ext cx="4608575" cy="512064"/>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38544" y="4535424"/>
            <a:ext cx="4315968" cy="164592"/>
          </a:xfrm>
          <a:prstGeom prst="rect">
            <a:avLst/>
          </a:prstGeom>
          <a:noFill/>
        </p:spPr>
        <p:txBody>
          <a:bodyPr wrap="square" lIns="0" rIns="0" tIns="0" bIns="0">
            <a:spAutoFit/>
          </a:bodyPr>
          <a:lstStyle/>
          <a:p>
            <a:pPr algn="l">
              <a:spcBef>
                <a:spcPts val="0"/>
              </a:spcBef>
              <a:spcAft>
                <a:spcPts val="600"/>
              </a:spcAft>
            </a:pPr>
            <a:r>
              <a:rPr sz="750" b="1" i="0">
                <a:solidFill>
                  <a:srgbClr val="6D28D9"/>
                </a:solidFill>
                <a:latin typeface="Calibri"/>
              </a:rPr>
              <a:t>EVIDENCE</a:t>
            </a:r>
          </a:p>
        </p:txBody>
      </p:sp>
      <p:sp>
        <p:nvSpPr>
          <p:cNvPr id="30" name="TextBox 29"/>
          <p:cNvSpPr txBox="1"/>
          <p:nvPr/>
        </p:nvSpPr>
        <p:spPr>
          <a:xfrm>
            <a:off x="6638544" y="4681728"/>
            <a:ext cx="4315968" cy="310896"/>
          </a:xfrm>
          <a:prstGeom prst="rect">
            <a:avLst/>
          </a:prstGeom>
          <a:noFill/>
        </p:spPr>
        <p:txBody>
          <a:bodyPr wrap="square" lIns="0" rIns="0" tIns="0" bIns="0">
            <a:spAutoFit/>
          </a:bodyPr>
          <a:lstStyle/>
          <a:p>
            <a:pPr algn="l">
              <a:lnSpc>
                <a:spcPct val="115000"/>
              </a:lnSpc>
              <a:spcBef>
                <a:spcPts val="0"/>
              </a:spcBef>
              <a:spcAft>
                <a:spcPts val="600"/>
              </a:spcAft>
            </a:pPr>
            <a:r>
              <a:rPr sz="900" b="0" i="0">
                <a:solidFill>
                  <a:srgbClr val="14142B"/>
                </a:solidFill>
                <a:latin typeface="Calibri"/>
              </a:rPr>
              <a:t>docs/ablation_log.md — every failure named up front; a code-model swap losing 50% is documented, not hidden.</a:t>
            </a:r>
          </a:p>
        </p:txBody>
      </p:sp>
      <p:sp>
        <p:nvSpPr>
          <p:cNvPr id="31" name="Rounded Rectangle 30"/>
          <p:cNvSpPr/>
          <p:nvPr/>
        </p:nvSpPr>
        <p:spPr>
          <a:xfrm>
            <a:off x="841248" y="5257800"/>
            <a:ext cx="10515600" cy="868680"/>
          </a:xfrm>
          <a:prstGeom prst="roundRect">
            <a:avLst>
              <a:gd name="adj" fmla="val 8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15568" y="5349240"/>
            <a:ext cx="9966960" cy="256032"/>
          </a:xfrm>
          <a:prstGeom prst="rect">
            <a:avLst/>
          </a:prstGeom>
          <a:noFill/>
        </p:spPr>
        <p:txBody>
          <a:bodyPr wrap="square" lIns="0" rIns="0" tIns="0" bIns="0">
            <a:spAutoFit/>
          </a:bodyPr>
          <a:lstStyle/>
          <a:p>
            <a:pPr algn="l">
              <a:spcBef>
                <a:spcPts val="0"/>
              </a:spcBef>
              <a:spcAft>
                <a:spcPts val="600"/>
              </a:spcAft>
            </a:pPr>
            <a:r>
              <a:rPr sz="950" b="1" i="0">
                <a:solidFill>
                  <a:srgbClr val="E3DAF7"/>
                </a:solidFill>
                <a:latin typeface="Calibri"/>
              </a:rPr>
              <a:t>BY THE NUMBERS</a:t>
            </a:r>
          </a:p>
        </p:txBody>
      </p:sp>
      <p:sp>
        <p:nvSpPr>
          <p:cNvPr id="33" name="TextBox 32"/>
          <p:cNvSpPr txBox="1"/>
          <p:nvPr/>
        </p:nvSpPr>
        <p:spPr>
          <a:xfrm>
            <a:off x="1115568" y="5568696"/>
            <a:ext cx="1847088" cy="548640"/>
          </a:xfrm>
          <a:prstGeom prst="rect">
            <a:avLst/>
          </a:prstGeom>
          <a:noFill/>
        </p:spPr>
        <p:txBody>
          <a:bodyPr wrap="square" lIns="0" rIns="0" tIns="0" bIns="0" anchor="ctr">
            <a:spAutoFit/>
          </a:bodyPr>
          <a:lstStyle/>
          <a:p>
            <a:pPr algn="ctr">
              <a:spcBef>
                <a:spcPts val="0"/>
              </a:spcBef>
              <a:spcAft>
                <a:spcPts val="0"/>
              </a:spcAft>
            </a:pPr>
            <a:r>
              <a:rPr sz="2200" b="1" i="0">
                <a:solidFill>
                  <a:srgbClr val="FFFFFF"/>
                </a:solidFill>
                <a:latin typeface="Calibri"/>
              </a:rPr>
              <a:t>10</a:t>
            </a:r>
          </a:p>
          <a:p>
            <a:pPr algn="ctr">
              <a:spcBef>
                <a:spcPts val="0"/>
              </a:spcBef>
              <a:spcAft>
                <a:spcPts val="600"/>
              </a:spcAft>
            </a:pPr>
            <a:r>
              <a:rPr sz="950" b="0" i="0">
                <a:solidFill>
                  <a:srgbClr val="E3DAF7"/>
                </a:solidFill>
                <a:latin typeface="Calibri"/>
              </a:rPr>
              <a:t>real experiments</a:t>
            </a:r>
          </a:p>
        </p:txBody>
      </p:sp>
      <p:sp>
        <p:nvSpPr>
          <p:cNvPr id="34" name="TextBox 33"/>
          <p:cNvSpPr txBox="1"/>
          <p:nvPr/>
        </p:nvSpPr>
        <p:spPr>
          <a:xfrm>
            <a:off x="3145536" y="5568696"/>
            <a:ext cx="1847088" cy="548640"/>
          </a:xfrm>
          <a:prstGeom prst="rect">
            <a:avLst/>
          </a:prstGeom>
          <a:noFill/>
        </p:spPr>
        <p:txBody>
          <a:bodyPr wrap="square" lIns="0" rIns="0" tIns="0" bIns="0" anchor="ctr">
            <a:spAutoFit/>
          </a:bodyPr>
          <a:lstStyle/>
          <a:p>
            <a:pPr algn="ctr">
              <a:spcBef>
                <a:spcPts val="0"/>
              </a:spcBef>
              <a:spcAft>
                <a:spcPts val="0"/>
              </a:spcAft>
            </a:pPr>
            <a:r>
              <a:rPr sz="2200" b="1" i="0">
                <a:solidFill>
                  <a:srgbClr val="FFFFFF"/>
                </a:solidFill>
                <a:latin typeface="Calibri"/>
              </a:rPr>
              <a:t>8</a:t>
            </a:r>
          </a:p>
          <a:p>
            <a:pPr algn="ctr">
              <a:spcBef>
                <a:spcPts val="0"/>
              </a:spcBef>
              <a:spcAft>
                <a:spcPts val="600"/>
              </a:spcAft>
            </a:pPr>
            <a:r>
              <a:rPr sz="950" b="0" i="0">
                <a:solidFill>
                  <a:srgbClr val="E3DAF7"/>
                </a:solidFill>
                <a:latin typeface="Calibri"/>
              </a:rPr>
              <a:t>dropped, still in repo</a:t>
            </a:r>
          </a:p>
        </p:txBody>
      </p:sp>
      <p:sp>
        <p:nvSpPr>
          <p:cNvPr id="35" name="TextBox 34"/>
          <p:cNvSpPr txBox="1"/>
          <p:nvPr/>
        </p:nvSpPr>
        <p:spPr>
          <a:xfrm>
            <a:off x="5175504" y="5568696"/>
            <a:ext cx="1847088" cy="548640"/>
          </a:xfrm>
          <a:prstGeom prst="rect">
            <a:avLst/>
          </a:prstGeom>
          <a:noFill/>
        </p:spPr>
        <p:txBody>
          <a:bodyPr wrap="square" lIns="0" rIns="0" tIns="0" bIns="0" anchor="ctr">
            <a:spAutoFit/>
          </a:bodyPr>
          <a:lstStyle/>
          <a:p>
            <a:pPr algn="ctr">
              <a:spcBef>
                <a:spcPts val="0"/>
              </a:spcBef>
              <a:spcAft>
                <a:spcPts val="0"/>
              </a:spcAft>
            </a:pPr>
            <a:r>
              <a:rPr sz="2200" b="1" i="0">
                <a:solidFill>
                  <a:srgbClr val="FFFFFF"/>
                </a:solidFill>
                <a:latin typeface="Calibri"/>
              </a:rPr>
              <a:t>78</a:t>
            </a:r>
          </a:p>
          <a:p>
            <a:pPr algn="ctr">
              <a:spcBef>
                <a:spcPts val="0"/>
              </a:spcBef>
              <a:spcAft>
                <a:spcPts val="600"/>
              </a:spcAft>
            </a:pPr>
            <a:r>
              <a:rPr sz="950" b="0" i="0">
                <a:solidFill>
                  <a:srgbClr val="E3DAF7"/>
                </a:solidFill>
                <a:latin typeface="Calibri"/>
              </a:rPr>
              <a:t>offline tests</a:t>
            </a:r>
          </a:p>
        </p:txBody>
      </p:sp>
      <p:sp>
        <p:nvSpPr>
          <p:cNvPr id="36" name="TextBox 35"/>
          <p:cNvSpPr txBox="1"/>
          <p:nvPr/>
        </p:nvSpPr>
        <p:spPr>
          <a:xfrm>
            <a:off x="7205472" y="5568696"/>
            <a:ext cx="1847088" cy="548640"/>
          </a:xfrm>
          <a:prstGeom prst="rect">
            <a:avLst/>
          </a:prstGeom>
          <a:noFill/>
        </p:spPr>
        <p:txBody>
          <a:bodyPr wrap="square" lIns="0" rIns="0" tIns="0" bIns="0" anchor="ctr">
            <a:spAutoFit/>
          </a:bodyPr>
          <a:lstStyle/>
          <a:p>
            <a:pPr algn="ctr">
              <a:spcBef>
                <a:spcPts val="0"/>
              </a:spcBef>
              <a:spcAft>
                <a:spcPts val="0"/>
              </a:spcAft>
            </a:pPr>
            <a:r>
              <a:rPr sz="2200" b="1" i="0">
                <a:solidFill>
                  <a:srgbClr val="FFFFFF"/>
                </a:solidFill>
                <a:latin typeface="Calibri"/>
              </a:rPr>
              <a:t>0</a:t>
            </a:r>
          </a:p>
          <a:p>
            <a:pPr algn="ctr">
              <a:spcBef>
                <a:spcPts val="0"/>
              </a:spcBef>
              <a:spcAft>
                <a:spcPts val="600"/>
              </a:spcAft>
            </a:pPr>
            <a:r>
              <a:rPr sz="950" b="0" i="0">
                <a:solidFill>
                  <a:srgbClr val="E3DAF7"/>
                </a:solidFill>
                <a:latin typeface="Calibri"/>
              </a:rPr>
              <a:t>mocks in leaderboard eval</a:t>
            </a:r>
          </a:p>
        </p:txBody>
      </p:sp>
      <p:sp>
        <p:nvSpPr>
          <p:cNvPr id="37" name="TextBox 36"/>
          <p:cNvSpPr txBox="1"/>
          <p:nvPr/>
        </p:nvSpPr>
        <p:spPr>
          <a:xfrm>
            <a:off x="9235440" y="5568696"/>
            <a:ext cx="1847088" cy="548640"/>
          </a:xfrm>
          <a:prstGeom prst="rect">
            <a:avLst/>
          </a:prstGeom>
          <a:noFill/>
        </p:spPr>
        <p:txBody>
          <a:bodyPr wrap="square" lIns="0" rIns="0" tIns="0" bIns="0" anchor="ctr">
            <a:spAutoFit/>
          </a:bodyPr>
          <a:lstStyle/>
          <a:p>
            <a:pPr algn="ctr">
              <a:spcBef>
                <a:spcPts val="0"/>
              </a:spcBef>
              <a:spcAft>
                <a:spcPts val="0"/>
              </a:spcAft>
            </a:pPr>
            <a:r>
              <a:rPr sz="2200" b="1" i="0">
                <a:solidFill>
                  <a:srgbClr val="FFFFFF"/>
                </a:solidFill>
                <a:latin typeface="Calibri"/>
              </a:rPr>
              <a:t>1</a:t>
            </a:r>
          </a:p>
          <a:p>
            <a:pPr algn="ctr">
              <a:spcBef>
                <a:spcPts val="0"/>
              </a:spcBef>
              <a:spcAft>
                <a:spcPts val="600"/>
              </a:spcAft>
            </a:pPr>
            <a:r>
              <a:rPr sz="950" b="0" i="0">
                <a:solidFill>
                  <a:srgbClr val="E3DAF7"/>
                </a:solidFill>
                <a:latin typeface="Calibri"/>
              </a:rPr>
              <a:t>reproducible docker run</a:t>
            </a:r>
          </a:p>
        </p:txBody>
      </p:sp>
    </p:spTree>
    <p:extLst>
      <p:ext uri="{BB962C8B-B14F-4D97-AF65-F5344CB8AC3E}">
        <p14:creationId xmlns:p14="http://schemas.microsoft.com/office/powerpoint/2010/main" val="2095517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4E28A-8ABF-4E15-B9E1-B0F49C0EE29F}"/>
              </a:ext>
            </a:extLst>
          </p:cNvPr>
          <p:cNvSpPr>
            <a:spLocks noGrp="1"/>
          </p:cNvSpPr>
          <p:nvPr>
            <p:ph type="title"/>
          </p:nvPr>
        </p:nvSpPr>
        <p:spPr/>
        <p:txBody>
          <a:bodyPr/>
          <a:lstStyle/>
          <a:p>
            <a:r>
              <a:rPr lang="en-IN" b="1" dirty="0">
                <a:solidFill>
                  <a:srgbClr val="704EA6"/>
                </a:solidFill>
                <a:latin typeface="+mn-lt"/>
              </a:rPr>
              <a:t>Checklist- Updated on Public GitHub</a:t>
            </a:r>
          </a:p>
        </p:txBody>
      </p:sp>
      <p:sp>
        <p:nvSpPr>
          <p:cNvPr id="3" name="Rounded Rectangle 2"/>
          <p:cNvSpPr/>
          <p:nvPr/>
        </p:nvSpPr>
        <p:spPr>
          <a:xfrm>
            <a:off x="841248" y="1874519"/>
            <a:ext cx="6858000" cy="429768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15568" y="2057400"/>
            <a:ext cx="6309360" cy="365760"/>
          </a:xfrm>
          <a:prstGeom prst="rect">
            <a:avLst/>
          </a:prstGeom>
          <a:noFill/>
        </p:spPr>
        <p:txBody>
          <a:bodyPr wrap="square" lIns="0" rIns="0" tIns="0" bIns="0">
            <a:spAutoFit/>
          </a:bodyPr>
          <a:lstStyle/>
          <a:p>
            <a:pPr algn="l">
              <a:spcBef>
                <a:spcPts val="0"/>
              </a:spcBef>
              <a:spcAft>
                <a:spcPts val="600"/>
              </a:spcAft>
            </a:pPr>
            <a:r>
              <a:rPr sz="1100" b="1" i="0">
                <a:solidFill>
                  <a:srgbClr val="6D28D9"/>
                </a:solidFill>
                <a:latin typeface="Calibri"/>
              </a:rPr>
              <a:t>SUBMISSION CHECKLIST</a:t>
            </a:r>
          </a:p>
        </p:txBody>
      </p:sp>
      <p:sp>
        <p:nvSpPr>
          <p:cNvPr id="5" name="Rounded Rectangle 4"/>
          <p:cNvSpPr/>
          <p:nvPr/>
        </p:nvSpPr>
        <p:spPr>
          <a:xfrm>
            <a:off x="1024128" y="2514600"/>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52144" y="2593086"/>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7" name="TextBox 6"/>
          <p:cNvSpPr txBox="1"/>
          <p:nvPr/>
        </p:nvSpPr>
        <p:spPr>
          <a:xfrm>
            <a:off x="1709928" y="2587752"/>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Working prototype code</a:t>
            </a:r>
          </a:p>
          <a:p>
            <a:pPr algn="l">
              <a:lnSpc>
                <a:spcPct val="110000"/>
              </a:lnSpc>
              <a:spcBef>
                <a:spcPts val="0"/>
              </a:spcBef>
              <a:spcAft>
                <a:spcPts val="100"/>
              </a:spcAft>
            </a:pPr>
            <a:r>
              <a:rPr sz="950" b="0" i="1">
                <a:solidFill>
                  <a:srgbClr val="6B6B76"/>
                </a:solidFill>
                <a:latin typeface="Calibri"/>
              </a:rPr>
              <a:t>Public GitHub repo, tag PRISM_GENAI_HACKATHON_Y2026</a:t>
            </a:r>
          </a:p>
          <a:p>
            <a:pPr algn="l">
              <a:lnSpc>
                <a:spcPct val="110000"/>
              </a:lnSpc>
              <a:spcBef>
                <a:spcPts val="0"/>
              </a:spcBef>
              <a:spcAft>
                <a:spcPts val="600"/>
              </a:spcAft>
            </a:pPr>
            <a:r>
              <a:rPr sz="950" b="0" i="0">
                <a:solidFill>
                  <a:srgbClr val="6D28D9"/>
                </a:solidFill>
                <a:latin typeface="Courier New"/>
              </a:rPr>
              <a:t>github.com/Ajha2005/samsung-prism</a:t>
            </a:r>
          </a:p>
        </p:txBody>
      </p:sp>
      <p:sp>
        <p:nvSpPr>
          <p:cNvPr id="8" name="Rounded Rectangle 7"/>
          <p:cNvSpPr/>
          <p:nvPr/>
        </p:nvSpPr>
        <p:spPr>
          <a:xfrm>
            <a:off x="1024128" y="3110483"/>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2144" y="3188970"/>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10" name="TextBox 9"/>
          <p:cNvSpPr txBox="1"/>
          <p:nvPr/>
        </p:nvSpPr>
        <p:spPr>
          <a:xfrm>
            <a:off x="1709928" y="3183636"/>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README with reproducible setup</a:t>
            </a:r>
          </a:p>
          <a:p>
            <a:pPr algn="l">
              <a:lnSpc>
                <a:spcPct val="110000"/>
              </a:lnSpc>
              <a:spcBef>
                <a:spcPts val="0"/>
              </a:spcBef>
              <a:spcAft>
                <a:spcPts val="100"/>
              </a:spcAft>
            </a:pPr>
            <a:r>
              <a:rPr sz="950" b="0" i="1">
                <a:solidFill>
                  <a:srgbClr val="6B6B76"/>
                </a:solidFill>
                <a:latin typeface="Calibri"/>
              </a:rPr>
              <a:t>Docker one-command run + full CLI</a:t>
            </a:r>
          </a:p>
          <a:p>
            <a:pPr algn="l">
              <a:lnSpc>
                <a:spcPct val="110000"/>
              </a:lnSpc>
              <a:spcBef>
                <a:spcPts val="0"/>
              </a:spcBef>
              <a:spcAft>
                <a:spcPts val="600"/>
              </a:spcAft>
            </a:pPr>
            <a:r>
              <a:rPr sz="950" b="0" i="0">
                <a:solidFill>
                  <a:srgbClr val="6D28D9"/>
                </a:solidFill>
                <a:latin typeface="Courier New"/>
              </a:rPr>
              <a:t>docker build -t prism-code-search .  →  docker run</a:t>
            </a:r>
          </a:p>
        </p:txBody>
      </p:sp>
      <p:sp>
        <p:nvSpPr>
          <p:cNvPr id="11" name="Rounded Rectangle 10"/>
          <p:cNvSpPr/>
          <p:nvPr/>
        </p:nvSpPr>
        <p:spPr>
          <a:xfrm>
            <a:off x="1024128" y="3706367"/>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52144" y="3784853"/>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13" name="TextBox 12"/>
          <p:cNvSpPr txBox="1"/>
          <p:nvPr/>
        </p:nvSpPr>
        <p:spPr>
          <a:xfrm>
            <a:off x="1709928" y="3779519"/>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Demo video (≤ 5 min)</a:t>
            </a:r>
          </a:p>
          <a:p>
            <a:pPr algn="l">
              <a:lnSpc>
                <a:spcPct val="110000"/>
              </a:lnSpc>
              <a:spcBef>
                <a:spcPts val="0"/>
              </a:spcBef>
              <a:spcAft>
                <a:spcPts val="100"/>
              </a:spcAft>
            </a:pPr>
            <a:r>
              <a:rPr sz="950" b="0" i="1">
                <a:solidFill>
                  <a:srgbClr val="6B6B76"/>
                </a:solidFill>
                <a:latin typeface="Calibri"/>
              </a:rPr>
              <a:t>Recorded and linked in the submission form</a:t>
            </a:r>
          </a:p>
          <a:p>
            <a:pPr algn="l">
              <a:lnSpc>
                <a:spcPct val="110000"/>
              </a:lnSpc>
              <a:spcBef>
                <a:spcPts val="0"/>
              </a:spcBef>
              <a:spcAft>
                <a:spcPts val="600"/>
              </a:spcAft>
            </a:pPr>
            <a:r>
              <a:rPr sz="950" b="0" i="0">
                <a:solidFill>
                  <a:srgbClr val="6D28D9"/>
                </a:solidFill>
                <a:latin typeface="Courier New"/>
              </a:rPr>
              <a:t>YouTube / Drive link — see form</a:t>
            </a:r>
          </a:p>
        </p:txBody>
      </p:sp>
      <p:sp>
        <p:nvSpPr>
          <p:cNvPr id="14" name="Rounded Rectangle 13"/>
          <p:cNvSpPr/>
          <p:nvPr/>
        </p:nvSpPr>
        <p:spPr>
          <a:xfrm>
            <a:off x="1024128" y="4302252"/>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52144" y="4380738"/>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16" name="TextBox 15"/>
          <p:cNvSpPr txBox="1"/>
          <p:nvPr/>
        </p:nvSpPr>
        <p:spPr>
          <a:xfrm>
            <a:off x="1709928" y="4375404"/>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Presentation file (PPT + PDF)</a:t>
            </a:r>
          </a:p>
          <a:p>
            <a:pPr algn="l">
              <a:lnSpc>
                <a:spcPct val="110000"/>
              </a:lnSpc>
              <a:spcBef>
                <a:spcPts val="0"/>
              </a:spcBef>
              <a:spcAft>
                <a:spcPts val="100"/>
              </a:spcAft>
            </a:pPr>
            <a:r>
              <a:rPr sz="950" b="0" i="1">
                <a:solidFill>
                  <a:srgbClr val="6B6B76"/>
                </a:solidFill>
                <a:latin typeface="Calibri"/>
              </a:rPr>
              <a:t>This deck — 12 slides, speaker notes on every content slide</a:t>
            </a:r>
          </a:p>
          <a:p>
            <a:pPr algn="l">
              <a:lnSpc>
                <a:spcPct val="110000"/>
              </a:lnSpc>
              <a:spcBef>
                <a:spcPts val="0"/>
              </a:spcBef>
              <a:spcAft>
                <a:spcPts val="600"/>
              </a:spcAft>
            </a:pPr>
            <a:r>
              <a:rPr sz="950" b="0" i="0">
                <a:solidFill>
                  <a:srgbClr val="6D28D9"/>
                </a:solidFill>
                <a:latin typeface="Courier New"/>
              </a:rPr>
              <a:t>Thapar_Trace_Submission_ppt.pptx / .pdf</a:t>
            </a:r>
          </a:p>
        </p:txBody>
      </p:sp>
      <p:sp>
        <p:nvSpPr>
          <p:cNvPr id="17" name="Rounded Rectangle 16"/>
          <p:cNvSpPr/>
          <p:nvPr/>
        </p:nvSpPr>
        <p:spPr>
          <a:xfrm>
            <a:off x="1024128" y="4898136"/>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52144" y="4976622"/>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19" name="TextBox 18"/>
          <p:cNvSpPr txBox="1"/>
          <p:nvPr/>
        </p:nvSpPr>
        <p:spPr>
          <a:xfrm>
            <a:off x="1709928" y="4971288"/>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Leaderboard results JSON</a:t>
            </a:r>
          </a:p>
          <a:p>
            <a:pPr algn="l">
              <a:lnSpc>
                <a:spcPct val="110000"/>
              </a:lnSpc>
              <a:spcBef>
                <a:spcPts val="0"/>
              </a:spcBef>
              <a:spcAft>
                <a:spcPts val="100"/>
              </a:spcAft>
            </a:pPr>
            <a:r>
              <a:rPr sz="950" b="0" i="1">
                <a:solidFill>
                  <a:srgbClr val="6B6B76"/>
                </a:solidFill>
                <a:latin typeface="Calibri"/>
              </a:rPr>
              <a:t>Real CoIR AppsRetrieval, produced by mteb.evaluate()</a:t>
            </a:r>
          </a:p>
          <a:p>
            <a:pPr algn="l">
              <a:lnSpc>
                <a:spcPct val="110000"/>
              </a:lnSpc>
              <a:spcBef>
                <a:spcPts val="0"/>
              </a:spcBef>
              <a:spcAft>
                <a:spcPts val="600"/>
              </a:spcAft>
            </a:pPr>
            <a:r>
              <a:rPr sz="950" b="0" i="0">
                <a:solidFill>
                  <a:srgbClr val="6D28D9"/>
                </a:solidFill>
                <a:latin typeface="Courier New"/>
              </a:rPr>
              <a:t>results/appsretrieval_results.json  (attached to release)</a:t>
            </a:r>
          </a:p>
        </p:txBody>
      </p:sp>
      <p:sp>
        <p:nvSpPr>
          <p:cNvPr id="20" name="Rounded Rectangle 19"/>
          <p:cNvSpPr/>
          <p:nvPr/>
        </p:nvSpPr>
        <p:spPr>
          <a:xfrm>
            <a:off x="1024128" y="5494020"/>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52144" y="5572506"/>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22" name="TextBox 21"/>
          <p:cNvSpPr txBox="1"/>
          <p:nvPr/>
        </p:nvSpPr>
        <p:spPr>
          <a:xfrm>
            <a:off x="1709928" y="5567172"/>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Ablation record</a:t>
            </a:r>
          </a:p>
          <a:p>
            <a:pPr algn="l">
              <a:lnSpc>
                <a:spcPct val="110000"/>
              </a:lnSpc>
              <a:spcBef>
                <a:spcPts val="0"/>
              </a:spcBef>
              <a:spcAft>
                <a:spcPts val="100"/>
              </a:spcAft>
            </a:pPr>
            <a:r>
              <a:rPr sz="950" b="0" i="1">
                <a:solidFill>
                  <a:srgbClr val="6B6B76"/>
                </a:solidFill>
                <a:latin typeface="Calibri"/>
              </a:rPr>
              <a:t>10 configs measured, 8 dropped, e5-base kept (+73.9%)</a:t>
            </a:r>
          </a:p>
          <a:p>
            <a:pPr algn="l">
              <a:lnSpc>
                <a:spcPct val="110000"/>
              </a:lnSpc>
              <a:spcBef>
                <a:spcPts val="0"/>
              </a:spcBef>
              <a:spcAft>
                <a:spcPts val="600"/>
              </a:spcAft>
            </a:pPr>
            <a:r>
              <a:rPr sz="950" b="0" i="0">
                <a:solidFill>
                  <a:srgbClr val="6D28D9"/>
                </a:solidFill>
                <a:latin typeface="Courier New"/>
              </a:rPr>
              <a:t>docs/ablation_log.md</a:t>
            </a:r>
          </a:p>
        </p:txBody>
      </p:sp>
      <p:sp>
        <p:nvSpPr>
          <p:cNvPr id="23" name="Rounded Rectangle 22"/>
          <p:cNvSpPr/>
          <p:nvPr/>
        </p:nvSpPr>
        <p:spPr>
          <a:xfrm>
            <a:off x="7927848" y="1874519"/>
            <a:ext cx="3429000" cy="4297680"/>
          </a:xfrm>
          <a:prstGeom prst="roundRect">
            <a:avLst>
              <a:gd name="adj" fmla="val 6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56448" y="2057400"/>
            <a:ext cx="2971800" cy="292608"/>
          </a:xfrm>
          <a:prstGeom prst="rect">
            <a:avLst/>
          </a:prstGeom>
          <a:noFill/>
        </p:spPr>
        <p:txBody>
          <a:bodyPr wrap="square" lIns="0" rIns="0" tIns="0" bIns="0">
            <a:spAutoFit/>
          </a:bodyPr>
          <a:lstStyle/>
          <a:p>
            <a:pPr algn="l">
              <a:spcBef>
                <a:spcPts val="0"/>
              </a:spcBef>
              <a:spcAft>
                <a:spcPts val="600"/>
              </a:spcAft>
            </a:pPr>
            <a:r>
              <a:rPr sz="1050" b="1" i="0">
                <a:solidFill>
                  <a:srgbClr val="E3DAF7"/>
                </a:solidFill>
                <a:latin typeface="Calibri"/>
              </a:rPr>
              <a:t>SUBMISSION AT A GLANCE</a:t>
            </a:r>
          </a:p>
        </p:txBody>
      </p:sp>
      <p:sp>
        <p:nvSpPr>
          <p:cNvPr id="25" name="TextBox 24"/>
          <p:cNvSpPr txBox="1"/>
          <p:nvPr/>
        </p:nvSpPr>
        <p:spPr>
          <a:xfrm>
            <a:off x="8156448" y="2423160"/>
            <a:ext cx="2971800" cy="640080"/>
          </a:xfrm>
          <a:prstGeom prst="rect">
            <a:avLst/>
          </a:prstGeom>
          <a:noFill/>
        </p:spPr>
        <p:txBody>
          <a:bodyPr wrap="square" lIns="0" rIns="0" tIns="0" bIns="0">
            <a:spAutoFit/>
          </a:bodyPr>
          <a:lstStyle/>
          <a:p>
            <a:pPr algn="l">
              <a:lnSpc>
                <a:spcPct val="100000"/>
              </a:lnSpc>
              <a:spcBef>
                <a:spcPts val="0"/>
              </a:spcBef>
              <a:spcAft>
                <a:spcPts val="0"/>
              </a:spcAft>
            </a:pPr>
            <a:r>
              <a:rPr sz="3200" b="1" i="0">
                <a:solidFill>
                  <a:srgbClr val="FFFFFF"/>
                </a:solidFill>
                <a:latin typeface="Calibri"/>
              </a:rPr>
              <a:t>0.1151</a:t>
            </a:r>
          </a:p>
          <a:p>
            <a:pPr algn="l">
              <a:lnSpc>
                <a:spcPct val="110000"/>
              </a:lnSpc>
              <a:spcBef>
                <a:spcPts val="0"/>
              </a:spcBef>
              <a:spcAft>
                <a:spcPts val="600"/>
              </a:spcAft>
            </a:pPr>
            <a:r>
              <a:rPr sz="1000" b="0" i="1">
                <a:solidFill>
                  <a:srgbClr val="E3DAF7"/>
                </a:solidFill>
                <a:latin typeface="Calibri"/>
              </a:rPr>
              <a:t>NDCG@10 · CoIR AppsRetrieval · MTEB</a:t>
            </a:r>
          </a:p>
        </p:txBody>
      </p:sp>
      <p:sp>
        <p:nvSpPr>
          <p:cNvPr id="26" name="TextBox 25"/>
          <p:cNvSpPr txBox="1"/>
          <p:nvPr/>
        </p:nvSpPr>
        <p:spPr>
          <a:xfrm>
            <a:off x="8156448" y="3474720"/>
            <a:ext cx="2971800" cy="219456"/>
          </a:xfrm>
          <a:prstGeom prst="rect">
            <a:avLst/>
          </a:prstGeom>
          <a:noFill/>
        </p:spPr>
        <p:txBody>
          <a:bodyPr wrap="square" lIns="0" rIns="0" tIns="0" bIns="0">
            <a:spAutoFit/>
          </a:bodyPr>
          <a:lstStyle/>
          <a:p>
            <a:pPr algn="l">
              <a:spcBef>
                <a:spcPts val="0"/>
              </a:spcBef>
              <a:spcAft>
                <a:spcPts val="600"/>
              </a:spcAft>
            </a:pPr>
            <a:r>
              <a:rPr sz="900" b="1" i="0">
                <a:solidFill>
                  <a:srgbClr val="E3DAF7"/>
                </a:solidFill>
                <a:latin typeface="Calibri"/>
              </a:rPr>
              <a:t>VERIFIED</a:t>
            </a:r>
          </a:p>
        </p:txBody>
      </p:sp>
      <p:sp>
        <p:nvSpPr>
          <p:cNvPr id="27" name="Rounded Rectangle 26"/>
          <p:cNvSpPr/>
          <p:nvPr/>
        </p:nvSpPr>
        <p:spPr>
          <a:xfrm>
            <a:off x="8156448" y="3749039"/>
            <a:ext cx="2971800" cy="434340"/>
          </a:xfrm>
          <a:prstGeom prst="roundRect">
            <a:avLst>
              <a:gd name="adj" fmla="val 4000"/>
            </a:avLst>
          </a:prstGeom>
          <a:solidFill>
            <a:srgbClr val="8C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56448" y="3749039"/>
            <a:ext cx="1188720" cy="434340"/>
          </a:xfrm>
          <a:prstGeom prst="rect">
            <a:avLst/>
          </a:prstGeom>
          <a:noFill/>
        </p:spPr>
        <p:txBody>
          <a:bodyPr wrap="square" lIns="0" rIns="0" tIns="0" bIns="0" anchor="ctr">
            <a:spAutoFit/>
          </a:bodyPr>
          <a:lstStyle/>
          <a:p>
            <a:pPr algn="ctr">
              <a:lnSpc>
                <a:spcPct val="100000"/>
              </a:lnSpc>
              <a:spcBef>
                <a:spcPts val="0"/>
              </a:spcBef>
              <a:spcAft>
                <a:spcPts val="0"/>
              </a:spcAft>
            </a:pPr>
            <a:r>
              <a:rPr sz="1800" b="1" i="0">
                <a:solidFill>
                  <a:srgbClr val="FFFFFF"/>
                </a:solidFill>
                <a:latin typeface="Calibri"/>
              </a:rPr>
              <a:t>10</a:t>
            </a:r>
          </a:p>
        </p:txBody>
      </p:sp>
      <p:sp>
        <p:nvSpPr>
          <p:cNvPr id="29" name="TextBox 28"/>
          <p:cNvSpPr txBox="1"/>
          <p:nvPr/>
        </p:nvSpPr>
        <p:spPr>
          <a:xfrm>
            <a:off x="9345168" y="3749039"/>
            <a:ext cx="1783080" cy="434340"/>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E3DAF7"/>
                </a:solidFill>
                <a:latin typeface="Calibri"/>
              </a:rPr>
              <a:t>real ablations</a:t>
            </a:r>
          </a:p>
        </p:txBody>
      </p:sp>
      <p:sp>
        <p:nvSpPr>
          <p:cNvPr id="30" name="Rounded Rectangle 29"/>
          <p:cNvSpPr/>
          <p:nvPr/>
        </p:nvSpPr>
        <p:spPr>
          <a:xfrm>
            <a:off x="8156448" y="4229100"/>
            <a:ext cx="2971800" cy="434340"/>
          </a:xfrm>
          <a:prstGeom prst="roundRect">
            <a:avLst>
              <a:gd name="adj" fmla="val 4000"/>
            </a:avLst>
          </a:prstGeom>
          <a:solidFill>
            <a:srgbClr val="8C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4229100"/>
            <a:ext cx="1188720" cy="434340"/>
          </a:xfrm>
          <a:prstGeom prst="rect">
            <a:avLst/>
          </a:prstGeom>
          <a:noFill/>
        </p:spPr>
        <p:txBody>
          <a:bodyPr wrap="square" lIns="0" rIns="0" tIns="0" bIns="0" anchor="ctr">
            <a:spAutoFit/>
          </a:bodyPr>
          <a:lstStyle/>
          <a:p>
            <a:pPr algn="ctr">
              <a:lnSpc>
                <a:spcPct val="100000"/>
              </a:lnSpc>
              <a:spcBef>
                <a:spcPts val="0"/>
              </a:spcBef>
              <a:spcAft>
                <a:spcPts val="0"/>
              </a:spcAft>
            </a:pPr>
            <a:r>
              <a:rPr sz="1800" b="1" i="0">
                <a:solidFill>
                  <a:srgbClr val="FFFFFF"/>
                </a:solidFill>
                <a:latin typeface="Calibri"/>
              </a:rPr>
              <a:t>+73.9%</a:t>
            </a:r>
          </a:p>
        </p:txBody>
      </p:sp>
      <p:sp>
        <p:nvSpPr>
          <p:cNvPr id="32" name="TextBox 31"/>
          <p:cNvSpPr txBox="1"/>
          <p:nvPr/>
        </p:nvSpPr>
        <p:spPr>
          <a:xfrm>
            <a:off x="9345168" y="4229100"/>
            <a:ext cx="1783080" cy="434340"/>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E3DAF7"/>
                </a:solidFill>
                <a:latin typeface="Calibri"/>
              </a:rPr>
              <a:t>over baseline</a:t>
            </a:r>
          </a:p>
        </p:txBody>
      </p:sp>
      <p:sp>
        <p:nvSpPr>
          <p:cNvPr id="33" name="Rounded Rectangle 32"/>
          <p:cNvSpPr/>
          <p:nvPr/>
        </p:nvSpPr>
        <p:spPr>
          <a:xfrm>
            <a:off x="8156448" y="4709160"/>
            <a:ext cx="2971800" cy="434340"/>
          </a:xfrm>
          <a:prstGeom prst="roundRect">
            <a:avLst>
              <a:gd name="adj" fmla="val 4000"/>
            </a:avLst>
          </a:prstGeom>
          <a:solidFill>
            <a:srgbClr val="8C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56448" y="4709160"/>
            <a:ext cx="1188720" cy="434340"/>
          </a:xfrm>
          <a:prstGeom prst="rect">
            <a:avLst/>
          </a:prstGeom>
          <a:noFill/>
        </p:spPr>
        <p:txBody>
          <a:bodyPr wrap="square" lIns="0" rIns="0" tIns="0" bIns="0" anchor="ctr">
            <a:spAutoFit/>
          </a:bodyPr>
          <a:lstStyle/>
          <a:p>
            <a:pPr algn="ctr">
              <a:lnSpc>
                <a:spcPct val="100000"/>
              </a:lnSpc>
              <a:spcBef>
                <a:spcPts val="0"/>
              </a:spcBef>
              <a:spcAft>
                <a:spcPts val="0"/>
              </a:spcAft>
            </a:pPr>
            <a:r>
              <a:rPr sz="1800" b="1" i="0">
                <a:solidFill>
                  <a:srgbClr val="FFFFFF"/>
                </a:solidFill>
                <a:latin typeface="Calibri"/>
              </a:rPr>
              <a:t>78</a:t>
            </a:r>
          </a:p>
        </p:txBody>
      </p:sp>
      <p:sp>
        <p:nvSpPr>
          <p:cNvPr id="35" name="TextBox 34"/>
          <p:cNvSpPr txBox="1"/>
          <p:nvPr/>
        </p:nvSpPr>
        <p:spPr>
          <a:xfrm>
            <a:off x="9345168" y="4709160"/>
            <a:ext cx="1783080" cy="434340"/>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E3DAF7"/>
                </a:solidFill>
                <a:latin typeface="Calibri"/>
              </a:rPr>
              <a:t>offline tests</a:t>
            </a:r>
          </a:p>
        </p:txBody>
      </p:sp>
      <p:sp>
        <p:nvSpPr>
          <p:cNvPr id="36" name="Rounded Rectangle 35"/>
          <p:cNvSpPr/>
          <p:nvPr/>
        </p:nvSpPr>
        <p:spPr>
          <a:xfrm>
            <a:off x="8156448" y="5189220"/>
            <a:ext cx="2971800" cy="434340"/>
          </a:xfrm>
          <a:prstGeom prst="roundRect">
            <a:avLst>
              <a:gd name="adj" fmla="val 4000"/>
            </a:avLst>
          </a:prstGeom>
          <a:solidFill>
            <a:srgbClr val="8C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156448" y="5189220"/>
            <a:ext cx="1188720" cy="434340"/>
          </a:xfrm>
          <a:prstGeom prst="rect">
            <a:avLst/>
          </a:prstGeom>
          <a:noFill/>
        </p:spPr>
        <p:txBody>
          <a:bodyPr wrap="square" lIns="0" rIns="0" tIns="0" bIns="0" anchor="ctr">
            <a:spAutoFit/>
          </a:bodyPr>
          <a:lstStyle/>
          <a:p>
            <a:pPr algn="ctr">
              <a:lnSpc>
                <a:spcPct val="100000"/>
              </a:lnSpc>
              <a:spcBef>
                <a:spcPts val="0"/>
              </a:spcBef>
              <a:spcAft>
                <a:spcPts val="0"/>
              </a:spcAft>
            </a:pPr>
            <a:r>
              <a:rPr sz="1800" b="1" i="0">
                <a:solidFill>
                  <a:srgbClr val="FFFFFF"/>
                </a:solidFill>
                <a:latin typeface="Calibri"/>
              </a:rPr>
              <a:t>100%</a:t>
            </a:r>
          </a:p>
        </p:txBody>
      </p:sp>
      <p:sp>
        <p:nvSpPr>
          <p:cNvPr id="38" name="TextBox 37"/>
          <p:cNvSpPr txBox="1"/>
          <p:nvPr/>
        </p:nvSpPr>
        <p:spPr>
          <a:xfrm>
            <a:off x="9345168" y="5189220"/>
            <a:ext cx="1783080" cy="434340"/>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E3DAF7"/>
                </a:solidFill>
                <a:latin typeface="Calibri"/>
              </a:rPr>
              <a:t>CPU inference</a:t>
            </a:r>
          </a:p>
        </p:txBody>
      </p:sp>
      <p:sp>
        <p:nvSpPr>
          <p:cNvPr id="39" name="TextBox 38"/>
          <p:cNvSpPr txBox="1"/>
          <p:nvPr/>
        </p:nvSpPr>
        <p:spPr>
          <a:xfrm>
            <a:off x="8156448" y="5788152"/>
            <a:ext cx="2971800" cy="292608"/>
          </a:xfrm>
          <a:prstGeom prst="rect">
            <a:avLst/>
          </a:prstGeom>
          <a:noFill/>
        </p:spPr>
        <p:txBody>
          <a:bodyPr wrap="square" lIns="0" rIns="0" tIns="0" bIns="0">
            <a:spAutoFit/>
          </a:bodyPr>
          <a:lstStyle/>
          <a:p>
            <a:pPr algn="l">
              <a:lnSpc>
                <a:spcPct val="110000"/>
              </a:lnSpc>
              <a:spcBef>
                <a:spcPts val="0"/>
              </a:spcBef>
              <a:spcAft>
                <a:spcPts val="600"/>
              </a:spcAft>
            </a:pPr>
            <a:r>
              <a:rPr sz="850" b="0" i="1">
                <a:solidFill>
                  <a:srgbClr val="E3DAF7"/>
                </a:solidFill>
                <a:latin typeface="Calibri"/>
              </a:rPr>
              <a:t>Tag  ·  PRISM_GENAI_HACKATHON_Y2026</a:t>
            </a:r>
          </a:p>
        </p:txBody>
      </p:sp>
    </p:spTree>
    <p:extLst>
      <p:ext uri="{BB962C8B-B14F-4D97-AF65-F5344CB8AC3E}">
        <p14:creationId xmlns:p14="http://schemas.microsoft.com/office/powerpoint/2010/main" val="180699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46181" y="3730214"/>
            <a:ext cx="6766560" cy="868680"/>
          </a:xfrm>
          <a:prstGeom prst="rect">
            <a:avLst/>
          </a:prstGeom>
          <a:noFill/>
          <a:ln/>
        </p:spPr>
        <p:txBody>
          <a:bodyPr wrap="square" lIns="0" tIns="0" rIns="0" bIns="0" rtlCol="0" anchor="ctr"/>
          <a:lstStyle/>
          <a:p>
            <a:pPr marL="0" indent="0">
              <a:buNone/>
            </a:pPr>
            <a:r>
              <a:rPr lang="en-US" sz="4600" b="1" dirty="0">
                <a:solidFill>
                  <a:srgbClr val="14142B"/>
                </a:solidFill>
                <a:latin typeface="Arial" pitchFamily="34" charset="0"/>
                <a:ea typeface="Arial" pitchFamily="34" charset="-122"/>
                <a:cs typeface="Arial" pitchFamily="34" charset="-120"/>
              </a:rPr>
              <a:t>Thank you</a:t>
            </a:r>
            <a:endParaRPr lang="en-US" sz="4600" dirty="0"/>
          </a:p>
        </p:txBody>
      </p:sp>
      <p:sp>
        <p:nvSpPr>
          <p:cNvPr id="28" name="Text 25"/>
          <p:cNvSpPr txBox="1"/>
          <p:nvPr/>
        </p:nvSpPr>
        <p:spPr>
          <a:xfrm>
            <a:off x="777240" y="5897880"/>
            <a:ext cx="10607040" cy="292608"/>
          </a:xfrm>
          <a:prstGeom prst="rect">
            <a:avLst/>
          </a:prstGeom>
          <a:noFill/>
          <a:ln/>
        </p:spPr>
        <p:txBody>
          <a:bodyPr wrap="square" lIns="0" tIns="0" rIns="0" bIns="0" rtlCol="0" anchor="ctr"/>
          <a:lstStyle/>
          <a:p>
            <a:pPr marL="0" indent="0">
              <a:buNone/>
            </a:pPr>
            <a:r>
              <a:rPr lang="en-US" sz="1100" dirty="0">
                <a:solidFill>
                  <a:srgbClr val="63637E"/>
                </a:solidFill>
                <a:latin typeface="Calibri" pitchFamily="34" charset="0"/>
                <a:ea typeface="Calibri" pitchFamily="34" charset="-122"/>
                <a:cs typeface="Calibri" pitchFamily="34" charset="-120"/>
              </a:rPr>
              <a:t>Organised by the Language AI Team and the PRISM Team, Samsung R&amp;D Institute India</a:t>
            </a:r>
            <a:endParaRPr lang="en-US" sz="1100" dirty="0"/>
          </a:p>
        </p:txBody>
      </p:sp>
      <p:sp>
        <p:nvSpPr>
          <p:cNvPr id="29" name="TextBox 28"/>
          <p:cNvSpPr txBox="1"/>
          <p:nvPr/>
        </p:nvSpPr>
        <p:spPr>
          <a:xfrm>
            <a:off x="6035040" y="3017520"/>
            <a:ext cx="5486400" cy="457200"/>
          </a:xfrm>
          <a:prstGeom prst="rect">
            <a:avLst/>
          </a:prstGeom>
          <a:noFill/>
        </p:spPr>
        <p:txBody>
          <a:bodyPr wrap="square" lIns="0" rIns="0" tIns="0" bIns="0">
            <a:spAutoFit/>
          </a:bodyPr>
          <a:lstStyle/>
          <a:p>
            <a:pPr algn="l">
              <a:spcBef>
                <a:spcPts val="0"/>
              </a:spcBef>
              <a:spcAft>
                <a:spcPts val="600"/>
              </a:spcAft>
            </a:pPr>
            <a:r>
              <a:rPr sz="1400" b="1" i="0">
                <a:solidFill>
                  <a:srgbClr val="6D28D9"/>
                </a:solidFill>
                <a:latin typeface="Calibri"/>
              </a:rPr>
              <a:t>Team Trace  ·  Thapar Institute of Engineering and Technology</a:t>
            </a:r>
          </a:p>
        </p:txBody>
      </p:sp>
      <p:sp>
        <p:nvSpPr>
          <p:cNvPr id="30" name="TextBox 29"/>
          <p:cNvSpPr txBox="1"/>
          <p:nvPr/>
        </p:nvSpPr>
        <p:spPr>
          <a:xfrm>
            <a:off x="6035040" y="3520440"/>
            <a:ext cx="5486400" cy="1188720"/>
          </a:xfrm>
          <a:prstGeom prst="rect">
            <a:avLst/>
          </a:prstGeom>
          <a:noFill/>
        </p:spPr>
        <p:txBody>
          <a:bodyPr wrap="square" lIns="0" rIns="0" tIns="0" bIns="0">
            <a:spAutoFit/>
          </a:bodyPr>
          <a:lstStyle/>
          <a:p>
            <a:pPr algn="l">
              <a:spcBef>
                <a:spcPts val="0"/>
              </a:spcBef>
              <a:spcAft>
                <a:spcPts val="300"/>
              </a:spcAft>
            </a:pPr>
            <a:r>
              <a:rPr sz="1300" b="1" i="0">
                <a:solidFill>
                  <a:srgbClr val="14142B"/>
                </a:solidFill>
                <a:latin typeface="Calibri"/>
              </a:rPr>
              <a:t>Abhavya Jha</a:t>
            </a:r>
          </a:p>
          <a:p>
            <a:pPr algn="l">
              <a:spcBef>
                <a:spcPts val="0"/>
              </a:spcBef>
              <a:spcAft>
                <a:spcPts val="300"/>
              </a:spcAft>
            </a:pPr>
            <a:r>
              <a:rPr sz="1200" b="0" i="0">
                <a:solidFill>
                  <a:srgbClr val="33333D"/>
                </a:solidFill>
                <a:latin typeface="Calibri"/>
              </a:rPr>
              <a:t>ajha2_be24@thapar.edu</a:t>
            </a:r>
          </a:p>
          <a:p>
            <a:pPr algn="l">
              <a:spcBef>
                <a:spcPts val="0"/>
              </a:spcBef>
              <a:spcAft>
                <a:spcPts val="600"/>
              </a:spcAft>
            </a:pPr>
            <a:r>
              <a:rPr sz="1200" b="0" i="0">
                <a:solidFill>
                  <a:srgbClr val="33333D"/>
                </a:solidFill>
                <a:latin typeface="Calibri"/>
              </a:rPr>
              <a:t>github.com/Ajha2005/samsung-prism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65</TotalTime>
  <Words>266</Words>
  <Application>Microsoft Office PowerPoint</Application>
  <PresentationFormat>Widescreen</PresentationFormat>
  <Paragraphs>32</Paragraphs>
  <Slides>12</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PowerPoint Presentation</vt:lpstr>
      <vt:lpstr>Theme</vt:lpstr>
      <vt:lpstr>Existing Solutions &amp; Gaps</vt:lpstr>
      <vt:lpstr>Our Solutions &amp; Architecture Diagram</vt:lpstr>
      <vt:lpstr>Demo &amp; Product Walkthrough</vt:lpstr>
      <vt:lpstr>Tools and tech stack used</vt:lpstr>
      <vt:lpstr>Impact &amp; Use case</vt:lpstr>
      <vt:lpstr>Innovation highlights, results and limitations</vt:lpstr>
      <vt:lpstr>What’s next</vt:lpstr>
      <vt:lpstr>Brownie points slide( differentiation)</vt:lpstr>
      <vt:lpstr>Checklist- Updated on Public GitHub</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Binny Lakra/PRISM /SRI-Bangalore/Professional/Samsung Electronics</dc:creator>
  <cp:lastModifiedBy>Binny Lakra/PRISM /SRI-Bangalore/Professional/Samsung Electronics</cp:lastModifiedBy>
  <cp:revision>6</cp:revision>
  <dcterms:created xsi:type="dcterms:W3CDTF">2026-09-07T12:01:01Z</dcterms:created>
  <dcterms:modified xsi:type="dcterms:W3CDTF">2026-09-08T10:03:30Z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
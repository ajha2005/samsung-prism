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One-sentence framing: given a natural-language query and a library of code snippets, return them ranked by relevance. Pure retrieval, no generation. Screening is a leaderboard on the CoIR AppsRetrieval test split, scored by MTEB with NDCG@10 and MRR — the outcome is a number, not a vote. The three constraints below aren't limitations we work around; they define the shape of the problem we're solving.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Two-column contrast: what most teams reach for on the left, and where each of those choices actually falls apart on AppsRetrieval on the right. Note the cross-version gap — the P1 requirement isn't optional and it's usually bolted on at the end; we designed the index versioned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CPU-friendly embedding model at the center, picked by measurement (submitted: e5-base-v2 with its query:/passage: prefixes, 512-token window). Query path: preprocess + code-flavored HyDE. Snippet path: preprocess + optional multi-view (raw + AST-normalized + identifier bag) fused into one vector so the system stays a pure MTEB encoder. Score merges the two, with optional cross-version disambiguation for near-duplicate versions of the same snippet.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shows retrieval working on real behavioral queries — 'find two numbers that sum to a target', 'detect if a string is a palindrome' — with the right snippet ranked first in every case. This is the offline demo (hashing backend, no downloads), so the latency shown is that backend's: sub-millisecond per query. The pipeline and ranking code are the same ones the leaderboard run uses; the submitted model swaps in by config. No LLM in the ranking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deliberately boring. Core ML: PyTorch CPU, sentence-transformers, MTEB as the official scorer — the same one the leaderboard uses. Retrieval signals: NumPy for dense scoring, rank-bm25 for sparse, Python's own ast module for structural normalization (no third-party parser). Reproducibility: Docker for one-command runs, 78 offline tests, and a GitHub-Actions-ready CLI. Nothing exotic; everything runs where the judges will run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places this pays off. Onboarding: search behavior, not memorized names. Agentic coding: a fast retrieval step an AI agent calls before generating. Review/audit: find every place a pattern appears, not just a text match. Legacy modernization: compare behavior across historical versions — the P1 use case.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Submitted: e5-base-v2 with its query:/passage: prefixes and a 512-token window, NDCG@10 = 0.1151, MRR@10 = 0.0986 on the real CoIR AppsRetrieval test split via MTEB — +73.9% over the MiniLM baseline (0.0662). Ten configs measured, one kept. The pipeline differentiators on the left all lost to baseline on MiniLM — multi-view (−22%), HyDE (−6%), front-load keywords (−2.4%) — and so did every code-specialized model: UniXcoder (−34.5%), CodeSearchNet (−50%). What won was a stronger general model: mpnet (+30.1% at 512 tokens), then e5-base-v2, the same size but trained for query→passage retrieval (+33.7% over mpnet). Limitations up front: larger models are untested within the CPU budget, and the dropped features haven't been re-measured on e5.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from ten real ablations: the gains came from picking a stronger general retrieval model — e5-base-v2, trained for query→passage retrieval, beat a same-size sentence-similarity model by a third — while every code-specialized swap lost. Next steps: re-test HyDE, multi-view and front-loading on top of e5; try e5-large-v2 within the CPU budget; then validate cross-version retrieval on real multi-version repositories — every step still measured against the current best.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separates this submission: we verified the full MTEB scoring path end-to-end on our own local synthetic task before trusting a number on the real split (our metrics match MTEB's trec_eval to 1e-4). Every feature is logged config → NDCG@10 → MRR → kept/dropped, so nothing ships on a hunch. The index is versioned from day one, not bolted on. Limitations are reported next to results, on purpose.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1 (Agentic Code Intelligence)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Trace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Thapar Institute of Engineering and Technology, Patiala</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  Abhavya Jha  –  ajha2_be24@thapar.edu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GitHub link  –  https://github.com/Ajha2005/samsung-prism</a:t>
            </a:r>
            <a:r>
              <a:rPr lang="en-US" sz="1600" dirty="0" err="1">
                <a:solidFill>
                  <a:srgbClr val="63637E"/>
                </a:solidFill>
                <a:latin typeface="Calibri" pitchFamily="34" charset="0"/>
                <a:ea typeface="Calibri" pitchFamily="34" charset="-122"/>
                <a:cs typeface="Calibri" pitchFamily="34" charset="-120"/>
              </a:rPr>
              <a:t/>
            </a: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TextBox 2"/>
          <p:cNvSpPr txBox="1"/>
          <p:nvPr/>
        </p:nvSpPr>
        <p:spPr>
          <a:xfrm>
            <a:off x="841248" y="1874519"/>
            <a:ext cx="10515600" cy="457200"/>
          </a:xfrm>
          <a:prstGeom prst="rect">
            <a:avLst/>
          </a:prstGeom>
          <a:noFill/>
        </p:spPr>
        <p:txBody>
          <a:bodyPr wrap="square" lIns="0" rIns="0" tIns="0" bIns="0">
            <a:spAutoFit/>
          </a:bodyPr>
          <a:lstStyle/>
          <a:p>
            <a:pPr algn="l">
              <a:spcBef>
                <a:spcPts val="0"/>
              </a:spcBef>
              <a:spcAft>
                <a:spcPts val="600"/>
              </a:spcAft>
            </a:pPr>
            <a:r>
              <a:rPr sz="2200" b="1" i="0">
                <a:solidFill>
                  <a:srgbClr val="6D28D9"/>
                </a:solidFill>
                <a:latin typeface="Calibri"/>
              </a:rPr>
              <a:t>Theme 1 — Agentic Code Intelligence</a:t>
            </a:r>
          </a:p>
        </p:txBody>
      </p:sp>
      <p:sp>
        <p:nvSpPr>
          <p:cNvPr id="4" name="TextBox 3"/>
          <p:cNvSpPr txBox="1"/>
          <p:nvPr/>
        </p:nvSpPr>
        <p:spPr>
          <a:xfrm>
            <a:off x="841248" y="2441448"/>
            <a:ext cx="10515600" cy="1417320"/>
          </a:xfrm>
          <a:prstGeom prst="rect">
            <a:avLst/>
          </a:prstGeom>
          <a:noFill/>
        </p:spPr>
        <p:txBody>
          <a:bodyPr wrap="square" lIns="0" rIns="0" tIns="0" bIns="0">
            <a:spAutoFit/>
          </a:bodyPr>
          <a:lstStyle/>
          <a:p>
            <a:pPr algn="l">
              <a:lnSpc>
                <a:spcPct val="115000"/>
              </a:lnSpc>
              <a:spcBef>
                <a:spcPts val="0"/>
              </a:spcBef>
              <a:spcAft>
                <a:spcPts val="800"/>
              </a:spcAft>
            </a:pPr>
            <a:r>
              <a:rPr sz="1700" b="1" i="0">
                <a:solidFill>
                  <a:srgbClr val="14142B"/>
                </a:solidFill>
                <a:latin typeface="Calibri"/>
              </a:rPr>
              <a:t>Given a natural-language query and a library of code snippets, return the snippets ranked by relevance — pure retrieval, no generation or explanation.</a:t>
            </a:r>
          </a:p>
          <a:p>
            <a:pPr algn="l">
              <a:lnSpc>
                <a:spcPct val="120000"/>
              </a:lnSpc>
              <a:spcBef>
                <a:spcPts val="0"/>
              </a:spcBef>
              <a:spcAft>
                <a:spcPts val="600"/>
              </a:spcAft>
            </a:pPr>
            <a:r>
              <a:rPr sz="1450" b="0" i="1">
                <a:solidFill>
                  <a:srgbClr val="6B6B76"/>
                </a:solidFill>
                <a:latin typeface="Calibri"/>
              </a:rPr>
              <a:t>Scored by MTEB’s NDCG@10 and MRR on the CoIR AppsRetrieval test split: a real, objective leaderboard number decides the outcome — not a live demo or a jury.</a:t>
            </a:r>
          </a:p>
        </p:txBody>
      </p:sp>
      <p:sp>
        <p:nvSpPr>
          <p:cNvPr id="5" name="Rounded Rectangle 4"/>
          <p:cNvSpPr/>
          <p:nvPr/>
        </p:nvSpPr>
        <p:spPr>
          <a:xfrm>
            <a:off x="841248" y="3886200"/>
            <a:ext cx="4480560" cy="1234440"/>
          </a:xfrm>
          <a:prstGeom prst="roundRect">
            <a:avLst>
              <a:gd name="adj" fmla="val 8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4014215"/>
            <a:ext cx="3931920" cy="237744"/>
          </a:xfrm>
          <a:prstGeom prst="rect">
            <a:avLst/>
          </a:prstGeom>
          <a:noFill/>
        </p:spPr>
        <p:txBody>
          <a:bodyPr wrap="square" lIns="0" rIns="0" tIns="0" bIns="0">
            <a:spAutoFit/>
          </a:bodyPr>
          <a:lstStyle/>
          <a:p>
            <a:pPr algn="l">
              <a:spcBef>
                <a:spcPts val="0"/>
              </a:spcBef>
              <a:spcAft>
                <a:spcPts val="600"/>
              </a:spcAft>
            </a:pPr>
            <a:r>
              <a:rPr sz="950" b="1" i="0">
                <a:solidFill>
                  <a:srgbClr val="E3DAF7"/>
                </a:solidFill>
                <a:latin typeface="Calibri"/>
              </a:rPr>
              <a:t>THE SCOREBOARD  ·  SUBMITTED: e5-base-v2</a:t>
            </a:r>
          </a:p>
        </p:txBody>
      </p:sp>
      <p:sp>
        <p:nvSpPr>
          <p:cNvPr id="7" name="TextBox 6"/>
          <p:cNvSpPr txBox="1"/>
          <p:nvPr/>
        </p:nvSpPr>
        <p:spPr>
          <a:xfrm>
            <a:off x="1115568" y="4306824"/>
            <a:ext cx="3931920" cy="438912"/>
          </a:xfrm>
          <a:prstGeom prst="rect">
            <a:avLst/>
          </a:prstGeom>
          <a:noFill/>
        </p:spPr>
        <p:txBody>
          <a:bodyPr wrap="square" lIns="0" rIns="0" tIns="0" bIns="0">
            <a:spAutoFit/>
          </a:bodyPr>
          <a:lstStyle/>
          <a:p>
            <a:pPr algn="l">
              <a:lnSpc>
                <a:spcPct val="100000"/>
              </a:lnSpc>
              <a:spcBef>
                <a:spcPts val="0"/>
              </a:spcBef>
              <a:spcAft>
                <a:spcPts val="0"/>
              </a:spcAft>
            </a:pPr>
            <a:r>
              <a:rPr sz="2200" b="1" i="0">
                <a:solidFill>
                  <a:srgbClr val="FFFFFF"/>
                </a:solidFill>
                <a:latin typeface="Calibri"/>
              </a:rPr>
              <a:t>NDCG@10 = 0.1151</a:t>
            </a:r>
          </a:p>
        </p:txBody>
      </p:sp>
      <p:sp>
        <p:nvSpPr>
          <p:cNvPr id="8" name="TextBox 7"/>
          <p:cNvSpPr txBox="1"/>
          <p:nvPr/>
        </p:nvSpPr>
        <p:spPr>
          <a:xfrm>
            <a:off x="1115568" y="4764024"/>
            <a:ext cx="3931920" cy="237744"/>
          </a:xfrm>
          <a:prstGeom prst="rect">
            <a:avLst/>
          </a:prstGeom>
          <a:noFill/>
        </p:spPr>
        <p:txBody>
          <a:bodyPr wrap="square" lIns="0" rIns="0" tIns="0" bIns="0">
            <a:spAutoFit/>
          </a:bodyPr>
          <a:lstStyle/>
          <a:p>
            <a:pPr algn="l">
              <a:spcBef>
                <a:spcPts val="0"/>
              </a:spcBef>
              <a:spcAft>
                <a:spcPts val="0"/>
              </a:spcAft>
            </a:pPr>
            <a:r>
              <a:rPr sz="1200" b="0" i="0">
                <a:solidFill>
                  <a:srgbClr val="E3DAF7"/>
                </a:solidFill>
                <a:latin typeface="Calibri"/>
              </a:rPr>
              <a:t>MRR@10 = 0.0986   ·   +73.9% over baseline</a:t>
            </a:r>
          </a:p>
        </p:txBody>
      </p:sp>
      <p:sp>
        <p:nvSpPr>
          <p:cNvPr id="9" name="Rounded Rectangle 8"/>
          <p:cNvSpPr/>
          <p:nvPr/>
        </p:nvSpPr>
        <p:spPr>
          <a:xfrm>
            <a:off x="5596128" y="3886200"/>
            <a:ext cx="5760720"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4014215"/>
            <a:ext cx="5248656" cy="237744"/>
          </a:xfrm>
          <a:prstGeom prst="rect">
            <a:avLst/>
          </a:prstGeom>
          <a:noFill/>
        </p:spPr>
        <p:txBody>
          <a:bodyPr wrap="square" lIns="0" rIns="0" tIns="0" bIns="0">
            <a:spAutoFit/>
          </a:bodyPr>
          <a:lstStyle/>
          <a:p>
            <a:pPr algn="l">
              <a:spcBef>
                <a:spcPts val="0"/>
              </a:spcBef>
              <a:spcAft>
                <a:spcPts val="600"/>
              </a:spcAft>
            </a:pPr>
            <a:r>
              <a:rPr sz="950" b="1" i="0">
                <a:solidFill>
                  <a:srgbClr val="6D28D9"/>
                </a:solidFill>
                <a:latin typeface="Calibri"/>
              </a:rPr>
              <a:t>THE DISCIPLINE THAT PRODUCED IT</a:t>
            </a:r>
          </a:p>
        </p:txBody>
      </p:sp>
      <p:sp>
        <p:nvSpPr>
          <p:cNvPr id="11" name="TextBox 10"/>
          <p:cNvSpPr txBox="1"/>
          <p:nvPr/>
        </p:nvSpPr>
        <p:spPr>
          <a:xfrm>
            <a:off x="5779008" y="4270248"/>
            <a:ext cx="1252728" cy="758952"/>
          </a:xfrm>
          <a:prstGeom prst="rect">
            <a:avLst/>
          </a:prstGeom>
          <a:noFill/>
        </p:spPr>
        <p:txBody>
          <a:bodyPr wrap="square" lIns="0" rIns="0" tIns="0" bIns="0" anchor="ctr">
            <a:spAutoFit/>
          </a:bodyPr>
          <a:lstStyle/>
          <a:p>
            <a:pPr algn="ctr">
              <a:lnSpc>
                <a:spcPct val="100000"/>
              </a:lnSpc>
              <a:spcBef>
                <a:spcPts val="0"/>
              </a:spcBef>
              <a:spcAft>
                <a:spcPts val="0"/>
              </a:spcAft>
            </a:pPr>
            <a:r>
              <a:rPr sz="2000" b="1" i="0">
                <a:solidFill>
                  <a:srgbClr val="6D28D9"/>
                </a:solidFill>
                <a:latin typeface="Calibri"/>
              </a:rPr>
              <a:t>10</a:t>
            </a:r>
          </a:p>
          <a:p>
            <a:pPr algn="ctr">
              <a:lnSpc>
                <a:spcPct val="105000"/>
              </a:lnSpc>
              <a:spcBef>
                <a:spcPts val="100"/>
              </a:spcBef>
              <a:spcAft>
                <a:spcPts val="600"/>
              </a:spcAft>
            </a:pPr>
            <a:r>
              <a:rPr sz="850" b="0" i="0">
                <a:solidFill>
                  <a:srgbClr val="6B6B76"/>
                </a:solidFill>
                <a:latin typeface="Calibri"/>
              </a:rPr>
              <a:t>configs measured</a:t>
            </a:r>
          </a:p>
        </p:txBody>
      </p:sp>
      <p:sp>
        <p:nvSpPr>
          <p:cNvPr id="12" name="TextBox 11"/>
          <p:cNvSpPr txBox="1"/>
          <p:nvPr/>
        </p:nvSpPr>
        <p:spPr>
          <a:xfrm>
            <a:off x="7159752" y="4270248"/>
            <a:ext cx="1252728" cy="758952"/>
          </a:xfrm>
          <a:prstGeom prst="rect">
            <a:avLst/>
          </a:prstGeom>
          <a:noFill/>
        </p:spPr>
        <p:txBody>
          <a:bodyPr wrap="square" lIns="0" rIns="0" tIns="0" bIns="0" anchor="ctr">
            <a:spAutoFit/>
          </a:bodyPr>
          <a:lstStyle/>
          <a:p>
            <a:pPr algn="ctr">
              <a:lnSpc>
                <a:spcPct val="100000"/>
              </a:lnSpc>
              <a:spcBef>
                <a:spcPts val="0"/>
              </a:spcBef>
              <a:spcAft>
                <a:spcPts val="0"/>
              </a:spcAft>
            </a:pPr>
            <a:r>
              <a:rPr sz="2000" b="1" i="0">
                <a:solidFill>
                  <a:srgbClr val="6D28D9"/>
                </a:solidFill>
                <a:latin typeface="Calibri"/>
              </a:rPr>
              <a:t>8</a:t>
            </a:r>
          </a:p>
          <a:p>
            <a:pPr algn="ctr">
              <a:lnSpc>
                <a:spcPct val="105000"/>
              </a:lnSpc>
              <a:spcBef>
                <a:spcPts val="100"/>
              </a:spcBef>
              <a:spcAft>
                <a:spcPts val="600"/>
              </a:spcAft>
            </a:pPr>
            <a:r>
              <a:rPr sz="850" b="0" i="0">
                <a:solidFill>
                  <a:srgbClr val="6B6B76"/>
                </a:solidFill>
                <a:latin typeface="Calibri"/>
              </a:rPr>
              <a:t>dropped</a:t>
            </a:r>
          </a:p>
        </p:txBody>
      </p:sp>
      <p:sp>
        <p:nvSpPr>
          <p:cNvPr id="13" name="TextBox 12"/>
          <p:cNvSpPr txBox="1"/>
          <p:nvPr/>
        </p:nvSpPr>
        <p:spPr>
          <a:xfrm>
            <a:off x="8540496" y="4270248"/>
            <a:ext cx="1252728" cy="758952"/>
          </a:xfrm>
          <a:prstGeom prst="rect">
            <a:avLst/>
          </a:prstGeom>
          <a:noFill/>
        </p:spPr>
        <p:txBody>
          <a:bodyPr wrap="square" lIns="0" rIns="0" tIns="0" bIns="0" anchor="ctr">
            <a:spAutoFit/>
          </a:bodyPr>
          <a:lstStyle/>
          <a:p>
            <a:pPr algn="ctr">
              <a:lnSpc>
                <a:spcPct val="100000"/>
              </a:lnSpc>
              <a:spcBef>
                <a:spcPts val="0"/>
              </a:spcBef>
              <a:spcAft>
                <a:spcPts val="0"/>
              </a:spcAft>
            </a:pPr>
            <a:r>
              <a:rPr sz="2000" b="1" i="0">
                <a:solidFill>
                  <a:srgbClr val="6D28D9"/>
                </a:solidFill>
                <a:latin typeface="Calibri"/>
              </a:rPr>
              <a:t>1</a:t>
            </a:r>
          </a:p>
          <a:p>
            <a:pPr algn="ctr">
              <a:lnSpc>
                <a:spcPct val="105000"/>
              </a:lnSpc>
              <a:spcBef>
                <a:spcPts val="100"/>
              </a:spcBef>
              <a:spcAft>
                <a:spcPts val="600"/>
              </a:spcAft>
            </a:pPr>
            <a:r>
              <a:rPr sz="850" b="0" i="0">
                <a:solidFill>
                  <a:srgbClr val="6B6B76"/>
                </a:solidFill>
                <a:latin typeface="Calibri"/>
              </a:rPr>
              <a:t>kept: e5-base</a:t>
            </a:r>
          </a:p>
        </p:txBody>
      </p:sp>
      <p:sp>
        <p:nvSpPr>
          <p:cNvPr id="14" name="TextBox 13"/>
          <p:cNvSpPr txBox="1"/>
          <p:nvPr/>
        </p:nvSpPr>
        <p:spPr>
          <a:xfrm>
            <a:off x="9921240" y="4270248"/>
            <a:ext cx="1252728" cy="758952"/>
          </a:xfrm>
          <a:prstGeom prst="rect">
            <a:avLst/>
          </a:prstGeom>
          <a:noFill/>
        </p:spPr>
        <p:txBody>
          <a:bodyPr wrap="square" lIns="0" rIns="0" tIns="0" bIns="0" anchor="ctr">
            <a:spAutoFit/>
          </a:bodyPr>
          <a:lstStyle/>
          <a:p>
            <a:pPr algn="ctr">
              <a:lnSpc>
                <a:spcPct val="100000"/>
              </a:lnSpc>
              <a:spcBef>
                <a:spcPts val="0"/>
              </a:spcBef>
              <a:spcAft>
                <a:spcPts val="0"/>
              </a:spcAft>
            </a:pPr>
            <a:r>
              <a:rPr sz="2000" b="1" i="0">
                <a:solidFill>
                  <a:srgbClr val="6D28D9"/>
                </a:solidFill>
                <a:latin typeface="Calibri"/>
              </a:rPr>
              <a:t>78</a:t>
            </a:r>
          </a:p>
          <a:p>
            <a:pPr algn="ctr">
              <a:lnSpc>
                <a:spcPct val="105000"/>
              </a:lnSpc>
              <a:spcBef>
                <a:spcPts val="100"/>
              </a:spcBef>
              <a:spcAft>
                <a:spcPts val="600"/>
              </a:spcAft>
            </a:pPr>
            <a:r>
              <a:rPr sz="850" b="0" i="0">
                <a:solidFill>
                  <a:srgbClr val="6B6B76"/>
                </a:solidFill>
                <a:latin typeface="Calibri"/>
              </a:rPr>
              <a:t>offline tests</a:t>
            </a:r>
          </a:p>
        </p:txBody>
      </p:sp>
      <p:sp>
        <p:nvSpPr>
          <p:cNvPr id="15" name="Rounded Rectangle 14"/>
          <p:cNvSpPr/>
          <p:nvPr/>
        </p:nvSpPr>
        <p:spPr>
          <a:xfrm>
            <a:off x="841248" y="5349240"/>
            <a:ext cx="3352800" cy="82296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5547" y="55092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1</a:t>
            </a:r>
          </a:p>
        </p:txBody>
      </p:sp>
      <p:sp>
        <p:nvSpPr>
          <p:cNvPr id="17" name="TextBox 16"/>
          <p:cNvSpPr txBox="1"/>
          <p:nvPr/>
        </p:nvSpPr>
        <p:spPr>
          <a:xfrm>
            <a:off x="1527048" y="5513831"/>
            <a:ext cx="2529840" cy="493776"/>
          </a:xfrm>
          <a:prstGeom prst="rect">
            <a:avLst/>
          </a:prstGeom>
          <a:noFill/>
        </p:spPr>
        <p:txBody>
          <a:bodyPr wrap="square" lIns="0" rIns="0" tIns="0" bIns="0" anchor="ctr">
            <a:spAutoFit/>
          </a:bodyPr>
          <a:lstStyle/>
          <a:p>
            <a:pPr algn="l">
              <a:lnSpc>
                <a:spcPct val="110000"/>
              </a:lnSpc>
              <a:spcBef>
                <a:spcPts val="0"/>
              </a:spcBef>
              <a:spcAft>
                <a:spcPts val="300"/>
              </a:spcAft>
            </a:pPr>
            <a:r>
              <a:rPr sz="1250" b="1" i="0">
                <a:solidFill>
                  <a:srgbClr val="14142B"/>
                </a:solidFill>
                <a:latin typeface="Calibri"/>
              </a:rPr>
              <a:t>CPU-only, minimal GPU</a:t>
            </a:r>
          </a:p>
          <a:p>
            <a:pPr algn="l">
              <a:lnSpc>
                <a:spcPct val="115000"/>
              </a:lnSpc>
              <a:spcBef>
                <a:spcPts val="0"/>
              </a:spcBef>
              <a:spcAft>
                <a:spcPts val="600"/>
              </a:spcAft>
            </a:pPr>
            <a:r>
              <a:rPr sz="1000" b="0" i="0">
                <a:solidFill>
                  <a:srgbClr val="6B6B76"/>
                </a:solidFill>
                <a:latin typeface="Calibri"/>
              </a:rPr>
              <a:t>Innovation has to come from representation, not scale</a:t>
            </a:r>
          </a:p>
        </p:txBody>
      </p:sp>
      <p:sp>
        <p:nvSpPr>
          <p:cNvPr id="18" name="Rounded Rectangle 17"/>
          <p:cNvSpPr/>
          <p:nvPr/>
        </p:nvSpPr>
        <p:spPr>
          <a:xfrm>
            <a:off x="4422648" y="5349240"/>
            <a:ext cx="3352800" cy="82296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36948" y="55092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2</a:t>
            </a:r>
          </a:p>
        </p:txBody>
      </p:sp>
      <p:sp>
        <p:nvSpPr>
          <p:cNvPr id="20" name="TextBox 19"/>
          <p:cNvSpPr txBox="1"/>
          <p:nvPr/>
        </p:nvSpPr>
        <p:spPr>
          <a:xfrm>
            <a:off x="5108448" y="5513831"/>
            <a:ext cx="2529840" cy="493776"/>
          </a:xfrm>
          <a:prstGeom prst="rect">
            <a:avLst/>
          </a:prstGeom>
          <a:noFill/>
        </p:spPr>
        <p:txBody>
          <a:bodyPr wrap="square" lIns="0" rIns="0" tIns="0" bIns="0" anchor="ctr">
            <a:spAutoFit/>
          </a:bodyPr>
          <a:lstStyle/>
          <a:p>
            <a:pPr algn="l">
              <a:lnSpc>
                <a:spcPct val="110000"/>
              </a:lnSpc>
              <a:spcBef>
                <a:spcPts val="0"/>
              </a:spcBef>
              <a:spcAft>
                <a:spcPts val="300"/>
              </a:spcAft>
            </a:pPr>
            <a:r>
              <a:rPr sz="1250" b="1" i="0">
                <a:solidFill>
                  <a:srgbClr val="14142B"/>
                </a:solidFill>
                <a:latin typeface="Calibri"/>
              </a:rPr>
              <a:t>No LLM in the ranking loop</a:t>
            </a:r>
          </a:p>
          <a:p>
            <a:pPr algn="l">
              <a:lnSpc>
                <a:spcPct val="115000"/>
              </a:lnSpc>
              <a:spcBef>
                <a:spcPts val="0"/>
              </a:spcBef>
              <a:spcAft>
                <a:spcPts val="600"/>
              </a:spcAft>
            </a:pPr>
            <a:r>
              <a:rPr sz="1000" b="0" i="0">
                <a:solidFill>
                  <a:srgbClr val="6B6B76"/>
                </a:solidFill>
                <a:latin typeface="Calibri"/>
              </a:rPr>
              <a:t>Retrieval must beat generation on speed on a thousand-snippet corpus</a:t>
            </a:r>
          </a:p>
        </p:txBody>
      </p:sp>
      <p:sp>
        <p:nvSpPr>
          <p:cNvPr id="21" name="Rounded Rectangle 20"/>
          <p:cNvSpPr/>
          <p:nvPr/>
        </p:nvSpPr>
        <p:spPr>
          <a:xfrm>
            <a:off x="8004048" y="5349240"/>
            <a:ext cx="3352800" cy="82296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18348" y="55092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3</a:t>
            </a:r>
          </a:p>
        </p:txBody>
      </p:sp>
      <p:sp>
        <p:nvSpPr>
          <p:cNvPr id="23" name="TextBox 22"/>
          <p:cNvSpPr txBox="1"/>
          <p:nvPr/>
        </p:nvSpPr>
        <p:spPr>
          <a:xfrm>
            <a:off x="8689848" y="5513831"/>
            <a:ext cx="2529840" cy="493776"/>
          </a:xfrm>
          <a:prstGeom prst="rect">
            <a:avLst/>
          </a:prstGeom>
          <a:noFill/>
        </p:spPr>
        <p:txBody>
          <a:bodyPr wrap="square" lIns="0" rIns="0" tIns="0" bIns="0" anchor="ctr">
            <a:spAutoFit/>
          </a:bodyPr>
          <a:lstStyle/>
          <a:p>
            <a:pPr algn="l">
              <a:lnSpc>
                <a:spcPct val="110000"/>
              </a:lnSpc>
              <a:spcBef>
                <a:spcPts val="0"/>
              </a:spcBef>
              <a:spcAft>
                <a:spcPts val="300"/>
              </a:spcAft>
            </a:pPr>
            <a:r>
              <a:rPr sz="1250" b="1" i="0">
                <a:solidFill>
                  <a:srgbClr val="14142B"/>
                </a:solidFill>
                <a:latin typeface="Calibri"/>
              </a:rPr>
              <a:t>Cross-version retrieval (P1)</a:t>
            </a:r>
          </a:p>
          <a:p>
            <a:pPr algn="l">
              <a:lnSpc>
                <a:spcPct val="115000"/>
              </a:lnSpc>
              <a:spcBef>
                <a:spcPts val="0"/>
              </a:spcBef>
              <a:spcAft>
                <a:spcPts val="600"/>
              </a:spcAft>
            </a:pPr>
            <a:r>
              <a:rPr sz="1000" b="0" i="0">
                <a:solidFill>
                  <a:srgbClr val="6B6B76"/>
                </a:solidFill>
                <a:latin typeface="Calibri"/>
              </a:rPr>
              <a:t>The index must rebuild cheaply as code changes, by design from day one</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Rounded Rectangle 2"/>
          <p:cNvSpPr/>
          <p:nvPr/>
        </p:nvSpPr>
        <p:spPr>
          <a:xfrm>
            <a:off x="841248" y="1874519"/>
            <a:ext cx="3395472" cy="384048"/>
          </a:xfrm>
          <a:prstGeom prst="roundRect">
            <a:avLst>
              <a:gd name="adj" fmla="val 6000"/>
            </a:avLst>
          </a:prstGeom>
          <a:solidFill>
            <a:srgbClr val="F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401312" y="1874519"/>
            <a:ext cx="3395472" cy="384048"/>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61376" y="1874519"/>
            <a:ext cx="3395472" cy="384048"/>
          </a:xfrm>
          <a:prstGeom prst="roundRect">
            <a:avLst>
              <a:gd name="adj" fmla="val 6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874519"/>
            <a:ext cx="3029712" cy="384048"/>
          </a:xfrm>
          <a:prstGeom prst="rect">
            <a:avLst/>
          </a:prstGeom>
          <a:noFill/>
        </p:spPr>
        <p:txBody>
          <a:bodyPr wrap="square" lIns="0" rIns="0" tIns="0" bIns="0" anchor="ctr">
            <a:spAutoFit/>
          </a:bodyPr>
          <a:lstStyle/>
          <a:p>
            <a:pPr algn="l">
              <a:spcBef>
                <a:spcPts val="0"/>
              </a:spcBef>
              <a:spcAft>
                <a:spcPts val="600"/>
              </a:spcAft>
            </a:pPr>
            <a:r>
              <a:rPr sz="1050" b="1" i="0">
                <a:solidFill>
                  <a:srgbClr val="6B6B76"/>
                </a:solidFill>
                <a:latin typeface="Calibri"/>
              </a:rPr>
              <a:t>WHAT TEAMS USUALLY TRY</a:t>
            </a:r>
          </a:p>
        </p:txBody>
      </p:sp>
      <p:sp>
        <p:nvSpPr>
          <p:cNvPr id="7" name="TextBox 6"/>
          <p:cNvSpPr txBox="1"/>
          <p:nvPr/>
        </p:nvSpPr>
        <p:spPr>
          <a:xfrm>
            <a:off x="4584192" y="1874519"/>
            <a:ext cx="3029712" cy="384048"/>
          </a:xfrm>
          <a:prstGeom prst="rect">
            <a:avLst/>
          </a:prstGeom>
          <a:noFill/>
        </p:spPr>
        <p:txBody>
          <a:bodyPr wrap="square" lIns="0" rIns="0" tIns="0" bIns="0" anchor="ctr">
            <a:spAutoFit/>
          </a:bodyPr>
          <a:lstStyle/>
          <a:p>
            <a:pPr algn="l">
              <a:spcBef>
                <a:spcPts val="0"/>
              </a:spcBef>
              <a:spcAft>
                <a:spcPts val="600"/>
              </a:spcAft>
            </a:pPr>
            <a:r>
              <a:rPr sz="1050" b="1" i="0">
                <a:solidFill>
                  <a:srgbClr val="B33B3B"/>
                </a:solidFill>
                <a:latin typeface="Calibri"/>
              </a:rPr>
              <a:t>WHERE IT BREAKS DOWN</a:t>
            </a:r>
          </a:p>
        </p:txBody>
      </p:sp>
      <p:sp>
        <p:nvSpPr>
          <p:cNvPr id="8" name="TextBox 7"/>
          <p:cNvSpPr txBox="1"/>
          <p:nvPr/>
        </p:nvSpPr>
        <p:spPr>
          <a:xfrm>
            <a:off x="8144256" y="1874519"/>
            <a:ext cx="3029712" cy="384048"/>
          </a:xfrm>
          <a:prstGeom prst="rect">
            <a:avLst/>
          </a:prstGeom>
          <a:noFill/>
        </p:spPr>
        <p:txBody>
          <a:bodyPr wrap="square" lIns="0" rIns="0" tIns="0" bIns="0" anchor="ctr">
            <a:spAutoFit/>
          </a:bodyPr>
          <a:lstStyle/>
          <a:p>
            <a:pPr algn="l">
              <a:spcBef>
                <a:spcPts val="0"/>
              </a:spcBef>
              <a:spcAft>
                <a:spcPts val="600"/>
              </a:spcAft>
            </a:pPr>
            <a:r>
              <a:rPr sz="1050" b="1" i="0">
                <a:solidFill>
                  <a:srgbClr val="FFFFFF"/>
                </a:solidFill>
                <a:latin typeface="Calibri"/>
              </a:rPr>
              <a:t>HOW WE DESIGNED FOR THIS</a:t>
            </a:r>
          </a:p>
        </p:txBody>
      </p:sp>
      <p:sp>
        <p:nvSpPr>
          <p:cNvPr id="9" name="Rounded Rectangle 8"/>
          <p:cNvSpPr/>
          <p:nvPr/>
        </p:nvSpPr>
        <p:spPr>
          <a:xfrm>
            <a:off x="841248" y="2386584"/>
            <a:ext cx="3395472" cy="850392"/>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01312" y="2386584"/>
            <a:ext cx="3395472" cy="850392"/>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61376" y="2386584"/>
            <a:ext cx="3395472" cy="850392"/>
          </a:xfrm>
          <a:prstGeom prst="roundRect">
            <a:avLst>
              <a:gd name="adj" fmla="val 6000"/>
            </a:avLst>
          </a:prstGeom>
          <a:solidFill>
            <a:srgbClr val="EDE9FB"/>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 y="2619756"/>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1</a:t>
            </a:r>
          </a:p>
        </p:txBody>
      </p:sp>
      <p:sp>
        <p:nvSpPr>
          <p:cNvPr id="13" name="TextBox 12"/>
          <p:cNvSpPr txBox="1"/>
          <p:nvPr/>
        </p:nvSpPr>
        <p:spPr>
          <a:xfrm>
            <a:off x="1435608" y="2496312"/>
            <a:ext cx="266395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33333D"/>
                </a:solidFill>
                <a:latin typeface="Calibri"/>
              </a:rPr>
              <a:t>Dense embedding + cosine similarity with an off-the-shelf text model</a:t>
            </a:r>
          </a:p>
        </p:txBody>
      </p:sp>
      <p:sp>
        <p:nvSpPr>
          <p:cNvPr id="14" name="TextBox 13"/>
          <p:cNvSpPr txBox="1"/>
          <p:nvPr/>
        </p:nvSpPr>
        <p:spPr>
          <a:xfrm>
            <a:off x="4584192" y="2496312"/>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B33B3B"/>
                </a:solidFill>
                <a:latin typeface="Calibri"/>
              </a:rPr>
              <a:t>NL and code sit in different “languages” — behavioral queries blur</a:t>
            </a:r>
          </a:p>
        </p:txBody>
      </p:sp>
      <p:sp>
        <p:nvSpPr>
          <p:cNvPr id="15" name="TextBox 14"/>
          <p:cNvSpPr txBox="1"/>
          <p:nvPr/>
        </p:nvSpPr>
        <p:spPr>
          <a:xfrm>
            <a:off x="8144256" y="2496312"/>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1" i="0">
                <a:solidFill>
                  <a:srgbClr val="14142B"/>
                </a:solidFill>
                <a:latin typeface="Calibri"/>
              </a:rPr>
              <a:t>Code-flavored HyDE: compile query → deterministic code sketch, then embed code-vs-code</a:t>
            </a:r>
          </a:p>
        </p:txBody>
      </p:sp>
      <p:sp>
        <p:nvSpPr>
          <p:cNvPr id="16" name="TextBox 15"/>
          <p:cNvSpPr txBox="1"/>
          <p:nvPr/>
        </p:nvSpPr>
        <p:spPr>
          <a:xfrm>
            <a:off x="4209288" y="2674620"/>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17" name="TextBox 16"/>
          <p:cNvSpPr txBox="1"/>
          <p:nvPr/>
        </p:nvSpPr>
        <p:spPr>
          <a:xfrm>
            <a:off x="7769352" y="2674620"/>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18" name="Rounded Rectangle 17"/>
          <p:cNvSpPr/>
          <p:nvPr/>
        </p:nvSpPr>
        <p:spPr>
          <a:xfrm>
            <a:off x="841248" y="3364992"/>
            <a:ext cx="3395472" cy="850392"/>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01312" y="3364992"/>
            <a:ext cx="3395472" cy="850392"/>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61376" y="3364992"/>
            <a:ext cx="3395472" cy="850392"/>
          </a:xfrm>
          <a:prstGeom prst="roundRect">
            <a:avLst>
              <a:gd name="adj" fmla="val 6000"/>
            </a:avLst>
          </a:prstGeom>
          <a:solidFill>
            <a:srgbClr val="EDE9FB"/>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598164"/>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2</a:t>
            </a:r>
          </a:p>
        </p:txBody>
      </p:sp>
      <p:sp>
        <p:nvSpPr>
          <p:cNvPr id="22" name="TextBox 21"/>
          <p:cNvSpPr txBox="1"/>
          <p:nvPr/>
        </p:nvSpPr>
        <p:spPr>
          <a:xfrm>
            <a:off x="1435608" y="3474720"/>
            <a:ext cx="266395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33333D"/>
                </a:solidFill>
                <a:latin typeface="Calibri"/>
              </a:rPr>
              <a:t>LLM re-ranking on top of a first-pass retriever</a:t>
            </a:r>
          </a:p>
        </p:txBody>
      </p:sp>
      <p:sp>
        <p:nvSpPr>
          <p:cNvPr id="23" name="TextBox 22"/>
          <p:cNvSpPr txBox="1"/>
          <p:nvPr/>
        </p:nvSpPr>
        <p:spPr>
          <a:xfrm>
            <a:off x="4584192" y="3474720"/>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B33B3B"/>
                </a:solidFill>
                <a:latin typeface="Calibri"/>
              </a:rPr>
              <a:t>Corpus in the thousands → per-query LLM ranking slower than retrieval itself</a:t>
            </a:r>
          </a:p>
        </p:txBody>
      </p:sp>
      <p:sp>
        <p:nvSpPr>
          <p:cNvPr id="24" name="TextBox 23"/>
          <p:cNvSpPr txBox="1"/>
          <p:nvPr/>
        </p:nvSpPr>
        <p:spPr>
          <a:xfrm>
            <a:off x="8144256" y="3474720"/>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1" i="0">
                <a:solidFill>
                  <a:srgbClr val="14142B"/>
                </a:solidFill>
                <a:latin typeface="Calibri"/>
              </a:rPr>
              <a:t>No LLM in the ranking loop; any LLM use is offline pre-processing, cached</a:t>
            </a:r>
          </a:p>
        </p:txBody>
      </p:sp>
      <p:sp>
        <p:nvSpPr>
          <p:cNvPr id="25" name="TextBox 24"/>
          <p:cNvSpPr txBox="1"/>
          <p:nvPr/>
        </p:nvSpPr>
        <p:spPr>
          <a:xfrm>
            <a:off x="4209288" y="3653028"/>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26" name="TextBox 25"/>
          <p:cNvSpPr txBox="1"/>
          <p:nvPr/>
        </p:nvSpPr>
        <p:spPr>
          <a:xfrm>
            <a:off x="7769352" y="3653028"/>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27" name="Rounded Rectangle 26"/>
          <p:cNvSpPr/>
          <p:nvPr/>
        </p:nvSpPr>
        <p:spPr>
          <a:xfrm>
            <a:off x="841248" y="4343400"/>
            <a:ext cx="3395472" cy="850392"/>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01312" y="4343400"/>
            <a:ext cx="3395472" cy="850392"/>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961376" y="4343400"/>
            <a:ext cx="3395472" cy="850392"/>
          </a:xfrm>
          <a:prstGeom prst="roundRect">
            <a:avLst>
              <a:gd name="adj" fmla="val 6000"/>
            </a:avLst>
          </a:prstGeom>
          <a:solidFill>
            <a:srgbClr val="EDE9FB"/>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41832" y="4576572"/>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3</a:t>
            </a:r>
          </a:p>
        </p:txBody>
      </p:sp>
      <p:sp>
        <p:nvSpPr>
          <p:cNvPr id="31" name="TextBox 30"/>
          <p:cNvSpPr txBox="1"/>
          <p:nvPr/>
        </p:nvSpPr>
        <p:spPr>
          <a:xfrm>
            <a:off x="1435608" y="4453128"/>
            <a:ext cx="266395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33333D"/>
                </a:solidFill>
                <a:latin typeface="Calibri"/>
              </a:rPr>
              <a:t>One raw-text view per snippet, straight into the encoder</a:t>
            </a:r>
          </a:p>
        </p:txBody>
      </p:sp>
      <p:sp>
        <p:nvSpPr>
          <p:cNvPr id="32" name="TextBox 31"/>
          <p:cNvSpPr txBox="1"/>
          <p:nvPr/>
        </p:nvSpPr>
        <p:spPr>
          <a:xfrm>
            <a:off x="4584192" y="4453128"/>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B33B3B"/>
                </a:solidFill>
                <a:latin typeface="Calibri"/>
              </a:rPr>
              <a:t>Raw text blurs the structure and identifiers usage &amp; structural queries need</a:t>
            </a:r>
          </a:p>
        </p:txBody>
      </p:sp>
      <p:sp>
        <p:nvSpPr>
          <p:cNvPr id="33" name="TextBox 32"/>
          <p:cNvSpPr txBox="1"/>
          <p:nvPr/>
        </p:nvSpPr>
        <p:spPr>
          <a:xfrm>
            <a:off x="8144256" y="4453128"/>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1" i="0">
                <a:solidFill>
                  <a:srgbClr val="14142B"/>
                </a:solidFill>
                <a:latin typeface="Calibri"/>
              </a:rPr>
              <a:t>Multi-view snippet embedding: raw + AST-normalized + identifier bag, fused</a:t>
            </a:r>
          </a:p>
        </p:txBody>
      </p:sp>
      <p:sp>
        <p:nvSpPr>
          <p:cNvPr id="34" name="TextBox 33"/>
          <p:cNvSpPr txBox="1"/>
          <p:nvPr/>
        </p:nvSpPr>
        <p:spPr>
          <a:xfrm>
            <a:off x="4209288" y="4631436"/>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35" name="TextBox 34"/>
          <p:cNvSpPr txBox="1"/>
          <p:nvPr/>
        </p:nvSpPr>
        <p:spPr>
          <a:xfrm>
            <a:off x="7769352" y="4631436"/>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36" name="Rounded Rectangle 35"/>
          <p:cNvSpPr/>
          <p:nvPr/>
        </p:nvSpPr>
        <p:spPr>
          <a:xfrm>
            <a:off x="841248" y="5321808"/>
            <a:ext cx="3395472" cy="850392"/>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401312" y="5321808"/>
            <a:ext cx="3395472" cy="850392"/>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961376" y="5321808"/>
            <a:ext cx="3395472" cy="850392"/>
          </a:xfrm>
          <a:prstGeom prst="roundRect">
            <a:avLst>
              <a:gd name="adj" fmla="val 6000"/>
            </a:avLst>
          </a:prstGeom>
          <a:solidFill>
            <a:srgbClr val="EDE9FB"/>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41832" y="5554980"/>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4</a:t>
            </a:r>
          </a:p>
        </p:txBody>
      </p:sp>
      <p:sp>
        <p:nvSpPr>
          <p:cNvPr id="40" name="TextBox 39"/>
          <p:cNvSpPr txBox="1"/>
          <p:nvPr/>
        </p:nvSpPr>
        <p:spPr>
          <a:xfrm>
            <a:off x="1435608" y="5431536"/>
            <a:ext cx="266395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33333D"/>
                </a:solidFill>
                <a:latin typeface="Calibri"/>
              </a:rPr>
              <a:t>A single index built once for one code version</a:t>
            </a:r>
          </a:p>
        </p:txBody>
      </p:sp>
      <p:sp>
        <p:nvSpPr>
          <p:cNvPr id="41" name="TextBox 40"/>
          <p:cNvSpPr txBox="1"/>
          <p:nvPr/>
        </p:nvSpPr>
        <p:spPr>
          <a:xfrm>
            <a:off x="4584192" y="5431536"/>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0" i="0">
                <a:solidFill>
                  <a:srgbClr val="B33B3B"/>
                </a:solidFill>
                <a:latin typeface="Calibri"/>
              </a:rPr>
              <a:t>Near-identical versions become indistinguishable; every change rebuilds all</a:t>
            </a:r>
          </a:p>
        </p:txBody>
      </p:sp>
      <p:sp>
        <p:nvSpPr>
          <p:cNvPr id="42" name="TextBox 41"/>
          <p:cNvSpPr txBox="1"/>
          <p:nvPr/>
        </p:nvSpPr>
        <p:spPr>
          <a:xfrm>
            <a:off x="8144256" y="5431536"/>
            <a:ext cx="3029712" cy="630936"/>
          </a:xfrm>
          <a:prstGeom prst="rect">
            <a:avLst/>
          </a:prstGeom>
          <a:noFill/>
        </p:spPr>
        <p:txBody>
          <a:bodyPr wrap="square" lIns="0" rIns="0" tIns="0" bIns="0" anchor="ctr">
            <a:spAutoFit/>
          </a:bodyPr>
          <a:lstStyle/>
          <a:p>
            <a:pPr algn="l">
              <a:lnSpc>
                <a:spcPct val="118000"/>
              </a:lnSpc>
              <a:spcBef>
                <a:spcPts val="0"/>
              </a:spcBef>
              <a:spcAft>
                <a:spcPts val="600"/>
              </a:spcAft>
            </a:pPr>
            <a:r>
              <a:rPr sz="1050" b="1" i="0">
                <a:solidFill>
                  <a:srgbClr val="14142B"/>
                </a:solidFill>
                <a:latin typeface="Calibri"/>
              </a:rPr>
              <a:t>Content-addressed versioned index + stable-core / version-delta representation</a:t>
            </a:r>
          </a:p>
        </p:txBody>
      </p:sp>
      <p:sp>
        <p:nvSpPr>
          <p:cNvPr id="43" name="TextBox 42"/>
          <p:cNvSpPr txBox="1"/>
          <p:nvPr/>
        </p:nvSpPr>
        <p:spPr>
          <a:xfrm>
            <a:off x="4209288" y="5609844"/>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
        <p:nvSpPr>
          <p:cNvPr id="44" name="TextBox 43"/>
          <p:cNvSpPr txBox="1"/>
          <p:nvPr/>
        </p:nvSpPr>
        <p:spPr>
          <a:xfrm>
            <a:off x="7769352" y="5609844"/>
            <a:ext cx="219456" cy="274320"/>
          </a:xfrm>
          <a:prstGeom prst="rect">
            <a:avLst/>
          </a:prstGeom>
          <a:noFill/>
        </p:spPr>
        <p:txBody>
          <a:bodyPr wrap="square" lIns="0" rIns="0" tIns="0" bIns="0" anchor="ctr">
            <a:spAutoFit/>
          </a:bodyPr>
          <a:lstStyle/>
          <a:p>
            <a:pPr algn="ctr">
              <a:spcBef>
                <a:spcPts val="0"/>
              </a:spcBef>
              <a:spcAft>
                <a:spcPts val="600"/>
              </a:spcAft>
            </a:pPr>
            <a:r>
              <a:rPr sz="1500" b="1" i="0">
                <a:solidFill>
                  <a:srgbClr val="6B6B76"/>
                </a:solidFill>
                <a:latin typeface="Calibri"/>
              </a:rPr>
              <a:t>›</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TextBox 2"/>
          <p:cNvSpPr txBox="1"/>
          <p:nvPr/>
        </p:nvSpPr>
        <p:spPr>
          <a:xfrm>
            <a:off x="841248" y="1810511"/>
            <a:ext cx="2743200" cy="274320"/>
          </a:xfrm>
          <a:prstGeom prst="rect">
            <a:avLst/>
          </a:prstGeom>
          <a:noFill/>
        </p:spPr>
        <p:txBody>
          <a:bodyPr wrap="square" lIns="0" rIns="0" tIns="0" bIns="0">
            <a:spAutoFit/>
          </a:bodyPr>
          <a:lstStyle/>
          <a:p>
            <a:pPr algn="l">
              <a:spcBef>
                <a:spcPts val="0"/>
              </a:spcBef>
              <a:spcAft>
                <a:spcPts val="600"/>
              </a:spcAft>
            </a:pPr>
            <a:r>
              <a:rPr sz="1000" b="1" i="0">
                <a:solidFill>
                  <a:srgbClr val="6D28D9"/>
                </a:solidFill>
                <a:latin typeface="Calibri"/>
              </a:rPr>
              <a:t>QUERY PATH</a:t>
            </a:r>
          </a:p>
        </p:txBody>
      </p:sp>
      <p:sp>
        <p:nvSpPr>
          <p:cNvPr id="4" name="TextBox 3"/>
          <p:cNvSpPr txBox="1"/>
          <p:nvPr/>
        </p:nvSpPr>
        <p:spPr>
          <a:xfrm>
            <a:off x="841248" y="3822191"/>
            <a:ext cx="2743200" cy="274320"/>
          </a:xfrm>
          <a:prstGeom prst="rect">
            <a:avLst/>
          </a:prstGeom>
          <a:noFill/>
        </p:spPr>
        <p:txBody>
          <a:bodyPr wrap="square" lIns="0" rIns="0" tIns="0" bIns="0">
            <a:spAutoFit/>
          </a:bodyPr>
          <a:lstStyle/>
          <a:p>
            <a:pPr algn="l">
              <a:spcBef>
                <a:spcPts val="0"/>
              </a:spcBef>
              <a:spcAft>
                <a:spcPts val="600"/>
              </a:spcAft>
            </a:pPr>
            <a:r>
              <a:rPr sz="1000" b="1" i="0">
                <a:solidFill>
                  <a:srgbClr val="6D28D9"/>
                </a:solidFill>
                <a:latin typeface="Calibri"/>
              </a:rPr>
              <a:t>SNIPPET PATH</a:t>
            </a:r>
          </a:p>
        </p:txBody>
      </p:sp>
      <p:sp>
        <p:nvSpPr>
          <p:cNvPr id="5" name="Rounded Rectangle 4"/>
          <p:cNvSpPr/>
          <p:nvPr/>
        </p:nvSpPr>
        <p:spPr>
          <a:xfrm>
            <a:off x="841248" y="2103120"/>
            <a:ext cx="1417320" cy="777240"/>
          </a:xfrm>
          <a:prstGeom prst="roundRect">
            <a:avLst>
              <a:gd name="adj" fmla="val 9000"/>
            </a:avLst>
          </a:prstGeom>
          <a:solidFill>
            <a:srgbClr val="EDE9FB"/>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NL query</a:t>
            </a:r>
          </a:p>
        </p:txBody>
      </p:sp>
      <p:sp>
        <p:nvSpPr>
          <p:cNvPr id="6" name="Rounded Rectangle 5"/>
          <p:cNvSpPr/>
          <p:nvPr/>
        </p:nvSpPr>
        <p:spPr>
          <a:xfrm>
            <a:off x="2578608" y="2103120"/>
            <a:ext cx="2331720" cy="777240"/>
          </a:xfrm>
          <a:prstGeom prst="roundRect">
            <a:avLst>
              <a:gd name="adj" fmla="val 9000"/>
            </a:avLst>
          </a:prstGeom>
          <a:solidFill>
            <a:srgbClr val="FFFFFF"/>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Query preprocess</a:t>
            </a:r>
          </a:p>
          <a:p>
            <a:pPr algn="ctr">
              <a:lnSpc>
                <a:spcPct val="105000"/>
              </a:lnSpc>
            </a:pPr>
            <a:r>
              <a:rPr sz="1150" b="0" i="0">
                <a:solidFill>
                  <a:srgbClr val="14142B"/>
                </a:solidFill>
                <a:latin typeface="Calibri"/>
              </a:rPr>
              <a:t>+ “query: ” prefix</a:t>
            </a:r>
          </a:p>
          <a:p>
            <a:pPr algn="ctr">
              <a:lnSpc>
                <a:spcPct val="105000"/>
              </a:lnSpc>
            </a:pPr>
            <a:r>
              <a:rPr sz="1000" b="0" i="1">
                <a:solidFill>
                  <a:srgbClr val="6B6B76"/>
                </a:solidFill>
                <a:latin typeface="Calibri"/>
              </a:rPr>
              <a:t>query→code HyDE: measured, off</a:t>
            </a:r>
          </a:p>
        </p:txBody>
      </p:sp>
      <p:sp>
        <p:nvSpPr>
          <p:cNvPr id="7" name="Rounded Rectangle 6"/>
          <p:cNvSpPr/>
          <p:nvPr/>
        </p:nvSpPr>
        <p:spPr>
          <a:xfrm>
            <a:off x="5230368" y="2103120"/>
            <a:ext cx="1783080" cy="777240"/>
          </a:xfrm>
          <a:prstGeom prst="roundRect">
            <a:avLst>
              <a:gd name="adj" fmla="val 9000"/>
            </a:avLst>
          </a:prstGeom>
          <a:solidFill>
            <a:srgbClr val="FFFFFF"/>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Query encode</a:t>
            </a:r>
          </a:p>
          <a:p>
            <a:pPr algn="ctr">
              <a:lnSpc>
                <a:spcPct val="105000"/>
              </a:lnSpc>
            </a:pPr>
            <a:r>
              <a:rPr sz="1150" b="0" i="0">
                <a:solidFill>
                  <a:srgbClr val="14142B"/>
                </a:solidFill>
                <a:latin typeface="Calibri"/>
              </a:rPr>
              <a:t>e5-base-v2</a:t>
            </a:r>
          </a:p>
        </p:txBody>
      </p:sp>
      <p:sp>
        <p:nvSpPr>
          <p:cNvPr id="8" name="Rounded Rectangle 7"/>
          <p:cNvSpPr/>
          <p:nvPr/>
        </p:nvSpPr>
        <p:spPr>
          <a:xfrm>
            <a:off x="841248" y="4114800"/>
            <a:ext cx="1417320" cy="777240"/>
          </a:xfrm>
          <a:prstGeom prst="roundRect">
            <a:avLst>
              <a:gd name="adj" fmla="val 9000"/>
            </a:avLst>
          </a:prstGeom>
          <a:solidFill>
            <a:srgbClr val="EDE9FB"/>
          </a:solidFill>
          <a:ln w="1587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Code snippets</a:t>
            </a:r>
          </a:p>
        </p:txBody>
      </p:sp>
      <p:sp>
        <p:nvSpPr>
          <p:cNvPr id="9" name="Rounded Rectangle 8"/>
          <p:cNvSpPr/>
          <p:nvPr/>
        </p:nvSpPr>
        <p:spPr>
          <a:xfrm>
            <a:off x="2578608" y="4114800"/>
            <a:ext cx="2331720" cy="777240"/>
          </a:xfrm>
          <a:prstGeom prst="roundRect">
            <a:avLst>
              <a:gd name="adj" fmla="val 9000"/>
            </a:avLst>
          </a:prstGeom>
          <a:solidFill>
            <a:srgbClr val="FFFFFF"/>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Snippet cleanup</a:t>
            </a:r>
          </a:p>
          <a:p>
            <a:pPr algn="ctr">
              <a:lnSpc>
                <a:spcPct val="105000"/>
              </a:lnSpc>
            </a:pPr>
            <a:r>
              <a:rPr sz="1150" b="0" i="0">
                <a:solidFill>
                  <a:srgbClr val="14142B"/>
                </a:solidFill>
                <a:latin typeface="Calibri"/>
              </a:rPr>
              <a:t>+ chunking + “passage: ”</a:t>
            </a:r>
          </a:p>
          <a:p>
            <a:pPr algn="ctr">
              <a:lnSpc>
                <a:spcPct val="105000"/>
              </a:lnSpc>
            </a:pPr>
            <a:r>
              <a:rPr sz="1000" b="0" i="1">
                <a:solidFill>
                  <a:srgbClr val="6B6B76"/>
                </a:solidFill>
                <a:latin typeface="Calibri"/>
              </a:rPr>
              <a:t>multi-view: measured, off</a:t>
            </a:r>
          </a:p>
        </p:txBody>
      </p:sp>
      <p:sp>
        <p:nvSpPr>
          <p:cNvPr id="10" name="Rounded Rectangle 9"/>
          <p:cNvSpPr/>
          <p:nvPr/>
        </p:nvSpPr>
        <p:spPr>
          <a:xfrm>
            <a:off x="5230368" y="4114800"/>
            <a:ext cx="1783080" cy="777240"/>
          </a:xfrm>
          <a:prstGeom prst="roundRect">
            <a:avLst>
              <a:gd name="adj" fmla="val 9000"/>
            </a:avLst>
          </a:prstGeom>
          <a:solidFill>
            <a:srgbClr val="FFFFFF"/>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150" b="1" i="0">
                <a:solidFill>
                  <a:srgbClr val="14142B"/>
                </a:solidFill>
                <a:latin typeface="Calibri"/>
              </a:rPr>
              <a:t>Snippet encode</a:t>
            </a:r>
          </a:p>
          <a:p>
            <a:pPr algn="ctr">
              <a:lnSpc>
                <a:spcPct val="105000"/>
              </a:lnSpc>
            </a:pPr>
            <a:r>
              <a:rPr sz="1150" b="0" i="0">
                <a:solidFill>
                  <a:srgbClr val="14142B"/>
                </a:solidFill>
                <a:latin typeface="Calibri"/>
              </a:rPr>
              <a:t>e5-base-v2</a:t>
            </a:r>
          </a:p>
          <a:p>
            <a:pPr algn="ctr">
              <a:lnSpc>
                <a:spcPct val="105000"/>
              </a:lnSpc>
            </a:pPr>
            <a:r>
              <a:rPr sz="1150" b="0" i="0">
                <a:solidFill>
                  <a:srgbClr val="14142B"/>
                </a:solidFill>
                <a:latin typeface="Calibri"/>
              </a:rPr>
              <a:t>+ versioned index</a:t>
            </a:r>
          </a:p>
        </p:txBody>
      </p:sp>
      <p:sp>
        <p:nvSpPr>
          <p:cNvPr id="11" name="Rounded Rectangle 10"/>
          <p:cNvSpPr/>
          <p:nvPr/>
        </p:nvSpPr>
        <p:spPr>
          <a:xfrm>
            <a:off x="7516368" y="3017520"/>
            <a:ext cx="1965960" cy="1600200"/>
          </a:xfrm>
          <a:prstGeom prst="roundRect">
            <a:avLst>
              <a:gd name="adj" fmla="val 9000"/>
            </a:avLst>
          </a:prstGeom>
          <a:solidFill>
            <a:srgbClr val="704EA6"/>
          </a:solidFill>
          <a:ln w="15875">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250" b="1" i="0">
                <a:solidFill>
                  <a:srgbClr val="FFFFFF"/>
                </a:solidFill>
                <a:latin typeface="Calibri"/>
              </a:rPr>
              <a:t>Cosine score</a:t>
            </a:r>
          </a:p>
          <a:p>
            <a:pPr algn="ctr">
              <a:lnSpc>
                <a:spcPct val="105000"/>
              </a:lnSpc>
            </a:pPr>
            <a:r>
              <a:rPr sz="1250" b="0" i="0">
                <a:solidFill>
                  <a:srgbClr val="FFFFFF"/>
                </a:solidFill>
                <a:latin typeface="Calibri"/>
              </a:rPr>
              <a:t>(+ cross-version, P1)</a:t>
            </a:r>
          </a:p>
        </p:txBody>
      </p:sp>
      <p:sp>
        <p:nvSpPr>
          <p:cNvPr id="12" name="Rounded Rectangle 11"/>
          <p:cNvSpPr/>
          <p:nvPr/>
        </p:nvSpPr>
        <p:spPr>
          <a:xfrm>
            <a:off x="9802368" y="3017520"/>
            <a:ext cx="1371600" cy="1600200"/>
          </a:xfrm>
          <a:prstGeom prst="roundRect">
            <a:avLst>
              <a:gd name="adj" fmla="val 9000"/>
            </a:avLst>
          </a:prstGeom>
          <a:solidFill>
            <a:srgbClr val="FFFFFF"/>
          </a:solidFill>
          <a:ln w="15875">
            <a:solidFill>
              <a:srgbClr val="D9A44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5000"/>
              </a:lnSpc>
            </a:pPr>
            <a:r>
              <a:rPr sz="1250" b="1" i="0">
                <a:solidFill>
                  <a:srgbClr val="14142B"/>
                </a:solidFill>
                <a:latin typeface="Calibri"/>
              </a:rPr>
              <a:t>Ranked</a:t>
            </a:r>
          </a:p>
          <a:p>
            <a:pPr algn="ctr">
              <a:lnSpc>
                <a:spcPct val="105000"/>
              </a:lnSpc>
            </a:pPr>
            <a:r>
              <a:rPr sz="1250" b="0" i="0">
                <a:solidFill>
                  <a:srgbClr val="14142B"/>
                </a:solidFill>
                <a:latin typeface="Calibri"/>
              </a:rPr>
              <a:t>snippets</a:t>
            </a:r>
          </a:p>
        </p:txBody>
      </p:sp>
      <p:cxnSp>
        <p:nvCxnSpPr>
          <p:cNvPr id="13" name="Connector 12"/>
          <p:cNvCxnSpPr/>
          <p:nvPr/>
        </p:nvCxnSpPr>
        <p:spPr>
          <a:xfrm>
            <a:off x="2258568" y="2491739"/>
            <a:ext cx="320040" cy="0"/>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10328" y="2491739"/>
            <a:ext cx="320040" cy="0"/>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58568" y="4503420"/>
            <a:ext cx="320040" cy="0"/>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10328" y="4503420"/>
            <a:ext cx="320040" cy="0"/>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013448" y="2491739"/>
            <a:ext cx="502920" cy="973837"/>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013448" y="4169663"/>
            <a:ext cx="502920" cy="333757"/>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82328" y="3817620"/>
            <a:ext cx="320040" cy="0"/>
          </a:xfrm>
          <a:prstGeom prst="line">
            <a:avLst/>
          </a:prstGeom>
          <a:ln w="22225">
            <a:solidFill>
              <a:srgbClr val="704E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1248" y="5074920"/>
            <a:ext cx="10515600" cy="365760"/>
          </a:xfrm>
          <a:prstGeom prst="rect">
            <a:avLst/>
          </a:prstGeom>
          <a:noFill/>
        </p:spPr>
        <p:txBody>
          <a:bodyPr wrap="square" lIns="0" rIns="0" tIns="0" bIns="0">
            <a:spAutoFit/>
          </a:bodyPr>
          <a:lstStyle/>
          <a:p>
            <a:pPr algn="ctr">
              <a:spcBef>
                <a:spcPts val="0"/>
              </a:spcBef>
              <a:spcAft>
                <a:spcPts val="600"/>
              </a:spcAft>
            </a:pPr>
            <a:r>
              <a:rPr sz="1150" b="0" i="1">
                <a:solidFill>
                  <a:srgbClr val="6B6B76"/>
                </a:solidFill>
                <a:latin typeface="Calibri"/>
              </a:rPr>
              <a:t>Submitted: e5-base-v2, 512-token window, CPU-only. Grey items are built and switchable by config, but lost on the real split and are off.</a:t>
            </a:r>
          </a:p>
        </p:txBody>
      </p:sp>
      <p:sp>
        <p:nvSpPr>
          <p:cNvPr id="21" name="Rounded Rectangle 20"/>
          <p:cNvSpPr/>
          <p:nvPr/>
        </p:nvSpPr>
        <p:spPr>
          <a:xfrm>
            <a:off x="841248" y="5486400"/>
            <a:ext cx="10515600" cy="777240"/>
          </a:xfrm>
          <a:prstGeom prst="roundRect">
            <a:avLst>
              <a:gd name="adj" fmla="val 6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559552"/>
            <a:ext cx="10058400" cy="256032"/>
          </a:xfrm>
          <a:prstGeom prst="rect">
            <a:avLst/>
          </a:prstGeom>
          <a:noFill/>
        </p:spPr>
        <p:txBody>
          <a:bodyPr wrap="square" lIns="0" rIns="0" tIns="0" bIns="0">
            <a:spAutoFit/>
          </a:bodyPr>
          <a:lstStyle/>
          <a:p>
            <a:pPr algn="l">
              <a:spcBef>
                <a:spcPts val="0"/>
              </a:spcBef>
              <a:spcAft>
                <a:spcPts val="600"/>
              </a:spcAft>
            </a:pPr>
            <a:r>
              <a:rPr sz="950" b="1" i="0">
                <a:solidFill>
                  <a:srgbClr val="6D28D9"/>
                </a:solidFill>
                <a:latin typeface="Calibri"/>
              </a:rPr>
              <a:t>EXAMPLE TRACE  —  one real query through the pipeline</a:t>
            </a:r>
          </a:p>
        </p:txBody>
      </p:sp>
      <p:sp>
        <p:nvSpPr>
          <p:cNvPr id="23" name="Rounded Rectangle 22"/>
          <p:cNvSpPr/>
          <p:nvPr/>
        </p:nvSpPr>
        <p:spPr>
          <a:xfrm>
            <a:off x="1115568" y="5833872"/>
            <a:ext cx="1861718" cy="365760"/>
          </a:xfrm>
          <a:prstGeom prst="roundRect">
            <a:avLst>
              <a:gd name="adj" fmla="val 5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5852159"/>
            <a:ext cx="1715414" cy="329184"/>
          </a:xfrm>
          <a:prstGeom prst="rect">
            <a:avLst/>
          </a:prstGeom>
          <a:noFill/>
        </p:spPr>
        <p:txBody>
          <a:bodyPr wrap="square" lIns="0" rIns="0" tIns="0" bIns="0" anchor="ctr">
            <a:spAutoFit/>
          </a:bodyPr>
          <a:lstStyle/>
          <a:p>
            <a:pPr algn="ctr">
              <a:spcBef>
                <a:spcPts val="0"/>
              </a:spcBef>
              <a:spcAft>
                <a:spcPts val="0"/>
              </a:spcAft>
            </a:pPr>
            <a:r>
              <a:rPr sz="850" b="1" i="0">
                <a:solidFill>
                  <a:srgbClr val="6D28D9"/>
                </a:solidFill>
                <a:latin typeface="Calibri"/>
              </a:rPr>
              <a:t>Query</a:t>
            </a:r>
          </a:p>
          <a:p>
            <a:pPr algn="ctr">
              <a:spcBef>
                <a:spcPts val="0"/>
              </a:spcBef>
              <a:spcAft>
                <a:spcPts val="600"/>
              </a:spcAft>
            </a:pPr>
            <a:r>
              <a:rPr sz="850" b="0" i="0">
                <a:solidFill>
                  <a:srgbClr val="14142B"/>
                </a:solidFill>
                <a:latin typeface="Calibri"/>
              </a:rPr>
              <a:t>“find two numbers that sum to a target”</a:t>
            </a:r>
          </a:p>
        </p:txBody>
      </p:sp>
      <p:sp>
        <p:nvSpPr>
          <p:cNvPr id="25" name="TextBox 24"/>
          <p:cNvSpPr txBox="1"/>
          <p:nvPr/>
        </p:nvSpPr>
        <p:spPr>
          <a:xfrm>
            <a:off x="2986430" y="5852159"/>
            <a:ext cx="146304" cy="329184"/>
          </a:xfrm>
          <a:prstGeom prst="rect">
            <a:avLst/>
          </a:prstGeom>
          <a:noFill/>
        </p:spPr>
        <p:txBody>
          <a:bodyPr wrap="square" lIns="0" rIns="0" tIns="0" bIns="0" anchor="ctr">
            <a:spAutoFit/>
          </a:bodyPr>
          <a:lstStyle/>
          <a:p>
            <a:pPr algn="ctr">
              <a:spcBef>
                <a:spcPts val="0"/>
              </a:spcBef>
              <a:spcAft>
                <a:spcPts val="600"/>
              </a:spcAft>
            </a:pPr>
            <a:r>
              <a:rPr sz="1400" b="1" i="0">
                <a:solidFill>
                  <a:srgbClr val="6B6B76"/>
                </a:solidFill>
                <a:latin typeface="Calibri"/>
              </a:rPr>
              <a:t>›</a:t>
            </a:r>
          </a:p>
        </p:txBody>
      </p:sp>
      <p:sp>
        <p:nvSpPr>
          <p:cNvPr id="26" name="Rounded Rectangle 25"/>
          <p:cNvSpPr/>
          <p:nvPr/>
        </p:nvSpPr>
        <p:spPr>
          <a:xfrm>
            <a:off x="3141878" y="5833872"/>
            <a:ext cx="1861718" cy="365760"/>
          </a:xfrm>
          <a:prstGeom prst="roundRect">
            <a:avLst>
              <a:gd name="adj" fmla="val 5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15030" y="5852159"/>
            <a:ext cx="1715414" cy="329184"/>
          </a:xfrm>
          <a:prstGeom prst="rect">
            <a:avLst/>
          </a:prstGeom>
          <a:noFill/>
        </p:spPr>
        <p:txBody>
          <a:bodyPr wrap="square" lIns="0" rIns="0" tIns="0" bIns="0" anchor="ctr">
            <a:spAutoFit/>
          </a:bodyPr>
          <a:lstStyle/>
          <a:p>
            <a:pPr algn="ctr">
              <a:spcBef>
                <a:spcPts val="0"/>
              </a:spcBef>
              <a:spcAft>
                <a:spcPts val="0"/>
              </a:spcAft>
            </a:pPr>
            <a:r>
              <a:rPr sz="850" b="1" i="0">
                <a:solidFill>
                  <a:srgbClr val="6D28D9"/>
                </a:solidFill>
                <a:latin typeface="Calibri"/>
              </a:rPr>
              <a:t>Preprocess</a:t>
            </a:r>
          </a:p>
          <a:p>
            <a:pPr algn="ctr">
              <a:spcBef>
                <a:spcPts val="0"/>
              </a:spcBef>
              <a:spcAft>
                <a:spcPts val="600"/>
              </a:spcAft>
            </a:pPr>
            <a:r>
              <a:rPr sz="850" b="0" i="0">
                <a:solidFill>
                  <a:srgbClr val="14142B"/>
                </a:solidFill>
                <a:latin typeface="Calibri"/>
              </a:rPr>
              <a:t>“query: ” + normalized text</a:t>
            </a:r>
          </a:p>
        </p:txBody>
      </p:sp>
      <p:sp>
        <p:nvSpPr>
          <p:cNvPr id="28" name="TextBox 27"/>
          <p:cNvSpPr txBox="1"/>
          <p:nvPr/>
        </p:nvSpPr>
        <p:spPr>
          <a:xfrm>
            <a:off x="5012740" y="5852159"/>
            <a:ext cx="146304" cy="329184"/>
          </a:xfrm>
          <a:prstGeom prst="rect">
            <a:avLst/>
          </a:prstGeom>
          <a:noFill/>
        </p:spPr>
        <p:txBody>
          <a:bodyPr wrap="square" lIns="0" rIns="0" tIns="0" bIns="0" anchor="ctr">
            <a:spAutoFit/>
          </a:bodyPr>
          <a:lstStyle/>
          <a:p>
            <a:pPr algn="ctr">
              <a:spcBef>
                <a:spcPts val="0"/>
              </a:spcBef>
              <a:spcAft>
                <a:spcPts val="600"/>
              </a:spcAft>
            </a:pPr>
            <a:r>
              <a:rPr sz="1400" b="1" i="0">
                <a:solidFill>
                  <a:srgbClr val="6B6B76"/>
                </a:solidFill>
                <a:latin typeface="Calibri"/>
              </a:rPr>
              <a:t>›</a:t>
            </a:r>
          </a:p>
        </p:txBody>
      </p:sp>
      <p:sp>
        <p:nvSpPr>
          <p:cNvPr id="29" name="Rounded Rectangle 28"/>
          <p:cNvSpPr/>
          <p:nvPr/>
        </p:nvSpPr>
        <p:spPr>
          <a:xfrm>
            <a:off x="5168188" y="5833872"/>
            <a:ext cx="1861718" cy="365760"/>
          </a:xfrm>
          <a:prstGeom prst="roundRect">
            <a:avLst>
              <a:gd name="adj" fmla="val 5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41340" y="5852159"/>
            <a:ext cx="1715414" cy="329184"/>
          </a:xfrm>
          <a:prstGeom prst="rect">
            <a:avLst/>
          </a:prstGeom>
          <a:noFill/>
        </p:spPr>
        <p:txBody>
          <a:bodyPr wrap="square" lIns="0" rIns="0" tIns="0" bIns="0" anchor="ctr">
            <a:spAutoFit/>
          </a:bodyPr>
          <a:lstStyle/>
          <a:p>
            <a:pPr algn="ctr">
              <a:spcBef>
                <a:spcPts val="0"/>
              </a:spcBef>
              <a:spcAft>
                <a:spcPts val="0"/>
              </a:spcAft>
            </a:pPr>
            <a:r>
              <a:rPr sz="850" b="1" i="0">
                <a:solidFill>
                  <a:srgbClr val="6D28D9"/>
                </a:solidFill>
                <a:latin typeface="Calibri"/>
              </a:rPr>
              <a:t>Encode</a:t>
            </a:r>
          </a:p>
          <a:p>
            <a:pPr algn="ctr">
              <a:spcBef>
                <a:spcPts val="0"/>
              </a:spcBef>
              <a:spcAft>
                <a:spcPts val="600"/>
              </a:spcAft>
            </a:pPr>
            <a:r>
              <a:rPr sz="850" b="0" i="0">
                <a:solidFill>
                  <a:srgbClr val="14142B"/>
                </a:solidFill>
                <a:latin typeface="Calibri"/>
              </a:rPr>
              <a:t>768-d vector (e5)</a:t>
            </a:r>
          </a:p>
        </p:txBody>
      </p:sp>
      <p:sp>
        <p:nvSpPr>
          <p:cNvPr id="31" name="TextBox 30"/>
          <p:cNvSpPr txBox="1"/>
          <p:nvPr/>
        </p:nvSpPr>
        <p:spPr>
          <a:xfrm>
            <a:off x="7039051" y="5852159"/>
            <a:ext cx="146304" cy="329184"/>
          </a:xfrm>
          <a:prstGeom prst="rect">
            <a:avLst/>
          </a:prstGeom>
          <a:noFill/>
        </p:spPr>
        <p:txBody>
          <a:bodyPr wrap="square" lIns="0" rIns="0" tIns="0" bIns="0" anchor="ctr">
            <a:spAutoFit/>
          </a:bodyPr>
          <a:lstStyle/>
          <a:p>
            <a:pPr algn="ctr">
              <a:spcBef>
                <a:spcPts val="0"/>
              </a:spcBef>
              <a:spcAft>
                <a:spcPts val="600"/>
              </a:spcAft>
            </a:pPr>
            <a:r>
              <a:rPr sz="1400" b="1" i="0">
                <a:solidFill>
                  <a:srgbClr val="6B6B76"/>
                </a:solidFill>
                <a:latin typeface="Calibri"/>
              </a:rPr>
              <a:t>›</a:t>
            </a:r>
          </a:p>
        </p:txBody>
      </p:sp>
      <p:sp>
        <p:nvSpPr>
          <p:cNvPr id="32" name="Rounded Rectangle 31"/>
          <p:cNvSpPr/>
          <p:nvPr/>
        </p:nvSpPr>
        <p:spPr>
          <a:xfrm>
            <a:off x="7194499" y="5833872"/>
            <a:ext cx="1861718" cy="365760"/>
          </a:xfrm>
          <a:prstGeom prst="roundRect">
            <a:avLst>
              <a:gd name="adj" fmla="val 5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7651" y="5852159"/>
            <a:ext cx="1715414" cy="329184"/>
          </a:xfrm>
          <a:prstGeom prst="rect">
            <a:avLst/>
          </a:prstGeom>
          <a:noFill/>
        </p:spPr>
        <p:txBody>
          <a:bodyPr wrap="square" lIns="0" rIns="0" tIns="0" bIns="0" anchor="ctr">
            <a:spAutoFit/>
          </a:bodyPr>
          <a:lstStyle/>
          <a:p>
            <a:pPr algn="ctr">
              <a:spcBef>
                <a:spcPts val="0"/>
              </a:spcBef>
              <a:spcAft>
                <a:spcPts val="0"/>
              </a:spcAft>
            </a:pPr>
            <a:r>
              <a:rPr sz="850" b="1" i="0">
                <a:solidFill>
                  <a:srgbClr val="6D28D9"/>
                </a:solidFill>
                <a:latin typeface="Calibri"/>
              </a:rPr>
              <a:t>Score</a:t>
            </a:r>
          </a:p>
          <a:p>
            <a:pPr algn="ctr">
              <a:spcBef>
                <a:spcPts val="0"/>
              </a:spcBef>
              <a:spcAft>
                <a:spcPts val="600"/>
              </a:spcAft>
            </a:pPr>
            <a:r>
              <a:rPr sz="850" b="0" i="0">
                <a:solidFill>
                  <a:srgbClr val="14142B"/>
                </a:solidFill>
                <a:latin typeface="Calibri"/>
              </a:rPr>
              <a:t>cosine vs every snippet</a:t>
            </a:r>
          </a:p>
        </p:txBody>
      </p:sp>
      <p:sp>
        <p:nvSpPr>
          <p:cNvPr id="34" name="TextBox 33"/>
          <p:cNvSpPr txBox="1"/>
          <p:nvPr/>
        </p:nvSpPr>
        <p:spPr>
          <a:xfrm>
            <a:off x="9065361" y="5852159"/>
            <a:ext cx="146304" cy="329184"/>
          </a:xfrm>
          <a:prstGeom prst="rect">
            <a:avLst/>
          </a:prstGeom>
          <a:noFill/>
        </p:spPr>
        <p:txBody>
          <a:bodyPr wrap="square" lIns="0" rIns="0" tIns="0" bIns="0" anchor="ctr">
            <a:spAutoFit/>
          </a:bodyPr>
          <a:lstStyle/>
          <a:p>
            <a:pPr algn="ctr">
              <a:spcBef>
                <a:spcPts val="0"/>
              </a:spcBef>
              <a:spcAft>
                <a:spcPts val="600"/>
              </a:spcAft>
            </a:pPr>
            <a:r>
              <a:rPr sz="1400" b="1" i="0">
                <a:solidFill>
                  <a:srgbClr val="6B6B76"/>
                </a:solidFill>
                <a:latin typeface="Calibri"/>
              </a:rPr>
              <a:t>›</a:t>
            </a:r>
          </a:p>
        </p:txBody>
      </p:sp>
      <p:sp>
        <p:nvSpPr>
          <p:cNvPr id="35" name="Rounded Rectangle 34"/>
          <p:cNvSpPr/>
          <p:nvPr/>
        </p:nvSpPr>
        <p:spPr>
          <a:xfrm>
            <a:off x="9220809" y="5833872"/>
            <a:ext cx="1861718" cy="365760"/>
          </a:xfrm>
          <a:prstGeom prst="roundRect">
            <a:avLst>
              <a:gd name="adj" fmla="val 50000"/>
            </a:avLst>
          </a:prstGeom>
          <a:solidFill>
            <a:srgbClr val="D9A441"/>
          </a:solidFill>
          <a:ln w="12700">
            <a:solidFill>
              <a:srgbClr val="D9A4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3961" y="5852159"/>
            <a:ext cx="1715414" cy="329184"/>
          </a:xfrm>
          <a:prstGeom prst="rect">
            <a:avLst/>
          </a:prstGeom>
          <a:noFill/>
        </p:spPr>
        <p:txBody>
          <a:bodyPr wrap="square" lIns="0" rIns="0" tIns="0" bIns="0" anchor="ctr">
            <a:spAutoFit/>
          </a:bodyPr>
          <a:lstStyle/>
          <a:p>
            <a:pPr algn="ctr">
              <a:spcBef>
                <a:spcPts val="0"/>
              </a:spcBef>
              <a:spcAft>
                <a:spcPts val="0"/>
              </a:spcAft>
            </a:pPr>
            <a:r>
              <a:rPr sz="850" b="1" i="0">
                <a:solidFill>
                  <a:srgbClr val="6D28D9"/>
                </a:solidFill>
                <a:latin typeface="Calibri"/>
              </a:rPr>
              <a:t>Top hit</a:t>
            </a:r>
          </a:p>
          <a:p>
            <a:pPr algn="ctr">
              <a:spcBef>
                <a:spcPts val="0"/>
              </a:spcBef>
              <a:spcAft>
                <a:spcPts val="600"/>
              </a:spcAft>
            </a:pPr>
            <a:r>
              <a:rPr sz="850" b="0" i="0">
                <a:solidFill>
                  <a:srgbClr val="14142B"/>
                </a:solidFill>
                <a:latin typeface="Calibri"/>
              </a:rPr>
              <a:t>[two_sum]</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Rounded Rectangle 2"/>
          <p:cNvSpPr/>
          <p:nvPr/>
        </p:nvSpPr>
        <p:spPr>
          <a:xfrm>
            <a:off x="841248" y="1874519"/>
            <a:ext cx="6720840" cy="2880360"/>
          </a:xfrm>
          <a:prstGeom prst="roundRect">
            <a:avLst>
              <a:gd name="adj" fmla="val 3500"/>
            </a:avLst>
          </a:prstGeom>
          <a:solidFill>
            <a:srgbClr val="1C1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2103120"/>
            <a:ext cx="128016" cy="128016"/>
          </a:xfrm>
          <a:prstGeom prst="ellipse">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53312" y="2103120"/>
            <a:ext cx="128016" cy="128016"/>
          </a:xfrm>
          <a:prstGeom prst="ellipse">
            <a:avLst/>
          </a:prstGeom>
          <a:solidFill>
            <a:srgbClr val="E8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9344" y="2103120"/>
            <a:ext cx="128016" cy="128016"/>
          </a:xfrm>
          <a:prstGeom prst="ellipse">
            <a:avLst/>
          </a:prstGeom>
          <a:solidFill>
            <a:srgbClr val="7B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2468879"/>
            <a:ext cx="6080759" cy="2103120"/>
          </a:xfrm>
          <a:prstGeom prst="rect">
            <a:avLst/>
          </a:prstGeom>
          <a:noFill/>
        </p:spPr>
        <p:txBody>
          <a:bodyPr wrap="square" lIns="0" rIns="0" tIns="0" bIns="0">
            <a:spAutoFit/>
          </a:bodyPr>
          <a:lstStyle/>
          <a:p>
            <a:pPr algn="l">
              <a:spcBef>
                <a:spcPts val="0"/>
              </a:spcBef>
              <a:spcAft>
                <a:spcPts val="500"/>
              </a:spcAft>
            </a:pPr>
            <a:r>
              <a:rPr sz="1200" b="0" i="0">
                <a:solidFill>
                  <a:srgbClr val="9C94B8"/>
                </a:solidFill>
                <a:latin typeface="Courier New"/>
              </a:rPr>
              <a:t>$ python -m prism.cli demo --backend hashing</a:t>
            </a:r>
          </a:p>
          <a:p>
            <a:pPr algn="l">
              <a:spcBef>
                <a:spcPts val="0"/>
              </a:spcBef>
              <a:spcAft>
                <a:spcPts val="500"/>
              </a:spcAft>
            </a:pPr>
            <a:r>
              <a:rPr sz="1200" b="0" i="0">
                <a:solidFill>
                  <a:srgbClr val="9C94B8"/>
                </a:solidFill>
                <a:latin typeface="Courier New"/>
              </a:rPr>
              <a:t>[prism-demo] embedding backend: offline HashingBackend</a:t>
            </a:r>
          </a:p>
          <a:p>
            <a:pPr algn="l">
              <a:spcBef>
                <a:spcPts val="0"/>
              </a:spcBef>
              <a:spcAft>
                <a:spcPts val="500"/>
              </a:spcAft>
            </a:pPr>
            <a:r>
              <a:rPr sz="1200" b="0" i="0">
                <a:solidFill>
                  <a:srgbClr val="9C94B8"/>
                </a:solidFill>
                <a:latin typeface="Courier New"/>
              </a:rPr>
              <a:t> </a:t>
            </a:r>
          </a:p>
          <a:p>
            <a:pPr algn="l">
              <a:spcBef>
                <a:spcPts val="0"/>
              </a:spcBef>
              <a:spcAft>
                <a:spcPts val="500"/>
              </a:spcAft>
            </a:pPr>
            <a:r>
              <a:rPr sz="1200" b="0" i="0">
                <a:solidFill>
                  <a:srgbClr val="EFECF9"/>
                </a:solidFill>
                <a:latin typeface="Courier New"/>
              </a:rPr>
              <a:t>Q: find two numbers that sum to a target</a:t>
            </a:r>
          </a:p>
          <a:p>
            <a:pPr algn="l">
              <a:spcBef>
                <a:spcPts val="0"/>
              </a:spcBef>
              <a:spcAft>
                <a:spcPts val="500"/>
              </a:spcAft>
            </a:pPr>
            <a:r>
              <a:rPr sz="1200" b="0" i="0">
                <a:solidFill>
                  <a:srgbClr val="E8C17A"/>
                </a:solidFill>
                <a:latin typeface="Courier New"/>
              </a:rPr>
              <a:t>  1. [two_sum]         score=0.3810</a:t>
            </a:r>
          </a:p>
          <a:p>
            <a:pPr algn="l">
              <a:spcBef>
                <a:spcPts val="0"/>
              </a:spcBef>
              <a:spcAft>
                <a:spcPts val="500"/>
              </a:spcAft>
            </a:pPr>
            <a:r>
              <a:rPr sz="1200" b="0" i="0">
                <a:solidFill>
                  <a:srgbClr val="9C94B8"/>
                </a:solidFill>
                <a:latin typeface="Courier New"/>
              </a:rPr>
              <a:t>  2. [binary_search]   score=0.1483</a:t>
            </a:r>
          </a:p>
          <a:p>
            <a:pPr algn="l">
              <a:spcBef>
                <a:spcPts val="0"/>
              </a:spcBef>
              <a:spcAft>
                <a:spcPts val="500"/>
              </a:spcAft>
            </a:pPr>
            <a:r>
              <a:rPr sz="1200" b="0" i="0">
                <a:solidFill>
                  <a:srgbClr val="9C94B8"/>
                </a:solidFill>
                <a:latin typeface="Courier New"/>
              </a:rPr>
              <a:t> </a:t>
            </a:r>
          </a:p>
          <a:p>
            <a:pPr algn="l">
              <a:spcBef>
                <a:spcPts val="0"/>
              </a:spcBef>
              <a:spcAft>
                <a:spcPts val="500"/>
              </a:spcAft>
            </a:pPr>
            <a:r>
              <a:rPr sz="1200" b="1" i="0">
                <a:solidFill>
                  <a:srgbClr val="8FD9A8"/>
                </a:solidFill>
                <a:latin typeface="Courier New"/>
              </a:rPr>
              <a:t>mean query latency: 0.03 ms  (36,000+ q/s)</a:t>
            </a:r>
          </a:p>
        </p:txBody>
      </p:sp>
      <p:sp>
        <p:nvSpPr>
          <p:cNvPr id="8" name="Rounded Rectangle 7"/>
          <p:cNvSpPr/>
          <p:nvPr/>
        </p:nvSpPr>
        <p:spPr>
          <a:xfrm>
            <a:off x="7836408" y="1874519"/>
            <a:ext cx="3520439" cy="1303020"/>
          </a:xfrm>
          <a:prstGeom prst="roundRect">
            <a:avLst>
              <a:gd name="adj" fmla="val 8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73568" y="2039112"/>
            <a:ext cx="3246120" cy="973836"/>
          </a:xfrm>
          <a:prstGeom prst="rect">
            <a:avLst/>
          </a:prstGeom>
          <a:noFill/>
        </p:spPr>
        <p:txBody>
          <a:bodyPr wrap="square" lIns="0" rIns="0" tIns="0" bIns="0" anchor="ctr">
            <a:spAutoFit/>
          </a:bodyPr>
          <a:lstStyle/>
          <a:p>
            <a:pPr algn="ctr">
              <a:spcBef>
                <a:spcPts val="0"/>
              </a:spcBef>
              <a:spcAft>
                <a:spcPts val="200"/>
              </a:spcAft>
            </a:pPr>
            <a:r>
              <a:rPr sz="2800" b="1" i="0">
                <a:solidFill>
                  <a:srgbClr val="6D28D9"/>
                </a:solidFill>
                <a:latin typeface="Calibri"/>
              </a:rPr>
              <a:t>0.03 ms</a:t>
            </a:r>
          </a:p>
          <a:p>
            <a:pPr algn="ctr">
              <a:spcBef>
                <a:spcPts val="0"/>
              </a:spcBef>
              <a:spcAft>
                <a:spcPts val="600"/>
              </a:spcAft>
            </a:pPr>
            <a:r>
              <a:rPr sz="1100" b="0" i="0">
                <a:solidFill>
                  <a:srgbClr val="6B6B76"/>
                </a:solidFill>
                <a:latin typeface="Calibri"/>
              </a:rPr>
              <a:t>mean query latency (offline demo)</a:t>
            </a:r>
          </a:p>
        </p:txBody>
      </p:sp>
      <p:sp>
        <p:nvSpPr>
          <p:cNvPr id="10" name="Rounded Rectangle 9"/>
          <p:cNvSpPr/>
          <p:nvPr/>
        </p:nvSpPr>
        <p:spPr>
          <a:xfrm>
            <a:off x="7836408" y="3451860"/>
            <a:ext cx="3520439" cy="1303020"/>
          </a:xfrm>
          <a:prstGeom prst="roundRect">
            <a:avLst>
              <a:gd name="adj" fmla="val 8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3616452"/>
            <a:ext cx="3246120" cy="973836"/>
          </a:xfrm>
          <a:prstGeom prst="rect">
            <a:avLst/>
          </a:prstGeom>
          <a:noFill/>
        </p:spPr>
        <p:txBody>
          <a:bodyPr wrap="square" lIns="0" rIns="0" tIns="0" bIns="0" anchor="ctr">
            <a:spAutoFit/>
          </a:bodyPr>
          <a:lstStyle/>
          <a:p>
            <a:pPr algn="ctr">
              <a:spcBef>
                <a:spcPts val="0"/>
              </a:spcBef>
              <a:spcAft>
                <a:spcPts val="200"/>
              </a:spcAft>
            </a:pPr>
            <a:r>
              <a:rPr sz="2800" b="1" i="0">
                <a:solidFill>
                  <a:srgbClr val="6D28D9"/>
                </a:solidFill>
                <a:latin typeface="Calibri"/>
              </a:rPr>
              <a:t>36,000+</a:t>
            </a:r>
          </a:p>
          <a:p>
            <a:pPr algn="ctr">
              <a:spcBef>
                <a:spcPts val="0"/>
              </a:spcBef>
              <a:spcAft>
                <a:spcPts val="600"/>
              </a:spcAft>
            </a:pPr>
            <a:r>
              <a:rPr sz="1100" b="0" i="0">
                <a:solidFill>
                  <a:srgbClr val="6B6B76"/>
                </a:solidFill>
                <a:latin typeface="Calibri"/>
              </a:rPr>
              <a:t>queries / second (offline demo)</a:t>
            </a:r>
          </a:p>
        </p:txBody>
      </p:sp>
      <p:sp>
        <p:nvSpPr>
          <p:cNvPr id="12" name="TextBox 11"/>
          <p:cNvSpPr txBox="1"/>
          <p:nvPr/>
        </p:nvSpPr>
        <p:spPr>
          <a:xfrm>
            <a:off x="841248" y="4727447"/>
            <a:ext cx="10515600" cy="256032"/>
          </a:xfrm>
          <a:prstGeom prst="rect">
            <a:avLst/>
          </a:prstGeom>
          <a:noFill/>
        </p:spPr>
        <p:txBody>
          <a:bodyPr wrap="square" lIns="0" rIns="0" tIns="0" bIns="0">
            <a:spAutoFit/>
          </a:bodyPr>
          <a:lstStyle/>
          <a:p>
            <a:pPr algn="l">
              <a:spcBef>
                <a:spcPts val="0"/>
              </a:spcBef>
              <a:spcAft>
                <a:spcPts val="600"/>
              </a:spcAft>
            </a:pPr>
            <a:r>
              <a:rPr sz="1050" b="1" i="0">
                <a:solidFill>
                  <a:srgbClr val="6D28D9"/>
                </a:solidFill>
                <a:latin typeface="Calibri"/>
              </a:rPr>
              <a:t>3 more behavioural queries, top-1 hits on the same corpus</a:t>
            </a:r>
          </a:p>
        </p:txBody>
      </p:sp>
      <p:sp>
        <p:nvSpPr>
          <p:cNvPr id="13" name="Rounded Rectangle 12"/>
          <p:cNvSpPr/>
          <p:nvPr/>
        </p:nvSpPr>
        <p:spPr>
          <a:xfrm>
            <a:off x="841248" y="4983479"/>
            <a:ext cx="3352800" cy="105156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5074919"/>
            <a:ext cx="3060192" cy="365760"/>
          </a:xfrm>
          <a:prstGeom prst="rect">
            <a:avLst/>
          </a:prstGeom>
          <a:noFill/>
        </p:spPr>
        <p:txBody>
          <a:bodyPr wrap="square" lIns="0" rIns="0" tIns="0" bIns="0">
            <a:spAutoFit/>
          </a:bodyPr>
          <a:lstStyle/>
          <a:p>
            <a:pPr algn="l">
              <a:lnSpc>
                <a:spcPct val="110000"/>
              </a:lnSpc>
              <a:spcBef>
                <a:spcPts val="0"/>
              </a:spcBef>
              <a:spcAft>
                <a:spcPts val="600"/>
              </a:spcAft>
            </a:pPr>
            <a:r>
              <a:rPr sz="1050" b="0" i="1">
                <a:solidFill>
                  <a:srgbClr val="6B6B76"/>
                </a:solidFill>
                <a:latin typeface="Calibri"/>
              </a:rPr>
              <a:t>Q  “check if a string is a palindrome”</a:t>
            </a:r>
          </a:p>
        </p:txBody>
      </p:sp>
      <p:sp>
        <p:nvSpPr>
          <p:cNvPr id="15" name="TextBox 14"/>
          <p:cNvSpPr txBox="1"/>
          <p:nvPr/>
        </p:nvSpPr>
        <p:spPr>
          <a:xfrm>
            <a:off x="987552" y="5513831"/>
            <a:ext cx="3060192" cy="457200"/>
          </a:xfrm>
          <a:prstGeom prst="rect">
            <a:avLst/>
          </a:prstGeom>
          <a:noFill/>
        </p:spPr>
        <p:txBody>
          <a:bodyPr wrap="square" lIns="0" rIns="0" tIns="0" bIns="0">
            <a:spAutoFit/>
          </a:bodyPr>
          <a:lstStyle/>
          <a:p>
            <a:pPr algn="l">
              <a:spcBef>
                <a:spcPts val="0"/>
              </a:spcBef>
              <a:spcAft>
                <a:spcPts val="0"/>
              </a:spcAft>
            </a:pPr>
            <a:r>
              <a:rPr sz="1500" b="1" i="0">
                <a:solidFill>
                  <a:srgbClr val="6D28D9"/>
                </a:solidFill>
                <a:latin typeface="Calibri"/>
              </a:rPr>
              <a:t>▶  is_palindrome</a:t>
            </a:r>
          </a:p>
          <a:p>
            <a:pPr algn="l">
              <a:spcBef>
                <a:spcPts val="0"/>
              </a:spcBef>
              <a:spcAft>
                <a:spcPts val="0"/>
              </a:spcAft>
            </a:pPr>
            <a:r>
              <a:rPr sz="1000" b="0" i="0">
                <a:solidFill>
                  <a:srgbClr val="6B6B76"/>
                </a:solidFill>
                <a:latin typeface="Calibri"/>
              </a:rPr>
              <a:t>score  0.44</a:t>
            </a:r>
          </a:p>
        </p:txBody>
      </p:sp>
      <p:sp>
        <p:nvSpPr>
          <p:cNvPr id="16" name="Rounded Rectangle 15"/>
          <p:cNvSpPr/>
          <p:nvPr/>
        </p:nvSpPr>
        <p:spPr>
          <a:xfrm>
            <a:off x="4422648" y="4983479"/>
            <a:ext cx="3352800" cy="105156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5074919"/>
            <a:ext cx="3060192" cy="365760"/>
          </a:xfrm>
          <a:prstGeom prst="rect">
            <a:avLst/>
          </a:prstGeom>
          <a:noFill/>
        </p:spPr>
        <p:txBody>
          <a:bodyPr wrap="square" lIns="0" rIns="0" tIns="0" bIns="0">
            <a:spAutoFit/>
          </a:bodyPr>
          <a:lstStyle/>
          <a:p>
            <a:pPr algn="l">
              <a:lnSpc>
                <a:spcPct val="110000"/>
              </a:lnSpc>
              <a:spcBef>
                <a:spcPts val="0"/>
              </a:spcBef>
              <a:spcAft>
                <a:spcPts val="600"/>
              </a:spcAft>
            </a:pPr>
            <a:r>
              <a:rPr sz="1050" b="0" i="1">
                <a:solidFill>
                  <a:srgbClr val="6B6B76"/>
                </a:solidFill>
                <a:latin typeface="Calibri"/>
              </a:rPr>
              <a:t>Q  “shortest path in an unweighted graph”</a:t>
            </a:r>
          </a:p>
        </p:txBody>
      </p:sp>
      <p:sp>
        <p:nvSpPr>
          <p:cNvPr id="18" name="TextBox 17"/>
          <p:cNvSpPr txBox="1"/>
          <p:nvPr/>
        </p:nvSpPr>
        <p:spPr>
          <a:xfrm>
            <a:off x="4568952" y="5513831"/>
            <a:ext cx="3060192" cy="457200"/>
          </a:xfrm>
          <a:prstGeom prst="rect">
            <a:avLst/>
          </a:prstGeom>
          <a:noFill/>
        </p:spPr>
        <p:txBody>
          <a:bodyPr wrap="square" lIns="0" rIns="0" tIns="0" bIns="0">
            <a:spAutoFit/>
          </a:bodyPr>
          <a:lstStyle/>
          <a:p>
            <a:pPr algn="l">
              <a:spcBef>
                <a:spcPts val="0"/>
              </a:spcBef>
              <a:spcAft>
                <a:spcPts val="0"/>
              </a:spcAft>
            </a:pPr>
            <a:r>
              <a:rPr sz="1500" b="1" i="0">
                <a:solidFill>
                  <a:srgbClr val="6D28D9"/>
                </a:solidFill>
                <a:latin typeface="Calibri"/>
              </a:rPr>
              <a:t>▶  bfs</a:t>
            </a:r>
          </a:p>
          <a:p>
            <a:pPr algn="l">
              <a:spcBef>
                <a:spcPts val="0"/>
              </a:spcBef>
              <a:spcAft>
                <a:spcPts val="0"/>
              </a:spcAft>
            </a:pPr>
            <a:r>
              <a:rPr sz="1000" b="0" i="0">
                <a:solidFill>
                  <a:srgbClr val="6B6B76"/>
                </a:solidFill>
                <a:latin typeface="Calibri"/>
              </a:rPr>
              <a:t>score  0.15</a:t>
            </a:r>
          </a:p>
        </p:txBody>
      </p:sp>
      <p:sp>
        <p:nvSpPr>
          <p:cNvPr id="19" name="Rounded Rectangle 18"/>
          <p:cNvSpPr/>
          <p:nvPr/>
        </p:nvSpPr>
        <p:spPr>
          <a:xfrm>
            <a:off x="8004048" y="4983479"/>
            <a:ext cx="3352800" cy="105156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0352" y="5074919"/>
            <a:ext cx="3060192" cy="365760"/>
          </a:xfrm>
          <a:prstGeom prst="rect">
            <a:avLst/>
          </a:prstGeom>
          <a:noFill/>
        </p:spPr>
        <p:txBody>
          <a:bodyPr wrap="square" lIns="0" rIns="0" tIns="0" bIns="0">
            <a:spAutoFit/>
          </a:bodyPr>
          <a:lstStyle/>
          <a:p>
            <a:pPr algn="l">
              <a:lnSpc>
                <a:spcPct val="110000"/>
              </a:lnSpc>
              <a:spcBef>
                <a:spcPts val="0"/>
              </a:spcBef>
              <a:spcAft>
                <a:spcPts val="600"/>
              </a:spcAft>
            </a:pPr>
            <a:r>
              <a:rPr sz="1050" b="0" i="1">
                <a:solidFill>
                  <a:srgbClr val="6B6B76"/>
                </a:solidFill>
                <a:latin typeface="Calibri"/>
              </a:rPr>
              <a:t>Q  “count word frequencies in a text”</a:t>
            </a:r>
          </a:p>
        </p:txBody>
      </p:sp>
      <p:sp>
        <p:nvSpPr>
          <p:cNvPr id="21" name="TextBox 20"/>
          <p:cNvSpPr txBox="1"/>
          <p:nvPr/>
        </p:nvSpPr>
        <p:spPr>
          <a:xfrm>
            <a:off x="8150352" y="5513831"/>
            <a:ext cx="3060192" cy="457200"/>
          </a:xfrm>
          <a:prstGeom prst="rect">
            <a:avLst/>
          </a:prstGeom>
          <a:noFill/>
        </p:spPr>
        <p:txBody>
          <a:bodyPr wrap="square" lIns="0" rIns="0" tIns="0" bIns="0">
            <a:spAutoFit/>
          </a:bodyPr>
          <a:lstStyle/>
          <a:p>
            <a:pPr algn="l">
              <a:spcBef>
                <a:spcPts val="0"/>
              </a:spcBef>
              <a:spcAft>
                <a:spcPts val="0"/>
              </a:spcAft>
            </a:pPr>
            <a:r>
              <a:rPr sz="1500" b="1" i="0">
                <a:solidFill>
                  <a:srgbClr val="6D28D9"/>
                </a:solidFill>
                <a:latin typeface="Calibri"/>
              </a:rPr>
              <a:t>▶  word_count</a:t>
            </a:r>
          </a:p>
          <a:p>
            <a:pPr algn="l">
              <a:spcBef>
                <a:spcPts val="0"/>
              </a:spcBef>
              <a:spcAft>
                <a:spcPts val="0"/>
              </a:spcAft>
            </a:pPr>
            <a:r>
              <a:rPr sz="1000" b="0" i="0">
                <a:solidFill>
                  <a:srgbClr val="6B6B76"/>
                </a:solidFill>
                <a:latin typeface="Calibri"/>
              </a:rPr>
              <a:t>score  0.48</a:t>
            </a:r>
          </a:p>
        </p:txBody>
      </p:sp>
      <p:sp>
        <p:nvSpPr>
          <p:cNvPr id="22" name="TextBox 21"/>
          <p:cNvSpPr txBox="1"/>
          <p:nvPr/>
        </p:nvSpPr>
        <p:spPr>
          <a:xfrm>
            <a:off x="841248" y="6126479"/>
            <a:ext cx="10515600" cy="274320"/>
          </a:xfrm>
          <a:prstGeom prst="rect">
            <a:avLst/>
          </a:prstGeom>
          <a:noFill/>
        </p:spPr>
        <p:txBody>
          <a:bodyPr wrap="square" lIns="0" rIns="0" tIns="0" bIns="0">
            <a:spAutoFit/>
          </a:bodyPr>
          <a:lstStyle/>
          <a:p>
            <a:pPr algn="l">
              <a:spcBef>
                <a:spcPts val="0"/>
              </a:spcBef>
              <a:spcAft>
                <a:spcPts val="600"/>
              </a:spcAft>
            </a:pPr>
            <a:r>
              <a:rPr sz="1050" b="0" i="1">
                <a:solidFill>
                  <a:srgbClr val="6B6B76"/>
                </a:solidFill>
                <a:latin typeface="Calibri"/>
              </a:rPr>
              <a:t>Offline demo (hashing backend, no downloads): same pipeline and ranking code as the leaderboard run — the submitted model swaps in by config.</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841248" y="1874519"/>
            <a:ext cx="10515600" cy="88392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 y="208788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1</a:t>
            </a:r>
          </a:p>
        </p:txBody>
      </p:sp>
      <p:sp>
        <p:nvSpPr>
          <p:cNvPr id="5" name="TextBox 4"/>
          <p:cNvSpPr txBox="1"/>
          <p:nvPr/>
        </p:nvSpPr>
        <p:spPr>
          <a:xfrm>
            <a:off x="1709928" y="2002536"/>
            <a:ext cx="2286000" cy="627888"/>
          </a:xfrm>
          <a:prstGeom prst="rect">
            <a:avLst/>
          </a:prstGeom>
          <a:noFill/>
        </p:spPr>
        <p:txBody>
          <a:bodyPr wrap="square" lIns="0" rIns="0" tIns="0" bIns="0" anchor="ctr">
            <a:spAutoFit/>
          </a:bodyPr>
          <a:lstStyle/>
          <a:p>
            <a:pPr algn="l">
              <a:spcBef>
                <a:spcPts val="0"/>
              </a:spcBef>
              <a:spcAft>
                <a:spcPts val="100"/>
              </a:spcAft>
            </a:pPr>
            <a:r>
              <a:rPr sz="1350" b="1" i="0">
                <a:solidFill>
                  <a:srgbClr val="14142B"/>
                </a:solidFill>
                <a:latin typeface="Calibri"/>
              </a:rPr>
              <a:t>Core ML &amp; evaluation</a:t>
            </a:r>
          </a:p>
          <a:p>
            <a:pPr algn="l">
              <a:lnSpc>
                <a:spcPct val="112000"/>
              </a:lnSpc>
              <a:spcBef>
                <a:spcPts val="0"/>
              </a:spcBef>
              <a:spcAft>
                <a:spcPts val="600"/>
              </a:spcAft>
            </a:pPr>
            <a:r>
              <a:rPr sz="950" b="0" i="1">
                <a:solidFill>
                  <a:srgbClr val="6B6B76"/>
                </a:solidFill>
                <a:latin typeface="Calibri"/>
              </a:rPr>
              <a:t>MTEB is the same library the leaderboard runs; picking it removes any doubt about metric parity.</a:t>
            </a:r>
          </a:p>
        </p:txBody>
      </p:sp>
      <p:sp>
        <p:nvSpPr>
          <p:cNvPr id="6" name="TextBox 5"/>
          <p:cNvSpPr txBox="1"/>
          <p:nvPr/>
        </p:nvSpPr>
        <p:spPr>
          <a:xfrm>
            <a:off x="4087368" y="2002536"/>
            <a:ext cx="7132320" cy="627888"/>
          </a:xfrm>
          <a:prstGeom prst="rect">
            <a:avLst/>
          </a:prstGeom>
          <a:noFill/>
        </p:spPr>
        <p:txBody>
          <a:bodyPr wrap="square" lIns="0" rIns="0" tIns="0" bIns="0" anchor="ctr">
            <a:spAutoFit/>
          </a:bodyPr>
          <a:lstStyle/>
          <a:p>
            <a:pPr algn="l">
              <a:lnSpc>
                <a:spcPct val="115000"/>
              </a:lnSpc>
              <a:spcBef>
                <a:spcPts val="0"/>
              </a:spcBef>
              <a:spcAft>
                <a:spcPts val="600"/>
              </a:spcAft>
            </a:pPr>
            <a:r>
              <a:rPr sz="1200" b="0" i="0">
                <a:solidFill>
                  <a:srgbClr val="33333D"/>
                </a:solidFill>
                <a:latin typeface="Calibri"/>
              </a:rPr>
              <a:t>Python 3.11   ·   PyTorch (CPU)   ·   sentence-transformers   ·   MTEB (official scorer)</a:t>
            </a:r>
          </a:p>
        </p:txBody>
      </p:sp>
      <p:sp>
        <p:nvSpPr>
          <p:cNvPr id="7" name="Rounded Rectangle 6"/>
          <p:cNvSpPr/>
          <p:nvPr/>
        </p:nvSpPr>
        <p:spPr>
          <a:xfrm>
            <a:off x="841248" y="2941320"/>
            <a:ext cx="10515600" cy="883920"/>
          </a:xfrm>
          <a:prstGeom prst="roundRect">
            <a:avLst>
              <a:gd name="adj" fmla="val 6000"/>
            </a:avLst>
          </a:prstGeom>
          <a:solidFill>
            <a:srgbClr val="EDE9FB"/>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9848" y="315468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2</a:t>
            </a:r>
          </a:p>
        </p:txBody>
      </p:sp>
      <p:sp>
        <p:nvSpPr>
          <p:cNvPr id="9" name="TextBox 8"/>
          <p:cNvSpPr txBox="1"/>
          <p:nvPr/>
        </p:nvSpPr>
        <p:spPr>
          <a:xfrm>
            <a:off x="1709928" y="3069336"/>
            <a:ext cx="2286000" cy="627888"/>
          </a:xfrm>
          <a:prstGeom prst="rect">
            <a:avLst/>
          </a:prstGeom>
          <a:noFill/>
        </p:spPr>
        <p:txBody>
          <a:bodyPr wrap="square" lIns="0" rIns="0" tIns="0" bIns="0" anchor="ctr">
            <a:spAutoFit/>
          </a:bodyPr>
          <a:lstStyle/>
          <a:p>
            <a:pPr algn="l">
              <a:spcBef>
                <a:spcPts val="0"/>
              </a:spcBef>
              <a:spcAft>
                <a:spcPts val="100"/>
              </a:spcAft>
            </a:pPr>
            <a:r>
              <a:rPr sz="1350" b="1" i="0">
                <a:solidFill>
                  <a:srgbClr val="14142B"/>
                </a:solidFill>
                <a:latin typeface="Calibri"/>
              </a:rPr>
              <a:t>Retrieval signals</a:t>
            </a:r>
          </a:p>
          <a:p>
            <a:pPr algn="l">
              <a:lnSpc>
                <a:spcPct val="112000"/>
              </a:lnSpc>
              <a:spcBef>
                <a:spcPts val="0"/>
              </a:spcBef>
              <a:spcAft>
                <a:spcPts val="600"/>
              </a:spcAft>
            </a:pPr>
            <a:r>
              <a:rPr sz="950" b="0" i="1">
                <a:solidFill>
                  <a:srgbClr val="6B6B76"/>
                </a:solidFill>
                <a:latin typeface="Calibri"/>
              </a:rPr>
              <a:t>Stdlib `ast` avoids a third-party parser dependency — the eval box does not need to install one.</a:t>
            </a:r>
          </a:p>
        </p:txBody>
      </p:sp>
      <p:sp>
        <p:nvSpPr>
          <p:cNvPr id="10" name="TextBox 9"/>
          <p:cNvSpPr txBox="1"/>
          <p:nvPr/>
        </p:nvSpPr>
        <p:spPr>
          <a:xfrm>
            <a:off x="4087368" y="3069336"/>
            <a:ext cx="7132320" cy="627888"/>
          </a:xfrm>
          <a:prstGeom prst="rect">
            <a:avLst/>
          </a:prstGeom>
          <a:noFill/>
        </p:spPr>
        <p:txBody>
          <a:bodyPr wrap="square" lIns="0" rIns="0" tIns="0" bIns="0" anchor="ctr">
            <a:spAutoFit/>
          </a:bodyPr>
          <a:lstStyle/>
          <a:p>
            <a:pPr algn="l">
              <a:lnSpc>
                <a:spcPct val="115000"/>
              </a:lnSpc>
              <a:spcBef>
                <a:spcPts val="0"/>
              </a:spcBef>
              <a:spcAft>
                <a:spcPts val="600"/>
              </a:spcAft>
            </a:pPr>
            <a:r>
              <a:rPr sz="1200" b="0" i="0">
                <a:solidFill>
                  <a:srgbClr val="33333D"/>
                </a:solidFill>
                <a:latin typeface="Calibri"/>
              </a:rPr>
              <a:t>NumPy   ·   rank-bm25 (sparse/BM25)   ·   Python `ast` (structural normalization)</a:t>
            </a:r>
          </a:p>
        </p:txBody>
      </p:sp>
      <p:sp>
        <p:nvSpPr>
          <p:cNvPr id="11" name="Rounded Rectangle 10"/>
          <p:cNvSpPr/>
          <p:nvPr/>
        </p:nvSpPr>
        <p:spPr>
          <a:xfrm>
            <a:off x="841248" y="4008119"/>
            <a:ext cx="10515600" cy="88392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9848" y="422148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Calibri"/>
              </a:rPr>
              <a:t>3</a:t>
            </a:r>
          </a:p>
        </p:txBody>
      </p:sp>
      <p:sp>
        <p:nvSpPr>
          <p:cNvPr id="13" name="TextBox 12"/>
          <p:cNvSpPr txBox="1"/>
          <p:nvPr/>
        </p:nvSpPr>
        <p:spPr>
          <a:xfrm>
            <a:off x="1709928" y="4136135"/>
            <a:ext cx="2286000" cy="627888"/>
          </a:xfrm>
          <a:prstGeom prst="rect">
            <a:avLst/>
          </a:prstGeom>
          <a:noFill/>
        </p:spPr>
        <p:txBody>
          <a:bodyPr wrap="square" lIns="0" rIns="0" tIns="0" bIns="0" anchor="ctr">
            <a:spAutoFit/>
          </a:bodyPr>
          <a:lstStyle/>
          <a:p>
            <a:pPr algn="l">
              <a:spcBef>
                <a:spcPts val="0"/>
              </a:spcBef>
              <a:spcAft>
                <a:spcPts val="100"/>
              </a:spcAft>
            </a:pPr>
            <a:r>
              <a:rPr sz="1350" b="1" i="0">
                <a:solidFill>
                  <a:srgbClr val="14142B"/>
                </a:solidFill>
                <a:latin typeface="Calibri"/>
              </a:rPr>
              <a:t>Reproducibility &amp; infra</a:t>
            </a:r>
          </a:p>
          <a:p>
            <a:pPr algn="l">
              <a:lnSpc>
                <a:spcPct val="112000"/>
              </a:lnSpc>
              <a:spcBef>
                <a:spcPts val="0"/>
              </a:spcBef>
              <a:spcAft>
                <a:spcPts val="600"/>
              </a:spcAft>
            </a:pPr>
            <a:r>
              <a:rPr sz="950" b="0" i="1">
                <a:solidFill>
                  <a:srgbClr val="6B6B76"/>
                </a:solidFill>
                <a:latin typeface="Calibri"/>
              </a:rPr>
              <a:t>The default `docker run` runs the whole test suite and demo with no HuggingFace round-trip needed.</a:t>
            </a:r>
          </a:p>
        </p:txBody>
      </p:sp>
      <p:sp>
        <p:nvSpPr>
          <p:cNvPr id="14" name="TextBox 13"/>
          <p:cNvSpPr txBox="1"/>
          <p:nvPr/>
        </p:nvSpPr>
        <p:spPr>
          <a:xfrm>
            <a:off x="4087368" y="4136135"/>
            <a:ext cx="7132320" cy="627888"/>
          </a:xfrm>
          <a:prstGeom prst="rect">
            <a:avLst/>
          </a:prstGeom>
          <a:noFill/>
        </p:spPr>
        <p:txBody>
          <a:bodyPr wrap="square" lIns="0" rIns="0" tIns="0" bIns="0" anchor="ctr">
            <a:spAutoFit/>
          </a:bodyPr>
          <a:lstStyle/>
          <a:p>
            <a:pPr algn="l">
              <a:lnSpc>
                <a:spcPct val="115000"/>
              </a:lnSpc>
              <a:spcBef>
                <a:spcPts val="0"/>
              </a:spcBef>
              <a:spcAft>
                <a:spcPts val="600"/>
              </a:spcAft>
            </a:pPr>
            <a:r>
              <a:rPr sz="1200" b="0" i="0">
                <a:solidFill>
                  <a:srgbClr val="33333D"/>
                </a:solidFill>
                <a:latin typeface="Calibri"/>
              </a:rPr>
              <a:t>Docker   ·   pytest — 78 offline tests   ·   GitHub Actions-ready CLI</a:t>
            </a:r>
          </a:p>
        </p:txBody>
      </p:sp>
      <p:sp>
        <p:nvSpPr>
          <p:cNvPr id="15" name="Rounded Rectangle 14"/>
          <p:cNvSpPr/>
          <p:nvPr/>
        </p:nvSpPr>
        <p:spPr>
          <a:xfrm>
            <a:off x="841248" y="4937759"/>
            <a:ext cx="10515600" cy="1051560"/>
          </a:xfrm>
          <a:prstGeom prst="roundRect">
            <a:avLst>
              <a:gd name="adj" fmla="val 8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5056631"/>
            <a:ext cx="9966960" cy="274320"/>
          </a:xfrm>
          <a:prstGeom prst="rect">
            <a:avLst/>
          </a:prstGeom>
          <a:noFill/>
        </p:spPr>
        <p:txBody>
          <a:bodyPr wrap="square" lIns="0" rIns="0" tIns="0" bIns="0">
            <a:spAutoFit/>
          </a:bodyPr>
          <a:lstStyle/>
          <a:p>
            <a:pPr algn="l">
              <a:spcBef>
                <a:spcPts val="0"/>
              </a:spcBef>
              <a:spcAft>
                <a:spcPts val="600"/>
              </a:spcAft>
            </a:pPr>
            <a:r>
              <a:rPr sz="950" b="1" i="0">
                <a:solidFill>
                  <a:srgbClr val="E3DAF7"/>
                </a:solidFill>
                <a:latin typeface="Calibri"/>
              </a:rPr>
              <a:t>BY THE NUMBERS</a:t>
            </a:r>
          </a:p>
        </p:txBody>
      </p:sp>
      <p:sp>
        <p:nvSpPr>
          <p:cNvPr id="17" name="TextBox 16"/>
          <p:cNvSpPr txBox="1"/>
          <p:nvPr/>
        </p:nvSpPr>
        <p:spPr>
          <a:xfrm>
            <a:off x="1115568" y="5321807"/>
            <a:ext cx="1810512" cy="594360"/>
          </a:xfrm>
          <a:prstGeom prst="rect">
            <a:avLst/>
          </a:prstGeom>
          <a:noFill/>
        </p:spPr>
        <p:txBody>
          <a:bodyPr wrap="square" lIns="0" rIns="0" tIns="0" bIns="0" anchor="ctr">
            <a:spAutoFit/>
          </a:bodyPr>
          <a:lstStyle/>
          <a:p>
            <a:pPr algn="ctr">
              <a:spcBef>
                <a:spcPts val="0"/>
              </a:spcBef>
              <a:spcAft>
                <a:spcPts val="100"/>
              </a:spcAft>
            </a:pPr>
            <a:r>
              <a:rPr sz="2200" b="1" i="0">
                <a:solidFill>
                  <a:srgbClr val="FFFFFF"/>
                </a:solidFill>
                <a:latin typeface="Calibri"/>
              </a:rPr>
              <a:t>78</a:t>
            </a:r>
          </a:p>
          <a:p>
            <a:pPr algn="ctr">
              <a:spcBef>
                <a:spcPts val="0"/>
              </a:spcBef>
              <a:spcAft>
                <a:spcPts val="600"/>
              </a:spcAft>
            </a:pPr>
            <a:r>
              <a:rPr sz="1000" b="0" i="0">
                <a:solidFill>
                  <a:srgbClr val="E3DAF7"/>
                </a:solidFill>
                <a:latin typeface="Calibri"/>
              </a:rPr>
              <a:t>offline tests</a:t>
            </a:r>
          </a:p>
        </p:txBody>
      </p:sp>
      <p:sp>
        <p:nvSpPr>
          <p:cNvPr id="18" name="TextBox 17"/>
          <p:cNvSpPr txBox="1"/>
          <p:nvPr/>
        </p:nvSpPr>
        <p:spPr>
          <a:xfrm>
            <a:off x="3154680" y="5321807"/>
            <a:ext cx="1810512" cy="594360"/>
          </a:xfrm>
          <a:prstGeom prst="rect">
            <a:avLst/>
          </a:prstGeom>
          <a:noFill/>
        </p:spPr>
        <p:txBody>
          <a:bodyPr wrap="square" lIns="0" rIns="0" tIns="0" bIns="0" anchor="ctr">
            <a:spAutoFit/>
          </a:bodyPr>
          <a:lstStyle/>
          <a:p>
            <a:pPr algn="ctr">
              <a:spcBef>
                <a:spcPts val="0"/>
              </a:spcBef>
              <a:spcAft>
                <a:spcPts val="100"/>
              </a:spcAft>
            </a:pPr>
            <a:r>
              <a:rPr sz="2200" b="1" i="0">
                <a:solidFill>
                  <a:srgbClr val="FFFFFF"/>
                </a:solidFill>
                <a:latin typeface="Calibri"/>
              </a:rPr>
              <a:t>10</a:t>
            </a:r>
          </a:p>
          <a:p>
            <a:pPr algn="ctr">
              <a:spcBef>
                <a:spcPts val="0"/>
              </a:spcBef>
              <a:spcAft>
                <a:spcPts val="600"/>
              </a:spcAft>
            </a:pPr>
            <a:r>
              <a:rPr sz="1000" b="0" i="0">
                <a:solidFill>
                  <a:srgbClr val="E3DAF7"/>
                </a:solidFill>
                <a:latin typeface="Calibri"/>
              </a:rPr>
              <a:t>configs measured</a:t>
            </a:r>
          </a:p>
        </p:txBody>
      </p:sp>
      <p:sp>
        <p:nvSpPr>
          <p:cNvPr id="19" name="TextBox 18"/>
          <p:cNvSpPr txBox="1"/>
          <p:nvPr/>
        </p:nvSpPr>
        <p:spPr>
          <a:xfrm>
            <a:off x="5193792" y="5321807"/>
            <a:ext cx="1810512" cy="594360"/>
          </a:xfrm>
          <a:prstGeom prst="rect">
            <a:avLst/>
          </a:prstGeom>
          <a:noFill/>
        </p:spPr>
        <p:txBody>
          <a:bodyPr wrap="square" lIns="0" rIns="0" tIns="0" bIns="0" anchor="ctr">
            <a:spAutoFit/>
          </a:bodyPr>
          <a:lstStyle/>
          <a:p>
            <a:pPr algn="ctr">
              <a:spcBef>
                <a:spcPts val="0"/>
              </a:spcBef>
              <a:spcAft>
                <a:spcPts val="100"/>
              </a:spcAft>
            </a:pPr>
            <a:r>
              <a:rPr sz="2200" b="1" i="0">
                <a:solidFill>
                  <a:srgbClr val="FFFFFF"/>
                </a:solidFill>
                <a:latin typeface="Calibri"/>
              </a:rPr>
              <a:t>1</a:t>
            </a:r>
          </a:p>
          <a:p>
            <a:pPr algn="ctr">
              <a:spcBef>
                <a:spcPts val="0"/>
              </a:spcBef>
              <a:spcAft>
                <a:spcPts val="600"/>
              </a:spcAft>
            </a:pPr>
            <a:r>
              <a:rPr sz="1000" b="0" i="0">
                <a:solidFill>
                  <a:srgbClr val="E3DAF7"/>
                </a:solidFill>
                <a:latin typeface="Calibri"/>
              </a:rPr>
              <a:t>docker run</a:t>
            </a:r>
          </a:p>
        </p:txBody>
      </p:sp>
      <p:sp>
        <p:nvSpPr>
          <p:cNvPr id="20" name="TextBox 19"/>
          <p:cNvSpPr txBox="1"/>
          <p:nvPr/>
        </p:nvSpPr>
        <p:spPr>
          <a:xfrm>
            <a:off x="7232903" y="5321807"/>
            <a:ext cx="1810512" cy="594360"/>
          </a:xfrm>
          <a:prstGeom prst="rect">
            <a:avLst/>
          </a:prstGeom>
          <a:noFill/>
        </p:spPr>
        <p:txBody>
          <a:bodyPr wrap="square" lIns="0" rIns="0" tIns="0" bIns="0" anchor="ctr">
            <a:spAutoFit/>
          </a:bodyPr>
          <a:lstStyle/>
          <a:p>
            <a:pPr algn="ctr">
              <a:spcBef>
                <a:spcPts val="0"/>
              </a:spcBef>
              <a:spcAft>
                <a:spcPts val="100"/>
              </a:spcAft>
            </a:pPr>
            <a:r>
              <a:rPr sz="2200" b="1" i="0">
                <a:solidFill>
                  <a:srgbClr val="FFFFFF"/>
                </a:solidFill>
                <a:latin typeface="Calibri"/>
              </a:rPr>
              <a:t>~0.04 ms</a:t>
            </a:r>
          </a:p>
          <a:p>
            <a:pPr algn="ctr">
              <a:spcBef>
                <a:spcPts val="0"/>
              </a:spcBef>
              <a:spcAft>
                <a:spcPts val="600"/>
              </a:spcAft>
            </a:pPr>
            <a:r>
              <a:rPr sz="1000" b="0" i="0">
                <a:solidFill>
                  <a:srgbClr val="E3DAF7"/>
                </a:solidFill>
                <a:latin typeface="Calibri"/>
              </a:rPr>
              <a:t>offline demo latency</a:t>
            </a:r>
          </a:p>
        </p:txBody>
      </p:sp>
      <p:sp>
        <p:nvSpPr>
          <p:cNvPr id="21" name="TextBox 20"/>
          <p:cNvSpPr txBox="1"/>
          <p:nvPr/>
        </p:nvSpPr>
        <p:spPr>
          <a:xfrm>
            <a:off x="9272016" y="5321807"/>
            <a:ext cx="1810512" cy="594360"/>
          </a:xfrm>
          <a:prstGeom prst="rect">
            <a:avLst/>
          </a:prstGeom>
          <a:noFill/>
        </p:spPr>
        <p:txBody>
          <a:bodyPr wrap="square" lIns="0" rIns="0" tIns="0" bIns="0" anchor="ctr">
            <a:spAutoFit/>
          </a:bodyPr>
          <a:lstStyle/>
          <a:p>
            <a:pPr algn="ctr">
              <a:spcBef>
                <a:spcPts val="0"/>
              </a:spcBef>
              <a:spcAft>
                <a:spcPts val="100"/>
              </a:spcAft>
            </a:pPr>
            <a:r>
              <a:rPr sz="2200" b="1" i="0">
                <a:solidFill>
                  <a:srgbClr val="FFFFFF"/>
                </a:solidFill>
                <a:latin typeface="Calibri"/>
              </a:rPr>
              <a:t>100%</a:t>
            </a:r>
          </a:p>
          <a:p>
            <a:pPr algn="ctr">
              <a:spcBef>
                <a:spcPts val="0"/>
              </a:spcBef>
              <a:spcAft>
                <a:spcPts val="600"/>
              </a:spcAft>
            </a:pPr>
            <a:r>
              <a:rPr sz="1000" b="0" i="0">
                <a:solidFill>
                  <a:srgbClr val="E3DAF7"/>
                </a:solidFill>
                <a:latin typeface="Calibri"/>
              </a:rPr>
              <a:t>CPU inference</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41248" y="1874519"/>
            <a:ext cx="5120640" cy="201168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6988" y="208026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1</a:t>
            </a:r>
          </a:p>
        </p:txBody>
      </p:sp>
      <p:sp>
        <p:nvSpPr>
          <p:cNvPr id="5" name="TextBox 4"/>
          <p:cNvSpPr txBox="1"/>
          <p:nvPr/>
        </p:nvSpPr>
        <p:spPr>
          <a:xfrm>
            <a:off x="1709928" y="2075688"/>
            <a:ext cx="4069079" cy="329184"/>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Faster onboarding</a:t>
            </a:r>
          </a:p>
        </p:txBody>
      </p:sp>
      <p:sp>
        <p:nvSpPr>
          <p:cNvPr id="6" name="Rounded Rectangle 5"/>
          <p:cNvSpPr/>
          <p:nvPr/>
        </p:nvSpPr>
        <p:spPr>
          <a:xfrm>
            <a:off x="1709928" y="2423160"/>
            <a:ext cx="1691640" cy="237744"/>
          </a:xfrm>
          <a:prstGeom prst="roundRect">
            <a:avLst>
              <a:gd name="adj" fmla="val 50000"/>
            </a:avLst>
          </a:prstGeom>
          <a:solidFill>
            <a:srgbClr val="EDE9FB"/>
          </a:solidFill>
          <a:ln w="952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09928" y="2423160"/>
            <a:ext cx="1691640" cy="237744"/>
          </a:xfrm>
          <a:prstGeom prst="rect">
            <a:avLst/>
          </a:prstGeom>
          <a:noFill/>
        </p:spPr>
        <p:txBody>
          <a:bodyPr wrap="square" lIns="0" rIns="0" tIns="0" bIns="0" anchor="ctr">
            <a:spAutoFit/>
          </a:bodyPr>
          <a:lstStyle/>
          <a:p>
            <a:pPr algn="ctr">
              <a:spcBef>
                <a:spcPts val="0"/>
              </a:spcBef>
              <a:spcAft>
                <a:spcPts val="600"/>
              </a:spcAft>
            </a:pPr>
            <a:r>
              <a:rPr sz="850" b="1" i="0">
                <a:solidFill>
                  <a:srgbClr val="6D28D9"/>
                </a:solidFill>
                <a:latin typeface="Calibri"/>
              </a:rPr>
              <a:t>For: new engineers</a:t>
            </a:r>
          </a:p>
        </p:txBody>
      </p:sp>
      <p:sp>
        <p:nvSpPr>
          <p:cNvPr id="8" name="TextBox 7"/>
          <p:cNvSpPr txBox="1"/>
          <p:nvPr/>
        </p:nvSpPr>
        <p:spPr>
          <a:xfrm>
            <a:off x="1097280" y="2743200"/>
            <a:ext cx="4608575" cy="365760"/>
          </a:xfrm>
          <a:prstGeom prst="rect">
            <a:avLst/>
          </a:prstGeom>
          <a:noFill/>
        </p:spPr>
        <p:txBody>
          <a:bodyPr wrap="square" lIns="0" rIns="0" tIns="0" bIns="0">
            <a:spAutoFit/>
          </a:bodyPr>
          <a:lstStyle/>
          <a:p>
            <a:pPr algn="l">
              <a:lnSpc>
                <a:spcPct val="120000"/>
              </a:lnSpc>
              <a:spcBef>
                <a:spcPts val="0"/>
              </a:spcBef>
              <a:spcAft>
                <a:spcPts val="600"/>
              </a:spcAft>
            </a:pPr>
            <a:r>
              <a:rPr sz="1050" b="0" i="0">
                <a:solidFill>
                  <a:srgbClr val="6B6B76"/>
                </a:solidFill>
                <a:latin typeface="Calibri"/>
              </a:rPr>
              <a:t>Search unfamiliar code by describing behavior, not memorized function names.</a:t>
            </a:r>
          </a:p>
        </p:txBody>
      </p:sp>
      <p:sp>
        <p:nvSpPr>
          <p:cNvPr id="9" name="Rounded Rectangle 8"/>
          <p:cNvSpPr/>
          <p:nvPr/>
        </p:nvSpPr>
        <p:spPr>
          <a:xfrm>
            <a:off x="1097280" y="3154679"/>
            <a:ext cx="4608575" cy="457200"/>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191256"/>
            <a:ext cx="4315968" cy="182880"/>
          </a:xfrm>
          <a:prstGeom prst="rect">
            <a:avLst/>
          </a:prstGeom>
          <a:noFill/>
        </p:spPr>
        <p:txBody>
          <a:bodyPr wrap="square" lIns="0" rIns="0" tIns="0" bIns="0">
            <a:spAutoFit/>
          </a:bodyPr>
          <a:lstStyle/>
          <a:p>
            <a:pPr algn="l">
              <a:spcBef>
                <a:spcPts val="0"/>
              </a:spcBef>
              <a:spcAft>
                <a:spcPts val="600"/>
              </a:spcAft>
            </a:pPr>
            <a:r>
              <a:rPr sz="800" b="1" i="0">
                <a:solidFill>
                  <a:srgbClr val="6D28D9"/>
                </a:solidFill>
                <a:latin typeface="Calibri"/>
              </a:rPr>
              <a:t>EXAMPLE QUERY</a:t>
            </a:r>
          </a:p>
        </p:txBody>
      </p:sp>
      <p:sp>
        <p:nvSpPr>
          <p:cNvPr id="11" name="TextBox 10"/>
          <p:cNvSpPr txBox="1"/>
          <p:nvPr/>
        </p:nvSpPr>
        <p:spPr>
          <a:xfrm>
            <a:off x="1243584" y="3374135"/>
            <a:ext cx="4315968" cy="237744"/>
          </a:xfrm>
          <a:prstGeom prst="rect">
            <a:avLst/>
          </a:prstGeom>
          <a:noFill/>
        </p:spPr>
        <p:txBody>
          <a:bodyPr wrap="square" lIns="0" rIns="0" tIns="0" bIns="0">
            <a:spAutoFit/>
          </a:bodyPr>
          <a:lstStyle/>
          <a:p>
            <a:pPr algn="l">
              <a:lnSpc>
                <a:spcPct val="110000"/>
              </a:lnSpc>
              <a:spcBef>
                <a:spcPts val="0"/>
              </a:spcBef>
              <a:spcAft>
                <a:spcPts val="600"/>
              </a:spcAft>
            </a:pPr>
            <a:r>
              <a:rPr sz="1000" b="0" i="0">
                <a:solidFill>
                  <a:srgbClr val="14142B"/>
                </a:solidFill>
                <a:latin typeface="Courier New"/>
              </a:rPr>
              <a:t>“where do we retry a failed payment?”</a:t>
            </a:r>
          </a:p>
        </p:txBody>
      </p:sp>
      <p:sp>
        <p:nvSpPr>
          <p:cNvPr id="12" name="TextBox 11"/>
          <p:cNvSpPr txBox="1"/>
          <p:nvPr/>
        </p:nvSpPr>
        <p:spPr>
          <a:xfrm>
            <a:off x="1097280" y="3611880"/>
            <a:ext cx="4608575" cy="219456"/>
          </a:xfrm>
          <a:prstGeom prst="rect">
            <a:avLst/>
          </a:prstGeom>
          <a:noFill/>
        </p:spPr>
        <p:txBody>
          <a:bodyPr wrap="square" lIns="0" rIns="0" tIns="0" bIns="0">
            <a:spAutoFit/>
          </a:bodyPr>
          <a:lstStyle/>
          <a:p>
            <a:pPr algn="l">
              <a:spcBef>
                <a:spcPts val="0"/>
              </a:spcBef>
              <a:spcAft>
                <a:spcPts val="600"/>
              </a:spcAft>
            </a:pPr>
            <a:r>
              <a:rPr sz="1000" b="1" i="1">
                <a:solidFill>
                  <a:srgbClr val="D9A441"/>
                </a:solidFill>
                <a:latin typeface="Calibri"/>
              </a:rPr>
              <a:t>▸ Days-to-productivity → hours.</a:t>
            </a:r>
          </a:p>
        </p:txBody>
      </p:sp>
      <p:sp>
        <p:nvSpPr>
          <p:cNvPr id="13" name="Rounded Rectangle 12"/>
          <p:cNvSpPr/>
          <p:nvPr/>
        </p:nvSpPr>
        <p:spPr>
          <a:xfrm>
            <a:off x="6236207" y="1874519"/>
            <a:ext cx="5120640" cy="201168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7" y="2080260"/>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2</a:t>
            </a:r>
          </a:p>
        </p:txBody>
      </p:sp>
      <p:sp>
        <p:nvSpPr>
          <p:cNvPr id="15" name="TextBox 14"/>
          <p:cNvSpPr txBox="1"/>
          <p:nvPr/>
        </p:nvSpPr>
        <p:spPr>
          <a:xfrm>
            <a:off x="7104888" y="2075688"/>
            <a:ext cx="4069079" cy="329184"/>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Agentic coding backend</a:t>
            </a:r>
          </a:p>
        </p:txBody>
      </p:sp>
      <p:sp>
        <p:nvSpPr>
          <p:cNvPr id="16" name="Rounded Rectangle 15"/>
          <p:cNvSpPr/>
          <p:nvPr/>
        </p:nvSpPr>
        <p:spPr>
          <a:xfrm>
            <a:off x="7104888" y="2423160"/>
            <a:ext cx="1691640" cy="237744"/>
          </a:xfrm>
          <a:prstGeom prst="roundRect">
            <a:avLst>
              <a:gd name="adj" fmla="val 50000"/>
            </a:avLst>
          </a:prstGeom>
          <a:solidFill>
            <a:srgbClr val="EDE9FB"/>
          </a:solidFill>
          <a:ln w="952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04888" y="2423160"/>
            <a:ext cx="1691640" cy="237744"/>
          </a:xfrm>
          <a:prstGeom prst="rect">
            <a:avLst/>
          </a:prstGeom>
          <a:noFill/>
        </p:spPr>
        <p:txBody>
          <a:bodyPr wrap="square" lIns="0" rIns="0" tIns="0" bIns="0" anchor="ctr">
            <a:spAutoFit/>
          </a:bodyPr>
          <a:lstStyle/>
          <a:p>
            <a:pPr algn="ctr">
              <a:spcBef>
                <a:spcPts val="0"/>
              </a:spcBef>
              <a:spcAft>
                <a:spcPts val="600"/>
              </a:spcAft>
            </a:pPr>
            <a:r>
              <a:rPr sz="850" b="1" i="0">
                <a:solidFill>
                  <a:srgbClr val="6D28D9"/>
                </a:solidFill>
                <a:latin typeface="Calibri"/>
              </a:rPr>
              <a:t>For: AI coding agents</a:t>
            </a:r>
          </a:p>
        </p:txBody>
      </p:sp>
      <p:sp>
        <p:nvSpPr>
          <p:cNvPr id="18" name="TextBox 17"/>
          <p:cNvSpPr txBox="1"/>
          <p:nvPr/>
        </p:nvSpPr>
        <p:spPr>
          <a:xfrm>
            <a:off x="6492240" y="2743200"/>
            <a:ext cx="4608575" cy="365760"/>
          </a:xfrm>
          <a:prstGeom prst="rect">
            <a:avLst/>
          </a:prstGeom>
          <a:noFill/>
        </p:spPr>
        <p:txBody>
          <a:bodyPr wrap="square" lIns="0" rIns="0" tIns="0" bIns="0">
            <a:spAutoFit/>
          </a:bodyPr>
          <a:lstStyle/>
          <a:p>
            <a:pPr algn="l">
              <a:lnSpc>
                <a:spcPct val="120000"/>
              </a:lnSpc>
              <a:spcBef>
                <a:spcPts val="0"/>
              </a:spcBef>
              <a:spcAft>
                <a:spcPts val="600"/>
              </a:spcAft>
            </a:pPr>
            <a:r>
              <a:rPr sz="1050" b="0" i="0">
                <a:solidFill>
                  <a:srgbClr val="6B6B76"/>
                </a:solidFill>
                <a:latin typeface="Calibri"/>
              </a:rPr>
              <a:t>A fast retrieval step an agent calls before it generates or edits code.</a:t>
            </a:r>
          </a:p>
        </p:txBody>
      </p:sp>
      <p:sp>
        <p:nvSpPr>
          <p:cNvPr id="19" name="Rounded Rectangle 18"/>
          <p:cNvSpPr/>
          <p:nvPr/>
        </p:nvSpPr>
        <p:spPr>
          <a:xfrm>
            <a:off x="6492240" y="3154679"/>
            <a:ext cx="4608575" cy="457200"/>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544" y="3191256"/>
            <a:ext cx="4315968" cy="182880"/>
          </a:xfrm>
          <a:prstGeom prst="rect">
            <a:avLst/>
          </a:prstGeom>
          <a:noFill/>
        </p:spPr>
        <p:txBody>
          <a:bodyPr wrap="square" lIns="0" rIns="0" tIns="0" bIns="0">
            <a:spAutoFit/>
          </a:bodyPr>
          <a:lstStyle/>
          <a:p>
            <a:pPr algn="l">
              <a:spcBef>
                <a:spcPts val="0"/>
              </a:spcBef>
              <a:spcAft>
                <a:spcPts val="600"/>
              </a:spcAft>
            </a:pPr>
            <a:r>
              <a:rPr sz="800" b="1" i="0">
                <a:solidFill>
                  <a:srgbClr val="6D28D9"/>
                </a:solidFill>
                <a:latin typeface="Calibri"/>
              </a:rPr>
              <a:t>RETRIEVAL BUDGET</a:t>
            </a:r>
          </a:p>
        </p:txBody>
      </p:sp>
      <p:sp>
        <p:nvSpPr>
          <p:cNvPr id="21" name="TextBox 20"/>
          <p:cNvSpPr txBox="1"/>
          <p:nvPr/>
        </p:nvSpPr>
        <p:spPr>
          <a:xfrm>
            <a:off x="6638544" y="3374135"/>
            <a:ext cx="4315968" cy="237744"/>
          </a:xfrm>
          <a:prstGeom prst="rect">
            <a:avLst/>
          </a:prstGeom>
          <a:noFill/>
        </p:spPr>
        <p:txBody>
          <a:bodyPr wrap="square" lIns="0" rIns="0" tIns="0" bIns="0">
            <a:spAutoFit/>
          </a:bodyPr>
          <a:lstStyle/>
          <a:p>
            <a:pPr algn="l">
              <a:lnSpc>
                <a:spcPct val="110000"/>
              </a:lnSpc>
              <a:spcBef>
                <a:spcPts val="0"/>
              </a:spcBef>
              <a:spcAft>
                <a:spcPts val="600"/>
              </a:spcAft>
            </a:pPr>
            <a:r>
              <a:rPr sz="1000" b="0" i="0">
                <a:solidFill>
                  <a:srgbClr val="14142B"/>
                </a:solidFill>
                <a:latin typeface="Courier New"/>
              </a:rPr>
              <a:t>one encoder pass per query, no LLM in the loop.</a:t>
            </a:r>
          </a:p>
        </p:txBody>
      </p:sp>
      <p:sp>
        <p:nvSpPr>
          <p:cNvPr id="22" name="TextBox 21"/>
          <p:cNvSpPr txBox="1"/>
          <p:nvPr/>
        </p:nvSpPr>
        <p:spPr>
          <a:xfrm>
            <a:off x="6492240" y="3611880"/>
            <a:ext cx="4608575" cy="219456"/>
          </a:xfrm>
          <a:prstGeom prst="rect">
            <a:avLst/>
          </a:prstGeom>
          <a:noFill/>
        </p:spPr>
        <p:txBody>
          <a:bodyPr wrap="square" lIns="0" rIns="0" tIns="0" bIns="0">
            <a:spAutoFit/>
          </a:bodyPr>
          <a:lstStyle/>
          <a:p>
            <a:pPr algn="l">
              <a:spcBef>
                <a:spcPts val="0"/>
              </a:spcBef>
              <a:spcAft>
                <a:spcPts val="600"/>
              </a:spcAft>
            </a:pPr>
            <a:r>
              <a:rPr sz="1000" b="1" i="1">
                <a:solidFill>
                  <a:srgbClr val="D9A441"/>
                </a:solidFill>
                <a:latin typeface="Calibri"/>
              </a:rPr>
              <a:t>▸ Retrieval faster than generation, by design.</a:t>
            </a:r>
          </a:p>
        </p:txBody>
      </p:sp>
      <p:sp>
        <p:nvSpPr>
          <p:cNvPr id="23" name="Rounded Rectangle 22"/>
          <p:cNvSpPr/>
          <p:nvPr/>
        </p:nvSpPr>
        <p:spPr>
          <a:xfrm>
            <a:off x="841248" y="4160520"/>
            <a:ext cx="5120640" cy="201168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6988" y="43662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3</a:t>
            </a:r>
          </a:p>
        </p:txBody>
      </p:sp>
      <p:sp>
        <p:nvSpPr>
          <p:cNvPr id="25" name="TextBox 24"/>
          <p:cNvSpPr txBox="1"/>
          <p:nvPr/>
        </p:nvSpPr>
        <p:spPr>
          <a:xfrm>
            <a:off x="1709928" y="4361688"/>
            <a:ext cx="4069079" cy="329184"/>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Code review &amp; audit</a:t>
            </a:r>
          </a:p>
        </p:txBody>
      </p:sp>
      <p:sp>
        <p:nvSpPr>
          <p:cNvPr id="26" name="Rounded Rectangle 25"/>
          <p:cNvSpPr/>
          <p:nvPr/>
        </p:nvSpPr>
        <p:spPr>
          <a:xfrm>
            <a:off x="1709928" y="4709159"/>
            <a:ext cx="1691640" cy="237744"/>
          </a:xfrm>
          <a:prstGeom prst="roundRect">
            <a:avLst>
              <a:gd name="adj" fmla="val 50000"/>
            </a:avLst>
          </a:prstGeom>
          <a:solidFill>
            <a:srgbClr val="EDE9FB"/>
          </a:solidFill>
          <a:ln w="952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09928" y="4709159"/>
            <a:ext cx="1691640" cy="237744"/>
          </a:xfrm>
          <a:prstGeom prst="rect">
            <a:avLst/>
          </a:prstGeom>
          <a:noFill/>
        </p:spPr>
        <p:txBody>
          <a:bodyPr wrap="square" lIns="0" rIns="0" tIns="0" bIns="0" anchor="ctr">
            <a:spAutoFit/>
          </a:bodyPr>
          <a:lstStyle/>
          <a:p>
            <a:pPr algn="ctr">
              <a:spcBef>
                <a:spcPts val="0"/>
              </a:spcBef>
              <a:spcAft>
                <a:spcPts val="600"/>
              </a:spcAft>
            </a:pPr>
            <a:r>
              <a:rPr sz="850" b="1" i="0">
                <a:solidFill>
                  <a:srgbClr val="6D28D9"/>
                </a:solidFill>
                <a:latin typeface="Calibri"/>
              </a:rPr>
              <a:t>For: reviewers / security</a:t>
            </a:r>
          </a:p>
        </p:txBody>
      </p:sp>
      <p:sp>
        <p:nvSpPr>
          <p:cNvPr id="28" name="TextBox 27"/>
          <p:cNvSpPr txBox="1"/>
          <p:nvPr/>
        </p:nvSpPr>
        <p:spPr>
          <a:xfrm>
            <a:off x="1097280" y="5029200"/>
            <a:ext cx="4608575" cy="365760"/>
          </a:xfrm>
          <a:prstGeom prst="rect">
            <a:avLst/>
          </a:prstGeom>
          <a:noFill/>
        </p:spPr>
        <p:txBody>
          <a:bodyPr wrap="square" lIns="0" rIns="0" tIns="0" bIns="0">
            <a:spAutoFit/>
          </a:bodyPr>
          <a:lstStyle/>
          <a:p>
            <a:pPr algn="l">
              <a:lnSpc>
                <a:spcPct val="120000"/>
              </a:lnSpc>
              <a:spcBef>
                <a:spcPts val="0"/>
              </a:spcBef>
              <a:spcAft>
                <a:spcPts val="600"/>
              </a:spcAft>
            </a:pPr>
            <a:r>
              <a:rPr sz="1050" b="0" i="0">
                <a:solidFill>
                  <a:srgbClr val="6B6B76"/>
                </a:solidFill>
                <a:latin typeface="Calibri"/>
              </a:rPr>
              <a:t>Locate every place a pattern or behavior appears — not just a grep match.</a:t>
            </a:r>
          </a:p>
        </p:txBody>
      </p:sp>
      <p:sp>
        <p:nvSpPr>
          <p:cNvPr id="29" name="Rounded Rectangle 28"/>
          <p:cNvSpPr/>
          <p:nvPr/>
        </p:nvSpPr>
        <p:spPr>
          <a:xfrm>
            <a:off x="1097280" y="5440679"/>
            <a:ext cx="4608575" cy="457200"/>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43584" y="5477255"/>
            <a:ext cx="4315968" cy="182880"/>
          </a:xfrm>
          <a:prstGeom prst="rect">
            <a:avLst/>
          </a:prstGeom>
          <a:noFill/>
        </p:spPr>
        <p:txBody>
          <a:bodyPr wrap="square" lIns="0" rIns="0" tIns="0" bIns="0">
            <a:spAutoFit/>
          </a:bodyPr>
          <a:lstStyle/>
          <a:p>
            <a:pPr algn="l">
              <a:spcBef>
                <a:spcPts val="0"/>
              </a:spcBef>
              <a:spcAft>
                <a:spcPts val="600"/>
              </a:spcAft>
            </a:pPr>
            <a:r>
              <a:rPr sz="800" b="1" i="0">
                <a:solidFill>
                  <a:srgbClr val="6D28D9"/>
                </a:solidFill>
                <a:latin typeface="Calibri"/>
              </a:rPr>
              <a:t>EXAMPLE QUERY</a:t>
            </a:r>
          </a:p>
        </p:txBody>
      </p:sp>
      <p:sp>
        <p:nvSpPr>
          <p:cNvPr id="31" name="TextBox 30"/>
          <p:cNvSpPr txBox="1"/>
          <p:nvPr/>
        </p:nvSpPr>
        <p:spPr>
          <a:xfrm>
            <a:off x="1243584" y="5660136"/>
            <a:ext cx="4315968" cy="237744"/>
          </a:xfrm>
          <a:prstGeom prst="rect">
            <a:avLst/>
          </a:prstGeom>
          <a:noFill/>
        </p:spPr>
        <p:txBody>
          <a:bodyPr wrap="square" lIns="0" rIns="0" tIns="0" bIns="0">
            <a:spAutoFit/>
          </a:bodyPr>
          <a:lstStyle/>
          <a:p>
            <a:pPr algn="l">
              <a:lnSpc>
                <a:spcPct val="110000"/>
              </a:lnSpc>
              <a:spcBef>
                <a:spcPts val="0"/>
              </a:spcBef>
              <a:spcAft>
                <a:spcPts val="600"/>
              </a:spcAft>
            </a:pPr>
            <a:r>
              <a:rPr sz="1000" b="0" i="0">
                <a:solidFill>
                  <a:srgbClr val="14142B"/>
                </a:solidFill>
                <a:latin typeface="Courier New"/>
              </a:rPr>
              <a:t>“all endpoints that write user email unmasked”</a:t>
            </a:r>
          </a:p>
        </p:txBody>
      </p:sp>
      <p:sp>
        <p:nvSpPr>
          <p:cNvPr id="32" name="TextBox 31"/>
          <p:cNvSpPr txBox="1"/>
          <p:nvPr/>
        </p:nvSpPr>
        <p:spPr>
          <a:xfrm>
            <a:off x="1097280" y="5897880"/>
            <a:ext cx="4608575" cy="219456"/>
          </a:xfrm>
          <a:prstGeom prst="rect">
            <a:avLst/>
          </a:prstGeom>
          <a:noFill/>
        </p:spPr>
        <p:txBody>
          <a:bodyPr wrap="square" lIns="0" rIns="0" tIns="0" bIns="0">
            <a:spAutoFit/>
          </a:bodyPr>
          <a:lstStyle/>
          <a:p>
            <a:pPr algn="l">
              <a:spcBef>
                <a:spcPts val="0"/>
              </a:spcBef>
              <a:spcAft>
                <a:spcPts val="600"/>
              </a:spcAft>
            </a:pPr>
            <a:r>
              <a:rPr sz="1000" b="1" i="1">
                <a:solidFill>
                  <a:srgbClr val="D9A441"/>
                </a:solidFill>
                <a:latin typeface="Calibri"/>
              </a:rPr>
              <a:t>▸ Finds behavioral clones grep misses.</a:t>
            </a:r>
          </a:p>
        </p:txBody>
      </p:sp>
      <p:sp>
        <p:nvSpPr>
          <p:cNvPr id="33" name="Rounded Rectangle 32"/>
          <p:cNvSpPr/>
          <p:nvPr/>
        </p:nvSpPr>
        <p:spPr>
          <a:xfrm>
            <a:off x="6236207" y="4160520"/>
            <a:ext cx="5120640" cy="201168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7" y="4366259"/>
            <a:ext cx="502920" cy="50292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4</a:t>
            </a:r>
          </a:p>
        </p:txBody>
      </p:sp>
      <p:sp>
        <p:nvSpPr>
          <p:cNvPr id="35" name="TextBox 34"/>
          <p:cNvSpPr txBox="1"/>
          <p:nvPr/>
        </p:nvSpPr>
        <p:spPr>
          <a:xfrm>
            <a:off x="7104888" y="4361688"/>
            <a:ext cx="4069079" cy="329184"/>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Legacy modernization</a:t>
            </a:r>
          </a:p>
        </p:txBody>
      </p:sp>
      <p:sp>
        <p:nvSpPr>
          <p:cNvPr id="36" name="Rounded Rectangle 35"/>
          <p:cNvSpPr/>
          <p:nvPr/>
        </p:nvSpPr>
        <p:spPr>
          <a:xfrm>
            <a:off x="7104888" y="4709159"/>
            <a:ext cx="1691640" cy="237744"/>
          </a:xfrm>
          <a:prstGeom prst="roundRect">
            <a:avLst>
              <a:gd name="adj" fmla="val 50000"/>
            </a:avLst>
          </a:prstGeom>
          <a:solidFill>
            <a:srgbClr val="EDE9FB"/>
          </a:solidFill>
          <a:ln w="9525">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04888" y="4709159"/>
            <a:ext cx="1691640" cy="237744"/>
          </a:xfrm>
          <a:prstGeom prst="rect">
            <a:avLst/>
          </a:prstGeom>
          <a:noFill/>
        </p:spPr>
        <p:txBody>
          <a:bodyPr wrap="square" lIns="0" rIns="0" tIns="0" bIns="0" anchor="ctr">
            <a:spAutoFit/>
          </a:bodyPr>
          <a:lstStyle/>
          <a:p>
            <a:pPr algn="ctr">
              <a:spcBef>
                <a:spcPts val="0"/>
              </a:spcBef>
              <a:spcAft>
                <a:spcPts val="600"/>
              </a:spcAft>
            </a:pPr>
            <a:r>
              <a:rPr sz="850" b="1" i="0">
                <a:solidFill>
                  <a:srgbClr val="6D28D9"/>
                </a:solidFill>
                <a:latin typeface="Calibri"/>
              </a:rPr>
              <a:t>For: platform teams (P1)</a:t>
            </a:r>
          </a:p>
        </p:txBody>
      </p:sp>
      <p:sp>
        <p:nvSpPr>
          <p:cNvPr id="38" name="TextBox 37"/>
          <p:cNvSpPr txBox="1"/>
          <p:nvPr/>
        </p:nvSpPr>
        <p:spPr>
          <a:xfrm>
            <a:off x="6492240" y="5029200"/>
            <a:ext cx="4608575" cy="365760"/>
          </a:xfrm>
          <a:prstGeom prst="rect">
            <a:avLst/>
          </a:prstGeom>
          <a:noFill/>
        </p:spPr>
        <p:txBody>
          <a:bodyPr wrap="square" lIns="0" rIns="0" tIns="0" bIns="0">
            <a:spAutoFit/>
          </a:bodyPr>
          <a:lstStyle/>
          <a:p>
            <a:pPr algn="l">
              <a:lnSpc>
                <a:spcPct val="120000"/>
              </a:lnSpc>
              <a:spcBef>
                <a:spcPts val="0"/>
              </a:spcBef>
              <a:spcAft>
                <a:spcPts val="600"/>
              </a:spcAft>
            </a:pPr>
            <a:r>
              <a:rPr sz="1050" b="0" i="0">
                <a:solidFill>
                  <a:srgbClr val="6B6B76"/>
                </a:solidFill>
                <a:latin typeface="Calibri"/>
              </a:rPr>
              <a:t>Search &amp; compare behavior across many historical versions of the same code.</a:t>
            </a:r>
          </a:p>
        </p:txBody>
      </p:sp>
      <p:sp>
        <p:nvSpPr>
          <p:cNvPr id="39" name="Rounded Rectangle 38"/>
          <p:cNvSpPr/>
          <p:nvPr/>
        </p:nvSpPr>
        <p:spPr>
          <a:xfrm>
            <a:off x="6492240" y="5440679"/>
            <a:ext cx="4608575" cy="457200"/>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38544" y="5477255"/>
            <a:ext cx="4315968" cy="182880"/>
          </a:xfrm>
          <a:prstGeom prst="rect">
            <a:avLst/>
          </a:prstGeom>
          <a:noFill/>
        </p:spPr>
        <p:txBody>
          <a:bodyPr wrap="square" lIns="0" rIns="0" tIns="0" bIns="0">
            <a:spAutoFit/>
          </a:bodyPr>
          <a:lstStyle/>
          <a:p>
            <a:pPr algn="l">
              <a:spcBef>
                <a:spcPts val="0"/>
              </a:spcBef>
              <a:spcAft>
                <a:spcPts val="600"/>
              </a:spcAft>
            </a:pPr>
            <a:r>
              <a:rPr sz="800" b="1" i="0">
                <a:solidFill>
                  <a:srgbClr val="6D28D9"/>
                </a:solidFill>
                <a:latin typeface="Calibri"/>
              </a:rPr>
              <a:t>EXAMPLE QUERY</a:t>
            </a:r>
          </a:p>
        </p:txBody>
      </p:sp>
      <p:sp>
        <p:nvSpPr>
          <p:cNvPr id="41" name="TextBox 40"/>
          <p:cNvSpPr txBox="1"/>
          <p:nvPr/>
        </p:nvSpPr>
        <p:spPr>
          <a:xfrm>
            <a:off x="6638544" y="5660136"/>
            <a:ext cx="4315968" cy="237744"/>
          </a:xfrm>
          <a:prstGeom prst="rect">
            <a:avLst/>
          </a:prstGeom>
          <a:noFill/>
        </p:spPr>
        <p:txBody>
          <a:bodyPr wrap="square" lIns="0" rIns="0" tIns="0" bIns="0">
            <a:spAutoFit/>
          </a:bodyPr>
          <a:lstStyle/>
          <a:p>
            <a:pPr algn="l">
              <a:lnSpc>
                <a:spcPct val="110000"/>
              </a:lnSpc>
              <a:spcBef>
                <a:spcPts val="0"/>
              </a:spcBef>
              <a:spcAft>
                <a:spcPts val="600"/>
              </a:spcAft>
            </a:pPr>
            <a:r>
              <a:rPr sz="1000" b="0" i="0">
                <a:solidFill>
                  <a:srgbClr val="14142B"/>
                </a:solidFill>
                <a:latin typeface="Courier New"/>
              </a:rPr>
              <a:t>“auth check pre-v3.2 vs post-v3.2”</a:t>
            </a:r>
          </a:p>
        </p:txBody>
      </p:sp>
      <p:sp>
        <p:nvSpPr>
          <p:cNvPr id="42" name="TextBox 41"/>
          <p:cNvSpPr txBox="1"/>
          <p:nvPr/>
        </p:nvSpPr>
        <p:spPr>
          <a:xfrm>
            <a:off x="6492240" y="5897880"/>
            <a:ext cx="4608575" cy="219456"/>
          </a:xfrm>
          <a:prstGeom prst="rect">
            <a:avLst/>
          </a:prstGeom>
          <a:noFill/>
        </p:spPr>
        <p:txBody>
          <a:bodyPr wrap="square" lIns="0" rIns="0" tIns="0" bIns="0">
            <a:spAutoFit/>
          </a:bodyPr>
          <a:lstStyle/>
          <a:p>
            <a:pPr algn="l">
              <a:spcBef>
                <a:spcPts val="0"/>
              </a:spcBef>
              <a:spcAft>
                <a:spcPts val="600"/>
              </a:spcAft>
            </a:pPr>
            <a:r>
              <a:rPr sz="1000" b="1" i="1">
                <a:solidFill>
                  <a:srgbClr val="D9A441"/>
                </a:solidFill>
                <a:latin typeface="Calibri"/>
              </a:rPr>
              <a:t>▸ Cross-version rebuilds cheap by design.</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41248" y="1874519"/>
            <a:ext cx="4663440" cy="4297680"/>
          </a:xfrm>
          <a:prstGeom prst="roundRect">
            <a:avLst>
              <a:gd name="adj" fmla="val 35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39112"/>
            <a:ext cx="4151375" cy="329184"/>
          </a:xfrm>
          <a:prstGeom prst="rect">
            <a:avLst/>
          </a:prstGeom>
          <a:noFill/>
        </p:spPr>
        <p:txBody>
          <a:bodyPr wrap="square" lIns="0" rIns="0" tIns="0" bIns="0">
            <a:spAutoFit/>
          </a:bodyPr>
          <a:lstStyle/>
          <a:p>
            <a:pPr algn="l">
              <a:spcBef>
                <a:spcPts val="0"/>
              </a:spcBef>
              <a:spcAft>
                <a:spcPts val="600"/>
              </a:spcAft>
            </a:pPr>
            <a:r>
              <a:rPr sz="1400" b="1" i="0">
                <a:solidFill>
                  <a:srgbClr val="6D28D9"/>
                </a:solidFill>
                <a:latin typeface="Calibri"/>
              </a:rPr>
              <a:t>Innovation highlights</a:t>
            </a:r>
          </a:p>
        </p:txBody>
      </p:sp>
      <p:sp>
        <p:nvSpPr>
          <p:cNvPr id="5" name="TextBox 4"/>
          <p:cNvSpPr txBox="1"/>
          <p:nvPr/>
        </p:nvSpPr>
        <p:spPr>
          <a:xfrm>
            <a:off x="1097280" y="2313432"/>
            <a:ext cx="4151375" cy="274320"/>
          </a:xfrm>
          <a:prstGeom prst="rect">
            <a:avLst/>
          </a:prstGeom>
          <a:noFill/>
        </p:spPr>
        <p:txBody>
          <a:bodyPr wrap="square" lIns="0" rIns="0" tIns="0" bIns="0">
            <a:spAutoFit/>
          </a:bodyPr>
          <a:lstStyle/>
          <a:p>
            <a:pPr algn="l">
              <a:lnSpc>
                <a:spcPct val="110000"/>
              </a:lnSpc>
              <a:spcBef>
                <a:spcPts val="0"/>
              </a:spcBef>
              <a:spcAft>
                <a:spcPts val="600"/>
              </a:spcAft>
            </a:pPr>
            <a:r>
              <a:rPr sz="1000" b="0" i="1">
                <a:solidFill>
                  <a:srgbClr val="6B6B76"/>
                </a:solidFill>
                <a:latin typeface="Calibri"/>
              </a:rPr>
              <a:t>Built and rigorously measured — kept only where the number agreed (see results →)</a:t>
            </a:r>
          </a:p>
        </p:txBody>
      </p:sp>
      <p:sp>
        <p:nvSpPr>
          <p:cNvPr id="6" name="TextBox 5"/>
          <p:cNvSpPr txBox="1"/>
          <p:nvPr/>
        </p:nvSpPr>
        <p:spPr>
          <a:xfrm>
            <a:off x="1097280" y="2651760"/>
            <a:ext cx="4151375" cy="1965960"/>
          </a:xfrm>
          <a:prstGeom prst="rect">
            <a:avLst/>
          </a:prstGeom>
          <a:noFill/>
        </p:spPr>
        <p:txBody>
          <a:bodyPr wrap="square" lIns="0" rIns="0" tIns="0" bIns="0">
            <a:spAutoFit/>
          </a:bodyPr>
          <a:lstStyle/>
          <a:p>
            <a:pPr algn="l">
              <a:lnSpc>
                <a:spcPct val="112000"/>
              </a:lnSpc>
              <a:spcBef>
                <a:spcPts val="0"/>
              </a:spcBef>
              <a:spcAft>
                <a:spcPts val="600"/>
              </a:spcAft>
            </a:pPr>
            <a:r>
              <a:rPr sz="1050" b="0" i="0">
                <a:solidFill>
                  <a:srgbClr val="33333D"/>
                </a:solidFill>
                <a:latin typeface="Calibri"/>
              </a:rPr>
              <a:t>—  Query→code compilation (code-flavored HyDE), LLM-free at eval time</a:t>
            </a:r>
          </a:p>
          <a:p>
            <a:pPr algn="l">
              <a:lnSpc>
                <a:spcPct val="112000"/>
              </a:lnSpc>
              <a:spcBef>
                <a:spcPts val="0"/>
              </a:spcBef>
              <a:spcAft>
                <a:spcPts val="600"/>
              </a:spcAft>
            </a:pPr>
            <a:r>
              <a:rPr sz="1050" b="0" i="0">
                <a:solidFill>
                  <a:srgbClr val="33333D"/>
                </a:solidFill>
                <a:latin typeface="Calibri"/>
              </a:rPr>
              <a:t>—  Multi-view snippet embedding: raw + AST-normalized + identifier bag</a:t>
            </a:r>
          </a:p>
          <a:p>
            <a:pPr algn="l">
              <a:lnSpc>
                <a:spcPct val="112000"/>
              </a:lnSpc>
              <a:spcBef>
                <a:spcPts val="0"/>
              </a:spcBef>
              <a:spcAft>
                <a:spcPts val="600"/>
              </a:spcAft>
            </a:pPr>
            <a:r>
              <a:rPr sz="1050" b="0" i="0">
                <a:solidFill>
                  <a:srgbClr val="33333D"/>
                </a:solidFill>
                <a:latin typeface="Calibri"/>
              </a:rPr>
              <a:t>—  Keyword front-loading: salient signals survive a 256-token tokenizer cap</a:t>
            </a:r>
          </a:p>
          <a:p>
            <a:pPr algn="l">
              <a:lnSpc>
                <a:spcPct val="112000"/>
              </a:lnSpc>
              <a:spcBef>
                <a:spcPts val="0"/>
              </a:spcBef>
              <a:spcAft>
                <a:spcPts val="600"/>
              </a:spcAft>
            </a:pPr>
            <a:r>
              <a:rPr sz="1050" b="0" i="0">
                <a:solidFill>
                  <a:srgbClr val="33333D"/>
                </a:solidFill>
                <a:latin typeface="Calibri"/>
              </a:rPr>
              <a:t>—  Stable-core + version-delta representation for cross-version retrieval</a:t>
            </a:r>
          </a:p>
          <a:p>
            <a:pPr algn="l">
              <a:lnSpc>
                <a:spcPct val="112000"/>
              </a:lnSpc>
              <a:spcBef>
                <a:spcPts val="0"/>
              </a:spcBef>
              <a:spcAft>
                <a:spcPts val="600"/>
              </a:spcAft>
            </a:pPr>
            <a:r>
              <a:rPr sz="1050" b="0" i="0">
                <a:solidFill>
                  <a:srgbClr val="33333D"/>
                </a:solidFill>
                <a:latin typeface="Calibri"/>
              </a:rPr>
              <a:t>—  Content-addressed versioned index — rebuilds only what changed</a:t>
            </a:r>
          </a:p>
        </p:txBody>
      </p:sp>
      <p:sp>
        <p:nvSpPr>
          <p:cNvPr id="7" name="Rounded Rectangle 6"/>
          <p:cNvSpPr/>
          <p:nvPr/>
        </p:nvSpPr>
        <p:spPr>
          <a:xfrm>
            <a:off x="950976" y="4754879"/>
            <a:ext cx="4443983" cy="1371600"/>
          </a:xfrm>
          <a:prstGeom prst="roundRect">
            <a:avLst>
              <a:gd name="adj" fmla="val 6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46319"/>
            <a:ext cx="4151375" cy="256032"/>
          </a:xfrm>
          <a:prstGeom prst="rect">
            <a:avLst/>
          </a:prstGeom>
          <a:noFill/>
        </p:spPr>
        <p:txBody>
          <a:bodyPr wrap="square" lIns="0" rIns="0" tIns="0" bIns="0">
            <a:spAutoFit/>
          </a:bodyPr>
          <a:lstStyle/>
          <a:p>
            <a:pPr algn="l">
              <a:spcBef>
                <a:spcPts val="0"/>
              </a:spcBef>
              <a:spcAft>
                <a:spcPts val="600"/>
              </a:spcAft>
            </a:pPr>
            <a:r>
              <a:rPr sz="850" b="1" i="0">
                <a:solidFill>
                  <a:srgbClr val="6D28D9"/>
                </a:solidFill>
                <a:latin typeface="Calibri"/>
              </a:rPr>
              <a:t>THE DISCIPLINE THAT PRODUCED THAT NUMBER</a:t>
            </a:r>
          </a:p>
        </p:txBody>
      </p:sp>
      <p:sp>
        <p:nvSpPr>
          <p:cNvPr id="9" name="Rounded Rectangle 8"/>
          <p:cNvSpPr/>
          <p:nvPr/>
        </p:nvSpPr>
        <p:spPr>
          <a:xfrm>
            <a:off x="1115568" y="5138927"/>
            <a:ext cx="932688" cy="91440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5230367"/>
            <a:ext cx="841248" cy="731520"/>
          </a:xfrm>
          <a:prstGeom prst="rect">
            <a:avLst/>
          </a:prstGeom>
          <a:noFill/>
        </p:spPr>
        <p:txBody>
          <a:bodyPr wrap="square" lIns="0" rIns="0" tIns="0" bIns="0" anchor="ctr">
            <a:spAutoFit/>
          </a:bodyPr>
          <a:lstStyle/>
          <a:p>
            <a:pPr algn="ctr">
              <a:lnSpc>
                <a:spcPct val="105000"/>
              </a:lnSpc>
              <a:spcBef>
                <a:spcPts val="0"/>
              </a:spcBef>
              <a:spcAft>
                <a:spcPts val="100"/>
              </a:spcAft>
            </a:pPr>
            <a:r>
              <a:rPr sz="1000" b="1" i="0">
                <a:solidFill>
                  <a:srgbClr val="6D28D9"/>
                </a:solidFill>
                <a:latin typeface="Calibri"/>
              </a:rPr>
              <a:t>Propose</a:t>
            </a:r>
          </a:p>
          <a:p>
            <a:pPr algn="ctr">
              <a:lnSpc>
                <a:spcPct val="110000"/>
              </a:lnSpc>
              <a:spcBef>
                <a:spcPts val="0"/>
              </a:spcBef>
              <a:spcAft>
                <a:spcPts val="600"/>
              </a:spcAft>
            </a:pPr>
            <a:r>
              <a:rPr sz="800" b="0" i="0">
                <a:solidFill>
                  <a:srgbClr val="6B6B76"/>
                </a:solidFill>
                <a:latin typeface="Calibri"/>
              </a:rPr>
              <a:t>one config</a:t>
            </a:r>
          </a:p>
        </p:txBody>
      </p:sp>
      <p:sp>
        <p:nvSpPr>
          <p:cNvPr id="11" name="TextBox 10"/>
          <p:cNvSpPr txBox="1"/>
          <p:nvPr/>
        </p:nvSpPr>
        <p:spPr>
          <a:xfrm>
            <a:off x="2039112" y="5468112"/>
            <a:ext cx="146304" cy="274320"/>
          </a:xfrm>
          <a:prstGeom prst="rect">
            <a:avLst/>
          </a:prstGeom>
          <a:noFill/>
        </p:spPr>
        <p:txBody>
          <a:bodyPr wrap="square" lIns="0" rIns="0" tIns="0" bIns="0" anchor="ctr">
            <a:spAutoFit/>
          </a:bodyPr>
          <a:lstStyle/>
          <a:p>
            <a:pPr algn="ctr">
              <a:spcBef>
                <a:spcPts val="0"/>
              </a:spcBef>
              <a:spcAft>
                <a:spcPts val="600"/>
              </a:spcAft>
            </a:pPr>
            <a:r>
              <a:rPr sz="1300" b="1" i="0">
                <a:solidFill>
                  <a:srgbClr val="6B6B76"/>
                </a:solidFill>
                <a:latin typeface="Calibri"/>
              </a:rPr>
              <a:t>›</a:t>
            </a:r>
          </a:p>
        </p:txBody>
      </p:sp>
      <p:sp>
        <p:nvSpPr>
          <p:cNvPr id="12" name="Rounded Rectangle 11"/>
          <p:cNvSpPr/>
          <p:nvPr/>
        </p:nvSpPr>
        <p:spPr>
          <a:xfrm>
            <a:off x="2176272" y="5138927"/>
            <a:ext cx="932688" cy="91440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21991" y="5230367"/>
            <a:ext cx="841248" cy="731520"/>
          </a:xfrm>
          <a:prstGeom prst="rect">
            <a:avLst/>
          </a:prstGeom>
          <a:noFill/>
        </p:spPr>
        <p:txBody>
          <a:bodyPr wrap="square" lIns="0" rIns="0" tIns="0" bIns="0" anchor="ctr">
            <a:spAutoFit/>
          </a:bodyPr>
          <a:lstStyle/>
          <a:p>
            <a:pPr algn="ctr">
              <a:lnSpc>
                <a:spcPct val="105000"/>
              </a:lnSpc>
              <a:spcBef>
                <a:spcPts val="0"/>
              </a:spcBef>
              <a:spcAft>
                <a:spcPts val="100"/>
              </a:spcAft>
            </a:pPr>
            <a:r>
              <a:rPr sz="1000" b="1" i="0">
                <a:solidFill>
                  <a:srgbClr val="6D28D9"/>
                </a:solidFill>
                <a:latin typeface="Calibri"/>
              </a:rPr>
              <a:t>Measure</a:t>
            </a:r>
          </a:p>
          <a:p>
            <a:pPr algn="ctr">
              <a:lnSpc>
                <a:spcPct val="110000"/>
              </a:lnSpc>
              <a:spcBef>
                <a:spcPts val="0"/>
              </a:spcBef>
              <a:spcAft>
                <a:spcPts val="600"/>
              </a:spcAft>
            </a:pPr>
            <a:r>
              <a:rPr sz="800" b="0" i="0">
                <a:solidFill>
                  <a:srgbClr val="6B6B76"/>
                </a:solidFill>
                <a:latin typeface="Calibri"/>
              </a:rPr>
              <a:t>NDCG@10 on real split</a:t>
            </a:r>
          </a:p>
        </p:txBody>
      </p:sp>
      <p:sp>
        <p:nvSpPr>
          <p:cNvPr id="14" name="TextBox 13"/>
          <p:cNvSpPr txBox="1"/>
          <p:nvPr/>
        </p:nvSpPr>
        <p:spPr>
          <a:xfrm>
            <a:off x="3099815" y="5468112"/>
            <a:ext cx="146304" cy="274320"/>
          </a:xfrm>
          <a:prstGeom prst="rect">
            <a:avLst/>
          </a:prstGeom>
          <a:noFill/>
        </p:spPr>
        <p:txBody>
          <a:bodyPr wrap="square" lIns="0" rIns="0" tIns="0" bIns="0" anchor="ctr">
            <a:spAutoFit/>
          </a:bodyPr>
          <a:lstStyle/>
          <a:p>
            <a:pPr algn="ctr">
              <a:spcBef>
                <a:spcPts val="0"/>
              </a:spcBef>
              <a:spcAft>
                <a:spcPts val="600"/>
              </a:spcAft>
            </a:pPr>
            <a:r>
              <a:rPr sz="1300" b="1" i="0">
                <a:solidFill>
                  <a:srgbClr val="6B6B76"/>
                </a:solidFill>
                <a:latin typeface="Calibri"/>
              </a:rPr>
              <a:t>›</a:t>
            </a:r>
          </a:p>
        </p:txBody>
      </p:sp>
      <p:sp>
        <p:nvSpPr>
          <p:cNvPr id="15" name="Rounded Rectangle 14"/>
          <p:cNvSpPr/>
          <p:nvPr/>
        </p:nvSpPr>
        <p:spPr>
          <a:xfrm>
            <a:off x="3236976" y="5138927"/>
            <a:ext cx="932688" cy="91440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2696" y="5230367"/>
            <a:ext cx="841248" cy="731520"/>
          </a:xfrm>
          <a:prstGeom prst="rect">
            <a:avLst/>
          </a:prstGeom>
          <a:noFill/>
        </p:spPr>
        <p:txBody>
          <a:bodyPr wrap="square" lIns="0" rIns="0" tIns="0" bIns="0" anchor="ctr">
            <a:spAutoFit/>
          </a:bodyPr>
          <a:lstStyle/>
          <a:p>
            <a:pPr algn="ctr">
              <a:lnSpc>
                <a:spcPct val="105000"/>
              </a:lnSpc>
              <a:spcBef>
                <a:spcPts val="0"/>
              </a:spcBef>
              <a:spcAft>
                <a:spcPts val="100"/>
              </a:spcAft>
            </a:pPr>
            <a:r>
              <a:rPr sz="1000" b="1" i="0">
                <a:solidFill>
                  <a:srgbClr val="6D28D9"/>
                </a:solidFill>
                <a:latin typeface="Calibri"/>
              </a:rPr>
              <a:t>Compare</a:t>
            </a:r>
          </a:p>
          <a:p>
            <a:pPr algn="ctr">
              <a:lnSpc>
                <a:spcPct val="110000"/>
              </a:lnSpc>
              <a:spcBef>
                <a:spcPts val="0"/>
              </a:spcBef>
              <a:spcAft>
                <a:spcPts val="600"/>
              </a:spcAft>
            </a:pPr>
            <a:r>
              <a:rPr sz="800" b="0" i="0">
                <a:solidFill>
                  <a:srgbClr val="6B6B76"/>
                </a:solidFill>
                <a:latin typeface="Calibri"/>
              </a:rPr>
              <a:t>vs live baseline</a:t>
            </a:r>
          </a:p>
        </p:txBody>
      </p:sp>
      <p:sp>
        <p:nvSpPr>
          <p:cNvPr id="17" name="TextBox 16"/>
          <p:cNvSpPr txBox="1"/>
          <p:nvPr/>
        </p:nvSpPr>
        <p:spPr>
          <a:xfrm>
            <a:off x="4160520" y="5468112"/>
            <a:ext cx="146304" cy="274320"/>
          </a:xfrm>
          <a:prstGeom prst="rect">
            <a:avLst/>
          </a:prstGeom>
          <a:noFill/>
        </p:spPr>
        <p:txBody>
          <a:bodyPr wrap="square" lIns="0" rIns="0" tIns="0" bIns="0" anchor="ctr">
            <a:spAutoFit/>
          </a:bodyPr>
          <a:lstStyle/>
          <a:p>
            <a:pPr algn="ctr">
              <a:spcBef>
                <a:spcPts val="0"/>
              </a:spcBef>
              <a:spcAft>
                <a:spcPts val="600"/>
              </a:spcAft>
            </a:pPr>
            <a:r>
              <a:rPr sz="1300" b="1" i="0">
                <a:solidFill>
                  <a:srgbClr val="6B6B76"/>
                </a:solidFill>
                <a:latin typeface="Calibri"/>
              </a:rPr>
              <a:t>›</a:t>
            </a:r>
          </a:p>
        </p:txBody>
      </p:sp>
      <p:sp>
        <p:nvSpPr>
          <p:cNvPr id="18" name="Rounded Rectangle 17"/>
          <p:cNvSpPr/>
          <p:nvPr/>
        </p:nvSpPr>
        <p:spPr>
          <a:xfrm>
            <a:off x="4297680" y="5138927"/>
            <a:ext cx="932688" cy="914400"/>
          </a:xfrm>
          <a:prstGeom prst="roundRect">
            <a:avLst>
              <a:gd name="adj" fmla="val 6000"/>
            </a:avLst>
          </a:prstGeom>
          <a:solidFill>
            <a:srgbClr val="D9A441"/>
          </a:solidFill>
          <a:ln w="12700">
            <a:solidFill>
              <a:srgbClr val="D9A4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5230367"/>
            <a:ext cx="841248" cy="731520"/>
          </a:xfrm>
          <a:prstGeom prst="rect">
            <a:avLst/>
          </a:prstGeom>
          <a:noFill/>
        </p:spPr>
        <p:txBody>
          <a:bodyPr wrap="square" lIns="0" rIns="0" tIns="0" bIns="0" anchor="ctr">
            <a:spAutoFit/>
          </a:bodyPr>
          <a:lstStyle/>
          <a:p>
            <a:pPr algn="ctr">
              <a:lnSpc>
                <a:spcPct val="105000"/>
              </a:lnSpc>
              <a:spcBef>
                <a:spcPts val="0"/>
              </a:spcBef>
              <a:spcAft>
                <a:spcPts val="100"/>
              </a:spcAft>
            </a:pPr>
            <a:r>
              <a:rPr sz="1000" b="1" i="0">
                <a:solidFill>
                  <a:srgbClr val="14142B"/>
                </a:solidFill>
                <a:latin typeface="Calibri"/>
              </a:rPr>
              <a:t>Keep or drop</a:t>
            </a:r>
          </a:p>
          <a:p>
            <a:pPr algn="ctr">
              <a:lnSpc>
                <a:spcPct val="110000"/>
              </a:lnSpc>
              <a:spcBef>
                <a:spcPts val="0"/>
              </a:spcBef>
              <a:spcAft>
                <a:spcPts val="600"/>
              </a:spcAft>
            </a:pPr>
            <a:r>
              <a:rPr sz="800" b="0" i="0">
                <a:solidFill>
                  <a:srgbClr val="33333D"/>
                </a:solidFill>
                <a:latin typeface="Calibri"/>
              </a:rPr>
              <a:t>no drift, ever</a:t>
            </a:r>
          </a:p>
        </p:txBody>
      </p:sp>
      <p:sp>
        <p:nvSpPr>
          <p:cNvPr id="20" name="TextBox 19"/>
          <p:cNvSpPr txBox="1"/>
          <p:nvPr/>
        </p:nvSpPr>
        <p:spPr>
          <a:xfrm>
            <a:off x="5824727" y="1874519"/>
            <a:ext cx="5532120" cy="320040"/>
          </a:xfrm>
          <a:prstGeom prst="rect">
            <a:avLst/>
          </a:prstGeom>
          <a:noFill/>
        </p:spPr>
        <p:txBody>
          <a:bodyPr wrap="square" lIns="0" rIns="0" tIns="0" bIns="0">
            <a:spAutoFit/>
          </a:bodyPr>
          <a:lstStyle/>
          <a:p>
            <a:pPr algn="l">
              <a:spcBef>
                <a:spcPts val="0"/>
              </a:spcBef>
              <a:spcAft>
                <a:spcPts val="600"/>
              </a:spcAft>
            </a:pPr>
            <a:r>
              <a:rPr sz="1100" b="1" i="0">
                <a:solidFill>
                  <a:srgbClr val="6D28D9"/>
                </a:solidFill>
                <a:latin typeface="Calibri"/>
              </a:rPr>
              <a:t>NDCG@10, real CoIR AppsRetrieval split  ·  10 configs, 1 kept</a:t>
            </a:r>
          </a:p>
        </p:txBody>
      </p:sp>
      <p:sp>
        <p:nvSpPr>
          <p:cNvPr id="21" name="TextBox 20"/>
          <p:cNvSpPr txBox="1"/>
          <p:nvPr/>
        </p:nvSpPr>
        <p:spPr>
          <a:xfrm>
            <a:off x="5824727" y="2167127"/>
            <a:ext cx="5532120" cy="274320"/>
          </a:xfrm>
          <a:prstGeom prst="rect">
            <a:avLst/>
          </a:prstGeom>
          <a:noFill/>
        </p:spPr>
        <p:txBody>
          <a:bodyPr wrap="square" lIns="0" rIns="0" tIns="0" bIns="0">
            <a:spAutoFit/>
          </a:bodyPr>
          <a:lstStyle/>
          <a:p>
            <a:pPr algn="l">
              <a:spcBef>
                <a:spcPts val="0"/>
              </a:spcBef>
              <a:spcAft>
                <a:spcPts val="600"/>
              </a:spcAft>
            </a:pPr>
            <a:r>
              <a:rPr sz="1000" b="0" i="1">
                <a:solidFill>
                  <a:srgbClr val="6B6B76"/>
                </a:solidFill>
                <a:latin typeface="Calibri"/>
              </a:rPr>
              <a:t>Submitted: e5-base-v2 — MRR@10 0.0986 (baseline 0.0561).</a:t>
            </a:r>
          </a:p>
        </p:txBody>
      </p:sp>
      <p:pic>
        <p:nvPicPr>
          <p:cNvPr id="22" name="Picture 21" descr="ablation_chart.png"/>
          <p:cNvPicPr>
            <a:picLocks noChangeAspect="1"/>
          </p:cNvPicPr>
          <p:nvPr/>
        </p:nvPicPr>
        <p:blipFill>
          <a:blip r:embed="rId2"/>
          <a:stretch>
            <a:fillRect/>
          </a:stretch>
        </p:blipFill>
        <p:spPr>
          <a:xfrm>
            <a:off x="6130515" y="2478024"/>
            <a:ext cx="4920545" cy="2642615"/>
          </a:xfrm>
          <a:prstGeom prst="rect">
            <a:avLst/>
          </a:prstGeom>
        </p:spPr>
      </p:pic>
      <p:sp>
        <p:nvSpPr>
          <p:cNvPr id="23" name="Rounded Rectangle 22"/>
          <p:cNvSpPr/>
          <p:nvPr/>
        </p:nvSpPr>
        <p:spPr>
          <a:xfrm>
            <a:off x="5824727" y="5212079"/>
            <a:ext cx="5532120" cy="960120"/>
          </a:xfrm>
          <a:prstGeom prst="roundRect">
            <a:avLst>
              <a:gd name="adj" fmla="val 6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53327" y="5285231"/>
            <a:ext cx="5074920" cy="256032"/>
          </a:xfrm>
          <a:prstGeom prst="rect">
            <a:avLst/>
          </a:prstGeom>
          <a:noFill/>
        </p:spPr>
        <p:txBody>
          <a:bodyPr wrap="square" lIns="0" rIns="0" tIns="0" bIns="0">
            <a:spAutoFit/>
          </a:bodyPr>
          <a:lstStyle/>
          <a:p>
            <a:pPr algn="l">
              <a:spcBef>
                <a:spcPts val="0"/>
              </a:spcBef>
              <a:spcAft>
                <a:spcPts val="600"/>
              </a:spcAft>
            </a:pPr>
            <a:r>
              <a:rPr sz="1200" b="1" i="0">
                <a:solidFill>
                  <a:srgbClr val="14142B"/>
                </a:solidFill>
                <a:latin typeface="Calibri"/>
              </a:rPr>
              <a:t>Limitations — stated up front</a:t>
            </a:r>
          </a:p>
        </p:txBody>
      </p:sp>
      <p:sp>
        <p:nvSpPr>
          <p:cNvPr id="25" name="TextBox 24"/>
          <p:cNvSpPr txBox="1"/>
          <p:nvPr/>
        </p:nvSpPr>
        <p:spPr>
          <a:xfrm>
            <a:off x="6053327" y="5559551"/>
            <a:ext cx="5074920" cy="557784"/>
          </a:xfrm>
          <a:prstGeom prst="rect">
            <a:avLst/>
          </a:prstGeom>
          <a:noFill/>
        </p:spPr>
        <p:txBody>
          <a:bodyPr wrap="square" lIns="0" rIns="0" tIns="0" bIns="0">
            <a:spAutoFit/>
          </a:bodyPr>
          <a:lstStyle/>
          <a:p>
            <a:pPr algn="l">
              <a:lnSpc>
                <a:spcPct val="105000"/>
              </a:lnSpc>
              <a:spcBef>
                <a:spcPts val="0"/>
              </a:spcBef>
              <a:spcAft>
                <a:spcPts val="200"/>
              </a:spcAft>
            </a:pPr>
            <a:r>
              <a:rPr sz="1000" b="0" i="0">
                <a:solidFill>
                  <a:srgbClr val="33333D"/>
                </a:solidFill>
                <a:latin typeface="Calibri"/>
              </a:rPr>
              <a:t>—  CPU-only caps model size by design — the trade this theme asks for</a:t>
            </a:r>
          </a:p>
          <a:p>
            <a:pPr algn="l">
              <a:lnSpc>
                <a:spcPct val="105000"/>
              </a:lnSpc>
              <a:spcBef>
                <a:spcPts val="0"/>
              </a:spcBef>
              <a:spcAft>
                <a:spcPts val="200"/>
              </a:spcAft>
            </a:pPr>
            <a:r>
              <a:rPr sz="1000" b="0" i="0">
                <a:solidFill>
                  <a:srgbClr val="33333D"/>
                </a:solidFill>
                <a:latin typeface="Calibri"/>
              </a:rPr>
              <a:t>—  Larger retrieval models (e.g. e5-large) untested — ~3× the CPU time</a:t>
            </a:r>
          </a:p>
          <a:p>
            <a:pPr algn="l">
              <a:lnSpc>
                <a:spcPct val="105000"/>
              </a:lnSpc>
              <a:spcBef>
                <a:spcPts val="0"/>
              </a:spcBef>
              <a:spcAft>
                <a:spcPts val="200"/>
              </a:spcAft>
            </a:pPr>
            <a:r>
              <a:rPr sz="1000" b="0" i="0">
                <a:solidFill>
                  <a:srgbClr val="33333D"/>
                </a:solidFill>
                <a:latin typeface="Calibri"/>
              </a:rPr>
              <a:t>—  HyDE, multi-view, front-load not yet re-measured on top of e5</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Rounded Rectangle 2"/>
          <p:cNvSpPr/>
          <p:nvPr/>
        </p:nvSpPr>
        <p:spPr>
          <a:xfrm>
            <a:off x="841248" y="1874519"/>
            <a:ext cx="10515600" cy="914400"/>
          </a:xfrm>
          <a:prstGeom prst="roundRect">
            <a:avLst>
              <a:gd name="adj" fmla="val 8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1965960"/>
            <a:ext cx="9966960" cy="256032"/>
          </a:xfrm>
          <a:prstGeom prst="rect">
            <a:avLst/>
          </a:prstGeom>
          <a:noFill/>
        </p:spPr>
        <p:txBody>
          <a:bodyPr wrap="square" lIns="0" rIns="0" tIns="0" bIns="0">
            <a:spAutoFit/>
          </a:bodyPr>
          <a:lstStyle/>
          <a:p>
            <a:pPr algn="l">
              <a:spcBef>
                <a:spcPts val="0"/>
              </a:spcBef>
              <a:spcAft>
                <a:spcPts val="600"/>
              </a:spcAft>
            </a:pPr>
            <a:r>
              <a:rPr sz="950" b="1" i="0">
                <a:solidFill>
                  <a:srgbClr val="6D28D9"/>
                </a:solidFill>
                <a:latin typeface="Calibri"/>
              </a:rPr>
              <a:t>WHAT THE ABLATION TAUGHT US</a:t>
            </a:r>
          </a:p>
        </p:txBody>
      </p:sp>
      <p:sp>
        <p:nvSpPr>
          <p:cNvPr id="5" name="TextBox 4"/>
          <p:cNvSpPr txBox="1"/>
          <p:nvPr/>
        </p:nvSpPr>
        <p:spPr>
          <a:xfrm>
            <a:off x="1115568" y="2203703"/>
            <a:ext cx="9966960" cy="512064"/>
          </a:xfrm>
          <a:prstGeom prst="rect">
            <a:avLst/>
          </a:prstGeom>
          <a:noFill/>
        </p:spPr>
        <p:txBody>
          <a:bodyPr wrap="square" lIns="0" rIns="0" tIns="0" bIns="0">
            <a:spAutoFit/>
          </a:bodyPr>
          <a:lstStyle/>
          <a:p>
            <a:pPr algn="l">
              <a:lnSpc>
                <a:spcPct val="120000"/>
              </a:lnSpc>
              <a:spcBef>
                <a:spcPts val="0"/>
              </a:spcBef>
              <a:spcAft>
                <a:spcPts val="600"/>
              </a:spcAft>
            </a:pPr>
            <a:r>
              <a:rPr sz="1100" b="0" i="0">
                <a:solidFill>
                  <a:srgbClr val="33333D"/>
                </a:solidFill>
                <a:latin typeface="Calibri"/>
              </a:rPr>
              <a:t>Ten configs on the real split. The winner, e5-base-v2, is the same size as mpnet but trained for query→passage retrieval: +73.9% over baseline, +33.7% over mpnet. Every code-specialized swap (CodeSearchNet, UniXcoder) lost — the roadmap follows that evidence.</a:t>
            </a:r>
          </a:p>
        </p:txBody>
      </p:sp>
      <p:cxnSp>
        <p:nvCxnSpPr>
          <p:cNvPr id="6" name="Connector 5"/>
          <p:cNvCxnSpPr/>
          <p:nvPr/>
        </p:nvCxnSpPr>
        <p:spPr>
          <a:xfrm>
            <a:off x="2475738" y="3337560"/>
            <a:ext cx="7246620" cy="0"/>
          </a:xfrm>
          <a:prstGeom prst="line">
            <a:avLst/>
          </a:prstGeom>
          <a:ln w="31750">
            <a:solidFill>
              <a:srgbClr val="D9D3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835657" y="3017520"/>
            <a:ext cx="640080" cy="64008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Calibri"/>
              </a:rPr>
              <a:t>1</a:t>
            </a:r>
          </a:p>
        </p:txBody>
      </p:sp>
      <p:sp>
        <p:nvSpPr>
          <p:cNvPr id="8" name="TextBox 7"/>
          <p:cNvSpPr txBox="1"/>
          <p:nvPr/>
        </p:nvSpPr>
        <p:spPr>
          <a:xfrm>
            <a:off x="932688" y="3931920"/>
            <a:ext cx="2446020" cy="320040"/>
          </a:xfrm>
          <a:prstGeom prst="rect">
            <a:avLst/>
          </a:prstGeom>
          <a:noFill/>
        </p:spPr>
        <p:txBody>
          <a:bodyPr wrap="square" lIns="0" rIns="0" tIns="0" bIns="0">
            <a:spAutoFit/>
          </a:bodyPr>
          <a:lstStyle/>
          <a:p>
            <a:pPr algn="ctr">
              <a:lnSpc>
                <a:spcPct val="110000"/>
              </a:lnSpc>
              <a:spcBef>
                <a:spcPts val="0"/>
              </a:spcBef>
              <a:spcAft>
                <a:spcPts val="600"/>
              </a:spcAft>
            </a:pPr>
            <a:r>
              <a:rPr sz="1350" b="1" i="0">
                <a:solidFill>
                  <a:srgbClr val="14142B"/>
                </a:solidFill>
                <a:latin typeface="Calibri"/>
              </a:rPr>
              <a:t>Re-test on e5</a:t>
            </a:r>
          </a:p>
        </p:txBody>
      </p:sp>
      <p:sp>
        <p:nvSpPr>
          <p:cNvPr id="9" name="Rounded Rectangle 8"/>
          <p:cNvSpPr/>
          <p:nvPr/>
        </p:nvSpPr>
        <p:spPr>
          <a:xfrm>
            <a:off x="1835657" y="4315968"/>
            <a:ext cx="640080" cy="219456"/>
          </a:xfrm>
          <a:prstGeom prst="roundRect">
            <a:avLst>
              <a:gd name="adj" fmla="val 4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35657" y="4315968"/>
            <a:ext cx="640080" cy="219456"/>
          </a:xfrm>
          <a:prstGeom prst="rect">
            <a:avLst/>
          </a:prstGeom>
          <a:noFill/>
        </p:spPr>
        <p:txBody>
          <a:bodyPr wrap="square" lIns="0" rIns="0" tIns="0" bIns="0" anchor="ctr">
            <a:spAutoFit/>
          </a:bodyPr>
          <a:lstStyle/>
          <a:p>
            <a:pPr algn="ctr">
              <a:spcBef>
                <a:spcPts val="0"/>
              </a:spcBef>
              <a:spcAft>
                <a:spcPts val="600"/>
              </a:spcAft>
            </a:pPr>
            <a:r>
              <a:rPr sz="800" b="1" i="0">
                <a:solidFill>
                  <a:srgbClr val="FFFFFF"/>
                </a:solidFill>
                <a:latin typeface="Calibri"/>
              </a:rPr>
              <a:t>HIGH</a:t>
            </a:r>
          </a:p>
        </p:txBody>
      </p:sp>
      <p:sp>
        <p:nvSpPr>
          <p:cNvPr id="11" name="TextBox 10"/>
          <p:cNvSpPr txBox="1"/>
          <p:nvPr/>
        </p:nvSpPr>
        <p:spPr>
          <a:xfrm>
            <a:off x="932688" y="4617720"/>
            <a:ext cx="2446020" cy="1371600"/>
          </a:xfrm>
          <a:prstGeom prst="rect">
            <a:avLst/>
          </a:prstGeom>
          <a:noFill/>
        </p:spPr>
        <p:txBody>
          <a:bodyPr wrap="square" lIns="0" rIns="0" tIns="0" bIns="0">
            <a:spAutoFit/>
          </a:bodyPr>
          <a:lstStyle/>
          <a:p>
            <a:pPr algn="ctr">
              <a:lnSpc>
                <a:spcPct val="125000"/>
              </a:lnSpc>
              <a:spcBef>
                <a:spcPts val="0"/>
              </a:spcBef>
              <a:spcAft>
                <a:spcPts val="600"/>
              </a:spcAft>
            </a:pPr>
            <a:r>
              <a:rPr sz="1050" b="0" i="0">
                <a:solidFill>
                  <a:srgbClr val="6B6B76"/>
                </a:solidFill>
                <a:latin typeface="Calibri"/>
              </a:rPr>
              <a:t>HyDE, multi-view and front-loading lost on MiniLM; the stronger e5 encoder may use them differently.</a:t>
            </a:r>
          </a:p>
        </p:txBody>
      </p:sp>
      <p:sp>
        <p:nvSpPr>
          <p:cNvPr id="12" name="Oval 11"/>
          <p:cNvSpPr/>
          <p:nvPr/>
        </p:nvSpPr>
        <p:spPr>
          <a:xfrm>
            <a:off x="4464558" y="3017520"/>
            <a:ext cx="640080" cy="64008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Calibri"/>
              </a:rPr>
              <a:t>2</a:t>
            </a:r>
          </a:p>
        </p:txBody>
      </p:sp>
      <p:sp>
        <p:nvSpPr>
          <p:cNvPr id="13" name="TextBox 12"/>
          <p:cNvSpPr txBox="1"/>
          <p:nvPr/>
        </p:nvSpPr>
        <p:spPr>
          <a:xfrm>
            <a:off x="3561588" y="3931920"/>
            <a:ext cx="2446020" cy="320040"/>
          </a:xfrm>
          <a:prstGeom prst="rect">
            <a:avLst/>
          </a:prstGeom>
          <a:noFill/>
        </p:spPr>
        <p:txBody>
          <a:bodyPr wrap="square" lIns="0" rIns="0" tIns="0" bIns="0">
            <a:spAutoFit/>
          </a:bodyPr>
          <a:lstStyle/>
          <a:p>
            <a:pPr algn="ctr">
              <a:lnSpc>
                <a:spcPct val="110000"/>
              </a:lnSpc>
              <a:spcBef>
                <a:spcPts val="0"/>
              </a:spcBef>
              <a:spcAft>
                <a:spcPts val="600"/>
              </a:spcAft>
            </a:pPr>
            <a:r>
              <a:rPr sz="1350" b="1" i="0">
                <a:solidFill>
                  <a:srgbClr val="14142B"/>
                </a:solidFill>
                <a:latin typeface="Calibri"/>
              </a:rPr>
              <a:t>Scale the winner</a:t>
            </a:r>
          </a:p>
        </p:txBody>
      </p:sp>
      <p:sp>
        <p:nvSpPr>
          <p:cNvPr id="14" name="Rounded Rectangle 13"/>
          <p:cNvSpPr/>
          <p:nvPr/>
        </p:nvSpPr>
        <p:spPr>
          <a:xfrm>
            <a:off x="4464558" y="4315968"/>
            <a:ext cx="640080" cy="219456"/>
          </a:xfrm>
          <a:prstGeom prst="roundRect">
            <a:avLst>
              <a:gd name="adj" fmla="val 40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4558" y="4315968"/>
            <a:ext cx="640080" cy="219456"/>
          </a:xfrm>
          <a:prstGeom prst="rect">
            <a:avLst/>
          </a:prstGeom>
          <a:noFill/>
        </p:spPr>
        <p:txBody>
          <a:bodyPr wrap="square" lIns="0" rIns="0" tIns="0" bIns="0" anchor="ctr">
            <a:spAutoFit/>
          </a:bodyPr>
          <a:lstStyle/>
          <a:p>
            <a:pPr algn="ctr">
              <a:spcBef>
                <a:spcPts val="0"/>
              </a:spcBef>
              <a:spcAft>
                <a:spcPts val="600"/>
              </a:spcAft>
            </a:pPr>
            <a:r>
              <a:rPr sz="800" b="1" i="0">
                <a:solidFill>
                  <a:srgbClr val="FFFFFF"/>
                </a:solidFill>
                <a:latin typeface="Calibri"/>
              </a:rPr>
              <a:t>MED</a:t>
            </a:r>
          </a:p>
        </p:txBody>
      </p:sp>
      <p:sp>
        <p:nvSpPr>
          <p:cNvPr id="16" name="TextBox 15"/>
          <p:cNvSpPr txBox="1"/>
          <p:nvPr/>
        </p:nvSpPr>
        <p:spPr>
          <a:xfrm>
            <a:off x="3561588" y="4617720"/>
            <a:ext cx="2446020" cy="1371600"/>
          </a:xfrm>
          <a:prstGeom prst="rect">
            <a:avLst/>
          </a:prstGeom>
          <a:noFill/>
        </p:spPr>
        <p:txBody>
          <a:bodyPr wrap="square" lIns="0" rIns="0" tIns="0" bIns="0">
            <a:spAutoFit/>
          </a:bodyPr>
          <a:lstStyle/>
          <a:p>
            <a:pPr algn="ctr">
              <a:lnSpc>
                <a:spcPct val="125000"/>
              </a:lnSpc>
              <a:spcBef>
                <a:spcPts val="0"/>
              </a:spcBef>
              <a:spcAft>
                <a:spcPts val="600"/>
              </a:spcAft>
            </a:pPr>
            <a:r>
              <a:rPr sz="1050" b="0" i="0">
                <a:solidFill>
                  <a:srgbClr val="6B6B76"/>
                </a:solidFill>
                <a:latin typeface="Calibri"/>
              </a:rPr>
              <a:t>e5-large-v2 is the natural next test, at roughly 3× the CPU time.</a:t>
            </a:r>
          </a:p>
        </p:txBody>
      </p:sp>
      <p:sp>
        <p:nvSpPr>
          <p:cNvPr id="17" name="Oval 16"/>
          <p:cNvSpPr/>
          <p:nvPr/>
        </p:nvSpPr>
        <p:spPr>
          <a:xfrm>
            <a:off x="7093458" y="3017520"/>
            <a:ext cx="640080" cy="64008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Calibri"/>
              </a:rPr>
              <a:t>3</a:t>
            </a:r>
          </a:p>
        </p:txBody>
      </p:sp>
      <p:sp>
        <p:nvSpPr>
          <p:cNvPr id="18" name="TextBox 17"/>
          <p:cNvSpPr txBox="1"/>
          <p:nvPr/>
        </p:nvSpPr>
        <p:spPr>
          <a:xfrm>
            <a:off x="6190488" y="3931920"/>
            <a:ext cx="2446020" cy="320040"/>
          </a:xfrm>
          <a:prstGeom prst="rect">
            <a:avLst/>
          </a:prstGeom>
          <a:noFill/>
        </p:spPr>
        <p:txBody>
          <a:bodyPr wrap="square" lIns="0" rIns="0" tIns="0" bIns="0">
            <a:spAutoFit/>
          </a:bodyPr>
          <a:lstStyle/>
          <a:p>
            <a:pPr algn="ctr">
              <a:lnSpc>
                <a:spcPct val="110000"/>
              </a:lnSpc>
              <a:spcBef>
                <a:spcPts val="0"/>
              </a:spcBef>
              <a:spcAft>
                <a:spcPts val="600"/>
              </a:spcAft>
            </a:pPr>
            <a:r>
              <a:rPr sz="1350" b="1" i="0">
                <a:solidFill>
                  <a:srgbClr val="14142B"/>
                </a:solidFill>
                <a:latin typeface="Calibri"/>
              </a:rPr>
              <a:t>Validate at scale</a:t>
            </a:r>
          </a:p>
        </p:txBody>
      </p:sp>
      <p:sp>
        <p:nvSpPr>
          <p:cNvPr id="19" name="Rounded Rectangle 18"/>
          <p:cNvSpPr/>
          <p:nvPr/>
        </p:nvSpPr>
        <p:spPr>
          <a:xfrm>
            <a:off x="7093458" y="4315968"/>
            <a:ext cx="640080" cy="219456"/>
          </a:xfrm>
          <a:prstGeom prst="roundRect">
            <a:avLst>
              <a:gd name="adj" fmla="val 40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93458" y="4315968"/>
            <a:ext cx="640080" cy="219456"/>
          </a:xfrm>
          <a:prstGeom prst="rect">
            <a:avLst/>
          </a:prstGeom>
          <a:noFill/>
        </p:spPr>
        <p:txBody>
          <a:bodyPr wrap="square" lIns="0" rIns="0" tIns="0" bIns="0" anchor="ctr">
            <a:spAutoFit/>
          </a:bodyPr>
          <a:lstStyle/>
          <a:p>
            <a:pPr algn="ctr">
              <a:spcBef>
                <a:spcPts val="0"/>
              </a:spcBef>
              <a:spcAft>
                <a:spcPts val="600"/>
              </a:spcAft>
            </a:pPr>
            <a:r>
              <a:rPr sz="800" b="1" i="0">
                <a:solidFill>
                  <a:srgbClr val="FFFFFF"/>
                </a:solidFill>
                <a:latin typeface="Calibri"/>
              </a:rPr>
              <a:t>MED</a:t>
            </a:r>
          </a:p>
        </p:txBody>
      </p:sp>
      <p:sp>
        <p:nvSpPr>
          <p:cNvPr id="21" name="TextBox 20"/>
          <p:cNvSpPr txBox="1"/>
          <p:nvPr/>
        </p:nvSpPr>
        <p:spPr>
          <a:xfrm>
            <a:off x="6190488" y="4617720"/>
            <a:ext cx="2446020" cy="1371600"/>
          </a:xfrm>
          <a:prstGeom prst="rect">
            <a:avLst/>
          </a:prstGeom>
          <a:noFill/>
        </p:spPr>
        <p:txBody>
          <a:bodyPr wrap="square" lIns="0" rIns="0" tIns="0" bIns="0">
            <a:spAutoFit/>
          </a:bodyPr>
          <a:lstStyle/>
          <a:p>
            <a:pPr algn="ctr">
              <a:lnSpc>
                <a:spcPct val="125000"/>
              </a:lnSpc>
              <a:spcBef>
                <a:spcPts val="0"/>
              </a:spcBef>
              <a:spcAft>
                <a:spcPts val="600"/>
              </a:spcAft>
            </a:pPr>
            <a:r>
              <a:rPr sz="1050" b="0" i="0">
                <a:solidFill>
                  <a:srgbClr val="6B6B76"/>
                </a:solidFill>
                <a:latin typeface="Calibri"/>
              </a:rPr>
              <a:t>Prove cross-version retrieval on real multi-version repositories, not just the prototype set.</a:t>
            </a:r>
          </a:p>
        </p:txBody>
      </p:sp>
      <p:sp>
        <p:nvSpPr>
          <p:cNvPr id="22" name="Oval 21"/>
          <p:cNvSpPr/>
          <p:nvPr/>
        </p:nvSpPr>
        <p:spPr>
          <a:xfrm>
            <a:off x="9722358" y="3017520"/>
            <a:ext cx="640080" cy="64008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Calibri"/>
              </a:rPr>
              <a:t>4</a:t>
            </a:r>
          </a:p>
        </p:txBody>
      </p:sp>
      <p:sp>
        <p:nvSpPr>
          <p:cNvPr id="23" name="TextBox 22"/>
          <p:cNvSpPr txBox="1"/>
          <p:nvPr/>
        </p:nvSpPr>
        <p:spPr>
          <a:xfrm>
            <a:off x="8819388" y="3931920"/>
            <a:ext cx="2446020" cy="320040"/>
          </a:xfrm>
          <a:prstGeom prst="rect">
            <a:avLst/>
          </a:prstGeom>
          <a:noFill/>
        </p:spPr>
        <p:txBody>
          <a:bodyPr wrap="square" lIns="0" rIns="0" tIns="0" bIns="0">
            <a:spAutoFit/>
          </a:bodyPr>
          <a:lstStyle/>
          <a:p>
            <a:pPr algn="ctr">
              <a:lnSpc>
                <a:spcPct val="110000"/>
              </a:lnSpc>
              <a:spcBef>
                <a:spcPts val="0"/>
              </a:spcBef>
              <a:spcAft>
                <a:spcPts val="600"/>
              </a:spcAft>
            </a:pPr>
            <a:r>
              <a:rPr sz="1350" b="1" i="0">
                <a:solidFill>
                  <a:srgbClr val="14142B"/>
                </a:solidFill>
                <a:latin typeface="Calibri"/>
              </a:rPr>
              <a:t>Publish the findings</a:t>
            </a:r>
          </a:p>
        </p:txBody>
      </p:sp>
      <p:sp>
        <p:nvSpPr>
          <p:cNvPr id="24" name="Rounded Rectangle 23"/>
          <p:cNvSpPr/>
          <p:nvPr/>
        </p:nvSpPr>
        <p:spPr>
          <a:xfrm>
            <a:off x="9722358" y="4315968"/>
            <a:ext cx="640080" cy="219456"/>
          </a:xfrm>
          <a:prstGeom prst="roundRect">
            <a:avLst>
              <a:gd name="adj" fmla="val 40000"/>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2358" y="4315968"/>
            <a:ext cx="640080" cy="219456"/>
          </a:xfrm>
          <a:prstGeom prst="rect">
            <a:avLst/>
          </a:prstGeom>
          <a:noFill/>
        </p:spPr>
        <p:txBody>
          <a:bodyPr wrap="square" lIns="0" rIns="0" tIns="0" bIns="0" anchor="ctr">
            <a:spAutoFit/>
          </a:bodyPr>
          <a:lstStyle/>
          <a:p>
            <a:pPr algn="ctr">
              <a:spcBef>
                <a:spcPts val="0"/>
              </a:spcBef>
              <a:spcAft>
                <a:spcPts val="600"/>
              </a:spcAft>
            </a:pPr>
            <a:r>
              <a:rPr sz="800" b="1" i="0">
                <a:solidFill>
                  <a:srgbClr val="FFFFFF"/>
                </a:solidFill>
                <a:latin typeface="Calibri"/>
              </a:rPr>
              <a:t>LONG</a:t>
            </a:r>
          </a:p>
        </p:txBody>
      </p:sp>
      <p:sp>
        <p:nvSpPr>
          <p:cNvPr id="26" name="TextBox 25"/>
          <p:cNvSpPr txBox="1"/>
          <p:nvPr/>
        </p:nvSpPr>
        <p:spPr>
          <a:xfrm>
            <a:off x="8819388" y="4617720"/>
            <a:ext cx="2446020" cy="1371600"/>
          </a:xfrm>
          <a:prstGeom prst="rect">
            <a:avLst/>
          </a:prstGeom>
          <a:noFill/>
        </p:spPr>
        <p:txBody>
          <a:bodyPr wrap="square" lIns="0" rIns="0" tIns="0" bIns="0">
            <a:spAutoFit/>
          </a:bodyPr>
          <a:lstStyle/>
          <a:p>
            <a:pPr algn="ctr">
              <a:lnSpc>
                <a:spcPct val="125000"/>
              </a:lnSpc>
              <a:spcBef>
                <a:spcPts val="0"/>
              </a:spcBef>
              <a:spcAft>
                <a:spcPts val="600"/>
              </a:spcAft>
            </a:pPr>
            <a:r>
              <a:rPr sz="1050" b="0" i="0">
                <a:solidFill>
                  <a:srgbClr val="6B6B76"/>
                </a:solidFill>
                <a:latin typeface="Calibri"/>
              </a:rPr>
              <a:t>Cross-version code retrieval is under-solved territory — PRISM cohorts have taken this to IEEE.</a:t>
            </a:r>
          </a:p>
        </p:txBody>
      </p:sp>
      <p:sp>
        <p:nvSpPr>
          <p:cNvPr id="27" name="Rounded Rectangle 26"/>
          <p:cNvSpPr/>
          <p:nvPr/>
        </p:nvSpPr>
        <p:spPr>
          <a:xfrm>
            <a:off x="841248" y="5669280"/>
            <a:ext cx="10515600" cy="457200"/>
          </a:xfrm>
          <a:prstGeom prst="roundRect">
            <a:avLst>
              <a:gd name="adj" fmla="val 8000"/>
            </a:avLst>
          </a:prstGeom>
          <a:solidFill>
            <a:srgbClr val="FFFFFF"/>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568" y="5669280"/>
            <a:ext cx="9966960" cy="457200"/>
          </a:xfrm>
          <a:prstGeom prst="rect">
            <a:avLst/>
          </a:prstGeom>
          <a:noFill/>
        </p:spPr>
        <p:txBody>
          <a:bodyPr wrap="square" lIns="0" rIns="0" tIns="0" bIns="0" anchor="ctr">
            <a:spAutoFit/>
          </a:bodyPr>
          <a:lstStyle/>
          <a:p>
            <a:pPr algn="ctr">
              <a:spcBef>
                <a:spcPts val="0"/>
              </a:spcBef>
              <a:spcAft>
                <a:spcPts val="600"/>
              </a:spcAft>
            </a:pPr>
            <a:r>
              <a:rPr sz="1150" b="1" i="1">
                <a:solidFill>
                  <a:srgbClr val="6D28D9"/>
                </a:solidFill>
                <a:latin typeface="Calibri"/>
              </a:rPr>
              <a:t>Every step above is measured the same way as everything before it — one change, one number, keep or revert.</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841248" y="1874519"/>
            <a:ext cx="5120640" cy="1485900"/>
          </a:xfrm>
          <a:prstGeom prst="roundRect">
            <a:avLst>
              <a:gd name="adj" fmla="val 6000"/>
            </a:avLst>
          </a:prstGeom>
          <a:solidFill>
            <a:srgbClr val="EDE9FB"/>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 y="2057400"/>
            <a:ext cx="457200" cy="457200"/>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a:t>
            </a:r>
          </a:p>
        </p:txBody>
      </p:sp>
      <p:sp>
        <p:nvSpPr>
          <p:cNvPr id="5" name="TextBox 4"/>
          <p:cNvSpPr txBox="1"/>
          <p:nvPr/>
        </p:nvSpPr>
        <p:spPr>
          <a:xfrm>
            <a:off x="1664208" y="2075688"/>
            <a:ext cx="4114800" cy="292608"/>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Verified, not assumed</a:t>
            </a:r>
          </a:p>
        </p:txBody>
      </p:sp>
      <p:sp>
        <p:nvSpPr>
          <p:cNvPr id="6" name="TextBox 5"/>
          <p:cNvSpPr txBox="1"/>
          <p:nvPr/>
        </p:nvSpPr>
        <p:spPr>
          <a:xfrm>
            <a:off x="1097280" y="2514600"/>
            <a:ext cx="4608575" cy="274320"/>
          </a:xfrm>
          <a:prstGeom prst="rect">
            <a:avLst/>
          </a:prstGeom>
          <a:noFill/>
        </p:spPr>
        <p:txBody>
          <a:bodyPr wrap="square" lIns="0" rIns="0" tIns="0" bIns="0">
            <a:spAutoFit/>
          </a:bodyPr>
          <a:lstStyle/>
          <a:p>
            <a:pPr algn="l">
              <a:lnSpc>
                <a:spcPct val="115000"/>
              </a:lnSpc>
              <a:spcBef>
                <a:spcPts val="0"/>
              </a:spcBef>
              <a:spcAft>
                <a:spcPts val="600"/>
              </a:spcAft>
            </a:pPr>
            <a:r>
              <a:rPr sz="1000" b="0" i="0">
                <a:solidFill>
                  <a:srgbClr val="6B6B76"/>
                </a:solidFill>
                <a:latin typeface="Calibri"/>
              </a:rPr>
              <a:t>Proven end-to-end against a real mteb.evaluate() run.</a:t>
            </a:r>
          </a:p>
        </p:txBody>
      </p:sp>
      <p:sp>
        <p:nvSpPr>
          <p:cNvPr id="7" name="Rounded Rectangle 6"/>
          <p:cNvSpPr/>
          <p:nvPr/>
        </p:nvSpPr>
        <p:spPr>
          <a:xfrm>
            <a:off x="1097280" y="2738627"/>
            <a:ext cx="4608575" cy="512064"/>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2775203"/>
            <a:ext cx="4315968" cy="164592"/>
          </a:xfrm>
          <a:prstGeom prst="rect">
            <a:avLst/>
          </a:prstGeom>
          <a:noFill/>
        </p:spPr>
        <p:txBody>
          <a:bodyPr wrap="square" lIns="0" rIns="0" tIns="0" bIns="0">
            <a:spAutoFit/>
          </a:bodyPr>
          <a:lstStyle/>
          <a:p>
            <a:pPr algn="l">
              <a:spcBef>
                <a:spcPts val="0"/>
              </a:spcBef>
              <a:spcAft>
                <a:spcPts val="600"/>
              </a:spcAft>
            </a:pPr>
            <a:r>
              <a:rPr sz="750" b="1" i="0">
                <a:solidFill>
                  <a:srgbClr val="6D28D9"/>
                </a:solidFill>
                <a:latin typeface="Calibri"/>
              </a:rPr>
              <a:t>EVIDENCE</a:t>
            </a:r>
          </a:p>
        </p:txBody>
      </p:sp>
      <p:sp>
        <p:nvSpPr>
          <p:cNvPr id="9" name="TextBox 8"/>
          <p:cNvSpPr txBox="1"/>
          <p:nvPr/>
        </p:nvSpPr>
        <p:spPr>
          <a:xfrm>
            <a:off x="1243584" y="2921508"/>
            <a:ext cx="4315968" cy="310896"/>
          </a:xfrm>
          <a:prstGeom prst="rect">
            <a:avLst/>
          </a:prstGeom>
          <a:noFill/>
        </p:spPr>
        <p:txBody>
          <a:bodyPr wrap="square" lIns="0" rIns="0" tIns="0" bIns="0">
            <a:spAutoFit/>
          </a:bodyPr>
          <a:lstStyle/>
          <a:p>
            <a:pPr algn="l">
              <a:lnSpc>
                <a:spcPct val="115000"/>
              </a:lnSpc>
              <a:spcBef>
                <a:spcPts val="0"/>
              </a:spcBef>
              <a:spcAft>
                <a:spcPts val="600"/>
              </a:spcAft>
            </a:pPr>
            <a:r>
              <a:rPr sz="900" b="0" i="0">
                <a:solidFill>
                  <a:srgbClr val="14142B"/>
                </a:solidFill>
                <a:latin typeface="Calibri"/>
              </a:rPr>
              <a:t>tests/test_submission_format.py — 6 tests lock the leaderboard file shape byte-for-byte to the problem statement.</a:t>
            </a:r>
          </a:p>
        </p:txBody>
      </p:sp>
      <p:sp>
        <p:nvSpPr>
          <p:cNvPr id="10" name="Rounded Rectangle 9"/>
          <p:cNvSpPr/>
          <p:nvPr/>
        </p:nvSpPr>
        <p:spPr>
          <a:xfrm>
            <a:off x="6236207" y="1874519"/>
            <a:ext cx="5120640" cy="148590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4807" y="2057400"/>
            <a:ext cx="457200" cy="457200"/>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a:t>
            </a:r>
          </a:p>
        </p:txBody>
      </p:sp>
      <p:sp>
        <p:nvSpPr>
          <p:cNvPr id="12" name="TextBox 11"/>
          <p:cNvSpPr txBox="1"/>
          <p:nvPr/>
        </p:nvSpPr>
        <p:spPr>
          <a:xfrm>
            <a:off x="7059168" y="2075688"/>
            <a:ext cx="4114800" cy="292608"/>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Discipline over guesswork</a:t>
            </a:r>
          </a:p>
        </p:txBody>
      </p:sp>
      <p:sp>
        <p:nvSpPr>
          <p:cNvPr id="13" name="TextBox 12"/>
          <p:cNvSpPr txBox="1"/>
          <p:nvPr/>
        </p:nvSpPr>
        <p:spPr>
          <a:xfrm>
            <a:off x="6492240" y="2514600"/>
            <a:ext cx="4608575" cy="274320"/>
          </a:xfrm>
          <a:prstGeom prst="rect">
            <a:avLst/>
          </a:prstGeom>
          <a:noFill/>
        </p:spPr>
        <p:txBody>
          <a:bodyPr wrap="square" lIns="0" rIns="0" tIns="0" bIns="0">
            <a:spAutoFit/>
          </a:bodyPr>
          <a:lstStyle/>
          <a:p>
            <a:pPr algn="l">
              <a:lnSpc>
                <a:spcPct val="115000"/>
              </a:lnSpc>
              <a:spcBef>
                <a:spcPts val="0"/>
              </a:spcBef>
              <a:spcAft>
                <a:spcPts val="600"/>
              </a:spcAft>
            </a:pPr>
            <a:r>
              <a:rPr sz="1000" b="0" i="0">
                <a:solidFill>
                  <a:srgbClr val="6B6B76"/>
                </a:solidFill>
                <a:latin typeface="Calibri"/>
              </a:rPr>
              <a:t>Every feature logged config → NDCG@10 → kept/dropped, every time.</a:t>
            </a:r>
          </a:p>
        </p:txBody>
      </p:sp>
      <p:sp>
        <p:nvSpPr>
          <p:cNvPr id="14" name="Rounded Rectangle 13"/>
          <p:cNvSpPr/>
          <p:nvPr/>
        </p:nvSpPr>
        <p:spPr>
          <a:xfrm>
            <a:off x="6492240" y="2738627"/>
            <a:ext cx="4608575" cy="512064"/>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8544" y="2775203"/>
            <a:ext cx="4315968" cy="164592"/>
          </a:xfrm>
          <a:prstGeom prst="rect">
            <a:avLst/>
          </a:prstGeom>
          <a:noFill/>
        </p:spPr>
        <p:txBody>
          <a:bodyPr wrap="square" lIns="0" rIns="0" tIns="0" bIns="0">
            <a:spAutoFit/>
          </a:bodyPr>
          <a:lstStyle/>
          <a:p>
            <a:pPr algn="l">
              <a:spcBef>
                <a:spcPts val="0"/>
              </a:spcBef>
              <a:spcAft>
                <a:spcPts val="600"/>
              </a:spcAft>
            </a:pPr>
            <a:r>
              <a:rPr sz="750" b="1" i="0">
                <a:solidFill>
                  <a:srgbClr val="6D28D9"/>
                </a:solidFill>
                <a:latin typeface="Calibri"/>
              </a:rPr>
              <a:t>EVIDENCE</a:t>
            </a:r>
          </a:p>
        </p:txBody>
      </p:sp>
      <p:sp>
        <p:nvSpPr>
          <p:cNvPr id="16" name="TextBox 15"/>
          <p:cNvSpPr txBox="1"/>
          <p:nvPr/>
        </p:nvSpPr>
        <p:spPr>
          <a:xfrm>
            <a:off x="6638544" y="2921508"/>
            <a:ext cx="4315968" cy="310896"/>
          </a:xfrm>
          <a:prstGeom prst="rect">
            <a:avLst/>
          </a:prstGeom>
          <a:noFill/>
        </p:spPr>
        <p:txBody>
          <a:bodyPr wrap="square" lIns="0" rIns="0" tIns="0" bIns="0">
            <a:spAutoFit/>
          </a:bodyPr>
          <a:lstStyle/>
          <a:p>
            <a:pPr algn="l">
              <a:lnSpc>
                <a:spcPct val="115000"/>
              </a:lnSpc>
              <a:spcBef>
                <a:spcPts val="0"/>
              </a:spcBef>
              <a:spcAft>
                <a:spcPts val="600"/>
              </a:spcAft>
            </a:pPr>
            <a:r>
              <a:rPr sz="900" b="0" i="0">
                <a:solidFill>
                  <a:srgbClr val="14142B"/>
                </a:solidFill>
                <a:latin typeface="Calibri"/>
              </a:rPr>
              <a:t>docs/ablation_log.md — 10 real experiments, 8 dropped, 1 kept (+73.9%); every row reproducible from a config file.</a:t>
            </a:r>
          </a:p>
        </p:txBody>
      </p:sp>
      <p:sp>
        <p:nvSpPr>
          <p:cNvPr id="17" name="Rounded Rectangle 16"/>
          <p:cNvSpPr/>
          <p:nvPr/>
        </p:nvSpPr>
        <p:spPr>
          <a:xfrm>
            <a:off x="841248" y="3634740"/>
            <a:ext cx="5120640" cy="148590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9848" y="3817620"/>
            <a:ext cx="457200" cy="457200"/>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a:t>
            </a:r>
          </a:p>
        </p:txBody>
      </p:sp>
      <p:sp>
        <p:nvSpPr>
          <p:cNvPr id="19" name="TextBox 18"/>
          <p:cNvSpPr txBox="1"/>
          <p:nvPr/>
        </p:nvSpPr>
        <p:spPr>
          <a:xfrm>
            <a:off x="1664208" y="3835908"/>
            <a:ext cx="4114800" cy="292608"/>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Versioned from day one</a:t>
            </a:r>
          </a:p>
        </p:txBody>
      </p:sp>
      <p:sp>
        <p:nvSpPr>
          <p:cNvPr id="20" name="TextBox 19"/>
          <p:cNvSpPr txBox="1"/>
          <p:nvPr/>
        </p:nvSpPr>
        <p:spPr>
          <a:xfrm>
            <a:off x="1097280" y="4274820"/>
            <a:ext cx="4608575" cy="274320"/>
          </a:xfrm>
          <a:prstGeom prst="rect">
            <a:avLst/>
          </a:prstGeom>
          <a:noFill/>
        </p:spPr>
        <p:txBody>
          <a:bodyPr wrap="square" lIns="0" rIns="0" tIns="0" bIns="0">
            <a:spAutoFit/>
          </a:bodyPr>
          <a:lstStyle/>
          <a:p>
            <a:pPr algn="l">
              <a:lnSpc>
                <a:spcPct val="115000"/>
              </a:lnSpc>
              <a:spcBef>
                <a:spcPts val="0"/>
              </a:spcBef>
              <a:spcAft>
                <a:spcPts val="600"/>
              </a:spcAft>
            </a:pPr>
            <a:r>
              <a:rPr sz="1000" b="0" i="0">
                <a:solidFill>
                  <a:srgbClr val="6B6B76"/>
                </a:solidFill>
                <a:latin typeface="Calibri"/>
              </a:rPr>
              <a:t>Content-addressed index; cross-version retrieval never bolted on.</a:t>
            </a:r>
          </a:p>
        </p:txBody>
      </p:sp>
      <p:sp>
        <p:nvSpPr>
          <p:cNvPr id="21" name="Rounded Rectangle 20"/>
          <p:cNvSpPr/>
          <p:nvPr/>
        </p:nvSpPr>
        <p:spPr>
          <a:xfrm>
            <a:off x="1097280" y="4498848"/>
            <a:ext cx="4608575" cy="512064"/>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43584" y="4535424"/>
            <a:ext cx="4315968" cy="164592"/>
          </a:xfrm>
          <a:prstGeom prst="rect">
            <a:avLst/>
          </a:prstGeom>
          <a:noFill/>
        </p:spPr>
        <p:txBody>
          <a:bodyPr wrap="square" lIns="0" rIns="0" tIns="0" bIns="0">
            <a:spAutoFit/>
          </a:bodyPr>
          <a:lstStyle/>
          <a:p>
            <a:pPr algn="l">
              <a:spcBef>
                <a:spcPts val="0"/>
              </a:spcBef>
              <a:spcAft>
                <a:spcPts val="600"/>
              </a:spcAft>
            </a:pPr>
            <a:r>
              <a:rPr sz="750" b="1" i="0">
                <a:solidFill>
                  <a:srgbClr val="6D28D9"/>
                </a:solidFill>
                <a:latin typeface="Calibri"/>
              </a:rPr>
              <a:t>EVIDENCE</a:t>
            </a:r>
          </a:p>
        </p:txBody>
      </p:sp>
      <p:sp>
        <p:nvSpPr>
          <p:cNvPr id="23" name="TextBox 22"/>
          <p:cNvSpPr txBox="1"/>
          <p:nvPr/>
        </p:nvSpPr>
        <p:spPr>
          <a:xfrm>
            <a:off x="1243584" y="4681728"/>
            <a:ext cx="4315968" cy="310896"/>
          </a:xfrm>
          <a:prstGeom prst="rect">
            <a:avLst/>
          </a:prstGeom>
          <a:noFill/>
        </p:spPr>
        <p:txBody>
          <a:bodyPr wrap="square" lIns="0" rIns="0" tIns="0" bIns="0">
            <a:spAutoFit/>
          </a:bodyPr>
          <a:lstStyle/>
          <a:p>
            <a:pPr algn="l">
              <a:lnSpc>
                <a:spcPct val="115000"/>
              </a:lnSpc>
              <a:spcBef>
                <a:spcPts val="0"/>
              </a:spcBef>
              <a:spcAft>
                <a:spcPts val="600"/>
              </a:spcAft>
            </a:pPr>
            <a:r>
              <a:rPr sz="900" b="0" i="0">
                <a:solidFill>
                  <a:srgbClr val="14142B"/>
                </a:solidFill>
                <a:latin typeface="Calibri"/>
              </a:rPr>
              <a:t>prism/index/versioned.py + stable-core / version-delta — the P1 requirement is a first-class feature.</a:t>
            </a:r>
          </a:p>
        </p:txBody>
      </p:sp>
      <p:sp>
        <p:nvSpPr>
          <p:cNvPr id="24" name="Rounded Rectangle 23"/>
          <p:cNvSpPr/>
          <p:nvPr/>
        </p:nvSpPr>
        <p:spPr>
          <a:xfrm>
            <a:off x="6236207" y="3634740"/>
            <a:ext cx="5120640" cy="1485900"/>
          </a:xfrm>
          <a:prstGeom prst="roundRect">
            <a:avLst>
              <a:gd name="adj" fmla="val 6000"/>
            </a:avLst>
          </a:prstGeom>
          <a:solidFill>
            <a:srgbClr val="EDE9FB"/>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64807" y="3817620"/>
            <a:ext cx="457200" cy="457200"/>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Calibri"/>
              </a:rPr>
              <a:t>✓</a:t>
            </a:r>
          </a:p>
        </p:txBody>
      </p:sp>
      <p:sp>
        <p:nvSpPr>
          <p:cNvPr id="26" name="TextBox 25"/>
          <p:cNvSpPr txBox="1"/>
          <p:nvPr/>
        </p:nvSpPr>
        <p:spPr>
          <a:xfrm>
            <a:off x="7059168" y="3835908"/>
            <a:ext cx="4114800" cy="292608"/>
          </a:xfrm>
          <a:prstGeom prst="rect">
            <a:avLst/>
          </a:prstGeom>
          <a:noFill/>
        </p:spPr>
        <p:txBody>
          <a:bodyPr wrap="square" lIns="0" rIns="0" tIns="0" bIns="0">
            <a:spAutoFit/>
          </a:bodyPr>
          <a:lstStyle/>
          <a:p>
            <a:pPr algn="l">
              <a:lnSpc>
                <a:spcPct val="105000"/>
              </a:lnSpc>
              <a:spcBef>
                <a:spcPts val="0"/>
              </a:spcBef>
              <a:spcAft>
                <a:spcPts val="0"/>
              </a:spcAft>
            </a:pPr>
            <a:r>
              <a:rPr sz="1350" b="1" i="0">
                <a:solidFill>
                  <a:srgbClr val="14142B"/>
                </a:solidFill>
                <a:latin typeface="Calibri"/>
              </a:rPr>
              <a:t>Honest about limits</a:t>
            </a:r>
          </a:p>
        </p:txBody>
      </p:sp>
      <p:sp>
        <p:nvSpPr>
          <p:cNvPr id="27" name="TextBox 26"/>
          <p:cNvSpPr txBox="1"/>
          <p:nvPr/>
        </p:nvSpPr>
        <p:spPr>
          <a:xfrm>
            <a:off x="6492240" y="4274820"/>
            <a:ext cx="4608575" cy="274320"/>
          </a:xfrm>
          <a:prstGeom prst="rect">
            <a:avLst/>
          </a:prstGeom>
          <a:noFill/>
        </p:spPr>
        <p:txBody>
          <a:bodyPr wrap="square" lIns="0" rIns="0" tIns="0" bIns="0">
            <a:spAutoFit/>
          </a:bodyPr>
          <a:lstStyle/>
          <a:p>
            <a:pPr algn="l">
              <a:lnSpc>
                <a:spcPct val="115000"/>
              </a:lnSpc>
              <a:spcBef>
                <a:spcPts val="0"/>
              </a:spcBef>
              <a:spcAft>
                <a:spcPts val="600"/>
              </a:spcAft>
            </a:pPr>
            <a:r>
              <a:rPr sz="1000" b="0" i="0">
                <a:solidFill>
                  <a:srgbClr val="6B6B76"/>
                </a:solidFill>
                <a:latin typeface="Calibri"/>
              </a:rPr>
              <a:t>Limitations reported next to results — credibility over overselling.</a:t>
            </a:r>
          </a:p>
        </p:txBody>
      </p:sp>
      <p:sp>
        <p:nvSpPr>
          <p:cNvPr id="28" name="Rounded Rectangle 27"/>
          <p:cNvSpPr/>
          <p:nvPr/>
        </p:nvSpPr>
        <p:spPr>
          <a:xfrm>
            <a:off x="6492240" y="4498848"/>
            <a:ext cx="4608575" cy="512064"/>
          </a:xfrm>
          <a:prstGeom prst="roundRect">
            <a:avLst>
              <a:gd name="adj" fmla="val 6000"/>
            </a:avLst>
          </a:prstGeom>
          <a:solidFill>
            <a:srgbClr val="F7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38544" y="4535424"/>
            <a:ext cx="4315968" cy="164592"/>
          </a:xfrm>
          <a:prstGeom prst="rect">
            <a:avLst/>
          </a:prstGeom>
          <a:noFill/>
        </p:spPr>
        <p:txBody>
          <a:bodyPr wrap="square" lIns="0" rIns="0" tIns="0" bIns="0">
            <a:spAutoFit/>
          </a:bodyPr>
          <a:lstStyle/>
          <a:p>
            <a:pPr algn="l">
              <a:spcBef>
                <a:spcPts val="0"/>
              </a:spcBef>
              <a:spcAft>
                <a:spcPts val="600"/>
              </a:spcAft>
            </a:pPr>
            <a:r>
              <a:rPr sz="750" b="1" i="0">
                <a:solidFill>
                  <a:srgbClr val="6D28D9"/>
                </a:solidFill>
                <a:latin typeface="Calibri"/>
              </a:rPr>
              <a:t>EVIDENCE</a:t>
            </a:r>
          </a:p>
        </p:txBody>
      </p:sp>
      <p:sp>
        <p:nvSpPr>
          <p:cNvPr id="30" name="TextBox 29"/>
          <p:cNvSpPr txBox="1"/>
          <p:nvPr/>
        </p:nvSpPr>
        <p:spPr>
          <a:xfrm>
            <a:off x="6638544" y="4681728"/>
            <a:ext cx="4315968" cy="310896"/>
          </a:xfrm>
          <a:prstGeom prst="rect">
            <a:avLst/>
          </a:prstGeom>
          <a:noFill/>
        </p:spPr>
        <p:txBody>
          <a:bodyPr wrap="square" lIns="0" rIns="0" tIns="0" bIns="0">
            <a:spAutoFit/>
          </a:bodyPr>
          <a:lstStyle/>
          <a:p>
            <a:pPr algn="l">
              <a:lnSpc>
                <a:spcPct val="115000"/>
              </a:lnSpc>
              <a:spcBef>
                <a:spcPts val="0"/>
              </a:spcBef>
              <a:spcAft>
                <a:spcPts val="600"/>
              </a:spcAft>
            </a:pPr>
            <a:r>
              <a:rPr sz="900" b="0" i="0">
                <a:solidFill>
                  <a:srgbClr val="14142B"/>
                </a:solidFill>
                <a:latin typeface="Calibri"/>
              </a:rPr>
              <a:t>docs/ablation_log.md — every failure named up front; a code-model swap losing 50% is documented, not hidden.</a:t>
            </a:r>
          </a:p>
        </p:txBody>
      </p:sp>
      <p:sp>
        <p:nvSpPr>
          <p:cNvPr id="31" name="Rounded Rectangle 30"/>
          <p:cNvSpPr/>
          <p:nvPr/>
        </p:nvSpPr>
        <p:spPr>
          <a:xfrm>
            <a:off x="841248" y="5257800"/>
            <a:ext cx="10515600" cy="868680"/>
          </a:xfrm>
          <a:prstGeom prst="roundRect">
            <a:avLst>
              <a:gd name="adj" fmla="val 8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5568" y="5349240"/>
            <a:ext cx="9966960" cy="256032"/>
          </a:xfrm>
          <a:prstGeom prst="rect">
            <a:avLst/>
          </a:prstGeom>
          <a:noFill/>
        </p:spPr>
        <p:txBody>
          <a:bodyPr wrap="square" lIns="0" rIns="0" tIns="0" bIns="0">
            <a:spAutoFit/>
          </a:bodyPr>
          <a:lstStyle/>
          <a:p>
            <a:pPr algn="l">
              <a:spcBef>
                <a:spcPts val="0"/>
              </a:spcBef>
              <a:spcAft>
                <a:spcPts val="600"/>
              </a:spcAft>
            </a:pPr>
            <a:r>
              <a:rPr sz="950" b="1" i="0">
                <a:solidFill>
                  <a:srgbClr val="E3DAF7"/>
                </a:solidFill>
                <a:latin typeface="Calibri"/>
              </a:rPr>
              <a:t>BY THE NUMBERS</a:t>
            </a:r>
          </a:p>
        </p:txBody>
      </p:sp>
      <p:sp>
        <p:nvSpPr>
          <p:cNvPr id="33" name="TextBox 32"/>
          <p:cNvSpPr txBox="1"/>
          <p:nvPr/>
        </p:nvSpPr>
        <p:spPr>
          <a:xfrm>
            <a:off x="1115568" y="5568696"/>
            <a:ext cx="1847088" cy="54864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libri"/>
              </a:rPr>
              <a:t>10</a:t>
            </a:r>
          </a:p>
          <a:p>
            <a:pPr algn="ctr">
              <a:spcBef>
                <a:spcPts val="0"/>
              </a:spcBef>
              <a:spcAft>
                <a:spcPts val="600"/>
              </a:spcAft>
            </a:pPr>
            <a:r>
              <a:rPr sz="950" b="0" i="0">
                <a:solidFill>
                  <a:srgbClr val="E3DAF7"/>
                </a:solidFill>
                <a:latin typeface="Calibri"/>
              </a:rPr>
              <a:t>real experiments</a:t>
            </a:r>
          </a:p>
        </p:txBody>
      </p:sp>
      <p:sp>
        <p:nvSpPr>
          <p:cNvPr id="34" name="TextBox 33"/>
          <p:cNvSpPr txBox="1"/>
          <p:nvPr/>
        </p:nvSpPr>
        <p:spPr>
          <a:xfrm>
            <a:off x="3145536" y="5568696"/>
            <a:ext cx="1847088" cy="54864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libri"/>
              </a:rPr>
              <a:t>8</a:t>
            </a:r>
          </a:p>
          <a:p>
            <a:pPr algn="ctr">
              <a:spcBef>
                <a:spcPts val="0"/>
              </a:spcBef>
              <a:spcAft>
                <a:spcPts val="600"/>
              </a:spcAft>
            </a:pPr>
            <a:r>
              <a:rPr sz="950" b="0" i="0">
                <a:solidFill>
                  <a:srgbClr val="E3DAF7"/>
                </a:solidFill>
                <a:latin typeface="Calibri"/>
              </a:rPr>
              <a:t>dropped, still in repo</a:t>
            </a:r>
          </a:p>
        </p:txBody>
      </p:sp>
      <p:sp>
        <p:nvSpPr>
          <p:cNvPr id="35" name="TextBox 34"/>
          <p:cNvSpPr txBox="1"/>
          <p:nvPr/>
        </p:nvSpPr>
        <p:spPr>
          <a:xfrm>
            <a:off x="5175504" y="5568696"/>
            <a:ext cx="1847088" cy="54864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libri"/>
              </a:rPr>
              <a:t>78</a:t>
            </a:r>
          </a:p>
          <a:p>
            <a:pPr algn="ctr">
              <a:spcBef>
                <a:spcPts val="0"/>
              </a:spcBef>
              <a:spcAft>
                <a:spcPts val="600"/>
              </a:spcAft>
            </a:pPr>
            <a:r>
              <a:rPr sz="950" b="0" i="0">
                <a:solidFill>
                  <a:srgbClr val="E3DAF7"/>
                </a:solidFill>
                <a:latin typeface="Calibri"/>
              </a:rPr>
              <a:t>offline tests</a:t>
            </a:r>
          </a:p>
        </p:txBody>
      </p:sp>
      <p:sp>
        <p:nvSpPr>
          <p:cNvPr id="36" name="TextBox 35"/>
          <p:cNvSpPr txBox="1"/>
          <p:nvPr/>
        </p:nvSpPr>
        <p:spPr>
          <a:xfrm>
            <a:off x="7205472" y="5568696"/>
            <a:ext cx="1847088" cy="54864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libri"/>
              </a:rPr>
              <a:t>0</a:t>
            </a:r>
          </a:p>
          <a:p>
            <a:pPr algn="ctr">
              <a:spcBef>
                <a:spcPts val="0"/>
              </a:spcBef>
              <a:spcAft>
                <a:spcPts val="600"/>
              </a:spcAft>
            </a:pPr>
            <a:r>
              <a:rPr sz="950" b="0" i="0">
                <a:solidFill>
                  <a:srgbClr val="E3DAF7"/>
                </a:solidFill>
                <a:latin typeface="Calibri"/>
              </a:rPr>
              <a:t>mocks in leaderboard eval</a:t>
            </a:r>
          </a:p>
        </p:txBody>
      </p:sp>
      <p:sp>
        <p:nvSpPr>
          <p:cNvPr id="37" name="TextBox 36"/>
          <p:cNvSpPr txBox="1"/>
          <p:nvPr/>
        </p:nvSpPr>
        <p:spPr>
          <a:xfrm>
            <a:off x="9235440" y="5568696"/>
            <a:ext cx="1847088" cy="54864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libri"/>
              </a:rPr>
              <a:t>1</a:t>
            </a:r>
          </a:p>
          <a:p>
            <a:pPr algn="ctr">
              <a:spcBef>
                <a:spcPts val="0"/>
              </a:spcBef>
              <a:spcAft>
                <a:spcPts val="600"/>
              </a:spcAft>
            </a:pPr>
            <a:r>
              <a:rPr sz="950" b="0" i="0">
                <a:solidFill>
                  <a:srgbClr val="E3DAF7"/>
                </a:solidFill>
                <a:latin typeface="Calibri"/>
              </a:rPr>
              <a:t>reproducible docker run</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Rounded Rectangle 2"/>
          <p:cNvSpPr/>
          <p:nvPr/>
        </p:nvSpPr>
        <p:spPr>
          <a:xfrm>
            <a:off x="841248" y="1874519"/>
            <a:ext cx="6858000" cy="4297680"/>
          </a:xfrm>
          <a:prstGeom prst="roundRect">
            <a:avLst>
              <a:gd name="adj" fmla="val 6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5568" y="2057400"/>
            <a:ext cx="6309360" cy="365760"/>
          </a:xfrm>
          <a:prstGeom prst="rect">
            <a:avLst/>
          </a:prstGeom>
          <a:noFill/>
        </p:spPr>
        <p:txBody>
          <a:bodyPr wrap="square" lIns="0" rIns="0" tIns="0" bIns="0">
            <a:spAutoFit/>
          </a:bodyPr>
          <a:lstStyle/>
          <a:p>
            <a:pPr algn="l">
              <a:spcBef>
                <a:spcPts val="0"/>
              </a:spcBef>
              <a:spcAft>
                <a:spcPts val="600"/>
              </a:spcAft>
            </a:pPr>
            <a:r>
              <a:rPr sz="1100" b="1" i="0">
                <a:solidFill>
                  <a:srgbClr val="6D28D9"/>
                </a:solidFill>
                <a:latin typeface="Calibri"/>
              </a:rPr>
              <a:t>SUBMISSION CHECKLIST</a:t>
            </a:r>
          </a:p>
        </p:txBody>
      </p:sp>
      <p:sp>
        <p:nvSpPr>
          <p:cNvPr id="5" name="Rounded Rectangle 4"/>
          <p:cNvSpPr/>
          <p:nvPr/>
        </p:nvSpPr>
        <p:spPr>
          <a:xfrm>
            <a:off x="1024128" y="2514600"/>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52144" y="2593086"/>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7" name="TextBox 6"/>
          <p:cNvSpPr txBox="1"/>
          <p:nvPr/>
        </p:nvSpPr>
        <p:spPr>
          <a:xfrm>
            <a:off x="1709928" y="2587752"/>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Working prototype code</a:t>
            </a:r>
          </a:p>
          <a:p>
            <a:pPr algn="l">
              <a:lnSpc>
                <a:spcPct val="110000"/>
              </a:lnSpc>
              <a:spcBef>
                <a:spcPts val="0"/>
              </a:spcBef>
              <a:spcAft>
                <a:spcPts val="100"/>
              </a:spcAft>
            </a:pPr>
            <a:r>
              <a:rPr sz="950" b="0" i="1">
                <a:solidFill>
                  <a:srgbClr val="6B6B76"/>
                </a:solidFill>
                <a:latin typeface="Calibri"/>
              </a:rPr>
              <a:t>Public GitHub repo, tag PRISM_GENAI_HACKATHON_Y2026</a:t>
            </a:r>
          </a:p>
          <a:p>
            <a:pPr algn="l">
              <a:lnSpc>
                <a:spcPct val="110000"/>
              </a:lnSpc>
              <a:spcBef>
                <a:spcPts val="0"/>
              </a:spcBef>
              <a:spcAft>
                <a:spcPts val="600"/>
              </a:spcAft>
            </a:pPr>
            <a:r>
              <a:rPr sz="950" b="0" i="0">
                <a:solidFill>
                  <a:srgbClr val="6D28D9"/>
                </a:solidFill>
                <a:latin typeface="Courier New"/>
              </a:rPr>
              <a:t>github.com/Ajha2005/samsung-prism</a:t>
            </a:r>
          </a:p>
        </p:txBody>
      </p:sp>
      <p:sp>
        <p:nvSpPr>
          <p:cNvPr id="8" name="Rounded Rectangle 7"/>
          <p:cNvSpPr/>
          <p:nvPr/>
        </p:nvSpPr>
        <p:spPr>
          <a:xfrm>
            <a:off x="1024128" y="3110483"/>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2144" y="3188970"/>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10" name="TextBox 9"/>
          <p:cNvSpPr txBox="1"/>
          <p:nvPr/>
        </p:nvSpPr>
        <p:spPr>
          <a:xfrm>
            <a:off x="1709928" y="3183636"/>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README with reproducible setup</a:t>
            </a:r>
          </a:p>
          <a:p>
            <a:pPr algn="l">
              <a:lnSpc>
                <a:spcPct val="110000"/>
              </a:lnSpc>
              <a:spcBef>
                <a:spcPts val="0"/>
              </a:spcBef>
              <a:spcAft>
                <a:spcPts val="100"/>
              </a:spcAft>
            </a:pPr>
            <a:r>
              <a:rPr sz="950" b="0" i="1">
                <a:solidFill>
                  <a:srgbClr val="6B6B76"/>
                </a:solidFill>
                <a:latin typeface="Calibri"/>
              </a:rPr>
              <a:t>Docker one-command run + full CLI</a:t>
            </a:r>
          </a:p>
          <a:p>
            <a:pPr algn="l">
              <a:lnSpc>
                <a:spcPct val="110000"/>
              </a:lnSpc>
              <a:spcBef>
                <a:spcPts val="0"/>
              </a:spcBef>
              <a:spcAft>
                <a:spcPts val="600"/>
              </a:spcAft>
            </a:pPr>
            <a:r>
              <a:rPr sz="950" b="0" i="0">
                <a:solidFill>
                  <a:srgbClr val="6D28D9"/>
                </a:solidFill>
                <a:latin typeface="Courier New"/>
              </a:rPr>
              <a:t>docker build -t prism-code-search .  →  docker run</a:t>
            </a:r>
          </a:p>
        </p:txBody>
      </p:sp>
      <p:sp>
        <p:nvSpPr>
          <p:cNvPr id="11" name="Rounded Rectangle 10"/>
          <p:cNvSpPr/>
          <p:nvPr/>
        </p:nvSpPr>
        <p:spPr>
          <a:xfrm>
            <a:off x="1024128" y="3706367"/>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144" y="3784853"/>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13" name="TextBox 12"/>
          <p:cNvSpPr txBox="1"/>
          <p:nvPr/>
        </p:nvSpPr>
        <p:spPr>
          <a:xfrm>
            <a:off x="1709928" y="3779519"/>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Demo video (≤ 5 min)</a:t>
            </a:r>
          </a:p>
          <a:p>
            <a:pPr algn="l">
              <a:lnSpc>
                <a:spcPct val="110000"/>
              </a:lnSpc>
              <a:spcBef>
                <a:spcPts val="0"/>
              </a:spcBef>
              <a:spcAft>
                <a:spcPts val="100"/>
              </a:spcAft>
            </a:pPr>
            <a:r>
              <a:rPr sz="950" b="0" i="1">
                <a:solidFill>
                  <a:srgbClr val="6B6B76"/>
                </a:solidFill>
                <a:latin typeface="Calibri"/>
              </a:rPr>
              <a:t>Recorded and linked in the submission form</a:t>
            </a:r>
          </a:p>
          <a:p>
            <a:pPr algn="l">
              <a:lnSpc>
                <a:spcPct val="110000"/>
              </a:lnSpc>
              <a:spcBef>
                <a:spcPts val="0"/>
              </a:spcBef>
              <a:spcAft>
                <a:spcPts val="600"/>
              </a:spcAft>
            </a:pPr>
            <a:r>
              <a:rPr sz="950" b="0" i="0">
                <a:solidFill>
                  <a:srgbClr val="6D28D9"/>
                </a:solidFill>
                <a:latin typeface="Courier New"/>
              </a:rPr>
              <a:t>YouTube / Drive link — see form</a:t>
            </a:r>
          </a:p>
        </p:txBody>
      </p:sp>
      <p:sp>
        <p:nvSpPr>
          <p:cNvPr id="14" name="Rounded Rectangle 13"/>
          <p:cNvSpPr/>
          <p:nvPr/>
        </p:nvSpPr>
        <p:spPr>
          <a:xfrm>
            <a:off x="1024128" y="4302252"/>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144" y="4380738"/>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16" name="TextBox 15"/>
          <p:cNvSpPr txBox="1"/>
          <p:nvPr/>
        </p:nvSpPr>
        <p:spPr>
          <a:xfrm>
            <a:off x="1709928" y="4375404"/>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Presentation file (PPT + PDF)</a:t>
            </a:r>
          </a:p>
          <a:p>
            <a:pPr algn="l">
              <a:lnSpc>
                <a:spcPct val="110000"/>
              </a:lnSpc>
              <a:spcBef>
                <a:spcPts val="0"/>
              </a:spcBef>
              <a:spcAft>
                <a:spcPts val="100"/>
              </a:spcAft>
            </a:pPr>
            <a:r>
              <a:rPr sz="950" b="0" i="1">
                <a:solidFill>
                  <a:srgbClr val="6B6B76"/>
                </a:solidFill>
                <a:latin typeface="Calibri"/>
              </a:rPr>
              <a:t>This deck — 12 slides, speaker notes on every content slide</a:t>
            </a:r>
          </a:p>
          <a:p>
            <a:pPr algn="l">
              <a:lnSpc>
                <a:spcPct val="110000"/>
              </a:lnSpc>
              <a:spcBef>
                <a:spcPts val="0"/>
              </a:spcBef>
              <a:spcAft>
                <a:spcPts val="600"/>
              </a:spcAft>
            </a:pPr>
            <a:r>
              <a:rPr sz="950" b="0" i="0">
                <a:solidFill>
                  <a:srgbClr val="6D28D9"/>
                </a:solidFill>
                <a:latin typeface="Courier New"/>
              </a:rPr>
              <a:t>Thapar_Trace_Submission_ppt.pptx / .pdf</a:t>
            </a:r>
          </a:p>
        </p:txBody>
      </p:sp>
      <p:sp>
        <p:nvSpPr>
          <p:cNvPr id="17" name="Rounded Rectangle 16"/>
          <p:cNvSpPr/>
          <p:nvPr/>
        </p:nvSpPr>
        <p:spPr>
          <a:xfrm>
            <a:off x="1024128" y="4898136"/>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144" y="4976622"/>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19" name="TextBox 18"/>
          <p:cNvSpPr txBox="1"/>
          <p:nvPr/>
        </p:nvSpPr>
        <p:spPr>
          <a:xfrm>
            <a:off x="1709928" y="4971288"/>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Leaderboard results JSON</a:t>
            </a:r>
          </a:p>
          <a:p>
            <a:pPr algn="l">
              <a:lnSpc>
                <a:spcPct val="110000"/>
              </a:lnSpc>
              <a:spcBef>
                <a:spcPts val="0"/>
              </a:spcBef>
              <a:spcAft>
                <a:spcPts val="100"/>
              </a:spcAft>
            </a:pPr>
            <a:r>
              <a:rPr sz="950" b="0" i="1">
                <a:solidFill>
                  <a:srgbClr val="6B6B76"/>
                </a:solidFill>
                <a:latin typeface="Calibri"/>
              </a:rPr>
              <a:t>Real CoIR AppsRetrieval, produced by mteb.evaluate()</a:t>
            </a:r>
          </a:p>
          <a:p>
            <a:pPr algn="l">
              <a:lnSpc>
                <a:spcPct val="110000"/>
              </a:lnSpc>
              <a:spcBef>
                <a:spcPts val="0"/>
              </a:spcBef>
              <a:spcAft>
                <a:spcPts val="600"/>
              </a:spcAft>
            </a:pPr>
            <a:r>
              <a:rPr sz="950" b="0" i="0">
                <a:solidFill>
                  <a:srgbClr val="6D28D9"/>
                </a:solidFill>
                <a:latin typeface="Courier New"/>
              </a:rPr>
              <a:t>results/appsretrieval_results.json  (attached to release)</a:t>
            </a:r>
          </a:p>
        </p:txBody>
      </p:sp>
      <p:sp>
        <p:nvSpPr>
          <p:cNvPr id="20" name="Rounded Rectangle 19"/>
          <p:cNvSpPr/>
          <p:nvPr/>
        </p:nvSpPr>
        <p:spPr>
          <a:xfrm>
            <a:off x="1024128" y="5494020"/>
            <a:ext cx="6492240" cy="541020"/>
          </a:xfrm>
          <a:prstGeom prst="roundRect">
            <a:avLst>
              <a:gd name="adj" fmla="val 5000"/>
            </a:avLst>
          </a:prstGeom>
          <a:solidFill>
            <a:srgbClr val="ED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52144" y="5572506"/>
            <a:ext cx="384048" cy="384048"/>
          </a:xfrm>
          <a:prstGeom prst="ellipse">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Calibri"/>
              </a:rPr>
              <a:t>✓</a:t>
            </a:r>
          </a:p>
        </p:txBody>
      </p:sp>
      <p:sp>
        <p:nvSpPr>
          <p:cNvPr id="22" name="TextBox 21"/>
          <p:cNvSpPr txBox="1"/>
          <p:nvPr/>
        </p:nvSpPr>
        <p:spPr>
          <a:xfrm>
            <a:off x="1709928" y="5567172"/>
            <a:ext cx="5806440" cy="394716"/>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4142B"/>
                </a:solidFill>
                <a:latin typeface="Calibri"/>
              </a:rPr>
              <a:t>Ablation record</a:t>
            </a:r>
          </a:p>
          <a:p>
            <a:pPr algn="l">
              <a:lnSpc>
                <a:spcPct val="110000"/>
              </a:lnSpc>
              <a:spcBef>
                <a:spcPts val="0"/>
              </a:spcBef>
              <a:spcAft>
                <a:spcPts val="100"/>
              </a:spcAft>
            </a:pPr>
            <a:r>
              <a:rPr sz="950" b="0" i="1">
                <a:solidFill>
                  <a:srgbClr val="6B6B76"/>
                </a:solidFill>
                <a:latin typeface="Calibri"/>
              </a:rPr>
              <a:t>10 configs measured, 8 dropped, e5-base kept (+73.9%)</a:t>
            </a:r>
          </a:p>
          <a:p>
            <a:pPr algn="l">
              <a:lnSpc>
                <a:spcPct val="110000"/>
              </a:lnSpc>
              <a:spcBef>
                <a:spcPts val="0"/>
              </a:spcBef>
              <a:spcAft>
                <a:spcPts val="600"/>
              </a:spcAft>
            </a:pPr>
            <a:r>
              <a:rPr sz="950" b="0" i="0">
                <a:solidFill>
                  <a:srgbClr val="6D28D9"/>
                </a:solidFill>
                <a:latin typeface="Courier New"/>
              </a:rPr>
              <a:t>docs/ablation_log.md</a:t>
            </a:r>
          </a:p>
        </p:txBody>
      </p:sp>
      <p:sp>
        <p:nvSpPr>
          <p:cNvPr id="23" name="Rounded Rectangle 22"/>
          <p:cNvSpPr/>
          <p:nvPr/>
        </p:nvSpPr>
        <p:spPr>
          <a:xfrm>
            <a:off x="7927848" y="1874519"/>
            <a:ext cx="3429000" cy="4297680"/>
          </a:xfrm>
          <a:prstGeom prst="roundRect">
            <a:avLst>
              <a:gd name="adj" fmla="val 6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6448" y="2057400"/>
            <a:ext cx="2971800" cy="292608"/>
          </a:xfrm>
          <a:prstGeom prst="rect">
            <a:avLst/>
          </a:prstGeom>
          <a:noFill/>
        </p:spPr>
        <p:txBody>
          <a:bodyPr wrap="square" lIns="0" rIns="0" tIns="0" bIns="0">
            <a:spAutoFit/>
          </a:bodyPr>
          <a:lstStyle/>
          <a:p>
            <a:pPr algn="l">
              <a:spcBef>
                <a:spcPts val="0"/>
              </a:spcBef>
              <a:spcAft>
                <a:spcPts val="600"/>
              </a:spcAft>
            </a:pPr>
            <a:r>
              <a:rPr sz="1050" b="1" i="0">
                <a:solidFill>
                  <a:srgbClr val="E3DAF7"/>
                </a:solidFill>
                <a:latin typeface="Calibri"/>
              </a:rPr>
              <a:t>SUBMISSION AT A GLANCE</a:t>
            </a:r>
          </a:p>
        </p:txBody>
      </p:sp>
      <p:sp>
        <p:nvSpPr>
          <p:cNvPr id="25" name="TextBox 24"/>
          <p:cNvSpPr txBox="1"/>
          <p:nvPr/>
        </p:nvSpPr>
        <p:spPr>
          <a:xfrm>
            <a:off x="8156448" y="2423160"/>
            <a:ext cx="2971800" cy="640080"/>
          </a:xfrm>
          <a:prstGeom prst="rect">
            <a:avLst/>
          </a:prstGeom>
          <a:noFill/>
        </p:spPr>
        <p:txBody>
          <a:bodyPr wrap="square" lIns="0" rIns="0" tIns="0" bIns="0">
            <a:spAutoFit/>
          </a:bodyPr>
          <a:lstStyle/>
          <a:p>
            <a:pPr algn="l">
              <a:lnSpc>
                <a:spcPct val="100000"/>
              </a:lnSpc>
              <a:spcBef>
                <a:spcPts val="0"/>
              </a:spcBef>
              <a:spcAft>
                <a:spcPts val="0"/>
              </a:spcAft>
            </a:pPr>
            <a:r>
              <a:rPr sz="3200" b="1" i="0">
                <a:solidFill>
                  <a:srgbClr val="FFFFFF"/>
                </a:solidFill>
                <a:latin typeface="Calibri"/>
              </a:rPr>
              <a:t>0.1151</a:t>
            </a:r>
          </a:p>
          <a:p>
            <a:pPr algn="l">
              <a:lnSpc>
                <a:spcPct val="110000"/>
              </a:lnSpc>
              <a:spcBef>
                <a:spcPts val="0"/>
              </a:spcBef>
              <a:spcAft>
                <a:spcPts val="600"/>
              </a:spcAft>
            </a:pPr>
            <a:r>
              <a:rPr sz="1000" b="0" i="1">
                <a:solidFill>
                  <a:srgbClr val="E3DAF7"/>
                </a:solidFill>
                <a:latin typeface="Calibri"/>
              </a:rPr>
              <a:t>NDCG@10 · CoIR AppsRetrieval · MTEB</a:t>
            </a:r>
          </a:p>
        </p:txBody>
      </p:sp>
      <p:sp>
        <p:nvSpPr>
          <p:cNvPr id="26" name="TextBox 25"/>
          <p:cNvSpPr txBox="1"/>
          <p:nvPr/>
        </p:nvSpPr>
        <p:spPr>
          <a:xfrm>
            <a:off x="8156448" y="3474720"/>
            <a:ext cx="2971800" cy="219456"/>
          </a:xfrm>
          <a:prstGeom prst="rect">
            <a:avLst/>
          </a:prstGeom>
          <a:noFill/>
        </p:spPr>
        <p:txBody>
          <a:bodyPr wrap="square" lIns="0" rIns="0" tIns="0" bIns="0">
            <a:spAutoFit/>
          </a:bodyPr>
          <a:lstStyle/>
          <a:p>
            <a:pPr algn="l">
              <a:spcBef>
                <a:spcPts val="0"/>
              </a:spcBef>
              <a:spcAft>
                <a:spcPts val="600"/>
              </a:spcAft>
            </a:pPr>
            <a:r>
              <a:rPr sz="900" b="1" i="0">
                <a:solidFill>
                  <a:srgbClr val="E3DAF7"/>
                </a:solidFill>
                <a:latin typeface="Calibri"/>
              </a:rPr>
              <a:t>VERIFIED</a:t>
            </a:r>
          </a:p>
        </p:txBody>
      </p:sp>
      <p:sp>
        <p:nvSpPr>
          <p:cNvPr id="27" name="Rounded Rectangle 26"/>
          <p:cNvSpPr/>
          <p:nvPr/>
        </p:nvSpPr>
        <p:spPr>
          <a:xfrm>
            <a:off x="8156448" y="3749039"/>
            <a:ext cx="2971800" cy="434340"/>
          </a:xfrm>
          <a:prstGeom prst="roundRect">
            <a:avLst>
              <a:gd name="adj" fmla="val 4000"/>
            </a:avLst>
          </a:prstGeom>
          <a:solidFill>
            <a:srgbClr val="8C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56448" y="3749039"/>
            <a:ext cx="1188720" cy="434340"/>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Calibri"/>
              </a:rPr>
              <a:t>10</a:t>
            </a:r>
          </a:p>
        </p:txBody>
      </p:sp>
      <p:sp>
        <p:nvSpPr>
          <p:cNvPr id="29" name="TextBox 28"/>
          <p:cNvSpPr txBox="1"/>
          <p:nvPr/>
        </p:nvSpPr>
        <p:spPr>
          <a:xfrm>
            <a:off x="9345168" y="3749039"/>
            <a:ext cx="1783080" cy="434340"/>
          </a:xfrm>
          <a:prstGeom prst="rect">
            <a:avLst/>
          </a:prstGeom>
          <a:noFill/>
        </p:spPr>
        <p:txBody>
          <a:bodyPr wrap="square" lIns="0" rIns="0" tIns="0" bIns="0" anchor="ctr">
            <a:spAutoFit/>
          </a:bodyPr>
          <a:lstStyle/>
          <a:p>
            <a:pPr algn="l">
              <a:lnSpc>
                <a:spcPct val="110000"/>
              </a:lnSpc>
              <a:spcBef>
                <a:spcPts val="0"/>
              </a:spcBef>
              <a:spcAft>
                <a:spcPts val="0"/>
              </a:spcAft>
            </a:pPr>
            <a:r>
              <a:rPr sz="950" b="0" i="0">
                <a:solidFill>
                  <a:srgbClr val="E3DAF7"/>
                </a:solidFill>
                <a:latin typeface="Calibri"/>
              </a:rPr>
              <a:t>real ablations</a:t>
            </a:r>
          </a:p>
        </p:txBody>
      </p:sp>
      <p:sp>
        <p:nvSpPr>
          <p:cNvPr id="30" name="Rounded Rectangle 29"/>
          <p:cNvSpPr/>
          <p:nvPr/>
        </p:nvSpPr>
        <p:spPr>
          <a:xfrm>
            <a:off x="8156448" y="4229100"/>
            <a:ext cx="2971800" cy="434340"/>
          </a:xfrm>
          <a:prstGeom prst="roundRect">
            <a:avLst>
              <a:gd name="adj" fmla="val 4000"/>
            </a:avLst>
          </a:prstGeom>
          <a:solidFill>
            <a:srgbClr val="8C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6448" y="4229100"/>
            <a:ext cx="1188720" cy="434340"/>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Calibri"/>
              </a:rPr>
              <a:t>+73.9%</a:t>
            </a:r>
          </a:p>
        </p:txBody>
      </p:sp>
      <p:sp>
        <p:nvSpPr>
          <p:cNvPr id="32" name="TextBox 31"/>
          <p:cNvSpPr txBox="1"/>
          <p:nvPr/>
        </p:nvSpPr>
        <p:spPr>
          <a:xfrm>
            <a:off x="9345168" y="4229100"/>
            <a:ext cx="1783080" cy="434340"/>
          </a:xfrm>
          <a:prstGeom prst="rect">
            <a:avLst/>
          </a:prstGeom>
          <a:noFill/>
        </p:spPr>
        <p:txBody>
          <a:bodyPr wrap="square" lIns="0" rIns="0" tIns="0" bIns="0" anchor="ctr">
            <a:spAutoFit/>
          </a:bodyPr>
          <a:lstStyle/>
          <a:p>
            <a:pPr algn="l">
              <a:lnSpc>
                <a:spcPct val="110000"/>
              </a:lnSpc>
              <a:spcBef>
                <a:spcPts val="0"/>
              </a:spcBef>
              <a:spcAft>
                <a:spcPts val="0"/>
              </a:spcAft>
            </a:pPr>
            <a:r>
              <a:rPr sz="950" b="0" i="0">
                <a:solidFill>
                  <a:srgbClr val="E3DAF7"/>
                </a:solidFill>
                <a:latin typeface="Calibri"/>
              </a:rPr>
              <a:t>over baseline</a:t>
            </a:r>
          </a:p>
        </p:txBody>
      </p:sp>
      <p:sp>
        <p:nvSpPr>
          <p:cNvPr id="33" name="Rounded Rectangle 32"/>
          <p:cNvSpPr/>
          <p:nvPr/>
        </p:nvSpPr>
        <p:spPr>
          <a:xfrm>
            <a:off x="8156448" y="4709160"/>
            <a:ext cx="2971800" cy="434340"/>
          </a:xfrm>
          <a:prstGeom prst="roundRect">
            <a:avLst>
              <a:gd name="adj" fmla="val 4000"/>
            </a:avLst>
          </a:prstGeom>
          <a:solidFill>
            <a:srgbClr val="8C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56448" y="4709160"/>
            <a:ext cx="1188720" cy="434340"/>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Calibri"/>
              </a:rPr>
              <a:t>78</a:t>
            </a:r>
          </a:p>
        </p:txBody>
      </p:sp>
      <p:sp>
        <p:nvSpPr>
          <p:cNvPr id="35" name="TextBox 34"/>
          <p:cNvSpPr txBox="1"/>
          <p:nvPr/>
        </p:nvSpPr>
        <p:spPr>
          <a:xfrm>
            <a:off x="9345168" y="4709160"/>
            <a:ext cx="1783080" cy="434340"/>
          </a:xfrm>
          <a:prstGeom prst="rect">
            <a:avLst/>
          </a:prstGeom>
          <a:noFill/>
        </p:spPr>
        <p:txBody>
          <a:bodyPr wrap="square" lIns="0" rIns="0" tIns="0" bIns="0" anchor="ctr">
            <a:spAutoFit/>
          </a:bodyPr>
          <a:lstStyle/>
          <a:p>
            <a:pPr algn="l">
              <a:lnSpc>
                <a:spcPct val="110000"/>
              </a:lnSpc>
              <a:spcBef>
                <a:spcPts val="0"/>
              </a:spcBef>
              <a:spcAft>
                <a:spcPts val="0"/>
              </a:spcAft>
            </a:pPr>
            <a:r>
              <a:rPr sz="950" b="0" i="0">
                <a:solidFill>
                  <a:srgbClr val="E3DAF7"/>
                </a:solidFill>
                <a:latin typeface="Calibri"/>
              </a:rPr>
              <a:t>offline tests</a:t>
            </a:r>
          </a:p>
        </p:txBody>
      </p:sp>
      <p:sp>
        <p:nvSpPr>
          <p:cNvPr id="36" name="Rounded Rectangle 35"/>
          <p:cNvSpPr/>
          <p:nvPr/>
        </p:nvSpPr>
        <p:spPr>
          <a:xfrm>
            <a:off x="8156448" y="5189220"/>
            <a:ext cx="2971800" cy="434340"/>
          </a:xfrm>
          <a:prstGeom prst="roundRect">
            <a:avLst>
              <a:gd name="adj" fmla="val 4000"/>
            </a:avLst>
          </a:prstGeom>
          <a:solidFill>
            <a:srgbClr val="8C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56448" y="5189220"/>
            <a:ext cx="1188720" cy="434340"/>
          </a:xfrm>
          <a:prstGeom prst="rect">
            <a:avLst/>
          </a:prstGeom>
          <a:noFill/>
        </p:spPr>
        <p:txBody>
          <a:bodyPr wrap="square" lIns="0" rIns="0" tIns="0" bIns="0" anchor="ctr">
            <a:spAutoFit/>
          </a:bodyPr>
          <a:lstStyle/>
          <a:p>
            <a:pPr algn="ctr">
              <a:lnSpc>
                <a:spcPct val="100000"/>
              </a:lnSpc>
              <a:spcBef>
                <a:spcPts val="0"/>
              </a:spcBef>
              <a:spcAft>
                <a:spcPts val="0"/>
              </a:spcAft>
            </a:pPr>
            <a:r>
              <a:rPr sz="1800" b="1" i="0">
                <a:solidFill>
                  <a:srgbClr val="FFFFFF"/>
                </a:solidFill>
                <a:latin typeface="Calibri"/>
              </a:rPr>
              <a:t>100%</a:t>
            </a:r>
          </a:p>
        </p:txBody>
      </p:sp>
      <p:sp>
        <p:nvSpPr>
          <p:cNvPr id="38" name="TextBox 37"/>
          <p:cNvSpPr txBox="1"/>
          <p:nvPr/>
        </p:nvSpPr>
        <p:spPr>
          <a:xfrm>
            <a:off x="9345168" y="5189220"/>
            <a:ext cx="1783080" cy="434340"/>
          </a:xfrm>
          <a:prstGeom prst="rect">
            <a:avLst/>
          </a:prstGeom>
          <a:noFill/>
        </p:spPr>
        <p:txBody>
          <a:bodyPr wrap="square" lIns="0" rIns="0" tIns="0" bIns="0" anchor="ctr">
            <a:spAutoFit/>
          </a:bodyPr>
          <a:lstStyle/>
          <a:p>
            <a:pPr algn="l">
              <a:lnSpc>
                <a:spcPct val="110000"/>
              </a:lnSpc>
              <a:spcBef>
                <a:spcPts val="0"/>
              </a:spcBef>
              <a:spcAft>
                <a:spcPts val="0"/>
              </a:spcAft>
            </a:pPr>
            <a:r>
              <a:rPr sz="950" b="0" i="0">
                <a:solidFill>
                  <a:srgbClr val="E3DAF7"/>
                </a:solidFill>
                <a:latin typeface="Calibri"/>
              </a:rPr>
              <a:t>CPU inference</a:t>
            </a:r>
          </a:p>
        </p:txBody>
      </p:sp>
      <p:sp>
        <p:nvSpPr>
          <p:cNvPr id="39" name="TextBox 38"/>
          <p:cNvSpPr txBox="1"/>
          <p:nvPr/>
        </p:nvSpPr>
        <p:spPr>
          <a:xfrm>
            <a:off x="8156448" y="5788152"/>
            <a:ext cx="2971800" cy="292608"/>
          </a:xfrm>
          <a:prstGeom prst="rect">
            <a:avLst/>
          </a:prstGeom>
          <a:noFill/>
        </p:spPr>
        <p:txBody>
          <a:bodyPr wrap="square" lIns="0" rIns="0" tIns="0" bIns="0">
            <a:spAutoFit/>
          </a:bodyPr>
          <a:lstStyle/>
          <a:p>
            <a:pPr algn="l">
              <a:lnSpc>
                <a:spcPct val="110000"/>
              </a:lnSpc>
              <a:spcBef>
                <a:spcPts val="0"/>
              </a:spcBef>
              <a:spcAft>
                <a:spcPts val="600"/>
              </a:spcAft>
            </a:pPr>
            <a:r>
              <a:rPr sz="850" b="0" i="1">
                <a:solidFill>
                  <a:srgbClr val="E3DAF7"/>
                </a:solidFill>
                <a:latin typeface="Calibri"/>
              </a:rPr>
              <a:t>Tag  ·  PRISM_GENAI_HACKATHON_Y2026</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6035040" y="3017520"/>
            <a:ext cx="5486400" cy="457200"/>
          </a:xfrm>
          <a:prstGeom prst="rect">
            <a:avLst/>
          </a:prstGeom>
          <a:noFill/>
        </p:spPr>
        <p:txBody>
          <a:bodyPr wrap="square" lIns="0" rIns="0" tIns="0" bIns="0">
            <a:spAutoFit/>
          </a:bodyPr>
          <a:lstStyle/>
          <a:p>
            <a:pPr algn="l">
              <a:spcBef>
                <a:spcPts val="0"/>
              </a:spcBef>
              <a:spcAft>
                <a:spcPts val="600"/>
              </a:spcAft>
            </a:pPr>
            <a:r>
              <a:rPr sz="1400" b="1" i="0">
                <a:solidFill>
                  <a:srgbClr val="6D28D9"/>
                </a:solidFill>
                <a:latin typeface="Calibri"/>
              </a:rPr>
              <a:t>Team Trace  ·  Thapar Institute of Engineering and Technology</a:t>
            </a:r>
          </a:p>
        </p:txBody>
      </p:sp>
      <p:sp>
        <p:nvSpPr>
          <p:cNvPr id="30" name="TextBox 29"/>
          <p:cNvSpPr txBox="1"/>
          <p:nvPr/>
        </p:nvSpPr>
        <p:spPr>
          <a:xfrm>
            <a:off x="6035040" y="3520440"/>
            <a:ext cx="5486400" cy="1188720"/>
          </a:xfrm>
          <a:prstGeom prst="rect">
            <a:avLst/>
          </a:prstGeom>
          <a:noFill/>
        </p:spPr>
        <p:txBody>
          <a:bodyPr wrap="square" lIns="0" rIns="0" tIns="0" bIns="0">
            <a:spAutoFit/>
          </a:bodyPr>
          <a:lstStyle/>
          <a:p>
            <a:pPr algn="l">
              <a:spcBef>
                <a:spcPts val="0"/>
              </a:spcBef>
              <a:spcAft>
                <a:spcPts val="300"/>
              </a:spcAft>
            </a:pPr>
            <a:r>
              <a:rPr sz="1300" b="1" i="0">
                <a:solidFill>
                  <a:srgbClr val="14142B"/>
                </a:solidFill>
                <a:latin typeface="Calibri"/>
              </a:rPr>
              <a:t>Abhavya Jha</a:t>
            </a:r>
          </a:p>
          <a:p>
            <a:pPr algn="l">
              <a:spcBef>
                <a:spcPts val="0"/>
              </a:spcBef>
              <a:spcAft>
                <a:spcPts val="300"/>
              </a:spcAft>
            </a:pPr>
            <a:r>
              <a:rPr sz="1200" b="0" i="0">
                <a:solidFill>
                  <a:srgbClr val="33333D"/>
                </a:solidFill>
                <a:latin typeface="Calibri"/>
              </a:rPr>
              <a:t>ajha2_be24@thapar.edu</a:t>
            </a:r>
          </a:p>
          <a:p>
            <a:pPr algn="l">
              <a:spcBef>
                <a:spcPts val="0"/>
              </a:spcBef>
              <a:spcAft>
                <a:spcPts val="600"/>
              </a:spcAft>
            </a:pPr>
            <a:r>
              <a:rPr sz="1200" b="0" i="0">
                <a:solidFill>
                  <a:srgbClr val="33333D"/>
                </a:solidFill>
                <a:latin typeface="Calibri"/>
              </a:rPr>
              <a:t>github.com/Ajha2005/samsung-prism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Thapar_Trace_Submission_ppt</dc:title>
  <dc:creator>Abhavya Jha</dc:creator>
  <cp:lastModifiedBy>Abhavya Jha</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
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notesMaster+xml" PartName="/ppt/notesMasters/notesMaster1.xml"/>
  <Override ContentType="application/vnd.openxmlformats-officedocument.presentationml.notesSlide+xml" PartName="/ppt/notesSlides/notesSlide1.xml"/>
  <Override ContentType="application/vnd.openxmlformats-officedocument.presentationml.notesSlide+xml" PartName="/ppt/notesSlides/notesSlide2.xml"/>
  <Override ContentType="application/vnd.openxmlformats-officedocument.presentationml.notesSlide+xml" PartName="/ppt/notesSlides/notesSlide3.xml"/>
  <Override ContentType="application/vnd.openxmlformats-officedocument.presentationml.notesSlide+xml" PartName="/ppt/notesSlides/notesSlide4.xml"/>
  <Override ContentType="application/vnd.openxmlformats-officedocument.presentationml.notesSlide+xml" PartName="/ppt/notesSlides/notesSlide5.xml"/>
  <Override ContentType="application/vnd.openxmlformats-officedocument.presentationml.notesSlide+xml" PartName="/ppt/notesSlides/notesSlide6.xml"/>
  <Override ContentType="application/vnd.openxmlformats-officedocument.presentationml.notesSlide+xml" PartName="/ppt/notesSlides/notesSlide7.xml"/>
  <Override ContentType="application/vnd.openxmlformats-officedocument.presentationml.notesSlide+xml" PartName="/ppt/notesSlides/notesSlide8.xml"/>
  <Override ContentType="application/vnd.openxmlformats-officedocument.presentationml.notesSlide+xml" PartName="/ppt/notesSlides/notesSlide9.xml"/>
  <Override ContentType="application/vnd.openxmlformats-officedocument.presentationml.notesSlide+xml" PartName="/ppt/notesSlides/notesSlide10.xml"/>
  <Override ContentType="application/vnd.openxmlformats-officedocument.presentationml.notesSlide+xml" PartName="/ppt/notesSlides/notesSlide11.xml"/>
  <Override ContentType="application/vnd.openxmlformats-officedocument.presentationml.notesSlide+xml" PartName="/ppt/notesSlides/notesSlide12.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slide+xml" PartName="/ppt/slides/slide11.xml"/>
  <Override ContentType="application/vnd.openxmlformats-officedocument.presentationml.slide+xml" PartName="/ppt/slides/slide12.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notesMasterIdLst>
    <p:notesMasterId r:id="rId18"/>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Lst>
  <p:sldSz cx="18288000" cy="10287000"/>
  <p:notesSz cx="6858000" cy="9144000"/>
  <p:embeddedFontLst>
    <p:embeddedFont>
      <p:font typeface="Arial Bold" charset="1" panose="020B0704020202020204"/>
      <p:regular r:id="rId21"/>
    </p:embeddedFont>
    <p:embeddedFont>
      <p:font typeface="Calibri (MS) Bold" charset="1" panose="020F0702030404030204"/>
      <p:regular r:id="rId22"/>
    </p:embeddedFont>
    <p:embeddedFont>
      <p:font typeface="Calibri (MS)" charset="1" panose="020F0502020204030204"/>
      <p:regular r:id="rId23"/>
    </p:embeddedFont>
    <p:embeddedFont>
      <p:font typeface="Calibri (MS) Italics" charset="1" panose="020F05020202040A0204"/>
      <p:regular r:id="rId25"/>
    </p:embeddedFont>
    <p:embeddedFont>
      <p:font typeface="Courier New" charset="1" panose="02070309020205020404"/>
      <p:regular r:id="rId29"/>
    </p:embeddedFont>
    <p:embeddedFont>
      <p:font typeface="Calibri (MS) Bold Italics" charset="1" panose="020F07020304040A0204"/>
      <p:regular r:id="rId32"/>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slides/slide11.xml" Type="http://schemas.openxmlformats.org/officeDocument/2006/relationships/slide"/><Relationship Id="rId17" Target="slides/slide12.xml" Type="http://schemas.openxmlformats.org/officeDocument/2006/relationships/slide"/><Relationship Id="rId18" Target="notesMasters/notesMaster1.xml" Type="http://schemas.openxmlformats.org/officeDocument/2006/relationships/notesMaster"/><Relationship Id="rId19" Target="theme/theme2.xml" Type="http://schemas.openxmlformats.org/officeDocument/2006/relationships/theme"/><Relationship Id="rId2" Target="presProps.xml" Type="http://schemas.openxmlformats.org/officeDocument/2006/relationships/presProps"/><Relationship Id="rId20" Target="notesSlides/notesSlide1.xml" Type="http://schemas.openxmlformats.org/officeDocument/2006/relationships/notesSlide"/><Relationship Id="rId21" Target="fonts/font21.fntdata" Type="http://schemas.openxmlformats.org/officeDocument/2006/relationships/font"/><Relationship Id="rId22" Target="fonts/font22.fntdata" Type="http://schemas.openxmlformats.org/officeDocument/2006/relationships/font"/><Relationship Id="rId23" Target="fonts/font23.fntdata" Type="http://schemas.openxmlformats.org/officeDocument/2006/relationships/font"/><Relationship Id="rId24" Target="notesSlides/notesSlide2.xml" Type="http://schemas.openxmlformats.org/officeDocument/2006/relationships/notesSlide"/><Relationship Id="rId25" Target="fonts/font25.fntdata" Type="http://schemas.openxmlformats.org/officeDocument/2006/relationships/font"/><Relationship Id="rId26" Target="notesSlides/notesSlide3.xml" Type="http://schemas.openxmlformats.org/officeDocument/2006/relationships/notesSlide"/><Relationship Id="rId27" Target="notesSlides/notesSlide4.xml" Type="http://schemas.openxmlformats.org/officeDocument/2006/relationships/notesSlide"/><Relationship Id="rId28" Target="notesSlides/notesSlide5.xml" Type="http://schemas.openxmlformats.org/officeDocument/2006/relationships/notesSlide"/><Relationship Id="rId29" Target="fonts/font29.fntdata" Type="http://schemas.openxmlformats.org/officeDocument/2006/relationships/font"/><Relationship Id="rId3" Target="viewProps.xml" Type="http://schemas.openxmlformats.org/officeDocument/2006/relationships/viewProps"/><Relationship Id="rId30" Target="notesSlides/notesSlide6.xml" Type="http://schemas.openxmlformats.org/officeDocument/2006/relationships/notesSlide"/><Relationship Id="rId31" Target="notesSlides/notesSlide7.xml" Type="http://schemas.openxmlformats.org/officeDocument/2006/relationships/notesSlide"/><Relationship Id="rId32" Target="fonts/font32.fntdata" Type="http://schemas.openxmlformats.org/officeDocument/2006/relationships/font"/><Relationship Id="rId33" Target="notesSlides/notesSlide8.xml" Type="http://schemas.openxmlformats.org/officeDocument/2006/relationships/notesSlide"/><Relationship Id="rId34" Target="notesSlides/notesSlide9.xml" Type="http://schemas.openxmlformats.org/officeDocument/2006/relationships/notesSlide"/><Relationship Id="rId35" Target="notesSlides/notesSlide10.xml" Type="http://schemas.openxmlformats.org/officeDocument/2006/relationships/notesSlide"/><Relationship Id="rId36" Target="notesSlides/notesSlide11.xml" Type="http://schemas.openxmlformats.org/officeDocument/2006/relationships/notesSlide"/><Relationship Id="rId37" Target="notesSlides/notesSlide12.xml" Type="http://schemas.openxmlformats.org/officeDocument/2006/relationships/notesSlide"/><Relationship Id="rId4" Target="theme/theme1.xml" Type="http://schemas.openxmlformats.org/officeDocument/2006/relationships/them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notesMasters/_rels/notesMaster1.xml.rels><?xml version="1.0" encoding="UTF-8" standalone="yes"?><Relationships xmlns="http://schemas.openxmlformats.org/package/2006/relationships"><Relationship Id="rId1" Target="../theme/theme2.xml" Type="http://schemas.openxmlformats.org/officeDocument/2006/relationships/theme"/></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1.7.2013</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xml" Type="http://schemas.openxmlformats.org/officeDocument/2006/relationships/slide"/></Relationships>
</file>

<file path=ppt/notesSlides/_rels/notesSlide2.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xml" Type="http://schemas.openxmlformats.org/officeDocument/2006/relationships/slide"/></Relationships>
</file>

<file path=ppt/notesSlides/_rels/notesSlide3.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3.xml" Type="http://schemas.openxmlformats.org/officeDocument/2006/relationships/slide"/></Relationships>
</file>

<file path=ppt/notesSlides/_rels/notesSlide4.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4.xml" Type="http://schemas.openxmlformats.org/officeDocument/2006/relationships/slide"/></Relationships>
</file>

<file path=ppt/notesSlides/_rels/notesSlide5.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5.xml" Type="http://schemas.openxmlformats.org/officeDocument/2006/relationships/slide"/></Relationships>
</file>

<file path=ppt/notesSlides/_rels/notesSlide6.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6.xml" Type="http://schemas.openxmlformats.org/officeDocument/2006/relationships/slide"/></Relationships>
</file>

<file path=ppt/notesSlides/_rels/notesSlide7.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7.xml" Type="http://schemas.openxmlformats.org/officeDocument/2006/relationships/slide"/></Relationships>
</file>

<file path=ppt/notesSlides/_rels/notesSlide8.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8.xml" Type="http://schemas.openxmlformats.org/officeDocument/2006/relationships/slide"/></Relationships>
</file>

<file path=ppt/notesSlides/_rels/notesSlide9.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9.xml" Type="http://schemas.openxmlformats.org/officeDocument/2006/relationships/slide"/></Relationships>
</file>

<file path=ppt/notesSlides/_rels/notesSlide10.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0.xml" Type="http://schemas.openxmlformats.org/officeDocument/2006/relationships/slide"/></Relationships>
</file>

<file path=ppt/notesSlides/_rels/notesSlide11.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1.xml" Type="http://schemas.openxmlformats.org/officeDocument/2006/relationships/slide"/></Relationships>
</file>

<file path=ppt/notesSlides/_rels/notesSlide12.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2.xml" Type="http://schemas.openxmlformats.org/officeDocument/2006/relationships/slide"/></Relationships>
</file>

<file path=ppt/notesSlides/notesSlide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Team Trace (solo), Thapar Institute of Engineering and Technology, Patiala. Theme 1, Agentic Code Intelligence: rank code snippets for a natural-language query. Submitted result: NDCG@10 = 0.1151 and MRR@10 = 0.0986 on the CoIR AppsRetrieval test split, using e5-base-v2 on CPU.</a:t>
            </a:r>
          </a:p>
          <a:p>
            <a:r>
              <a:rPr lang="en-US"/>
              <a:t>1</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One-sentence framing: given a natural-language query and a library of code snippets, return them ranked by relevance. Pure retrieval, no generation. Screening ranks teams on the CoIR AppsRetrieval test split, scored by MTEB with NDCG@10 and MRR; the top teams then go to a hands-on review. The three constraints below aren't limitations we work around; they define the shape of the problem we're solving.</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Three columns: what most teams reach for, where it breaks down on AppsRetrieval, and what we built for each gap. Everything on the right was built and measured on the real split: HyDE and multi-view lost to baseline and are off in the submission; what moved the score instead was a retrieval-trained encoder, e5-base-v2. Note the cross-version gap: P1 is usually bolted on at the end; we designed the index versioned from day one.</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One CPU-friendly embedding model at the center, picked by measurement (submitted: e5-base-v2, 512-token window, CPU only). Query path: whitespace normalization plus the 'query: ' prefix. Snippet path: cleanup, splitting of very long snippets into windows that are max-pooled back into one vector, plus the 'passage: ' prefix. Scoring is cosine similarity, with optional cross-version disambiguation for near-duplicate versions of the same snippet. Code-flavored HyDE and multi-view embedding are built and switchable by config, but lost on the real split, so they are off.</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The demo shows retrieval working on real behavioral queries — 'find two numbers that sum to a target', 'detect if a string is a palindrome' — with the right snippet ranked first in every case. This is the offline demo (hashing backend, no downloads), so the latency shown is that backend's. With the submitted model, a query takes about 42 ms end to end on CPU (embedding the query plus ranking), and the full real eval (3,765 long problem statements against 8,765 solutions) ran in 84 minutes on a free Kaggle CPU, no GPU. The pipeline and ranking code are the same ones the leaderboard run uses; the submitted model swaps in by config. No LLM in the ranking loop.</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6.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Kept deliberately boring. Core ML: PyTorch CPU, sentence-transformers, MTEB as the official scorer — the same one the leaderboard uses. Retrieval signals: NumPy for dense scoring, rank-bm25 for sparse, Python's own ast module for structural normalization (no third-party parser). Reproducibility: Docker for one-command runs, 78 offline tests, and Makefile targets for every step. Nothing exotic; everything runs where the judges will run it.</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7.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Four concrete places this pays off. Onboarding: search behavior, not memorized names. Agentic coding: a fast retrieval step an AI agent calls before generating. Review/audit: find every place a pattern appears, not just a text match. Legacy modernization: compare behavior across historical versions — the P1 use case.</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8.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Submitted: e5-base-v2 with its query:/passage: prefixes and a 512-token window, NDCG@10 = 0.1151, MRR@10 = 0.0986 on the real CoIR AppsRetrieval test split via MTEB — +73.9% over the MiniLM baseline (0.0662). Ten configs measured, one kept. The pipeline differentiators on the left all lost to baseline on MiniLM — multi-view (−22%), HyDE (−6%), front-load keywords (−2.4%) — and so did every code-specialized model: UniXcoder (−34.5%), CodeSearchNet (−50%). What won was a stronger general model: mpnet (+30.1% at 512 tokens), then e5-base-v2, the same size but trained for query→passage retrieval (+33.7% over mpnet). Limitations up front: larger models are untested within the CPU budget, the dropped features haven't been re-measured on e5, and the version-delta representation ties naive retrieval even on e5, so the cross-version bonus is a prototype without a measured gain yet.</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9.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The lesson from ten real ablations: the gains came from picking a stronger general retrieval model — e5-base-v2, trained for query→passage retrieval, beat a same-size sentence-similarity model by a third — while every code-specialized swap lost. Next steps: re-test HyDE, multi-view and front-loading on top of e5; try e5-large-v2 within the CPU budget; make the version-delta representation beat naive retrieval (it ties so far, even on e5), then test it on real multi-version repositories — every step still measured against the current best.</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0.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What separates this submission: we verified the full MTEB scoring path end-to-end on our own local synthetic task before trusting a number on the real split (our metrics match MTEB's trec_eval to 1e-4), and our e5-base-v2 score (0.1151) matches the published CoIR result for that model (11.5). Every feature is logged config → NDCG@10 → MRR → kept/dropped, so nothing ships on a hunch. The index is versioned from day one, not bolted on. Limitations are reported next to results, on purpose.</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Everything the guidelines ask for, and where it lives: the public repo with the release tag PRISM_GENAI_HACKATHON_Y2026, a README with a one-command Docker run, the demo video linked in the form, this deck as PPTX and PDF, the MTEB results JSON attached to the release, and the full ablation record in docs/ablation_log.md.</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Thank you. The code, the release with the results JSON, and the ablation log are public at github.com/Ajha2005/samsung-prism. Contact: Abhavya Jha, ajha2_be24@thapar.edu.</a:t>
            </a:r>
          </a:p>
          <a:p>
            <a:r>
              <a:rPr lang="en-US"/>
              <a:t>12</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xml" Type="http://schemas.openxmlformats.org/officeDocument/2006/relationships/notesSlide"/><Relationship Id="rId3" Target="../media/image1.jpeg" Type="http://schemas.openxmlformats.org/officeDocument/2006/relationships/image"/><Relationship Id="rId4" Target="../media/image2.pn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xml" Type="http://schemas.openxmlformats.org/officeDocument/2006/relationships/notesSlide"/><Relationship Id="rId3" Target="../media/image1.jpe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3.xml" Type="http://schemas.openxmlformats.org/officeDocument/2006/relationships/notesSlide"/><Relationship Id="rId3" Target="../media/image1.jpe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4.xml" Type="http://schemas.openxmlformats.org/officeDocument/2006/relationships/notesSlide"/><Relationship Id="rId3" Target="../media/image1.jpe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5.xml" Type="http://schemas.openxmlformats.org/officeDocument/2006/relationships/notesSlide"/><Relationship Id="rId3" Target="../media/image1.jpe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6.xml" Type="http://schemas.openxmlformats.org/officeDocument/2006/relationships/notesSlide"/><Relationship Id="rId3" Target="../media/image1.jpe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7.xml" Type="http://schemas.openxmlformats.org/officeDocument/2006/relationships/notesSlide"/><Relationship Id="rId3" Target="../media/image1.jpe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8.xml" Type="http://schemas.openxmlformats.org/officeDocument/2006/relationships/notesSlide"/><Relationship Id="rId3" Target="../media/image1.jpeg" Type="http://schemas.openxmlformats.org/officeDocument/2006/relationships/image"/><Relationship Id="rId4" Target="../media/image3.png" Type="http://schemas.openxmlformats.org/officeDocument/2006/relationships/imag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9.xml" Type="http://schemas.openxmlformats.org/officeDocument/2006/relationships/notesSlide"/><Relationship Id="rId3" Target="../media/image1.jpeg" Type="http://schemas.openxmlformats.org/officeDocument/2006/relationships/imag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0.xml" Type="http://schemas.openxmlformats.org/officeDocument/2006/relationships/notesSlide"/><Relationship Id="rId3" Target="../media/image1.jpeg" Type="http://schemas.openxmlformats.org/officeDocument/2006/relationships/image"/></Relationships>
</file>

<file path=ppt/slides/_rels/slide11.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1.xml" Type="http://schemas.openxmlformats.org/officeDocument/2006/relationships/notesSlide"/><Relationship Id="rId3" Target="../media/image1.jpeg" Type="http://schemas.openxmlformats.org/officeDocument/2006/relationships/image"/></Relationships>
</file>

<file path=ppt/slides/_rels/slide12.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2.xml" Type="http://schemas.openxmlformats.org/officeDocument/2006/relationships/notesSlide"/><Relationship Id="rId3" Target="../media/image1.jpeg"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156335" y="1005459"/>
            <a:ext cx="3653790" cy="540258"/>
            <a:chOff x="0" y="0"/>
            <a:chExt cx="4871720" cy="720344"/>
          </a:xfrm>
        </p:grpSpPr>
        <p:sp>
          <p:nvSpPr>
            <p:cNvPr name="Freeform 3" id="3"/>
            <p:cNvSpPr/>
            <p:nvPr/>
          </p:nvSpPr>
          <p:spPr>
            <a:xfrm flipH="false" flipV="false" rot="0">
              <a:off x="0" y="0"/>
              <a:ext cx="4871720" cy="720344"/>
            </a:xfrm>
            <a:custGeom>
              <a:avLst/>
              <a:gdLst/>
              <a:ahLst/>
              <a:cxnLst/>
              <a:rect r="r" b="b" t="t" l="l"/>
              <a:pathLst>
                <a:path h="720344" w="4871720">
                  <a:moveTo>
                    <a:pt x="0" y="360172"/>
                  </a:moveTo>
                  <a:cubicBezTo>
                    <a:pt x="0" y="161290"/>
                    <a:pt x="161290" y="0"/>
                    <a:pt x="360172" y="0"/>
                  </a:cubicBezTo>
                  <a:lnTo>
                    <a:pt x="4511548" y="0"/>
                  </a:lnTo>
                  <a:cubicBezTo>
                    <a:pt x="4710430" y="0"/>
                    <a:pt x="4871720" y="161290"/>
                    <a:pt x="4871720" y="360172"/>
                  </a:cubicBezTo>
                  <a:cubicBezTo>
                    <a:pt x="4871720" y="559054"/>
                    <a:pt x="4710430" y="720344"/>
                    <a:pt x="4511548" y="720344"/>
                  </a:cubicBezTo>
                  <a:lnTo>
                    <a:pt x="360172" y="720344"/>
                  </a:lnTo>
                  <a:cubicBezTo>
                    <a:pt x="161290" y="720344"/>
                    <a:pt x="0" y="559054"/>
                    <a:pt x="0" y="360172"/>
                  </a:cubicBezTo>
                  <a:close/>
                </a:path>
              </a:pathLst>
            </a:custGeom>
            <a:solidFill>
              <a:srgbClr val="FFFFFF"/>
            </a:solidFill>
            <a:ln w="19050" cap="sq">
              <a:solidFill>
                <a:srgbClr val="D9D3F0"/>
              </a:solidFill>
              <a:prstDash val="solid"/>
              <a:miter/>
            </a:ln>
          </p:spPr>
        </p:sp>
      </p:grpSp>
      <p:grpSp>
        <p:nvGrpSpPr>
          <p:cNvPr name="Group 4" id="4"/>
          <p:cNvGrpSpPr/>
          <p:nvPr/>
        </p:nvGrpSpPr>
        <p:grpSpPr>
          <a:xfrm rot="0">
            <a:off x="1165860" y="1014984"/>
            <a:ext cx="3634740" cy="521208"/>
            <a:chOff x="0" y="0"/>
            <a:chExt cx="4846320" cy="694944"/>
          </a:xfrm>
        </p:grpSpPr>
        <p:sp>
          <p:nvSpPr>
            <p:cNvPr name="Freeform 5" id="5"/>
            <p:cNvSpPr/>
            <p:nvPr/>
          </p:nvSpPr>
          <p:spPr>
            <a:xfrm flipH="false" flipV="false" rot="0">
              <a:off x="0" y="0"/>
              <a:ext cx="4846320" cy="694944"/>
            </a:xfrm>
            <a:custGeom>
              <a:avLst/>
              <a:gdLst/>
              <a:ahLst/>
              <a:cxnLst/>
              <a:rect r="r" b="b" t="t" l="l"/>
              <a:pathLst>
                <a:path h="694944" w="4846320">
                  <a:moveTo>
                    <a:pt x="0" y="0"/>
                  </a:moveTo>
                  <a:lnTo>
                    <a:pt x="4846320" y="0"/>
                  </a:lnTo>
                  <a:lnTo>
                    <a:pt x="4846320" y="694944"/>
                  </a:lnTo>
                  <a:lnTo>
                    <a:pt x="0" y="694944"/>
                  </a:lnTo>
                  <a:close/>
                </a:path>
              </a:pathLst>
            </a:custGeom>
            <a:blipFill>
              <a:blip r:embed="rId3">
                <a:alphaModFix amt="0"/>
              </a:blip>
              <a:stretch>
                <a:fillRect l="0" t="-85882" r="0" b="-85882"/>
              </a:stretch>
            </a:blipFill>
          </p:spPr>
        </p:sp>
        <p:sp>
          <p:nvSpPr>
            <p:cNvPr name="TextBox 6" id="6"/>
            <p:cNvSpPr txBox="true"/>
            <p:nvPr/>
          </p:nvSpPr>
          <p:spPr>
            <a:xfrm>
              <a:off x="0" y="-19050"/>
              <a:ext cx="4846320" cy="713994"/>
            </a:xfrm>
            <a:prstGeom prst="rect">
              <a:avLst/>
            </a:prstGeom>
          </p:spPr>
          <p:txBody>
            <a:bodyPr anchor="ctr" rtlCol="false" tIns="0" lIns="0" bIns="0" rIns="0"/>
            <a:lstStyle/>
            <a:p>
              <a:pPr algn="ctr">
                <a:lnSpc>
                  <a:spcPts val="1980"/>
                </a:lnSpc>
              </a:pPr>
              <a:r>
                <a:rPr lang="en-US" b="true" sz="1650" spc="165">
                  <a:solidFill>
                    <a:srgbClr val="6D28D9"/>
                  </a:solidFill>
                  <a:latin typeface="Arial Bold"/>
                  <a:ea typeface="Arial Bold"/>
                  <a:cs typeface="Arial Bold"/>
                  <a:sym typeface="Arial Bold"/>
                </a:rPr>
                <a:t>SAMSUNG PRISM</a:t>
              </a:r>
            </a:p>
          </p:txBody>
        </p:sp>
      </p:grpSp>
      <p:grpSp>
        <p:nvGrpSpPr>
          <p:cNvPr name="Group 7" id="7"/>
          <p:cNvGrpSpPr/>
          <p:nvPr/>
        </p:nvGrpSpPr>
        <p:grpSpPr>
          <a:xfrm rot="0">
            <a:off x="1165860" y="1810512"/>
            <a:ext cx="9189720" cy="1124712"/>
            <a:chOff x="0" y="0"/>
            <a:chExt cx="12252960" cy="1499616"/>
          </a:xfrm>
        </p:grpSpPr>
        <p:sp>
          <p:nvSpPr>
            <p:cNvPr name="Freeform 8" id="8"/>
            <p:cNvSpPr/>
            <p:nvPr/>
          </p:nvSpPr>
          <p:spPr>
            <a:xfrm flipH="false" flipV="false" rot="0">
              <a:off x="0" y="0"/>
              <a:ext cx="12252960" cy="1499616"/>
            </a:xfrm>
            <a:custGeom>
              <a:avLst/>
              <a:gdLst/>
              <a:ahLst/>
              <a:cxnLst/>
              <a:rect r="r" b="b" t="t" l="l"/>
              <a:pathLst>
                <a:path h="1499616" w="12252960">
                  <a:moveTo>
                    <a:pt x="0" y="0"/>
                  </a:moveTo>
                  <a:lnTo>
                    <a:pt x="12252960" y="0"/>
                  </a:lnTo>
                  <a:lnTo>
                    <a:pt x="12252960" y="1499616"/>
                  </a:lnTo>
                  <a:lnTo>
                    <a:pt x="0" y="1499616"/>
                  </a:lnTo>
                  <a:close/>
                </a:path>
              </a:pathLst>
            </a:custGeom>
            <a:blipFill>
              <a:blip r:embed="rId3">
                <a:alphaModFix amt="0"/>
              </a:blip>
              <a:stretch>
                <a:fillRect l="0" t="-109207" r="0" b="-109207"/>
              </a:stretch>
            </a:blipFill>
          </p:spPr>
        </p:sp>
        <p:sp>
          <p:nvSpPr>
            <p:cNvPr name="TextBox 9" id="9"/>
            <p:cNvSpPr txBox="true"/>
            <p:nvPr/>
          </p:nvSpPr>
          <p:spPr>
            <a:xfrm>
              <a:off x="0" y="-47625"/>
              <a:ext cx="12252960" cy="1547241"/>
            </a:xfrm>
            <a:prstGeom prst="rect">
              <a:avLst/>
            </a:prstGeom>
          </p:spPr>
          <p:txBody>
            <a:bodyPr anchor="ctr" rtlCol="false" tIns="0" lIns="0" bIns="0" rIns="0"/>
            <a:lstStyle/>
            <a:p>
              <a:pPr algn="l">
                <a:lnSpc>
                  <a:spcPts val="9000"/>
                </a:lnSpc>
              </a:pPr>
              <a:r>
                <a:rPr lang="en-US" sz="7500" b="true">
                  <a:solidFill>
                    <a:srgbClr val="14142B"/>
                  </a:solidFill>
                  <a:latin typeface="Arial Bold"/>
                  <a:ea typeface="Arial Bold"/>
                  <a:cs typeface="Arial Bold"/>
                  <a:sym typeface="Arial Bold"/>
                </a:rPr>
                <a:t>Generative AI</a:t>
              </a:r>
            </a:p>
          </p:txBody>
        </p:sp>
      </p:grpSp>
      <p:grpSp>
        <p:nvGrpSpPr>
          <p:cNvPr name="Group 10" id="10"/>
          <p:cNvGrpSpPr/>
          <p:nvPr/>
        </p:nvGrpSpPr>
        <p:grpSpPr>
          <a:xfrm rot="0">
            <a:off x="1165860" y="2852928"/>
            <a:ext cx="9189720" cy="1124712"/>
            <a:chOff x="0" y="0"/>
            <a:chExt cx="12252960" cy="1499616"/>
          </a:xfrm>
        </p:grpSpPr>
        <p:sp>
          <p:nvSpPr>
            <p:cNvPr name="Freeform 11" id="11"/>
            <p:cNvSpPr/>
            <p:nvPr/>
          </p:nvSpPr>
          <p:spPr>
            <a:xfrm flipH="false" flipV="false" rot="0">
              <a:off x="0" y="0"/>
              <a:ext cx="12252960" cy="1499616"/>
            </a:xfrm>
            <a:custGeom>
              <a:avLst/>
              <a:gdLst/>
              <a:ahLst/>
              <a:cxnLst/>
              <a:rect r="r" b="b" t="t" l="l"/>
              <a:pathLst>
                <a:path h="1499616" w="12252960">
                  <a:moveTo>
                    <a:pt x="0" y="0"/>
                  </a:moveTo>
                  <a:lnTo>
                    <a:pt x="12252960" y="0"/>
                  </a:lnTo>
                  <a:lnTo>
                    <a:pt x="12252960" y="1499616"/>
                  </a:lnTo>
                  <a:lnTo>
                    <a:pt x="0" y="1499616"/>
                  </a:lnTo>
                  <a:close/>
                </a:path>
              </a:pathLst>
            </a:custGeom>
            <a:blipFill>
              <a:blip r:embed="rId3">
                <a:alphaModFix amt="0"/>
              </a:blip>
              <a:stretch>
                <a:fillRect l="0" t="-109207" r="0" b="-109207"/>
              </a:stretch>
            </a:blipFill>
          </p:spPr>
        </p:sp>
        <p:sp>
          <p:nvSpPr>
            <p:cNvPr name="TextBox 12" id="12"/>
            <p:cNvSpPr txBox="true"/>
            <p:nvPr/>
          </p:nvSpPr>
          <p:spPr>
            <a:xfrm>
              <a:off x="0" y="-47625"/>
              <a:ext cx="12252960" cy="1547241"/>
            </a:xfrm>
            <a:prstGeom prst="rect">
              <a:avLst/>
            </a:prstGeom>
          </p:spPr>
          <p:txBody>
            <a:bodyPr anchor="ctr" rtlCol="false" tIns="0" lIns="0" bIns="0" rIns="0"/>
            <a:lstStyle/>
            <a:p>
              <a:pPr algn="l">
                <a:lnSpc>
                  <a:spcPts val="9000"/>
                </a:lnSpc>
              </a:pPr>
              <a:r>
                <a:rPr lang="en-US" sz="7500" b="true">
                  <a:solidFill>
                    <a:srgbClr val="6D28D9"/>
                  </a:solidFill>
                  <a:latin typeface="Arial Bold"/>
                  <a:ea typeface="Arial Bold"/>
                  <a:cs typeface="Arial Bold"/>
                  <a:sym typeface="Arial Bold"/>
                </a:rPr>
                <a:t>Hackathon</a:t>
              </a:r>
            </a:p>
          </p:txBody>
        </p:sp>
      </p:grpSp>
      <p:grpSp>
        <p:nvGrpSpPr>
          <p:cNvPr name="Group 13" id="13"/>
          <p:cNvGrpSpPr/>
          <p:nvPr/>
        </p:nvGrpSpPr>
        <p:grpSpPr>
          <a:xfrm rot="0">
            <a:off x="1165860" y="4087368"/>
            <a:ext cx="9189720" cy="685800"/>
            <a:chOff x="0" y="0"/>
            <a:chExt cx="12252960" cy="914400"/>
          </a:xfrm>
        </p:grpSpPr>
        <p:sp>
          <p:nvSpPr>
            <p:cNvPr name="Freeform 14" id="14"/>
            <p:cNvSpPr/>
            <p:nvPr/>
          </p:nvSpPr>
          <p:spPr>
            <a:xfrm flipH="false" flipV="false" rot="0">
              <a:off x="0" y="0"/>
              <a:ext cx="12252960" cy="914400"/>
            </a:xfrm>
            <a:custGeom>
              <a:avLst/>
              <a:gdLst/>
              <a:ahLst/>
              <a:cxnLst/>
              <a:rect r="r" b="b" t="t" l="l"/>
              <a:pathLst>
                <a:path h="914400" w="12252960">
                  <a:moveTo>
                    <a:pt x="0" y="0"/>
                  </a:moveTo>
                  <a:lnTo>
                    <a:pt x="12252960" y="0"/>
                  </a:lnTo>
                  <a:lnTo>
                    <a:pt x="12252960" y="914400"/>
                  </a:lnTo>
                  <a:lnTo>
                    <a:pt x="0" y="914400"/>
                  </a:lnTo>
                  <a:close/>
                </a:path>
              </a:pathLst>
            </a:custGeom>
            <a:blipFill>
              <a:blip r:embed="rId3">
                <a:alphaModFix amt="0"/>
              </a:blip>
              <a:stretch>
                <a:fillRect l="0" t="-211099" r="0" b="-211099"/>
              </a:stretch>
            </a:blipFill>
          </p:spPr>
        </p:sp>
        <p:sp>
          <p:nvSpPr>
            <p:cNvPr name="TextBox 15" id="15"/>
            <p:cNvSpPr txBox="true"/>
            <p:nvPr/>
          </p:nvSpPr>
          <p:spPr>
            <a:xfrm>
              <a:off x="0" y="-66675"/>
              <a:ext cx="12252960" cy="981075"/>
            </a:xfrm>
            <a:prstGeom prst="rect">
              <a:avLst/>
            </a:prstGeom>
          </p:spPr>
          <p:txBody>
            <a:bodyPr anchor="ctr" rtlCol="false" tIns="0" lIns="0" bIns="0" rIns="0"/>
            <a:lstStyle/>
            <a:p>
              <a:pPr algn="l">
                <a:lnSpc>
                  <a:spcPts val="3600"/>
                </a:lnSpc>
              </a:pPr>
              <a:r>
                <a:rPr lang="en-US" sz="3000" b="true">
                  <a:solidFill>
                    <a:srgbClr val="14142B"/>
                  </a:solidFill>
                  <a:latin typeface="Calibri (MS) Bold"/>
                  <a:ea typeface="Calibri (MS) Bold"/>
                  <a:cs typeface="Calibri (MS) Bold"/>
                  <a:sym typeface="Calibri (MS) Bold"/>
                </a:rPr>
                <a:t>3rd Edition</a:t>
              </a:r>
              <a:r>
                <a:rPr lang="en-US" sz="3000">
                  <a:solidFill>
                    <a:srgbClr val="63637E"/>
                  </a:solidFill>
                  <a:latin typeface="Calibri (MS)"/>
                  <a:ea typeface="Calibri (MS)"/>
                  <a:cs typeface="Calibri (MS)"/>
                  <a:sym typeface="Calibri (MS)"/>
                </a:rPr>
                <a:t>   2026 – 27</a:t>
              </a:r>
            </a:p>
          </p:txBody>
        </p:sp>
      </p:grpSp>
      <p:sp>
        <p:nvSpPr>
          <p:cNvPr name="TextBox 16" id="16"/>
          <p:cNvSpPr txBox="true"/>
          <p:nvPr/>
        </p:nvSpPr>
        <p:spPr>
          <a:xfrm rot="0">
            <a:off x="880637" y="5713840"/>
            <a:ext cx="10820079" cy="2451741"/>
          </a:xfrm>
          <a:prstGeom prst="rect">
            <a:avLst/>
          </a:prstGeom>
        </p:spPr>
        <p:txBody>
          <a:bodyPr anchor="t" rtlCol="false" tIns="0" lIns="0" bIns="0" rIns="0">
            <a:spAutoFit/>
          </a:bodyPr>
          <a:lstStyle/>
          <a:p>
            <a:pPr algn="l" marL="478918" indent="-239459" lvl="1">
              <a:lnSpc>
                <a:spcPts val="3175"/>
              </a:lnSpc>
              <a:buFont typeface="Arial"/>
              <a:buChar char="•"/>
            </a:pPr>
            <a:r>
              <a:rPr lang="en-US" sz="2646">
                <a:solidFill>
                  <a:srgbClr val="63637E"/>
                </a:solidFill>
                <a:latin typeface="Calibri (MS)"/>
                <a:ea typeface="Calibri (MS)"/>
                <a:cs typeface="Calibri (MS)"/>
                <a:sym typeface="Calibri (MS)"/>
              </a:rPr>
              <a:t>Theme ID  –  1 (Agentic Code Intelligence)</a:t>
            </a:r>
          </a:p>
          <a:p>
            <a:pPr algn="l" marL="478918" indent="-239459" lvl="1">
              <a:lnSpc>
                <a:spcPts val="3175"/>
              </a:lnSpc>
              <a:buFont typeface="Arial"/>
              <a:buChar char="•"/>
            </a:pPr>
            <a:r>
              <a:rPr lang="en-US" sz="2646">
                <a:solidFill>
                  <a:srgbClr val="63637E"/>
                </a:solidFill>
                <a:latin typeface="Calibri (MS)"/>
                <a:ea typeface="Calibri (MS)"/>
                <a:cs typeface="Calibri (MS)"/>
                <a:sym typeface="Calibri (MS)"/>
              </a:rPr>
              <a:t>Team Name  –  Trace</a:t>
            </a:r>
          </a:p>
          <a:p>
            <a:pPr algn="l" marL="478918" indent="-239459" lvl="1">
              <a:lnSpc>
                <a:spcPts val="3175"/>
              </a:lnSpc>
              <a:buFont typeface="Arial"/>
              <a:buChar char="•"/>
            </a:pPr>
            <a:r>
              <a:rPr lang="en-US" sz="2646">
                <a:solidFill>
                  <a:srgbClr val="63637E"/>
                </a:solidFill>
                <a:latin typeface="Calibri (MS)"/>
                <a:ea typeface="Calibri (MS)"/>
                <a:cs typeface="Calibri (MS)"/>
                <a:sym typeface="Calibri (MS)"/>
              </a:rPr>
              <a:t>College Name  –  Thapar Institute of Engineering and Technology, Patiala</a:t>
            </a:r>
          </a:p>
          <a:p>
            <a:pPr algn="l" marL="478918" indent="-239459" lvl="1">
              <a:lnSpc>
                <a:spcPts val="3175"/>
              </a:lnSpc>
              <a:buFont typeface="Arial"/>
              <a:buChar char="•"/>
            </a:pPr>
            <a:r>
              <a:rPr lang="en-US" sz="2646">
                <a:solidFill>
                  <a:srgbClr val="63637E"/>
                </a:solidFill>
                <a:latin typeface="Calibri (MS)"/>
                <a:ea typeface="Calibri (MS)"/>
                <a:cs typeface="Calibri (MS)"/>
                <a:sym typeface="Calibri (MS)"/>
              </a:rPr>
              <a:t>Member  –  Abhavya Jha  –  ajha2_be24@thapar.edu</a:t>
            </a:r>
          </a:p>
          <a:p>
            <a:pPr algn="l" marL="478918" indent="-239459" lvl="1">
              <a:lnSpc>
                <a:spcPts val="3175"/>
              </a:lnSpc>
              <a:buFont typeface="Arial"/>
              <a:buChar char="•"/>
            </a:pPr>
            <a:r>
              <a:rPr lang="en-US" sz="2646">
                <a:solidFill>
                  <a:srgbClr val="63637E"/>
                </a:solidFill>
                <a:latin typeface="Calibri (MS)"/>
                <a:ea typeface="Calibri (MS)"/>
                <a:cs typeface="Calibri (MS)"/>
                <a:sym typeface="Calibri (MS)"/>
              </a:rPr>
              <a:t>Submission GitHub link  –  https://github.com/Ajha2005/samsung-prism</a:t>
            </a:r>
          </a:p>
          <a:p>
            <a:pPr algn="l" marL="478918" indent="-239459" lvl="1">
              <a:lnSpc>
                <a:spcPts val="3175"/>
              </a:lnSpc>
            </a:pPr>
          </a:p>
        </p:txBody>
      </p:sp>
      <p:grpSp>
        <p:nvGrpSpPr>
          <p:cNvPr name="Group 17" id="17"/>
          <p:cNvGrpSpPr/>
          <p:nvPr/>
        </p:nvGrpSpPr>
        <p:grpSpPr>
          <a:xfrm rot="0">
            <a:off x="10588752" y="1577340"/>
            <a:ext cx="6858000" cy="6858000"/>
            <a:chOff x="0" y="0"/>
            <a:chExt cx="9144000" cy="9144000"/>
          </a:xfrm>
        </p:grpSpPr>
        <p:sp>
          <p:nvSpPr>
            <p:cNvPr name="Freeform 18" id="18" descr="hero_network.png"/>
            <p:cNvSpPr/>
            <p:nvPr/>
          </p:nvSpPr>
          <p:spPr>
            <a:xfrm flipH="false" flipV="false" rot="0">
              <a:off x="0" y="0"/>
              <a:ext cx="9144000" cy="9144000"/>
            </a:xfrm>
            <a:custGeom>
              <a:avLst/>
              <a:gdLst/>
              <a:ahLst/>
              <a:cxnLst/>
              <a:rect r="r" b="b" t="t" l="l"/>
              <a:pathLst>
                <a:path h="9144000" w="9144000">
                  <a:moveTo>
                    <a:pt x="0" y="0"/>
                  </a:moveTo>
                  <a:lnTo>
                    <a:pt x="9144000" y="0"/>
                  </a:lnTo>
                  <a:lnTo>
                    <a:pt x="9144000" y="9144000"/>
                  </a:lnTo>
                  <a:lnTo>
                    <a:pt x="0" y="9144000"/>
                  </a:lnTo>
                  <a:lnTo>
                    <a:pt x="0" y="0"/>
                  </a:lnTo>
                  <a:close/>
                </a:path>
              </a:pathLst>
            </a:custGeom>
            <a:blipFill>
              <a:blip r:embed="rId4"/>
              <a:stretch>
                <a:fillRect l="0" t="0" r="0" b="0"/>
              </a:stretch>
            </a:blipFill>
          </p:spPr>
        </p:sp>
      </p:gr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583899" y="34528"/>
            <a:ext cx="15773400" cy="1988344"/>
            <a:chOff x="0" y="0"/>
            <a:chExt cx="21031200" cy="2651125"/>
          </a:xfrm>
        </p:grpSpPr>
        <p:sp>
          <p:nvSpPr>
            <p:cNvPr name="Freeform 3" id="3"/>
            <p:cNvSpPr/>
            <p:nvPr/>
          </p:nvSpPr>
          <p:spPr>
            <a:xfrm flipH="false" flipV="false" rot="0">
              <a:off x="0" y="0"/>
              <a:ext cx="21031200" cy="2651126"/>
            </a:xfrm>
            <a:custGeom>
              <a:avLst/>
              <a:gdLst/>
              <a:ahLst/>
              <a:cxnLst/>
              <a:rect r="r" b="b" t="t" l="l"/>
              <a:pathLst>
                <a:path h="2651126" w="21031200">
                  <a:moveTo>
                    <a:pt x="0" y="0"/>
                  </a:moveTo>
                  <a:lnTo>
                    <a:pt x="21031200" y="0"/>
                  </a:lnTo>
                  <a:lnTo>
                    <a:pt x="21031200" y="2651126"/>
                  </a:lnTo>
                  <a:lnTo>
                    <a:pt x="0" y="2651126"/>
                  </a:lnTo>
                  <a:close/>
                </a:path>
              </a:pathLst>
            </a:custGeom>
            <a:blipFill>
              <a:blip r:embed="rId3">
                <a:alphaModFix amt="0"/>
              </a:blip>
              <a:stretch>
                <a:fillRect l="0" t="-104573" r="0" b="-104573"/>
              </a:stretch>
            </a:blipFill>
          </p:spPr>
        </p:sp>
        <p:sp>
          <p:nvSpPr>
            <p:cNvPr name="TextBox 4" id="4"/>
            <p:cNvSpPr txBox="true"/>
            <p:nvPr/>
          </p:nvSpPr>
          <p:spPr>
            <a:xfrm>
              <a:off x="0" y="-66675"/>
              <a:ext cx="21031200" cy="2717800"/>
            </a:xfrm>
            <a:prstGeom prst="rect">
              <a:avLst/>
            </a:prstGeom>
          </p:spPr>
          <p:txBody>
            <a:bodyPr anchor="ctr" rtlCol="false" tIns="0" lIns="0" bIns="0" rIns="0"/>
            <a:lstStyle/>
            <a:p>
              <a:pPr algn="l">
                <a:lnSpc>
                  <a:spcPts val="7128"/>
                </a:lnSpc>
              </a:pPr>
              <a:r>
                <a:rPr lang="en-US" sz="6600" b="true">
                  <a:solidFill>
                    <a:srgbClr val="704EA6"/>
                  </a:solidFill>
                  <a:latin typeface="Calibri (MS) Bold"/>
                  <a:ea typeface="Calibri (MS) Bold"/>
                  <a:cs typeface="Calibri (MS) Bold"/>
                  <a:sym typeface="Calibri (MS) Bold"/>
                </a:rPr>
                <a:t>Theme</a:t>
              </a:r>
            </a:p>
          </p:txBody>
        </p:sp>
      </p:grpSp>
      <p:sp>
        <p:nvSpPr>
          <p:cNvPr name="TextBox 5" id="5"/>
          <p:cNvSpPr txBox="true"/>
          <p:nvPr/>
        </p:nvSpPr>
        <p:spPr>
          <a:xfrm rot="0">
            <a:off x="483024" y="1946672"/>
            <a:ext cx="17321952" cy="656903"/>
          </a:xfrm>
          <a:prstGeom prst="rect">
            <a:avLst/>
          </a:prstGeom>
        </p:spPr>
        <p:txBody>
          <a:bodyPr anchor="t" rtlCol="false" tIns="0" lIns="0" bIns="0" rIns="0">
            <a:spAutoFit/>
          </a:bodyPr>
          <a:lstStyle/>
          <a:p>
            <a:pPr algn="l">
              <a:lnSpc>
                <a:spcPts val="4588"/>
              </a:lnSpc>
            </a:pPr>
            <a:r>
              <a:rPr lang="en-US" sz="3823" b="true">
                <a:solidFill>
                  <a:srgbClr val="6D28D9"/>
                </a:solidFill>
                <a:latin typeface="Calibri (MS) Bold"/>
                <a:ea typeface="Calibri (MS) Bold"/>
                <a:cs typeface="Calibri (MS) Bold"/>
                <a:sym typeface="Calibri (MS) Bold"/>
              </a:rPr>
              <a:t>Theme 1 — Agentic Code Intelligence</a:t>
            </a:r>
          </a:p>
        </p:txBody>
      </p:sp>
      <p:sp>
        <p:nvSpPr>
          <p:cNvPr name="TextBox 6" id="6"/>
          <p:cNvSpPr txBox="true"/>
          <p:nvPr/>
        </p:nvSpPr>
        <p:spPr>
          <a:xfrm rot="0">
            <a:off x="483024" y="2842451"/>
            <a:ext cx="17321952" cy="2020662"/>
          </a:xfrm>
          <a:prstGeom prst="rect">
            <a:avLst/>
          </a:prstGeom>
        </p:spPr>
        <p:txBody>
          <a:bodyPr anchor="t" rtlCol="false" tIns="0" lIns="0" bIns="0" rIns="0">
            <a:spAutoFit/>
          </a:bodyPr>
          <a:lstStyle/>
          <a:p>
            <a:pPr algn="l">
              <a:lnSpc>
                <a:spcPts val="4140"/>
              </a:lnSpc>
            </a:pPr>
            <a:r>
              <a:rPr lang="en-US" sz="3000" b="true">
                <a:solidFill>
                  <a:srgbClr val="14142B"/>
                </a:solidFill>
                <a:latin typeface="Calibri (MS) Bold"/>
                <a:ea typeface="Calibri (MS) Bold"/>
                <a:cs typeface="Calibri (MS) Bold"/>
                <a:sym typeface="Calibri (MS) Bold"/>
              </a:rPr>
              <a:t>Given a natural-language query and a library of code snippets, return the snippets ranked by relevance — pure retrieval, no generation or explanation.</a:t>
            </a:r>
          </a:p>
          <a:p>
            <a:pPr algn="l">
              <a:lnSpc>
                <a:spcPts val="3727"/>
              </a:lnSpc>
            </a:pPr>
            <a:r>
              <a:rPr lang="en-US" sz="2588" i="true">
                <a:solidFill>
                  <a:srgbClr val="6B6B76"/>
                </a:solidFill>
                <a:latin typeface="Calibri (MS) Italics"/>
                <a:ea typeface="Calibri (MS) Italics"/>
                <a:cs typeface="Calibri (MS) Italics"/>
                <a:sym typeface="Calibri (MS) Italics"/>
              </a:rPr>
              <a:t>Screening ranks teams on MTEB’s NDCG@10 and MRR over the CoIR AppsRetrieval test split; the top teams then go to a hands-on review of the code, deck and demo.</a:t>
            </a:r>
          </a:p>
        </p:txBody>
      </p:sp>
      <p:grpSp>
        <p:nvGrpSpPr>
          <p:cNvPr name="Group 7" id="7"/>
          <p:cNvGrpSpPr/>
          <p:nvPr/>
        </p:nvGrpSpPr>
        <p:grpSpPr>
          <a:xfrm rot="0">
            <a:off x="483024" y="5326176"/>
            <a:ext cx="17332412" cy="2054367"/>
            <a:chOff x="0" y="0"/>
            <a:chExt cx="23109883" cy="2739156"/>
          </a:xfrm>
        </p:grpSpPr>
        <p:grpSp>
          <p:nvGrpSpPr>
            <p:cNvPr name="Group 8" id="8"/>
            <p:cNvGrpSpPr/>
            <p:nvPr/>
          </p:nvGrpSpPr>
          <p:grpSpPr>
            <a:xfrm rot="0">
              <a:off x="0" y="13947"/>
              <a:ext cx="9840877" cy="2711262"/>
              <a:chOff x="0" y="0"/>
              <a:chExt cx="8961120" cy="2468880"/>
            </a:xfrm>
          </p:grpSpPr>
          <p:sp>
            <p:nvSpPr>
              <p:cNvPr name="Freeform 9" id="9"/>
              <p:cNvSpPr/>
              <p:nvPr/>
            </p:nvSpPr>
            <p:spPr>
              <a:xfrm flipH="false" flipV="false" rot="0">
                <a:off x="0" y="0"/>
                <a:ext cx="8961120" cy="2468880"/>
              </a:xfrm>
              <a:custGeom>
                <a:avLst/>
                <a:gdLst/>
                <a:ahLst/>
                <a:cxnLst/>
                <a:rect r="r" b="b" t="t" l="l"/>
                <a:pathLst>
                  <a:path h="2468880" w="8961120">
                    <a:moveTo>
                      <a:pt x="0" y="197485"/>
                    </a:moveTo>
                    <a:cubicBezTo>
                      <a:pt x="0" y="88392"/>
                      <a:pt x="88392" y="0"/>
                      <a:pt x="197485" y="0"/>
                    </a:cubicBezTo>
                    <a:lnTo>
                      <a:pt x="8763635" y="0"/>
                    </a:lnTo>
                    <a:cubicBezTo>
                      <a:pt x="8872728" y="0"/>
                      <a:pt x="8961120" y="88392"/>
                      <a:pt x="8961120" y="197485"/>
                    </a:cubicBezTo>
                    <a:lnTo>
                      <a:pt x="8961120" y="2271395"/>
                    </a:lnTo>
                    <a:cubicBezTo>
                      <a:pt x="8961120" y="2380488"/>
                      <a:pt x="8872728" y="2468880"/>
                      <a:pt x="8763635" y="2468880"/>
                    </a:cubicBezTo>
                    <a:lnTo>
                      <a:pt x="197485" y="2468880"/>
                    </a:lnTo>
                    <a:cubicBezTo>
                      <a:pt x="88392" y="2468880"/>
                      <a:pt x="0" y="2380488"/>
                      <a:pt x="0" y="2271395"/>
                    </a:cubicBezTo>
                    <a:close/>
                  </a:path>
                </a:pathLst>
              </a:custGeom>
              <a:solidFill>
                <a:srgbClr val="704EA6"/>
              </a:solidFill>
            </p:spPr>
          </p:sp>
        </p:grpSp>
        <p:sp>
          <p:nvSpPr>
            <p:cNvPr name="TextBox 10" id="10"/>
            <p:cNvSpPr txBox="true"/>
            <p:nvPr/>
          </p:nvSpPr>
          <p:spPr>
            <a:xfrm rot="0">
              <a:off x="602503" y="247490"/>
              <a:ext cx="8635872" cy="441325"/>
            </a:xfrm>
            <a:prstGeom prst="rect">
              <a:avLst/>
            </a:prstGeom>
          </p:spPr>
          <p:txBody>
            <a:bodyPr anchor="t" rtlCol="false" tIns="0" lIns="0" bIns="0" rIns="0">
              <a:spAutoFit/>
            </a:bodyPr>
            <a:lstStyle/>
            <a:p>
              <a:pPr algn="l">
                <a:lnSpc>
                  <a:spcPts val="2357"/>
                </a:lnSpc>
              </a:pPr>
              <a:r>
                <a:rPr lang="en-US" sz="1964" b="true">
                  <a:solidFill>
                    <a:srgbClr val="E3DAF7"/>
                  </a:solidFill>
                  <a:latin typeface="Calibri (MS) Bold"/>
                  <a:ea typeface="Calibri (MS) Bold"/>
                  <a:cs typeface="Calibri (MS) Bold"/>
                  <a:sym typeface="Calibri (MS) Bold"/>
                </a:rPr>
                <a:t>THE SCOREBOARD  ·  SUBMITTED: e5-base-v2</a:t>
              </a:r>
            </a:p>
          </p:txBody>
        </p:sp>
        <p:sp>
          <p:nvSpPr>
            <p:cNvPr name="TextBox 11" id="11"/>
            <p:cNvSpPr txBox="true"/>
            <p:nvPr/>
          </p:nvSpPr>
          <p:spPr>
            <a:xfrm rot="0">
              <a:off x="602503" y="861584"/>
              <a:ext cx="8635872" cy="889000"/>
            </a:xfrm>
            <a:prstGeom prst="rect">
              <a:avLst/>
            </a:prstGeom>
          </p:spPr>
          <p:txBody>
            <a:bodyPr anchor="t" rtlCol="false" tIns="0" lIns="0" bIns="0" rIns="0">
              <a:spAutoFit/>
            </a:bodyPr>
            <a:lstStyle/>
            <a:p>
              <a:pPr algn="l">
                <a:lnSpc>
                  <a:spcPts val="4828"/>
                </a:lnSpc>
              </a:pPr>
              <a:r>
                <a:rPr lang="en-US" sz="4023" b="true">
                  <a:solidFill>
                    <a:srgbClr val="FFFFFF"/>
                  </a:solidFill>
                  <a:latin typeface="Calibri (MS) Bold"/>
                  <a:ea typeface="Calibri (MS) Bold"/>
                  <a:cs typeface="Calibri (MS) Bold"/>
                  <a:sym typeface="Calibri (MS) Bold"/>
                </a:rPr>
                <a:t>NDCG@10 = 0.1151</a:t>
              </a:r>
            </a:p>
          </p:txBody>
        </p:sp>
        <p:sp>
          <p:nvSpPr>
            <p:cNvPr name="TextBox 12" id="12"/>
            <p:cNvSpPr txBox="true"/>
            <p:nvPr/>
          </p:nvSpPr>
          <p:spPr>
            <a:xfrm rot="0">
              <a:off x="602503" y="1884805"/>
              <a:ext cx="8635872" cy="539750"/>
            </a:xfrm>
            <a:prstGeom prst="rect">
              <a:avLst/>
            </a:prstGeom>
          </p:spPr>
          <p:txBody>
            <a:bodyPr anchor="t" rtlCol="false" tIns="0" lIns="0" bIns="0" rIns="0">
              <a:spAutoFit/>
            </a:bodyPr>
            <a:lstStyle/>
            <a:p>
              <a:pPr algn="l">
                <a:lnSpc>
                  <a:spcPts val="2851"/>
                </a:lnSpc>
              </a:pPr>
              <a:r>
                <a:rPr lang="en-US" sz="2376">
                  <a:solidFill>
                    <a:srgbClr val="E3DAF7"/>
                  </a:solidFill>
                  <a:latin typeface="Calibri (MS)"/>
                  <a:ea typeface="Calibri (MS)"/>
                  <a:cs typeface="Calibri (MS)"/>
                  <a:sym typeface="Calibri (MS)"/>
                </a:rPr>
                <a:t>MRR@10 = 0.0986   ·   +73.9% over baseline</a:t>
              </a:r>
            </a:p>
          </p:txBody>
        </p:sp>
        <p:grpSp>
          <p:nvGrpSpPr>
            <p:cNvPr name="Group 13" id="13"/>
            <p:cNvGrpSpPr/>
            <p:nvPr/>
          </p:nvGrpSpPr>
          <p:grpSpPr>
            <a:xfrm rot="0">
              <a:off x="10429433" y="0"/>
              <a:ext cx="12680450" cy="2739156"/>
              <a:chOff x="0" y="0"/>
              <a:chExt cx="11546840" cy="2494280"/>
            </a:xfrm>
          </p:grpSpPr>
          <p:sp>
            <p:nvSpPr>
              <p:cNvPr name="Freeform 14" id="14"/>
              <p:cNvSpPr/>
              <p:nvPr/>
            </p:nvSpPr>
            <p:spPr>
              <a:xfrm flipH="false" flipV="false" rot="0">
                <a:off x="0" y="0"/>
                <a:ext cx="11546840" cy="2494280"/>
              </a:xfrm>
              <a:custGeom>
                <a:avLst/>
                <a:gdLst/>
                <a:ahLst/>
                <a:cxnLst/>
                <a:rect r="r" b="b" t="t" l="l"/>
                <a:pathLst>
                  <a:path h="2494280" w="11546840">
                    <a:moveTo>
                      <a:pt x="0" y="199517"/>
                    </a:moveTo>
                    <a:cubicBezTo>
                      <a:pt x="0" y="89281"/>
                      <a:pt x="89281" y="0"/>
                      <a:pt x="199517" y="0"/>
                    </a:cubicBezTo>
                    <a:lnTo>
                      <a:pt x="11347323" y="0"/>
                    </a:lnTo>
                    <a:cubicBezTo>
                      <a:pt x="11457559" y="0"/>
                      <a:pt x="11546840" y="89281"/>
                      <a:pt x="11546840" y="199517"/>
                    </a:cubicBezTo>
                    <a:lnTo>
                      <a:pt x="11546840" y="2294763"/>
                    </a:lnTo>
                    <a:cubicBezTo>
                      <a:pt x="11546840" y="2404999"/>
                      <a:pt x="11457559" y="2494280"/>
                      <a:pt x="11347323" y="2494280"/>
                    </a:cubicBezTo>
                    <a:lnTo>
                      <a:pt x="199517" y="2494280"/>
                    </a:lnTo>
                    <a:cubicBezTo>
                      <a:pt x="89281" y="2494280"/>
                      <a:pt x="0" y="2404999"/>
                      <a:pt x="0" y="2294763"/>
                    </a:cubicBezTo>
                    <a:close/>
                  </a:path>
                </a:pathLst>
              </a:custGeom>
              <a:solidFill>
                <a:srgbClr val="FFFFFF"/>
              </a:solidFill>
              <a:ln w="19050" cap="sq">
                <a:solidFill>
                  <a:srgbClr val="D9D3F0"/>
                </a:solidFill>
                <a:prstDash val="solid"/>
                <a:miter/>
              </a:ln>
            </p:spPr>
          </p:sp>
        </p:grpSp>
        <p:sp>
          <p:nvSpPr>
            <p:cNvPr name="TextBox 15" id="15"/>
            <p:cNvSpPr txBox="true"/>
            <p:nvPr/>
          </p:nvSpPr>
          <p:spPr>
            <a:xfrm rot="0">
              <a:off x="11005715" y="247490"/>
              <a:ext cx="11527884" cy="441325"/>
            </a:xfrm>
            <a:prstGeom prst="rect">
              <a:avLst/>
            </a:prstGeom>
          </p:spPr>
          <p:txBody>
            <a:bodyPr anchor="t" rtlCol="false" tIns="0" lIns="0" bIns="0" rIns="0">
              <a:spAutoFit/>
            </a:bodyPr>
            <a:lstStyle/>
            <a:p>
              <a:pPr algn="l">
                <a:lnSpc>
                  <a:spcPts val="2357"/>
                </a:lnSpc>
              </a:pPr>
              <a:r>
                <a:rPr lang="en-US" sz="1964" b="true">
                  <a:solidFill>
                    <a:srgbClr val="6D28D9"/>
                  </a:solidFill>
                  <a:latin typeface="Calibri (MS) Bold"/>
                  <a:ea typeface="Calibri (MS) Bold"/>
                  <a:cs typeface="Calibri (MS) Bold"/>
                  <a:sym typeface="Calibri (MS) Bold"/>
                </a:rPr>
                <a:t>THE DISCIPLINE THAT PRODUCED IT</a:t>
              </a:r>
            </a:p>
          </p:txBody>
        </p:sp>
        <p:grpSp>
          <p:nvGrpSpPr>
            <p:cNvPr name="Group 16" id="16"/>
            <p:cNvGrpSpPr/>
            <p:nvPr/>
          </p:nvGrpSpPr>
          <p:grpSpPr>
            <a:xfrm rot="0">
              <a:off x="10845048" y="857451"/>
              <a:ext cx="2751429" cy="1666924"/>
              <a:chOff x="0" y="0"/>
              <a:chExt cx="2505456" cy="1517904"/>
            </a:xfrm>
          </p:grpSpPr>
          <p:sp>
            <p:nvSpPr>
              <p:cNvPr name="Freeform 17" id="17"/>
              <p:cNvSpPr/>
              <p:nvPr/>
            </p:nvSpPr>
            <p:spPr>
              <a:xfrm flipH="false" flipV="false" rot="0">
                <a:off x="0" y="0"/>
                <a:ext cx="2505456" cy="1517904"/>
              </a:xfrm>
              <a:custGeom>
                <a:avLst/>
                <a:gdLst/>
                <a:ahLst/>
                <a:cxnLst/>
                <a:rect r="r" b="b" t="t" l="l"/>
                <a:pathLst>
                  <a:path h="1517904" w="2505456">
                    <a:moveTo>
                      <a:pt x="0" y="0"/>
                    </a:moveTo>
                    <a:lnTo>
                      <a:pt x="2505456" y="0"/>
                    </a:lnTo>
                    <a:lnTo>
                      <a:pt x="2505456" y="1517904"/>
                    </a:lnTo>
                    <a:lnTo>
                      <a:pt x="0" y="1517904"/>
                    </a:lnTo>
                    <a:close/>
                  </a:path>
                </a:pathLst>
              </a:custGeom>
              <a:blipFill>
                <a:blip r:embed="rId3">
                  <a:alphaModFix amt="0"/>
                </a:blip>
                <a:stretch>
                  <a:fillRect l="-27731" t="0" r="-27731" b="0"/>
                </a:stretch>
              </a:blipFill>
            </p:spPr>
          </p:sp>
          <p:sp>
            <p:nvSpPr>
              <p:cNvPr name="TextBox 18" id="18"/>
              <p:cNvSpPr txBox="true"/>
              <p:nvPr/>
            </p:nvSpPr>
            <p:spPr>
              <a:xfrm>
                <a:off x="0" y="-66675"/>
                <a:ext cx="2505456" cy="1584579"/>
              </a:xfrm>
              <a:prstGeom prst="rect">
                <a:avLst/>
              </a:prstGeom>
            </p:spPr>
            <p:txBody>
              <a:bodyPr anchor="ctr" rtlCol="false" tIns="0" lIns="0" bIns="0" rIns="0"/>
              <a:lstStyle/>
              <a:p>
                <a:pPr algn="ctr">
                  <a:lnSpc>
                    <a:spcPts val="4079"/>
                  </a:lnSpc>
                </a:pPr>
                <a:r>
                  <a:rPr lang="en-US" sz="3399" b="true">
                    <a:solidFill>
                      <a:srgbClr val="6D28D9"/>
                    </a:solidFill>
                    <a:latin typeface="Calibri (MS) Bold"/>
                    <a:ea typeface="Calibri (MS) Bold"/>
                    <a:cs typeface="Calibri (MS) Bold"/>
                    <a:sym typeface="Calibri (MS) Bold"/>
                  </a:rPr>
                  <a:t>10</a:t>
                </a:r>
              </a:p>
              <a:p>
                <a:pPr algn="ctr">
                  <a:lnSpc>
                    <a:spcPts val="2110"/>
                  </a:lnSpc>
                </a:pPr>
                <a:r>
                  <a:rPr lang="en-US" sz="1675">
                    <a:solidFill>
                      <a:srgbClr val="6B6B76"/>
                    </a:solidFill>
                    <a:latin typeface="Calibri (MS)"/>
                    <a:ea typeface="Calibri (MS)"/>
                    <a:cs typeface="Calibri (MS)"/>
                    <a:sym typeface="Calibri (MS)"/>
                  </a:rPr>
                  <a:t>configs measured</a:t>
                </a:r>
              </a:p>
            </p:txBody>
          </p:sp>
        </p:grpSp>
        <p:grpSp>
          <p:nvGrpSpPr>
            <p:cNvPr name="Group 19" id="19"/>
            <p:cNvGrpSpPr/>
            <p:nvPr/>
          </p:nvGrpSpPr>
          <p:grpSpPr>
            <a:xfrm rot="0">
              <a:off x="13877645" y="857451"/>
              <a:ext cx="2751429" cy="1666924"/>
              <a:chOff x="0" y="0"/>
              <a:chExt cx="2505456" cy="1517904"/>
            </a:xfrm>
          </p:grpSpPr>
          <p:sp>
            <p:nvSpPr>
              <p:cNvPr name="Freeform 20" id="20"/>
              <p:cNvSpPr/>
              <p:nvPr/>
            </p:nvSpPr>
            <p:spPr>
              <a:xfrm flipH="false" flipV="false" rot="0">
                <a:off x="0" y="0"/>
                <a:ext cx="2505456" cy="1517904"/>
              </a:xfrm>
              <a:custGeom>
                <a:avLst/>
                <a:gdLst/>
                <a:ahLst/>
                <a:cxnLst/>
                <a:rect r="r" b="b" t="t" l="l"/>
                <a:pathLst>
                  <a:path h="1517904" w="2505456">
                    <a:moveTo>
                      <a:pt x="0" y="0"/>
                    </a:moveTo>
                    <a:lnTo>
                      <a:pt x="2505456" y="0"/>
                    </a:lnTo>
                    <a:lnTo>
                      <a:pt x="2505456" y="1517904"/>
                    </a:lnTo>
                    <a:lnTo>
                      <a:pt x="0" y="1517904"/>
                    </a:lnTo>
                    <a:close/>
                  </a:path>
                </a:pathLst>
              </a:custGeom>
              <a:blipFill>
                <a:blip r:embed="rId3">
                  <a:alphaModFix amt="0"/>
                </a:blip>
                <a:stretch>
                  <a:fillRect l="-27731" t="0" r="-27731" b="0"/>
                </a:stretch>
              </a:blipFill>
            </p:spPr>
          </p:sp>
          <p:sp>
            <p:nvSpPr>
              <p:cNvPr name="TextBox 21" id="21"/>
              <p:cNvSpPr txBox="true"/>
              <p:nvPr/>
            </p:nvSpPr>
            <p:spPr>
              <a:xfrm>
                <a:off x="0" y="-66675"/>
                <a:ext cx="2505456" cy="1584579"/>
              </a:xfrm>
              <a:prstGeom prst="rect">
                <a:avLst/>
              </a:prstGeom>
            </p:spPr>
            <p:txBody>
              <a:bodyPr anchor="ctr" rtlCol="false" tIns="0" lIns="0" bIns="0" rIns="0"/>
              <a:lstStyle/>
              <a:p>
                <a:pPr algn="ctr">
                  <a:lnSpc>
                    <a:spcPts val="4079"/>
                  </a:lnSpc>
                </a:pPr>
                <a:r>
                  <a:rPr lang="en-US" sz="3399" b="true">
                    <a:solidFill>
                      <a:srgbClr val="6D28D9"/>
                    </a:solidFill>
                    <a:latin typeface="Calibri (MS) Bold"/>
                    <a:ea typeface="Calibri (MS) Bold"/>
                    <a:cs typeface="Calibri (MS) Bold"/>
                    <a:sym typeface="Calibri (MS) Bold"/>
                  </a:rPr>
                  <a:t>8</a:t>
                </a:r>
              </a:p>
              <a:p>
                <a:pPr algn="ctr">
                  <a:lnSpc>
                    <a:spcPts val="2110"/>
                  </a:lnSpc>
                </a:pPr>
                <a:r>
                  <a:rPr lang="en-US" sz="1675">
                    <a:solidFill>
                      <a:srgbClr val="6B6B76"/>
                    </a:solidFill>
                    <a:latin typeface="Calibri (MS)"/>
                    <a:ea typeface="Calibri (MS)"/>
                    <a:cs typeface="Calibri (MS)"/>
                    <a:sym typeface="Calibri (MS)"/>
                  </a:rPr>
                  <a:t>dropped</a:t>
                </a:r>
              </a:p>
            </p:txBody>
          </p:sp>
        </p:grpSp>
        <p:grpSp>
          <p:nvGrpSpPr>
            <p:cNvPr name="Group 22" id="22"/>
            <p:cNvGrpSpPr/>
            <p:nvPr/>
          </p:nvGrpSpPr>
          <p:grpSpPr>
            <a:xfrm rot="0">
              <a:off x="16910242" y="857451"/>
              <a:ext cx="2751429" cy="1666924"/>
              <a:chOff x="0" y="0"/>
              <a:chExt cx="2505456" cy="1517904"/>
            </a:xfrm>
          </p:grpSpPr>
          <p:sp>
            <p:nvSpPr>
              <p:cNvPr name="Freeform 23" id="23"/>
              <p:cNvSpPr/>
              <p:nvPr/>
            </p:nvSpPr>
            <p:spPr>
              <a:xfrm flipH="false" flipV="false" rot="0">
                <a:off x="0" y="0"/>
                <a:ext cx="2505456" cy="1517904"/>
              </a:xfrm>
              <a:custGeom>
                <a:avLst/>
                <a:gdLst/>
                <a:ahLst/>
                <a:cxnLst/>
                <a:rect r="r" b="b" t="t" l="l"/>
                <a:pathLst>
                  <a:path h="1517904" w="2505456">
                    <a:moveTo>
                      <a:pt x="0" y="0"/>
                    </a:moveTo>
                    <a:lnTo>
                      <a:pt x="2505456" y="0"/>
                    </a:lnTo>
                    <a:lnTo>
                      <a:pt x="2505456" y="1517904"/>
                    </a:lnTo>
                    <a:lnTo>
                      <a:pt x="0" y="1517904"/>
                    </a:lnTo>
                    <a:close/>
                  </a:path>
                </a:pathLst>
              </a:custGeom>
              <a:blipFill>
                <a:blip r:embed="rId3">
                  <a:alphaModFix amt="0"/>
                </a:blip>
                <a:stretch>
                  <a:fillRect l="-27731" t="0" r="-27731" b="0"/>
                </a:stretch>
              </a:blipFill>
            </p:spPr>
          </p:sp>
          <p:sp>
            <p:nvSpPr>
              <p:cNvPr name="TextBox 24" id="24"/>
              <p:cNvSpPr txBox="true"/>
              <p:nvPr/>
            </p:nvSpPr>
            <p:spPr>
              <a:xfrm>
                <a:off x="0" y="-66675"/>
                <a:ext cx="2505456" cy="1584579"/>
              </a:xfrm>
              <a:prstGeom prst="rect">
                <a:avLst/>
              </a:prstGeom>
            </p:spPr>
            <p:txBody>
              <a:bodyPr anchor="ctr" rtlCol="false" tIns="0" lIns="0" bIns="0" rIns="0"/>
              <a:lstStyle/>
              <a:p>
                <a:pPr algn="ctr">
                  <a:lnSpc>
                    <a:spcPts val="4079"/>
                  </a:lnSpc>
                </a:pPr>
                <a:r>
                  <a:rPr lang="en-US" sz="3399" b="true">
                    <a:solidFill>
                      <a:srgbClr val="6D28D9"/>
                    </a:solidFill>
                    <a:latin typeface="Calibri (MS) Bold"/>
                    <a:ea typeface="Calibri (MS) Bold"/>
                    <a:cs typeface="Calibri (MS) Bold"/>
                    <a:sym typeface="Calibri (MS) Bold"/>
                  </a:rPr>
                  <a:t>1</a:t>
                </a:r>
              </a:p>
              <a:p>
                <a:pPr algn="ctr">
                  <a:lnSpc>
                    <a:spcPts val="2110"/>
                  </a:lnSpc>
                </a:pPr>
                <a:r>
                  <a:rPr lang="en-US" sz="1675">
                    <a:solidFill>
                      <a:srgbClr val="6B6B76"/>
                    </a:solidFill>
                    <a:latin typeface="Calibri (MS)"/>
                    <a:ea typeface="Calibri (MS)"/>
                    <a:cs typeface="Calibri (MS)"/>
                    <a:sym typeface="Calibri (MS)"/>
                  </a:rPr>
                  <a:t>kept: e5-base</a:t>
                </a:r>
              </a:p>
            </p:txBody>
          </p:sp>
        </p:grpSp>
        <p:grpSp>
          <p:nvGrpSpPr>
            <p:cNvPr name="Group 25" id="25"/>
            <p:cNvGrpSpPr/>
            <p:nvPr/>
          </p:nvGrpSpPr>
          <p:grpSpPr>
            <a:xfrm rot="0">
              <a:off x="19942838" y="857451"/>
              <a:ext cx="2751429" cy="1666924"/>
              <a:chOff x="0" y="0"/>
              <a:chExt cx="2505456" cy="1517904"/>
            </a:xfrm>
          </p:grpSpPr>
          <p:sp>
            <p:nvSpPr>
              <p:cNvPr name="Freeform 26" id="26"/>
              <p:cNvSpPr/>
              <p:nvPr/>
            </p:nvSpPr>
            <p:spPr>
              <a:xfrm flipH="false" flipV="false" rot="0">
                <a:off x="0" y="0"/>
                <a:ext cx="2505456" cy="1517904"/>
              </a:xfrm>
              <a:custGeom>
                <a:avLst/>
                <a:gdLst/>
                <a:ahLst/>
                <a:cxnLst/>
                <a:rect r="r" b="b" t="t" l="l"/>
                <a:pathLst>
                  <a:path h="1517904" w="2505456">
                    <a:moveTo>
                      <a:pt x="0" y="0"/>
                    </a:moveTo>
                    <a:lnTo>
                      <a:pt x="2505456" y="0"/>
                    </a:lnTo>
                    <a:lnTo>
                      <a:pt x="2505456" y="1517904"/>
                    </a:lnTo>
                    <a:lnTo>
                      <a:pt x="0" y="1517904"/>
                    </a:lnTo>
                    <a:close/>
                  </a:path>
                </a:pathLst>
              </a:custGeom>
              <a:blipFill>
                <a:blip r:embed="rId3">
                  <a:alphaModFix amt="0"/>
                </a:blip>
                <a:stretch>
                  <a:fillRect l="-27731" t="0" r="-27731" b="0"/>
                </a:stretch>
              </a:blipFill>
            </p:spPr>
          </p:sp>
          <p:sp>
            <p:nvSpPr>
              <p:cNvPr name="TextBox 27" id="27"/>
              <p:cNvSpPr txBox="true"/>
              <p:nvPr/>
            </p:nvSpPr>
            <p:spPr>
              <a:xfrm>
                <a:off x="0" y="-66675"/>
                <a:ext cx="2505456" cy="1584579"/>
              </a:xfrm>
              <a:prstGeom prst="rect">
                <a:avLst/>
              </a:prstGeom>
            </p:spPr>
            <p:txBody>
              <a:bodyPr anchor="ctr" rtlCol="false" tIns="0" lIns="0" bIns="0" rIns="0"/>
              <a:lstStyle/>
              <a:p>
                <a:pPr algn="ctr">
                  <a:lnSpc>
                    <a:spcPts val="4079"/>
                  </a:lnSpc>
                </a:pPr>
                <a:r>
                  <a:rPr lang="en-US" sz="3399" b="true">
                    <a:solidFill>
                      <a:srgbClr val="6D28D9"/>
                    </a:solidFill>
                    <a:latin typeface="Calibri (MS) Bold"/>
                    <a:ea typeface="Calibri (MS) Bold"/>
                    <a:cs typeface="Calibri (MS) Bold"/>
                    <a:sym typeface="Calibri (MS) Bold"/>
                  </a:rPr>
                  <a:t>78</a:t>
                </a:r>
              </a:p>
              <a:p>
                <a:pPr algn="ctr">
                  <a:lnSpc>
                    <a:spcPts val="2110"/>
                  </a:lnSpc>
                </a:pPr>
                <a:r>
                  <a:rPr lang="en-US" sz="1675">
                    <a:solidFill>
                      <a:srgbClr val="6B6B76"/>
                    </a:solidFill>
                    <a:latin typeface="Calibri (MS)"/>
                    <a:ea typeface="Calibri (MS)"/>
                    <a:cs typeface="Calibri (MS)"/>
                    <a:sym typeface="Calibri (MS)"/>
                  </a:rPr>
                  <a:t>offline tests</a:t>
                </a:r>
              </a:p>
            </p:txBody>
          </p:sp>
        </p:grpSp>
      </p:grpSp>
      <p:grpSp>
        <p:nvGrpSpPr>
          <p:cNvPr name="Group 28" id="28"/>
          <p:cNvGrpSpPr/>
          <p:nvPr/>
        </p:nvGrpSpPr>
        <p:grpSpPr>
          <a:xfrm rot="0">
            <a:off x="472564" y="7736187"/>
            <a:ext cx="17342872" cy="1750184"/>
            <a:chOff x="0" y="0"/>
            <a:chExt cx="23123829" cy="2333579"/>
          </a:xfrm>
        </p:grpSpPr>
        <p:grpSp>
          <p:nvGrpSpPr>
            <p:cNvPr name="Group 29" id="29"/>
            <p:cNvGrpSpPr/>
            <p:nvPr/>
          </p:nvGrpSpPr>
          <p:grpSpPr>
            <a:xfrm rot="0">
              <a:off x="0" y="0"/>
              <a:ext cx="7391815" cy="2333579"/>
              <a:chOff x="0" y="0"/>
              <a:chExt cx="6731000" cy="2124961"/>
            </a:xfrm>
          </p:grpSpPr>
          <p:sp>
            <p:nvSpPr>
              <p:cNvPr name="Freeform 30" id="30"/>
              <p:cNvSpPr/>
              <p:nvPr/>
            </p:nvSpPr>
            <p:spPr>
              <a:xfrm flipH="false" flipV="false" rot="0">
                <a:off x="0" y="0"/>
                <a:ext cx="6731000" cy="2124961"/>
              </a:xfrm>
              <a:custGeom>
                <a:avLst/>
                <a:gdLst/>
                <a:ahLst/>
                <a:cxnLst/>
                <a:rect r="r" b="b" t="t" l="l"/>
                <a:pathLst>
                  <a:path h="2124961" w="6731000">
                    <a:moveTo>
                      <a:pt x="0" y="170029"/>
                    </a:moveTo>
                    <a:cubicBezTo>
                      <a:pt x="0" y="76053"/>
                      <a:pt x="59817" y="0"/>
                      <a:pt x="133731" y="0"/>
                    </a:cubicBezTo>
                    <a:lnTo>
                      <a:pt x="6597269" y="0"/>
                    </a:lnTo>
                    <a:cubicBezTo>
                      <a:pt x="6671183" y="0"/>
                      <a:pt x="6731000" y="76053"/>
                      <a:pt x="6731000" y="170029"/>
                    </a:cubicBezTo>
                    <a:lnTo>
                      <a:pt x="6731000" y="1954932"/>
                    </a:lnTo>
                    <a:cubicBezTo>
                      <a:pt x="6731000" y="2048747"/>
                      <a:pt x="6671183" y="2124961"/>
                      <a:pt x="6597269" y="2124961"/>
                    </a:cubicBezTo>
                    <a:lnTo>
                      <a:pt x="133731" y="2124961"/>
                    </a:lnTo>
                    <a:cubicBezTo>
                      <a:pt x="59817" y="2124961"/>
                      <a:pt x="0" y="2048908"/>
                      <a:pt x="0" y="1954932"/>
                    </a:cubicBezTo>
                    <a:close/>
                  </a:path>
                </a:pathLst>
              </a:custGeom>
              <a:solidFill>
                <a:srgbClr val="FFFFFF"/>
              </a:solidFill>
              <a:ln w="19050" cap="sq">
                <a:solidFill>
                  <a:srgbClr val="D9D3F0"/>
                </a:solidFill>
                <a:prstDash val="solid"/>
                <a:miter/>
              </a:ln>
            </p:spPr>
          </p:sp>
        </p:grpSp>
        <p:grpSp>
          <p:nvGrpSpPr>
            <p:cNvPr name="Group 31" id="31"/>
            <p:cNvGrpSpPr/>
            <p:nvPr/>
          </p:nvGrpSpPr>
          <p:grpSpPr>
            <a:xfrm rot="0">
              <a:off x="264990" y="464588"/>
              <a:ext cx="1104588" cy="1404403"/>
              <a:chOff x="0" y="0"/>
              <a:chExt cx="1005840" cy="1278852"/>
            </a:xfrm>
          </p:grpSpPr>
          <p:sp>
            <p:nvSpPr>
              <p:cNvPr name="Freeform 32" id="32"/>
              <p:cNvSpPr/>
              <p:nvPr/>
            </p:nvSpPr>
            <p:spPr>
              <a:xfrm flipH="false" flipV="false" rot="0">
                <a:off x="0" y="0"/>
                <a:ext cx="1005840" cy="1278852"/>
              </a:xfrm>
              <a:custGeom>
                <a:avLst/>
                <a:gdLst/>
                <a:ahLst/>
                <a:cxnLst/>
                <a:rect r="r" b="b" t="t" l="l"/>
                <a:pathLst>
                  <a:path h="1278852" w="1005840">
                    <a:moveTo>
                      <a:pt x="0" y="639426"/>
                    </a:moveTo>
                    <a:cubicBezTo>
                      <a:pt x="0" y="286288"/>
                      <a:pt x="225171" y="0"/>
                      <a:pt x="502920" y="0"/>
                    </a:cubicBezTo>
                    <a:cubicBezTo>
                      <a:pt x="780669" y="0"/>
                      <a:pt x="1005840" y="286288"/>
                      <a:pt x="1005840" y="639426"/>
                    </a:cubicBezTo>
                    <a:cubicBezTo>
                      <a:pt x="1005840" y="992563"/>
                      <a:pt x="780669" y="1278852"/>
                      <a:pt x="502920" y="1278852"/>
                    </a:cubicBezTo>
                    <a:cubicBezTo>
                      <a:pt x="225171" y="1278852"/>
                      <a:pt x="0" y="992564"/>
                      <a:pt x="0" y="639426"/>
                    </a:cubicBezTo>
                    <a:close/>
                  </a:path>
                </a:pathLst>
              </a:custGeom>
              <a:solidFill>
                <a:srgbClr val="704EA6"/>
              </a:solidFill>
            </p:spPr>
          </p:sp>
          <p:sp>
            <p:nvSpPr>
              <p:cNvPr name="TextBox 33" id="33"/>
              <p:cNvSpPr txBox="true"/>
              <p:nvPr/>
            </p:nvSpPr>
            <p:spPr>
              <a:xfrm>
                <a:off x="0" y="-47625"/>
                <a:ext cx="1005840" cy="1326477"/>
              </a:xfrm>
              <a:prstGeom prst="rect">
                <a:avLst/>
              </a:prstGeom>
            </p:spPr>
            <p:txBody>
              <a:bodyPr anchor="ctr" rtlCol="false" tIns="55787" lIns="55787" bIns="55787" rIns="55787"/>
              <a:lstStyle/>
              <a:p>
                <a:pPr algn="ctr">
                  <a:lnSpc>
                    <a:spcPts val="3059"/>
                  </a:lnSpc>
                </a:pPr>
                <a:r>
                  <a:rPr lang="en-US" sz="2549" b="true">
                    <a:solidFill>
                      <a:srgbClr val="FFFFFF"/>
                    </a:solidFill>
                    <a:latin typeface="Calibri (MS) Bold"/>
                    <a:ea typeface="Calibri (MS) Bold"/>
                    <a:cs typeface="Calibri (MS) Bold"/>
                    <a:sym typeface="Calibri (MS) Bold"/>
                  </a:rPr>
                  <a:t>1</a:t>
                </a:r>
              </a:p>
            </p:txBody>
          </p:sp>
        </p:grpSp>
        <p:grpSp>
          <p:nvGrpSpPr>
            <p:cNvPr name="Group 34" id="34"/>
            <p:cNvGrpSpPr/>
            <p:nvPr/>
          </p:nvGrpSpPr>
          <p:grpSpPr>
            <a:xfrm rot="0">
              <a:off x="1520204" y="477355"/>
              <a:ext cx="5556414" cy="1676128"/>
              <a:chOff x="0" y="0"/>
              <a:chExt cx="5059680" cy="1526285"/>
            </a:xfrm>
          </p:grpSpPr>
          <p:sp>
            <p:nvSpPr>
              <p:cNvPr name="Freeform 35" id="35"/>
              <p:cNvSpPr/>
              <p:nvPr/>
            </p:nvSpPr>
            <p:spPr>
              <a:xfrm flipH="false" flipV="false" rot="0">
                <a:off x="0" y="0"/>
                <a:ext cx="5059680" cy="1526285"/>
              </a:xfrm>
              <a:custGeom>
                <a:avLst/>
                <a:gdLst/>
                <a:ahLst/>
                <a:cxnLst/>
                <a:rect r="r" b="b" t="t" l="l"/>
                <a:pathLst>
                  <a:path h="1526285" w="5059680">
                    <a:moveTo>
                      <a:pt x="0" y="0"/>
                    </a:moveTo>
                    <a:lnTo>
                      <a:pt x="5059680" y="0"/>
                    </a:lnTo>
                    <a:lnTo>
                      <a:pt x="5059680" y="1526285"/>
                    </a:lnTo>
                    <a:lnTo>
                      <a:pt x="0" y="1526285"/>
                    </a:lnTo>
                    <a:close/>
                  </a:path>
                </a:pathLst>
              </a:custGeom>
              <a:blipFill>
                <a:blip r:embed="rId3">
                  <a:alphaModFix amt="0"/>
                </a:blip>
                <a:stretch>
                  <a:fillRect l="0" t="-32241" r="0" b="3055"/>
                </a:stretch>
              </a:blipFill>
            </p:spPr>
          </p:sp>
          <p:sp>
            <p:nvSpPr>
              <p:cNvPr name="TextBox 36" id="36"/>
              <p:cNvSpPr txBox="true"/>
              <p:nvPr/>
            </p:nvSpPr>
            <p:spPr>
              <a:xfrm>
                <a:off x="0" y="-66675"/>
                <a:ext cx="5059680" cy="1592960"/>
              </a:xfrm>
              <a:prstGeom prst="rect">
                <a:avLst/>
              </a:prstGeom>
            </p:spPr>
            <p:txBody>
              <a:bodyPr anchor="ctr" rtlCol="false" tIns="0" lIns="0" bIns="0" rIns="0"/>
              <a:lstStyle/>
              <a:p>
                <a:pPr algn="l">
                  <a:lnSpc>
                    <a:spcPts val="2871"/>
                  </a:lnSpc>
                </a:pPr>
                <a:r>
                  <a:rPr lang="en-US" sz="2175" b="true">
                    <a:solidFill>
                      <a:srgbClr val="14142B"/>
                    </a:solidFill>
                    <a:latin typeface="Calibri (MS) Bold"/>
                    <a:ea typeface="Calibri (MS) Bold"/>
                    <a:cs typeface="Calibri (MS) Bold"/>
                    <a:sym typeface="Calibri (MS) Bold"/>
                  </a:rPr>
                  <a:t>CPU-only, minimal GPU</a:t>
                </a:r>
              </a:p>
              <a:p>
                <a:pPr algn="l">
                  <a:lnSpc>
                    <a:spcPts val="2483"/>
                  </a:lnSpc>
                </a:pPr>
                <a:r>
                  <a:rPr lang="en-US" sz="1800">
                    <a:solidFill>
                      <a:srgbClr val="6B6B76"/>
                    </a:solidFill>
                    <a:latin typeface="Calibri (MS)"/>
                    <a:ea typeface="Calibri (MS)"/>
                    <a:cs typeface="Calibri (MS)"/>
                    <a:sym typeface="Calibri (MS)"/>
                  </a:rPr>
                  <a:t>Innovation has to come from representation, not scale</a:t>
                </a:r>
              </a:p>
            </p:txBody>
          </p:sp>
        </p:grpSp>
        <p:grpSp>
          <p:nvGrpSpPr>
            <p:cNvPr name="Group 37" id="37"/>
            <p:cNvGrpSpPr/>
            <p:nvPr/>
          </p:nvGrpSpPr>
          <p:grpSpPr>
            <a:xfrm rot="0">
              <a:off x="7866007" y="0"/>
              <a:ext cx="7391815" cy="2333579"/>
              <a:chOff x="0" y="0"/>
              <a:chExt cx="6731000" cy="2124961"/>
            </a:xfrm>
          </p:grpSpPr>
          <p:sp>
            <p:nvSpPr>
              <p:cNvPr name="Freeform 38" id="38"/>
              <p:cNvSpPr/>
              <p:nvPr/>
            </p:nvSpPr>
            <p:spPr>
              <a:xfrm flipH="false" flipV="false" rot="0">
                <a:off x="0" y="0"/>
                <a:ext cx="6731000" cy="2124961"/>
              </a:xfrm>
              <a:custGeom>
                <a:avLst/>
                <a:gdLst/>
                <a:ahLst/>
                <a:cxnLst/>
                <a:rect r="r" b="b" t="t" l="l"/>
                <a:pathLst>
                  <a:path h="2124961" w="6731000">
                    <a:moveTo>
                      <a:pt x="0" y="170029"/>
                    </a:moveTo>
                    <a:cubicBezTo>
                      <a:pt x="0" y="76053"/>
                      <a:pt x="59817" y="0"/>
                      <a:pt x="133731" y="0"/>
                    </a:cubicBezTo>
                    <a:lnTo>
                      <a:pt x="6597269" y="0"/>
                    </a:lnTo>
                    <a:cubicBezTo>
                      <a:pt x="6671183" y="0"/>
                      <a:pt x="6731000" y="76053"/>
                      <a:pt x="6731000" y="170029"/>
                    </a:cubicBezTo>
                    <a:lnTo>
                      <a:pt x="6731000" y="1954932"/>
                    </a:lnTo>
                    <a:cubicBezTo>
                      <a:pt x="6731000" y="2048747"/>
                      <a:pt x="6671183" y="2124961"/>
                      <a:pt x="6597269" y="2124961"/>
                    </a:cubicBezTo>
                    <a:lnTo>
                      <a:pt x="133731" y="2124961"/>
                    </a:lnTo>
                    <a:cubicBezTo>
                      <a:pt x="59817" y="2124961"/>
                      <a:pt x="0" y="2048908"/>
                      <a:pt x="0" y="1954932"/>
                    </a:cubicBezTo>
                    <a:close/>
                  </a:path>
                </a:pathLst>
              </a:custGeom>
              <a:solidFill>
                <a:srgbClr val="FFFFFF"/>
              </a:solidFill>
              <a:ln w="19050" cap="sq">
                <a:solidFill>
                  <a:srgbClr val="D9D3F0"/>
                </a:solidFill>
                <a:prstDash val="solid"/>
                <a:miter/>
              </a:ln>
            </p:spPr>
          </p:sp>
        </p:grpSp>
        <p:grpSp>
          <p:nvGrpSpPr>
            <p:cNvPr name="Group 39" id="39"/>
            <p:cNvGrpSpPr/>
            <p:nvPr/>
          </p:nvGrpSpPr>
          <p:grpSpPr>
            <a:xfrm rot="0">
              <a:off x="8130997" y="464588"/>
              <a:ext cx="1104588" cy="1404403"/>
              <a:chOff x="0" y="0"/>
              <a:chExt cx="1005840" cy="1278852"/>
            </a:xfrm>
          </p:grpSpPr>
          <p:sp>
            <p:nvSpPr>
              <p:cNvPr name="Freeform 40" id="40"/>
              <p:cNvSpPr/>
              <p:nvPr/>
            </p:nvSpPr>
            <p:spPr>
              <a:xfrm flipH="false" flipV="false" rot="0">
                <a:off x="0" y="0"/>
                <a:ext cx="1005840" cy="1278852"/>
              </a:xfrm>
              <a:custGeom>
                <a:avLst/>
                <a:gdLst/>
                <a:ahLst/>
                <a:cxnLst/>
                <a:rect r="r" b="b" t="t" l="l"/>
                <a:pathLst>
                  <a:path h="1278852" w="1005840">
                    <a:moveTo>
                      <a:pt x="0" y="639426"/>
                    </a:moveTo>
                    <a:cubicBezTo>
                      <a:pt x="0" y="286288"/>
                      <a:pt x="225171" y="0"/>
                      <a:pt x="502920" y="0"/>
                    </a:cubicBezTo>
                    <a:cubicBezTo>
                      <a:pt x="780669" y="0"/>
                      <a:pt x="1005840" y="286288"/>
                      <a:pt x="1005840" y="639426"/>
                    </a:cubicBezTo>
                    <a:cubicBezTo>
                      <a:pt x="1005840" y="992563"/>
                      <a:pt x="780669" y="1278852"/>
                      <a:pt x="502920" y="1278852"/>
                    </a:cubicBezTo>
                    <a:cubicBezTo>
                      <a:pt x="225171" y="1278852"/>
                      <a:pt x="0" y="992564"/>
                      <a:pt x="0" y="639426"/>
                    </a:cubicBezTo>
                    <a:close/>
                  </a:path>
                </a:pathLst>
              </a:custGeom>
              <a:solidFill>
                <a:srgbClr val="704EA6"/>
              </a:solidFill>
            </p:spPr>
          </p:sp>
          <p:sp>
            <p:nvSpPr>
              <p:cNvPr name="TextBox 41" id="41"/>
              <p:cNvSpPr txBox="true"/>
              <p:nvPr/>
            </p:nvSpPr>
            <p:spPr>
              <a:xfrm>
                <a:off x="0" y="-47625"/>
                <a:ext cx="1005840" cy="1326477"/>
              </a:xfrm>
              <a:prstGeom prst="rect">
                <a:avLst/>
              </a:prstGeom>
            </p:spPr>
            <p:txBody>
              <a:bodyPr anchor="ctr" rtlCol="false" tIns="55787" lIns="55787" bIns="55787" rIns="55787"/>
              <a:lstStyle/>
              <a:p>
                <a:pPr algn="ctr">
                  <a:lnSpc>
                    <a:spcPts val="3059"/>
                  </a:lnSpc>
                </a:pPr>
                <a:r>
                  <a:rPr lang="en-US" sz="2549" b="true">
                    <a:solidFill>
                      <a:srgbClr val="FFFFFF"/>
                    </a:solidFill>
                    <a:latin typeface="Calibri (MS) Bold"/>
                    <a:ea typeface="Calibri (MS) Bold"/>
                    <a:cs typeface="Calibri (MS) Bold"/>
                    <a:sym typeface="Calibri (MS) Bold"/>
                  </a:rPr>
                  <a:t>2</a:t>
                </a:r>
              </a:p>
            </p:txBody>
          </p:sp>
        </p:grpSp>
        <p:grpSp>
          <p:nvGrpSpPr>
            <p:cNvPr name="Group 42" id="42"/>
            <p:cNvGrpSpPr/>
            <p:nvPr/>
          </p:nvGrpSpPr>
          <p:grpSpPr>
            <a:xfrm rot="0">
              <a:off x="9386211" y="477355"/>
              <a:ext cx="5556414" cy="1676128"/>
              <a:chOff x="0" y="0"/>
              <a:chExt cx="5059680" cy="1526285"/>
            </a:xfrm>
          </p:grpSpPr>
          <p:sp>
            <p:nvSpPr>
              <p:cNvPr name="Freeform 43" id="43"/>
              <p:cNvSpPr/>
              <p:nvPr/>
            </p:nvSpPr>
            <p:spPr>
              <a:xfrm flipH="false" flipV="false" rot="0">
                <a:off x="0" y="0"/>
                <a:ext cx="5059680" cy="1526285"/>
              </a:xfrm>
              <a:custGeom>
                <a:avLst/>
                <a:gdLst/>
                <a:ahLst/>
                <a:cxnLst/>
                <a:rect r="r" b="b" t="t" l="l"/>
                <a:pathLst>
                  <a:path h="1526285" w="5059680">
                    <a:moveTo>
                      <a:pt x="0" y="0"/>
                    </a:moveTo>
                    <a:lnTo>
                      <a:pt x="5059680" y="0"/>
                    </a:lnTo>
                    <a:lnTo>
                      <a:pt x="5059680" y="1526285"/>
                    </a:lnTo>
                    <a:lnTo>
                      <a:pt x="0" y="1526285"/>
                    </a:lnTo>
                    <a:close/>
                  </a:path>
                </a:pathLst>
              </a:custGeom>
              <a:blipFill>
                <a:blip r:embed="rId3">
                  <a:alphaModFix amt="0"/>
                </a:blip>
                <a:stretch>
                  <a:fillRect l="0" t="-32241" r="0" b="3055"/>
                </a:stretch>
              </a:blipFill>
            </p:spPr>
          </p:sp>
          <p:sp>
            <p:nvSpPr>
              <p:cNvPr name="TextBox 44" id="44"/>
              <p:cNvSpPr txBox="true"/>
              <p:nvPr/>
            </p:nvSpPr>
            <p:spPr>
              <a:xfrm>
                <a:off x="0" y="-66675"/>
                <a:ext cx="5059680" cy="1592960"/>
              </a:xfrm>
              <a:prstGeom prst="rect">
                <a:avLst/>
              </a:prstGeom>
            </p:spPr>
            <p:txBody>
              <a:bodyPr anchor="ctr" rtlCol="false" tIns="0" lIns="0" bIns="0" rIns="0"/>
              <a:lstStyle/>
              <a:p>
                <a:pPr algn="l">
                  <a:lnSpc>
                    <a:spcPts val="2871"/>
                  </a:lnSpc>
                </a:pPr>
                <a:r>
                  <a:rPr lang="en-US" sz="2175" b="true">
                    <a:solidFill>
                      <a:srgbClr val="14142B"/>
                    </a:solidFill>
                    <a:latin typeface="Calibri (MS) Bold"/>
                    <a:ea typeface="Calibri (MS) Bold"/>
                    <a:cs typeface="Calibri (MS) Bold"/>
                    <a:sym typeface="Calibri (MS) Bold"/>
                  </a:rPr>
                  <a:t>No LLM in the ranking loop</a:t>
                </a:r>
              </a:p>
              <a:p>
                <a:pPr algn="l">
                  <a:lnSpc>
                    <a:spcPts val="2483"/>
                  </a:lnSpc>
                </a:pPr>
                <a:r>
                  <a:rPr lang="en-US" sz="1800">
                    <a:solidFill>
                      <a:srgbClr val="6B6B76"/>
                    </a:solidFill>
                    <a:latin typeface="Calibri (MS)"/>
                    <a:ea typeface="Calibri (MS)"/>
                    <a:cs typeface="Calibri (MS)"/>
                    <a:sym typeface="Calibri (MS)"/>
                  </a:rPr>
                  <a:t>Retrieval must beat generation on speed on a thousand-snippet corpus</a:t>
                </a:r>
              </a:p>
            </p:txBody>
          </p:sp>
        </p:grpSp>
        <p:grpSp>
          <p:nvGrpSpPr>
            <p:cNvPr name="Group 45" id="45"/>
            <p:cNvGrpSpPr/>
            <p:nvPr/>
          </p:nvGrpSpPr>
          <p:grpSpPr>
            <a:xfrm rot="0">
              <a:off x="15732014" y="0"/>
              <a:ext cx="7391815" cy="2333579"/>
              <a:chOff x="0" y="0"/>
              <a:chExt cx="6731000" cy="2124961"/>
            </a:xfrm>
          </p:grpSpPr>
          <p:sp>
            <p:nvSpPr>
              <p:cNvPr name="Freeform 46" id="46"/>
              <p:cNvSpPr/>
              <p:nvPr/>
            </p:nvSpPr>
            <p:spPr>
              <a:xfrm flipH="false" flipV="false" rot="0">
                <a:off x="0" y="0"/>
                <a:ext cx="6731000" cy="2124961"/>
              </a:xfrm>
              <a:custGeom>
                <a:avLst/>
                <a:gdLst/>
                <a:ahLst/>
                <a:cxnLst/>
                <a:rect r="r" b="b" t="t" l="l"/>
                <a:pathLst>
                  <a:path h="2124961" w="6731000">
                    <a:moveTo>
                      <a:pt x="0" y="170029"/>
                    </a:moveTo>
                    <a:cubicBezTo>
                      <a:pt x="0" y="76053"/>
                      <a:pt x="59817" y="0"/>
                      <a:pt x="133731" y="0"/>
                    </a:cubicBezTo>
                    <a:lnTo>
                      <a:pt x="6597269" y="0"/>
                    </a:lnTo>
                    <a:cubicBezTo>
                      <a:pt x="6671183" y="0"/>
                      <a:pt x="6731000" y="76053"/>
                      <a:pt x="6731000" y="170029"/>
                    </a:cubicBezTo>
                    <a:lnTo>
                      <a:pt x="6731000" y="1954932"/>
                    </a:lnTo>
                    <a:cubicBezTo>
                      <a:pt x="6731000" y="2048747"/>
                      <a:pt x="6671183" y="2124961"/>
                      <a:pt x="6597269" y="2124961"/>
                    </a:cubicBezTo>
                    <a:lnTo>
                      <a:pt x="133731" y="2124961"/>
                    </a:lnTo>
                    <a:cubicBezTo>
                      <a:pt x="59817" y="2124961"/>
                      <a:pt x="0" y="2048908"/>
                      <a:pt x="0" y="1954932"/>
                    </a:cubicBezTo>
                    <a:close/>
                  </a:path>
                </a:pathLst>
              </a:custGeom>
              <a:solidFill>
                <a:srgbClr val="FFFFFF"/>
              </a:solidFill>
              <a:ln w="19050" cap="sq">
                <a:solidFill>
                  <a:srgbClr val="D9D3F0"/>
                </a:solidFill>
                <a:prstDash val="solid"/>
                <a:miter/>
              </a:ln>
            </p:spPr>
          </p:sp>
        </p:grpSp>
        <p:grpSp>
          <p:nvGrpSpPr>
            <p:cNvPr name="Group 47" id="47"/>
            <p:cNvGrpSpPr/>
            <p:nvPr/>
          </p:nvGrpSpPr>
          <p:grpSpPr>
            <a:xfrm rot="0">
              <a:off x="15997004" y="464588"/>
              <a:ext cx="1104588" cy="1404403"/>
              <a:chOff x="0" y="0"/>
              <a:chExt cx="1005840" cy="1278852"/>
            </a:xfrm>
          </p:grpSpPr>
          <p:sp>
            <p:nvSpPr>
              <p:cNvPr name="Freeform 48" id="48"/>
              <p:cNvSpPr/>
              <p:nvPr/>
            </p:nvSpPr>
            <p:spPr>
              <a:xfrm flipH="false" flipV="false" rot="0">
                <a:off x="0" y="0"/>
                <a:ext cx="1005840" cy="1278852"/>
              </a:xfrm>
              <a:custGeom>
                <a:avLst/>
                <a:gdLst/>
                <a:ahLst/>
                <a:cxnLst/>
                <a:rect r="r" b="b" t="t" l="l"/>
                <a:pathLst>
                  <a:path h="1278852" w="1005840">
                    <a:moveTo>
                      <a:pt x="0" y="639426"/>
                    </a:moveTo>
                    <a:cubicBezTo>
                      <a:pt x="0" y="286288"/>
                      <a:pt x="225171" y="0"/>
                      <a:pt x="502920" y="0"/>
                    </a:cubicBezTo>
                    <a:cubicBezTo>
                      <a:pt x="780669" y="0"/>
                      <a:pt x="1005840" y="286288"/>
                      <a:pt x="1005840" y="639426"/>
                    </a:cubicBezTo>
                    <a:cubicBezTo>
                      <a:pt x="1005840" y="992563"/>
                      <a:pt x="780669" y="1278852"/>
                      <a:pt x="502920" y="1278852"/>
                    </a:cubicBezTo>
                    <a:cubicBezTo>
                      <a:pt x="225171" y="1278852"/>
                      <a:pt x="0" y="992564"/>
                      <a:pt x="0" y="639426"/>
                    </a:cubicBezTo>
                    <a:close/>
                  </a:path>
                </a:pathLst>
              </a:custGeom>
              <a:solidFill>
                <a:srgbClr val="704EA6"/>
              </a:solidFill>
            </p:spPr>
          </p:sp>
          <p:sp>
            <p:nvSpPr>
              <p:cNvPr name="TextBox 49" id="49"/>
              <p:cNvSpPr txBox="true"/>
              <p:nvPr/>
            </p:nvSpPr>
            <p:spPr>
              <a:xfrm>
                <a:off x="0" y="-47625"/>
                <a:ext cx="1005840" cy="1326477"/>
              </a:xfrm>
              <a:prstGeom prst="rect">
                <a:avLst/>
              </a:prstGeom>
            </p:spPr>
            <p:txBody>
              <a:bodyPr anchor="ctr" rtlCol="false" tIns="55787" lIns="55787" bIns="55787" rIns="55787"/>
              <a:lstStyle/>
              <a:p>
                <a:pPr algn="ctr">
                  <a:lnSpc>
                    <a:spcPts val="3059"/>
                  </a:lnSpc>
                </a:pPr>
                <a:r>
                  <a:rPr lang="en-US" sz="2549" b="true">
                    <a:solidFill>
                      <a:srgbClr val="FFFFFF"/>
                    </a:solidFill>
                    <a:latin typeface="Calibri (MS) Bold"/>
                    <a:ea typeface="Calibri (MS) Bold"/>
                    <a:cs typeface="Calibri (MS) Bold"/>
                    <a:sym typeface="Calibri (MS) Bold"/>
                  </a:rPr>
                  <a:t>3</a:t>
                </a:r>
              </a:p>
            </p:txBody>
          </p:sp>
        </p:grpSp>
        <p:grpSp>
          <p:nvGrpSpPr>
            <p:cNvPr name="Group 50" id="50"/>
            <p:cNvGrpSpPr/>
            <p:nvPr/>
          </p:nvGrpSpPr>
          <p:grpSpPr>
            <a:xfrm rot="0">
              <a:off x="17252218" y="477355"/>
              <a:ext cx="5556414" cy="1676128"/>
              <a:chOff x="0" y="0"/>
              <a:chExt cx="5059680" cy="1526285"/>
            </a:xfrm>
          </p:grpSpPr>
          <p:sp>
            <p:nvSpPr>
              <p:cNvPr name="Freeform 51" id="51"/>
              <p:cNvSpPr/>
              <p:nvPr/>
            </p:nvSpPr>
            <p:spPr>
              <a:xfrm flipH="false" flipV="false" rot="0">
                <a:off x="0" y="0"/>
                <a:ext cx="5059680" cy="1526285"/>
              </a:xfrm>
              <a:custGeom>
                <a:avLst/>
                <a:gdLst/>
                <a:ahLst/>
                <a:cxnLst/>
                <a:rect r="r" b="b" t="t" l="l"/>
                <a:pathLst>
                  <a:path h="1526285" w="5059680">
                    <a:moveTo>
                      <a:pt x="0" y="0"/>
                    </a:moveTo>
                    <a:lnTo>
                      <a:pt x="5059680" y="0"/>
                    </a:lnTo>
                    <a:lnTo>
                      <a:pt x="5059680" y="1526285"/>
                    </a:lnTo>
                    <a:lnTo>
                      <a:pt x="0" y="1526285"/>
                    </a:lnTo>
                    <a:close/>
                  </a:path>
                </a:pathLst>
              </a:custGeom>
              <a:blipFill>
                <a:blip r:embed="rId3">
                  <a:alphaModFix amt="0"/>
                </a:blip>
                <a:stretch>
                  <a:fillRect l="0" t="-32241" r="0" b="3055"/>
                </a:stretch>
              </a:blipFill>
            </p:spPr>
          </p:sp>
          <p:sp>
            <p:nvSpPr>
              <p:cNvPr name="TextBox 52" id="52"/>
              <p:cNvSpPr txBox="true"/>
              <p:nvPr/>
            </p:nvSpPr>
            <p:spPr>
              <a:xfrm>
                <a:off x="0" y="-66675"/>
                <a:ext cx="5059680" cy="1592960"/>
              </a:xfrm>
              <a:prstGeom prst="rect">
                <a:avLst/>
              </a:prstGeom>
            </p:spPr>
            <p:txBody>
              <a:bodyPr anchor="ctr" rtlCol="false" tIns="0" lIns="0" bIns="0" rIns="0"/>
              <a:lstStyle/>
              <a:p>
                <a:pPr algn="l">
                  <a:lnSpc>
                    <a:spcPts val="2871"/>
                  </a:lnSpc>
                </a:pPr>
                <a:r>
                  <a:rPr lang="en-US" sz="2175" b="true">
                    <a:solidFill>
                      <a:srgbClr val="14142B"/>
                    </a:solidFill>
                    <a:latin typeface="Calibri (MS) Bold"/>
                    <a:ea typeface="Calibri (MS) Bold"/>
                    <a:cs typeface="Calibri (MS) Bold"/>
                    <a:sym typeface="Calibri (MS) Bold"/>
                  </a:rPr>
                  <a:t>Cross-version retrieval (P1)</a:t>
                </a:r>
              </a:p>
              <a:p>
                <a:pPr algn="l">
                  <a:lnSpc>
                    <a:spcPts val="2483"/>
                  </a:lnSpc>
                </a:pPr>
                <a:r>
                  <a:rPr lang="en-US" sz="1800">
                    <a:solidFill>
                      <a:srgbClr val="6B6B76"/>
                    </a:solidFill>
                    <a:latin typeface="Calibri (MS)"/>
                    <a:ea typeface="Calibri (MS)"/>
                    <a:cs typeface="Calibri (MS)"/>
                    <a:sym typeface="Calibri (MS)"/>
                  </a:rPr>
                  <a:t>The index must rebuild cheaply as code changes, by design from day one</a:t>
                </a:r>
              </a:p>
            </p:txBody>
          </p:sp>
        </p:grpSp>
      </p:gr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787692" y="34528"/>
            <a:ext cx="15773400" cy="1988344"/>
            <a:chOff x="0" y="0"/>
            <a:chExt cx="21031200" cy="2651125"/>
          </a:xfrm>
        </p:grpSpPr>
        <p:sp>
          <p:nvSpPr>
            <p:cNvPr name="Freeform 3" id="3"/>
            <p:cNvSpPr/>
            <p:nvPr/>
          </p:nvSpPr>
          <p:spPr>
            <a:xfrm flipH="false" flipV="false" rot="0">
              <a:off x="0" y="0"/>
              <a:ext cx="21031200" cy="2651126"/>
            </a:xfrm>
            <a:custGeom>
              <a:avLst/>
              <a:gdLst/>
              <a:ahLst/>
              <a:cxnLst/>
              <a:rect r="r" b="b" t="t" l="l"/>
              <a:pathLst>
                <a:path h="2651126" w="21031200">
                  <a:moveTo>
                    <a:pt x="0" y="0"/>
                  </a:moveTo>
                  <a:lnTo>
                    <a:pt x="21031200" y="0"/>
                  </a:lnTo>
                  <a:lnTo>
                    <a:pt x="21031200" y="2651126"/>
                  </a:lnTo>
                  <a:lnTo>
                    <a:pt x="0" y="2651126"/>
                  </a:lnTo>
                  <a:close/>
                </a:path>
              </a:pathLst>
            </a:custGeom>
            <a:blipFill>
              <a:blip r:embed="rId3">
                <a:alphaModFix amt="0"/>
              </a:blip>
              <a:stretch>
                <a:fillRect l="0" t="-104573" r="0" b="-104573"/>
              </a:stretch>
            </a:blipFill>
          </p:spPr>
        </p:sp>
        <p:sp>
          <p:nvSpPr>
            <p:cNvPr name="TextBox 4" id="4"/>
            <p:cNvSpPr txBox="true"/>
            <p:nvPr/>
          </p:nvSpPr>
          <p:spPr>
            <a:xfrm>
              <a:off x="0" y="-66675"/>
              <a:ext cx="21031200" cy="2717800"/>
            </a:xfrm>
            <a:prstGeom prst="rect">
              <a:avLst/>
            </a:prstGeom>
          </p:spPr>
          <p:txBody>
            <a:bodyPr anchor="ctr" rtlCol="false" tIns="0" lIns="0" bIns="0" rIns="0"/>
            <a:lstStyle/>
            <a:p>
              <a:pPr algn="l">
                <a:lnSpc>
                  <a:spcPts val="7128"/>
                </a:lnSpc>
              </a:pPr>
              <a:r>
                <a:rPr lang="en-US" sz="6600" b="true">
                  <a:solidFill>
                    <a:srgbClr val="704EA6"/>
                  </a:solidFill>
                  <a:latin typeface="Calibri (MS) Bold"/>
                  <a:ea typeface="Calibri (MS) Bold"/>
                  <a:cs typeface="Calibri (MS) Bold"/>
                  <a:sym typeface="Calibri (MS) Bold"/>
                </a:rPr>
                <a:t>Existing Solutions &amp; Gaps</a:t>
              </a:r>
            </a:p>
          </p:txBody>
        </p:sp>
      </p:grpSp>
      <p:grpSp>
        <p:nvGrpSpPr>
          <p:cNvPr name="Group 5" id="5"/>
          <p:cNvGrpSpPr/>
          <p:nvPr/>
        </p:nvGrpSpPr>
        <p:grpSpPr>
          <a:xfrm rot="0">
            <a:off x="350351" y="1806365"/>
            <a:ext cx="17572689" cy="8108298"/>
            <a:chOff x="0" y="0"/>
            <a:chExt cx="23430252" cy="10811065"/>
          </a:xfrm>
        </p:grpSpPr>
        <p:grpSp>
          <p:nvGrpSpPr>
            <p:cNvPr name="Group 6" id="6"/>
            <p:cNvGrpSpPr/>
            <p:nvPr/>
          </p:nvGrpSpPr>
          <p:grpSpPr>
            <a:xfrm rot="0">
              <a:off x="14130" y="0"/>
              <a:ext cx="7555329" cy="962002"/>
              <a:chOff x="0" y="0"/>
              <a:chExt cx="6964268" cy="886743"/>
            </a:xfrm>
          </p:grpSpPr>
          <p:sp>
            <p:nvSpPr>
              <p:cNvPr name="Freeform 7" id="7"/>
              <p:cNvSpPr/>
              <p:nvPr/>
            </p:nvSpPr>
            <p:spPr>
              <a:xfrm flipH="false" flipV="false" rot="0">
                <a:off x="0" y="0"/>
                <a:ext cx="6964268" cy="886743"/>
              </a:xfrm>
              <a:custGeom>
                <a:avLst/>
                <a:gdLst/>
                <a:ahLst/>
                <a:cxnLst/>
                <a:rect r="r" b="b" t="t" l="l"/>
                <a:pathLst>
                  <a:path h="886743" w="6964268">
                    <a:moveTo>
                      <a:pt x="0" y="53222"/>
                    </a:moveTo>
                    <a:cubicBezTo>
                      <a:pt x="0" y="23752"/>
                      <a:pt x="21099" y="0"/>
                      <a:pt x="47278" y="0"/>
                    </a:cubicBezTo>
                    <a:lnTo>
                      <a:pt x="6916990" y="0"/>
                    </a:lnTo>
                    <a:cubicBezTo>
                      <a:pt x="6943039" y="0"/>
                      <a:pt x="6964268" y="23752"/>
                      <a:pt x="6964268" y="53222"/>
                    </a:cubicBezTo>
                    <a:lnTo>
                      <a:pt x="6964268" y="833521"/>
                    </a:lnTo>
                    <a:cubicBezTo>
                      <a:pt x="6964268" y="862844"/>
                      <a:pt x="6943169" y="886743"/>
                      <a:pt x="6916990" y="886743"/>
                    </a:cubicBezTo>
                    <a:lnTo>
                      <a:pt x="47278" y="886743"/>
                    </a:lnTo>
                    <a:cubicBezTo>
                      <a:pt x="21229" y="886743"/>
                      <a:pt x="0" y="862991"/>
                      <a:pt x="0" y="833521"/>
                    </a:cubicBezTo>
                    <a:close/>
                  </a:path>
                </a:pathLst>
              </a:custGeom>
              <a:solidFill>
                <a:srgbClr val="F4F3F7"/>
              </a:solidFill>
            </p:spPr>
          </p:sp>
        </p:grpSp>
        <p:grpSp>
          <p:nvGrpSpPr>
            <p:cNvPr name="Group 8" id="8"/>
            <p:cNvGrpSpPr/>
            <p:nvPr/>
          </p:nvGrpSpPr>
          <p:grpSpPr>
            <a:xfrm rot="0">
              <a:off x="7935695" y="0"/>
              <a:ext cx="7555329" cy="962002"/>
              <a:chOff x="0" y="0"/>
              <a:chExt cx="6964268" cy="886743"/>
            </a:xfrm>
          </p:grpSpPr>
          <p:sp>
            <p:nvSpPr>
              <p:cNvPr name="Freeform 9" id="9"/>
              <p:cNvSpPr/>
              <p:nvPr/>
            </p:nvSpPr>
            <p:spPr>
              <a:xfrm flipH="false" flipV="false" rot="0">
                <a:off x="0" y="0"/>
                <a:ext cx="6964268" cy="886743"/>
              </a:xfrm>
              <a:custGeom>
                <a:avLst/>
                <a:gdLst/>
                <a:ahLst/>
                <a:cxnLst/>
                <a:rect r="r" b="b" t="t" l="l"/>
                <a:pathLst>
                  <a:path h="886743" w="6964268">
                    <a:moveTo>
                      <a:pt x="0" y="53222"/>
                    </a:moveTo>
                    <a:cubicBezTo>
                      <a:pt x="0" y="23752"/>
                      <a:pt x="21099" y="0"/>
                      <a:pt x="47278" y="0"/>
                    </a:cubicBezTo>
                    <a:lnTo>
                      <a:pt x="6916990" y="0"/>
                    </a:lnTo>
                    <a:cubicBezTo>
                      <a:pt x="6943039" y="0"/>
                      <a:pt x="6964268" y="23752"/>
                      <a:pt x="6964268" y="53222"/>
                    </a:cubicBezTo>
                    <a:lnTo>
                      <a:pt x="6964268" y="833521"/>
                    </a:lnTo>
                    <a:cubicBezTo>
                      <a:pt x="6964268" y="862844"/>
                      <a:pt x="6943169" y="886743"/>
                      <a:pt x="6916990" y="886743"/>
                    </a:cubicBezTo>
                    <a:lnTo>
                      <a:pt x="47278" y="886743"/>
                    </a:lnTo>
                    <a:cubicBezTo>
                      <a:pt x="21229" y="886743"/>
                      <a:pt x="0" y="862991"/>
                      <a:pt x="0" y="833521"/>
                    </a:cubicBezTo>
                    <a:close/>
                  </a:path>
                </a:pathLst>
              </a:custGeom>
              <a:solidFill>
                <a:srgbClr val="FBE9E9"/>
              </a:solidFill>
            </p:spPr>
          </p:sp>
        </p:grpSp>
        <p:grpSp>
          <p:nvGrpSpPr>
            <p:cNvPr name="Group 10" id="10"/>
            <p:cNvGrpSpPr/>
            <p:nvPr/>
          </p:nvGrpSpPr>
          <p:grpSpPr>
            <a:xfrm rot="0">
              <a:off x="15857261" y="0"/>
              <a:ext cx="7555329" cy="962002"/>
              <a:chOff x="0" y="0"/>
              <a:chExt cx="6964268" cy="886743"/>
            </a:xfrm>
          </p:grpSpPr>
          <p:sp>
            <p:nvSpPr>
              <p:cNvPr name="Freeform 11" id="11"/>
              <p:cNvSpPr/>
              <p:nvPr/>
            </p:nvSpPr>
            <p:spPr>
              <a:xfrm flipH="false" flipV="false" rot="0">
                <a:off x="0" y="0"/>
                <a:ext cx="6964268" cy="886743"/>
              </a:xfrm>
              <a:custGeom>
                <a:avLst/>
                <a:gdLst/>
                <a:ahLst/>
                <a:cxnLst/>
                <a:rect r="r" b="b" t="t" l="l"/>
                <a:pathLst>
                  <a:path h="886743" w="6964268">
                    <a:moveTo>
                      <a:pt x="0" y="53222"/>
                    </a:moveTo>
                    <a:cubicBezTo>
                      <a:pt x="0" y="23752"/>
                      <a:pt x="21099" y="0"/>
                      <a:pt x="47278" y="0"/>
                    </a:cubicBezTo>
                    <a:lnTo>
                      <a:pt x="6916990" y="0"/>
                    </a:lnTo>
                    <a:cubicBezTo>
                      <a:pt x="6943039" y="0"/>
                      <a:pt x="6964268" y="23752"/>
                      <a:pt x="6964268" y="53222"/>
                    </a:cubicBezTo>
                    <a:lnTo>
                      <a:pt x="6964268" y="833521"/>
                    </a:lnTo>
                    <a:cubicBezTo>
                      <a:pt x="6964268" y="862844"/>
                      <a:pt x="6943169" y="886743"/>
                      <a:pt x="6916990" y="886743"/>
                    </a:cubicBezTo>
                    <a:lnTo>
                      <a:pt x="47278" y="886743"/>
                    </a:lnTo>
                    <a:cubicBezTo>
                      <a:pt x="21229" y="886743"/>
                      <a:pt x="0" y="862991"/>
                      <a:pt x="0" y="833521"/>
                    </a:cubicBezTo>
                    <a:close/>
                  </a:path>
                </a:pathLst>
              </a:custGeom>
              <a:solidFill>
                <a:srgbClr val="704EA6"/>
              </a:solidFill>
            </p:spPr>
          </p:sp>
        </p:grpSp>
        <p:grpSp>
          <p:nvGrpSpPr>
            <p:cNvPr name="Group 12" id="12"/>
            <p:cNvGrpSpPr/>
            <p:nvPr/>
          </p:nvGrpSpPr>
          <p:grpSpPr>
            <a:xfrm rot="0">
              <a:off x="421059" y="0"/>
              <a:ext cx="6741470" cy="962002"/>
              <a:chOff x="0" y="0"/>
              <a:chExt cx="6214077" cy="886743"/>
            </a:xfrm>
          </p:grpSpPr>
          <p:sp>
            <p:nvSpPr>
              <p:cNvPr name="Freeform 13" id="13"/>
              <p:cNvSpPr/>
              <p:nvPr/>
            </p:nvSpPr>
            <p:spPr>
              <a:xfrm flipH="false" flipV="false" rot="0">
                <a:off x="0" y="0"/>
                <a:ext cx="6214077" cy="886743"/>
              </a:xfrm>
              <a:custGeom>
                <a:avLst/>
                <a:gdLst/>
                <a:ahLst/>
                <a:cxnLst/>
                <a:rect r="r" b="b" t="t" l="l"/>
                <a:pathLst>
                  <a:path h="886743" w="6214077">
                    <a:moveTo>
                      <a:pt x="0" y="0"/>
                    </a:moveTo>
                    <a:lnTo>
                      <a:pt x="6214077" y="0"/>
                    </a:lnTo>
                    <a:lnTo>
                      <a:pt x="6214077" y="886743"/>
                    </a:lnTo>
                    <a:lnTo>
                      <a:pt x="0" y="886743"/>
                    </a:lnTo>
                    <a:close/>
                  </a:path>
                </a:pathLst>
              </a:custGeom>
              <a:blipFill>
                <a:blip r:embed="rId3">
                  <a:alphaModFix amt="0"/>
                </a:blip>
                <a:stretch>
                  <a:fillRect l="0" t="-89838" r="2488" b="-76458"/>
                </a:stretch>
              </a:blipFill>
            </p:spPr>
          </p:sp>
          <p:sp>
            <p:nvSpPr>
              <p:cNvPr name="TextBox 14" id="14"/>
              <p:cNvSpPr txBox="true"/>
              <p:nvPr/>
            </p:nvSpPr>
            <p:spPr>
              <a:xfrm>
                <a:off x="0" y="-47625"/>
                <a:ext cx="6214077" cy="934368"/>
              </a:xfrm>
              <a:prstGeom prst="rect">
                <a:avLst/>
              </a:prstGeom>
            </p:spPr>
            <p:txBody>
              <a:bodyPr anchor="ctr" rtlCol="false" tIns="0" lIns="0" bIns="0" rIns="0"/>
              <a:lstStyle/>
              <a:p>
                <a:pPr algn="l">
                  <a:lnSpc>
                    <a:spcPts val="2729"/>
                  </a:lnSpc>
                </a:pPr>
                <a:r>
                  <a:rPr lang="en-US" sz="2274" b="true">
                    <a:solidFill>
                      <a:srgbClr val="6B6B76"/>
                    </a:solidFill>
                    <a:latin typeface="Calibri (MS) Bold"/>
                    <a:ea typeface="Calibri (MS) Bold"/>
                    <a:cs typeface="Calibri (MS) Bold"/>
                    <a:sym typeface="Calibri (MS) Bold"/>
                  </a:rPr>
                  <a:t>WHAT TEAMS USUALLY TRY</a:t>
                </a:r>
              </a:p>
            </p:txBody>
          </p:sp>
        </p:grpSp>
        <p:grpSp>
          <p:nvGrpSpPr>
            <p:cNvPr name="Group 15" id="15"/>
            <p:cNvGrpSpPr/>
            <p:nvPr/>
          </p:nvGrpSpPr>
          <p:grpSpPr>
            <a:xfrm rot="0">
              <a:off x="8342625" y="0"/>
              <a:ext cx="6741470" cy="962002"/>
              <a:chOff x="0" y="0"/>
              <a:chExt cx="6214077" cy="886743"/>
            </a:xfrm>
          </p:grpSpPr>
          <p:sp>
            <p:nvSpPr>
              <p:cNvPr name="Freeform 16" id="16"/>
              <p:cNvSpPr/>
              <p:nvPr/>
            </p:nvSpPr>
            <p:spPr>
              <a:xfrm flipH="false" flipV="false" rot="0">
                <a:off x="0" y="0"/>
                <a:ext cx="6214077" cy="886743"/>
              </a:xfrm>
              <a:custGeom>
                <a:avLst/>
                <a:gdLst/>
                <a:ahLst/>
                <a:cxnLst/>
                <a:rect r="r" b="b" t="t" l="l"/>
                <a:pathLst>
                  <a:path h="886743" w="6214077">
                    <a:moveTo>
                      <a:pt x="0" y="0"/>
                    </a:moveTo>
                    <a:lnTo>
                      <a:pt x="6214077" y="0"/>
                    </a:lnTo>
                    <a:lnTo>
                      <a:pt x="6214077" y="886743"/>
                    </a:lnTo>
                    <a:lnTo>
                      <a:pt x="0" y="886743"/>
                    </a:lnTo>
                    <a:close/>
                  </a:path>
                </a:pathLst>
              </a:custGeom>
              <a:blipFill>
                <a:blip r:embed="rId3">
                  <a:alphaModFix amt="0"/>
                </a:blip>
                <a:stretch>
                  <a:fillRect l="0" t="-89838" r="2488" b="-76458"/>
                </a:stretch>
              </a:blipFill>
            </p:spPr>
          </p:sp>
          <p:sp>
            <p:nvSpPr>
              <p:cNvPr name="TextBox 17" id="17"/>
              <p:cNvSpPr txBox="true"/>
              <p:nvPr/>
            </p:nvSpPr>
            <p:spPr>
              <a:xfrm>
                <a:off x="0" y="-47625"/>
                <a:ext cx="6214077" cy="934368"/>
              </a:xfrm>
              <a:prstGeom prst="rect">
                <a:avLst/>
              </a:prstGeom>
            </p:spPr>
            <p:txBody>
              <a:bodyPr anchor="ctr" rtlCol="false" tIns="0" lIns="0" bIns="0" rIns="0"/>
              <a:lstStyle/>
              <a:p>
                <a:pPr algn="l">
                  <a:lnSpc>
                    <a:spcPts val="2729"/>
                  </a:lnSpc>
                </a:pPr>
                <a:r>
                  <a:rPr lang="en-US" sz="2274" b="true">
                    <a:solidFill>
                      <a:srgbClr val="B33B3B"/>
                    </a:solidFill>
                    <a:latin typeface="Calibri (MS) Bold"/>
                    <a:ea typeface="Calibri (MS) Bold"/>
                    <a:cs typeface="Calibri (MS) Bold"/>
                    <a:sym typeface="Calibri (MS) Bold"/>
                  </a:rPr>
                  <a:t>WHERE IT BREAKS DOWN</a:t>
                </a:r>
              </a:p>
            </p:txBody>
          </p:sp>
        </p:grpSp>
        <p:grpSp>
          <p:nvGrpSpPr>
            <p:cNvPr name="Group 18" id="18"/>
            <p:cNvGrpSpPr/>
            <p:nvPr/>
          </p:nvGrpSpPr>
          <p:grpSpPr>
            <a:xfrm rot="0">
              <a:off x="16264191" y="0"/>
              <a:ext cx="6741470" cy="962002"/>
              <a:chOff x="0" y="0"/>
              <a:chExt cx="6214077" cy="886743"/>
            </a:xfrm>
          </p:grpSpPr>
          <p:sp>
            <p:nvSpPr>
              <p:cNvPr name="Freeform 19" id="19"/>
              <p:cNvSpPr/>
              <p:nvPr/>
            </p:nvSpPr>
            <p:spPr>
              <a:xfrm flipH="false" flipV="false" rot="0">
                <a:off x="0" y="0"/>
                <a:ext cx="6214077" cy="886743"/>
              </a:xfrm>
              <a:custGeom>
                <a:avLst/>
                <a:gdLst/>
                <a:ahLst/>
                <a:cxnLst/>
                <a:rect r="r" b="b" t="t" l="l"/>
                <a:pathLst>
                  <a:path h="886743" w="6214077">
                    <a:moveTo>
                      <a:pt x="0" y="0"/>
                    </a:moveTo>
                    <a:lnTo>
                      <a:pt x="6214077" y="0"/>
                    </a:lnTo>
                    <a:lnTo>
                      <a:pt x="6214077" y="886743"/>
                    </a:lnTo>
                    <a:lnTo>
                      <a:pt x="0" y="886743"/>
                    </a:lnTo>
                    <a:close/>
                  </a:path>
                </a:pathLst>
              </a:custGeom>
              <a:blipFill>
                <a:blip r:embed="rId3">
                  <a:alphaModFix amt="0"/>
                </a:blip>
                <a:stretch>
                  <a:fillRect l="0" t="-89838" r="2488" b="-76458"/>
                </a:stretch>
              </a:blipFill>
            </p:spPr>
          </p:sp>
          <p:sp>
            <p:nvSpPr>
              <p:cNvPr name="TextBox 20" id="20"/>
              <p:cNvSpPr txBox="true"/>
              <p:nvPr/>
            </p:nvSpPr>
            <p:spPr>
              <a:xfrm>
                <a:off x="0" y="-47625"/>
                <a:ext cx="6214077" cy="934368"/>
              </a:xfrm>
              <a:prstGeom prst="rect">
                <a:avLst/>
              </a:prstGeom>
            </p:spPr>
            <p:txBody>
              <a:bodyPr anchor="ctr" rtlCol="false" tIns="0" lIns="0" bIns="0" rIns="0"/>
              <a:lstStyle/>
              <a:p>
                <a:pPr algn="l">
                  <a:lnSpc>
                    <a:spcPts val="2729"/>
                  </a:lnSpc>
                </a:pPr>
                <a:r>
                  <a:rPr lang="en-US" sz="2274" b="true">
                    <a:solidFill>
                      <a:srgbClr val="FFFFFF"/>
                    </a:solidFill>
                    <a:latin typeface="Calibri (MS) Bold"/>
                    <a:ea typeface="Calibri (MS) Bold"/>
                    <a:cs typeface="Calibri (MS) Bold"/>
                    <a:sym typeface="Calibri (MS) Bold"/>
                  </a:rPr>
                  <a:t>WHAT WE BUILT &amp; MEASURED</a:t>
                </a:r>
              </a:p>
            </p:txBody>
          </p:sp>
        </p:grpSp>
        <p:grpSp>
          <p:nvGrpSpPr>
            <p:cNvPr name="Group 21" id="21"/>
            <p:cNvGrpSpPr/>
            <p:nvPr/>
          </p:nvGrpSpPr>
          <p:grpSpPr>
            <a:xfrm rot="0">
              <a:off x="0" y="1266763"/>
              <a:ext cx="7583588" cy="1978720"/>
              <a:chOff x="0" y="0"/>
              <a:chExt cx="6990316" cy="1823923"/>
            </a:xfrm>
          </p:grpSpPr>
          <p:sp>
            <p:nvSpPr>
              <p:cNvPr name="Freeform 22" id="22"/>
              <p:cNvSpPr/>
              <p:nvPr/>
            </p:nvSpPr>
            <p:spPr>
              <a:xfrm flipH="false" flipV="false" rot="0">
                <a:off x="0" y="0"/>
                <a:ext cx="6990316" cy="1823923"/>
              </a:xfrm>
              <a:custGeom>
                <a:avLst/>
                <a:gdLst/>
                <a:ahLst/>
                <a:cxnLst/>
                <a:rect r="r" b="b" t="t" l="l"/>
                <a:pathLst>
                  <a:path h="1823923" w="6990316">
                    <a:moveTo>
                      <a:pt x="0" y="109377"/>
                    </a:moveTo>
                    <a:cubicBezTo>
                      <a:pt x="0" y="48970"/>
                      <a:pt x="43501" y="0"/>
                      <a:pt x="97160" y="0"/>
                    </a:cubicBezTo>
                    <a:lnTo>
                      <a:pt x="6893156" y="0"/>
                    </a:lnTo>
                    <a:cubicBezTo>
                      <a:pt x="6946816" y="0"/>
                      <a:pt x="6990316" y="48970"/>
                      <a:pt x="6990316" y="109377"/>
                    </a:cubicBezTo>
                    <a:lnTo>
                      <a:pt x="6990316" y="1714546"/>
                    </a:lnTo>
                    <a:cubicBezTo>
                      <a:pt x="6990316" y="1774953"/>
                      <a:pt x="6946816" y="1823923"/>
                      <a:pt x="6893156" y="1823923"/>
                    </a:cubicBezTo>
                    <a:lnTo>
                      <a:pt x="97160" y="1823923"/>
                    </a:lnTo>
                    <a:cubicBezTo>
                      <a:pt x="43501" y="1823923"/>
                      <a:pt x="0" y="1774953"/>
                      <a:pt x="0" y="1714546"/>
                    </a:cubicBezTo>
                    <a:close/>
                  </a:path>
                </a:pathLst>
              </a:custGeom>
              <a:solidFill>
                <a:srgbClr val="FFFFFF"/>
              </a:solidFill>
              <a:ln w="19050" cap="sq">
                <a:solidFill>
                  <a:srgbClr val="D9D3F0"/>
                </a:solidFill>
                <a:prstDash val="solid"/>
                <a:miter/>
              </a:ln>
            </p:spPr>
          </p:sp>
        </p:grpSp>
        <p:grpSp>
          <p:nvGrpSpPr>
            <p:cNvPr name="Group 23" id="23"/>
            <p:cNvGrpSpPr/>
            <p:nvPr/>
          </p:nvGrpSpPr>
          <p:grpSpPr>
            <a:xfrm rot="0">
              <a:off x="7935695" y="1282669"/>
              <a:ext cx="7555329" cy="1946908"/>
              <a:chOff x="0" y="0"/>
              <a:chExt cx="6964268" cy="1794599"/>
            </a:xfrm>
          </p:grpSpPr>
          <p:sp>
            <p:nvSpPr>
              <p:cNvPr name="Freeform 24" id="24"/>
              <p:cNvSpPr/>
              <p:nvPr/>
            </p:nvSpPr>
            <p:spPr>
              <a:xfrm flipH="false" flipV="false" rot="0">
                <a:off x="0" y="0"/>
                <a:ext cx="6964268" cy="1794599"/>
              </a:xfrm>
              <a:custGeom>
                <a:avLst/>
                <a:gdLst/>
                <a:ahLst/>
                <a:cxnLst/>
                <a:rect r="r" b="b" t="t" l="l"/>
                <a:pathLst>
                  <a:path h="1794599" w="6964268">
                    <a:moveTo>
                      <a:pt x="0" y="107617"/>
                    </a:moveTo>
                    <a:cubicBezTo>
                      <a:pt x="0" y="48237"/>
                      <a:pt x="42849" y="0"/>
                      <a:pt x="95597" y="0"/>
                    </a:cubicBezTo>
                    <a:lnTo>
                      <a:pt x="6868671" y="0"/>
                    </a:lnTo>
                    <a:cubicBezTo>
                      <a:pt x="6921549" y="0"/>
                      <a:pt x="6964268" y="48237"/>
                      <a:pt x="6964268" y="107617"/>
                    </a:cubicBezTo>
                    <a:lnTo>
                      <a:pt x="6964268" y="1686982"/>
                    </a:lnTo>
                    <a:cubicBezTo>
                      <a:pt x="6964268" y="1746509"/>
                      <a:pt x="6921418" y="1794599"/>
                      <a:pt x="6868671" y="1794599"/>
                    </a:cubicBezTo>
                    <a:lnTo>
                      <a:pt x="95597" y="1794599"/>
                    </a:lnTo>
                    <a:cubicBezTo>
                      <a:pt x="42719" y="1794599"/>
                      <a:pt x="0" y="1746362"/>
                      <a:pt x="0" y="1686982"/>
                    </a:cubicBezTo>
                    <a:close/>
                  </a:path>
                </a:pathLst>
              </a:custGeom>
              <a:solidFill>
                <a:srgbClr val="FBE9E9"/>
              </a:solidFill>
            </p:spPr>
          </p:sp>
        </p:grpSp>
        <p:grpSp>
          <p:nvGrpSpPr>
            <p:cNvPr name="Group 25" id="25"/>
            <p:cNvGrpSpPr/>
            <p:nvPr/>
          </p:nvGrpSpPr>
          <p:grpSpPr>
            <a:xfrm rot="0">
              <a:off x="15839600" y="1262786"/>
              <a:ext cx="7590653" cy="1986673"/>
              <a:chOff x="0" y="0"/>
              <a:chExt cx="6996828" cy="1831254"/>
            </a:xfrm>
          </p:grpSpPr>
          <p:sp>
            <p:nvSpPr>
              <p:cNvPr name="Freeform 26" id="26"/>
              <p:cNvSpPr/>
              <p:nvPr/>
            </p:nvSpPr>
            <p:spPr>
              <a:xfrm flipH="false" flipV="false" rot="0">
                <a:off x="0" y="0"/>
                <a:ext cx="6996828" cy="1831254"/>
              </a:xfrm>
              <a:custGeom>
                <a:avLst/>
                <a:gdLst/>
                <a:ahLst/>
                <a:cxnLst/>
                <a:rect r="r" b="b" t="t" l="l"/>
                <a:pathLst>
                  <a:path h="1831254" w="6996828">
                    <a:moveTo>
                      <a:pt x="0" y="109817"/>
                    </a:moveTo>
                    <a:cubicBezTo>
                      <a:pt x="0" y="49264"/>
                      <a:pt x="43761" y="0"/>
                      <a:pt x="97551" y="0"/>
                    </a:cubicBezTo>
                    <a:lnTo>
                      <a:pt x="6899277" y="0"/>
                    </a:lnTo>
                    <a:cubicBezTo>
                      <a:pt x="6953197" y="0"/>
                      <a:pt x="6996828" y="49264"/>
                      <a:pt x="6996828" y="109817"/>
                    </a:cubicBezTo>
                    <a:lnTo>
                      <a:pt x="6996828" y="1721437"/>
                    </a:lnTo>
                    <a:cubicBezTo>
                      <a:pt x="6996828" y="1782137"/>
                      <a:pt x="6953067" y="1831254"/>
                      <a:pt x="6899277" y="1831254"/>
                    </a:cubicBezTo>
                    <a:lnTo>
                      <a:pt x="97551" y="1831254"/>
                    </a:lnTo>
                    <a:cubicBezTo>
                      <a:pt x="43631" y="1831254"/>
                      <a:pt x="0" y="1781990"/>
                      <a:pt x="0" y="1721437"/>
                    </a:cubicBezTo>
                    <a:close/>
                  </a:path>
                </a:pathLst>
              </a:custGeom>
              <a:solidFill>
                <a:srgbClr val="EDE9FB"/>
              </a:solidFill>
              <a:ln w="23812" cap="sq">
                <a:solidFill>
                  <a:srgbClr val="704EA6"/>
                </a:solidFill>
                <a:prstDash val="solid"/>
                <a:miter/>
              </a:ln>
            </p:spPr>
          </p:sp>
        </p:grpSp>
        <p:grpSp>
          <p:nvGrpSpPr>
            <p:cNvPr name="Group 27" id="27"/>
            <p:cNvGrpSpPr/>
            <p:nvPr/>
          </p:nvGrpSpPr>
          <p:grpSpPr>
            <a:xfrm rot="0">
              <a:off x="237941" y="1775122"/>
              <a:ext cx="854552" cy="962002"/>
              <a:chOff x="0" y="0"/>
              <a:chExt cx="787700" cy="886743"/>
            </a:xfrm>
          </p:grpSpPr>
          <p:sp>
            <p:nvSpPr>
              <p:cNvPr name="Freeform 28" id="28"/>
              <p:cNvSpPr/>
              <p:nvPr/>
            </p:nvSpPr>
            <p:spPr>
              <a:xfrm flipH="false" flipV="false" rot="0">
                <a:off x="0" y="0"/>
                <a:ext cx="787700" cy="886743"/>
              </a:xfrm>
              <a:custGeom>
                <a:avLst/>
                <a:gdLst/>
                <a:ahLst/>
                <a:cxnLst/>
                <a:rect r="r" b="b" t="t" l="l"/>
                <a:pathLst>
                  <a:path h="886743" w="787700">
                    <a:moveTo>
                      <a:pt x="0" y="443372"/>
                    </a:moveTo>
                    <a:cubicBezTo>
                      <a:pt x="0" y="198520"/>
                      <a:pt x="176347" y="0"/>
                      <a:pt x="393850" y="0"/>
                    </a:cubicBezTo>
                    <a:cubicBezTo>
                      <a:pt x="611353" y="0"/>
                      <a:pt x="787700" y="198520"/>
                      <a:pt x="787700" y="443372"/>
                    </a:cubicBezTo>
                    <a:cubicBezTo>
                      <a:pt x="787700" y="688223"/>
                      <a:pt x="611353" y="886743"/>
                      <a:pt x="393850" y="886743"/>
                    </a:cubicBezTo>
                    <a:cubicBezTo>
                      <a:pt x="176347" y="886743"/>
                      <a:pt x="0" y="688223"/>
                      <a:pt x="0" y="443372"/>
                    </a:cubicBezTo>
                    <a:close/>
                  </a:path>
                </a:pathLst>
              </a:custGeom>
              <a:solidFill>
                <a:srgbClr val="704EA6"/>
              </a:solidFill>
            </p:spPr>
          </p:sp>
          <p:sp>
            <p:nvSpPr>
              <p:cNvPr name="TextBox 29" id="29"/>
              <p:cNvSpPr txBox="true"/>
              <p:nvPr/>
            </p:nvSpPr>
            <p:spPr>
              <a:xfrm>
                <a:off x="0" y="-47625"/>
                <a:ext cx="787700" cy="934368"/>
              </a:xfrm>
              <a:prstGeom prst="rect">
                <a:avLst/>
              </a:prstGeom>
            </p:spPr>
            <p:txBody>
              <a:bodyPr anchor="ctr" rtlCol="false" tIns="50800" lIns="50800" bIns="50800" rIns="50800"/>
              <a:lstStyle/>
              <a:p>
                <a:pPr algn="ctr">
                  <a:lnSpc>
                    <a:spcPts val="2340"/>
                  </a:lnSpc>
                </a:pPr>
                <a:r>
                  <a:rPr lang="en-US" sz="1950" b="true">
                    <a:solidFill>
                      <a:srgbClr val="FFFFFF"/>
                    </a:solidFill>
                    <a:latin typeface="Calibri (MS) Bold"/>
                    <a:ea typeface="Calibri (MS) Bold"/>
                    <a:cs typeface="Calibri (MS) Bold"/>
                    <a:sym typeface="Calibri (MS) Bold"/>
                  </a:rPr>
                  <a:t>1</a:t>
                </a:r>
              </a:p>
            </p:txBody>
          </p:sp>
        </p:grpSp>
        <p:grpSp>
          <p:nvGrpSpPr>
            <p:cNvPr name="Group 30" id="30"/>
            <p:cNvGrpSpPr/>
            <p:nvPr/>
          </p:nvGrpSpPr>
          <p:grpSpPr>
            <a:xfrm rot="0">
              <a:off x="1336651" y="1557526"/>
              <a:ext cx="5927610" cy="1397193"/>
              <a:chOff x="0" y="0"/>
              <a:chExt cx="5463887" cy="1287889"/>
            </a:xfrm>
          </p:grpSpPr>
          <p:sp>
            <p:nvSpPr>
              <p:cNvPr name="Freeform 31" id="31"/>
              <p:cNvSpPr/>
              <p:nvPr/>
            </p:nvSpPr>
            <p:spPr>
              <a:xfrm flipH="false" flipV="false" rot="0">
                <a:off x="0" y="0"/>
                <a:ext cx="5463887" cy="1287889"/>
              </a:xfrm>
              <a:custGeom>
                <a:avLst/>
                <a:gdLst/>
                <a:ahLst/>
                <a:cxnLst/>
                <a:rect r="r" b="b" t="t" l="l"/>
                <a:pathLst>
                  <a:path h="1287889" w="5463887">
                    <a:moveTo>
                      <a:pt x="0" y="0"/>
                    </a:moveTo>
                    <a:lnTo>
                      <a:pt x="5463887" y="0"/>
                    </a:lnTo>
                    <a:lnTo>
                      <a:pt x="5463887" y="1287889"/>
                    </a:lnTo>
                    <a:lnTo>
                      <a:pt x="0" y="1287889"/>
                    </a:lnTo>
                    <a:close/>
                  </a:path>
                </a:pathLst>
              </a:custGeom>
              <a:blipFill>
                <a:blip r:embed="rId3">
                  <a:alphaModFix amt="0"/>
                </a:blip>
                <a:stretch>
                  <a:fillRect l="0" t="-37298" r="2488" b="-23918"/>
                </a:stretch>
              </a:blipFill>
            </p:spPr>
          </p:sp>
          <p:sp>
            <p:nvSpPr>
              <p:cNvPr name="TextBox 32" id="32"/>
              <p:cNvSpPr txBox="true"/>
              <p:nvPr/>
            </p:nvSpPr>
            <p:spPr>
              <a:xfrm>
                <a:off x="0" y="-85725"/>
                <a:ext cx="5463887" cy="1373614"/>
              </a:xfrm>
              <a:prstGeom prst="rect">
                <a:avLst/>
              </a:prstGeom>
            </p:spPr>
            <p:txBody>
              <a:bodyPr anchor="ctr" rtlCol="false" tIns="0" lIns="0" bIns="0" rIns="0"/>
              <a:lstStyle/>
              <a:p>
                <a:pPr algn="l">
                  <a:lnSpc>
                    <a:spcPts val="2796"/>
                  </a:lnSpc>
                </a:pPr>
                <a:r>
                  <a:rPr lang="en-US" sz="1974" b="true">
                    <a:solidFill>
                      <a:srgbClr val="33333D"/>
                    </a:solidFill>
                    <a:latin typeface="Calibri (MS) Bold"/>
                    <a:ea typeface="Calibri (MS) Bold"/>
                    <a:cs typeface="Calibri (MS) Bold"/>
                    <a:sym typeface="Calibri (MS) Bold"/>
                  </a:rPr>
                  <a:t>Dense embedding + cosine similarity with an off-the-shelf text model</a:t>
                </a:r>
              </a:p>
            </p:txBody>
          </p:sp>
        </p:grpSp>
        <p:grpSp>
          <p:nvGrpSpPr>
            <p:cNvPr name="Group 33" id="33"/>
            <p:cNvGrpSpPr/>
            <p:nvPr/>
          </p:nvGrpSpPr>
          <p:grpSpPr>
            <a:xfrm rot="0">
              <a:off x="8342625" y="1557526"/>
              <a:ext cx="6741470" cy="1397193"/>
              <a:chOff x="0" y="0"/>
              <a:chExt cx="6214077" cy="1287889"/>
            </a:xfrm>
          </p:grpSpPr>
          <p:sp>
            <p:nvSpPr>
              <p:cNvPr name="Freeform 34" id="34"/>
              <p:cNvSpPr/>
              <p:nvPr/>
            </p:nvSpPr>
            <p:spPr>
              <a:xfrm flipH="false" flipV="false" rot="0">
                <a:off x="0" y="0"/>
                <a:ext cx="6214077" cy="1287889"/>
              </a:xfrm>
              <a:custGeom>
                <a:avLst/>
                <a:gdLst/>
                <a:ahLst/>
                <a:cxnLst/>
                <a:rect r="r" b="b" t="t" l="l"/>
                <a:pathLst>
                  <a:path h="1287889" w="6214077">
                    <a:moveTo>
                      <a:pt x="0" y="0"/>
                    </a:moveTo>
                    <a:lnTo>
                      <a:pt x="6214077" y="0"/>
                    </a:lnTo>
                    <a:lnTo>
                      <a:pt x="6214077" y="1287889"/>
                    </a:lnTo>
                    <a:lnTo>
                      <a:pt x="0" y="1287889"/>
                    </a:lnTo>
                    <a:close/>
                  </a:path>
                </a:pathLst>
              </a:custGeom>
              <a:blipFill>
                <a:blip r:embed="rId3">
                  <a:alphaModFix amt="0"/>
                </a:blip>
                <a:stretch>
                  <a:fillRect l="0" t="-48365" r="2488" b="-34985"/>
                </a:stretch>
              </a:blipFill>
            </p:spPr>
          </p:sp>
          <p:sp>
            <p:nvSpPr>
              <p:cNvPr name="TextBox 35" id="35"/>
              <p:cNvSpPr txBox="true"/>
              <p:nvPr/>
            </p:nvSpPr>
            <p:spPr>
              <a:xfrm>
                <a:off x="0" y="-85725"/>
                <a:ext cx="6214077" cy="1373614"/>
              </a:xfrm>
              <a:prstGeom prst="rect">
                <a:avLst/>
              </a:prstGeom>
            </p:spPr>
            <p:txBody>
              <a:bodyPr anchor="ctr" rtlCol="false" tIns="0" lIns="0" bIns="0" rIns="0"/>
              <a:lstStyle/>
              <a:p>
                <a:pPr algn="l">
                  <a:lnSpc>
                    <a:spcPts val="2796"/>
                  </a:lnSpc>
                </a:pPr>
                <a:r>
                  <a:rPr lang="en-US" sz="1974" b="true">
                    <a:solidFill>
                      <a:srgbClr val="B33B3B"/>
                    </a:solidFill>
                    <a:latin typeface="Calibri (MS) Bold"/>
                    <a:ea typeface="Calibri (MS) Bold"/>
                    <a:cs typeface="Calibri (MS) Bold"/>
                    <a:sym typeface="Calibri (MS) Bold"/>
                  </a:rPr>
                  <a:t>NL and code sit in different “languages” — behavioral queries blur</a:t>
                </a:r>
              </a:p>
            </p:txBody>
          </p:sp>
        </p:grpSp>
        <p:grpSp>
          <p:nvGrpSpPr>
            <p:cNvPr name="Group 36" id="36"/>
            <p:cNvGrpSpPr/>
            <p:nvPr/>
          </p:nvGrpSpPr>
          <p:grpSpPr>
            <a:xfrm rot="0">
              <a:off x="16264191" y="1557526"/>
              <a:ext cx="6741470" cy="1462925"/>
              <a:chOff x="0" y="0"/>
              <a:chExt cx="6214077" cy="1348479"/>
            </a:xfrm>
          </p:grpSpPr>
          <p:sp>
            <p:nvSpPr>
              <p:cNvPr name="Freeform 37" id="37"/>
              <p:cNvSpPr/>
              <p:nvPr/>
            </p:nvSpPr>
            <p:spPr>
              <a:xfrm flipH="false" flipV="false" rot="0">
                <a:off x="0" y="0"/>
                <a:ext cx="6214077" cy="1348479"/>
              </a:xfrm>
              <a:custGeom>
                <a:avLst/>
                <a:gdLst/>
                <a:ahLst/>
                <a:cxnLst/>
                <a:rect r="r" b="b" t="t" l="l"/>
                <a:pathLst>
                  <a:path h="1348479" w="6214077">
                    <a:moveTo>
                      <a:pt x="0" y="0"/>
                    </a:moveTo>
                    <a:lnTo>
                      <a:pt x="6214077" y="0"/>
                    </a:lnTo>
                    <a:lnTo>
                      <a:pt x="6214077" y="1348479"/>
                    </a:lnTo>
                    <a:lnTo>
                      <a:pt x="0" y="1348479"/>
                    </a:lnTo>
                    <a:close/>
                  </a:path>
                </a:pathLst>
              </a:custGeom>
              <a:blipFill>
                <a:blip r:embed="rId3">
                  <a:alphaModFix amt="0"/>
                </a:blip>
                <a:stretch>
                  <a:fillRect l="0" t="-46192" r="2488" b="-28920"/>
                </a:stretch>
              </a:blipFill>
            </p:spPr>
          </p:sp>
          <p:sp>
            <p:nvSpPr>
              <p:cNvPr name="TextBox 38" id="38"/>
              <p:cNvSpPr txBox="true"/>
              <p:nvPr/>
            </p:nvSpPr>
            <p:spPr>
              <a:xfrm>
                <a:off x="0" y="-85725"/>
                <a:ext cx="6214077" cy="1434204"/>
              </a:xfrm>
              <a:prstGeom prst="rect">
                <a:avLst/>
              </a:prstGeom>
            </p:spPr>
            <p:txBody>
              <a:bodyPr anchor="ctr" rtlCol="false" tIns="0" lIns="0" bIns="0" rIns="0"/>
              <a:lstStyle/>
              <a:p>
                <a:pPr algn="l">
                  <a:lnSpc>
                    <a:spcPts val="2796"/>
                  </a:lnSpc>
                </a:pPr>
                <a:r>
                  <a:rPr lang="en-US" sz="1974" b="true">
                    <a:solidFill>
                      <a:srgbClr val="14142B"/>
                    </a:solidFill>
                    <a:latin typeface="Calibri (MS) Bold"/>
                    <a:ea typeface="Calibri (MS) Bold"/>
                    <a:cs typeface="Calibri (MS) Bold"/>
                    <a:sym typeface="Calibri (MS) Bold"/>
                  </a:rPr>
                  <a:t>Code-flavored HyDE: compile query → deterministic code sketch, then embed code-vs-code</a:t>
                </a:r>
              </a:p>
            </p:txBody>
          </p:sp>
        </p:grpSp>
        <p:grpSp>
          <p:nvGrpSpPr>
            <p:cNvPr name="Group 39" id="39"/>
            <p:cNvGrpSpPr/>
            <p:nvPr/>
          </p:nvGrpSpPr>
          <p:grpSpPr>
            <a:xfrm rot="0">
              <a:off x="7508419" y="1912551"/>
              <a:ext cx="488316" cy="687144"/>
              <a:chOff x="0" y="0"/>
              <a:chExt cx="450114" cy="633388"/>
            </a:xfrm>
          </p:grpSpPr>
          <p:sp>
            <p:nvSpPr>
              <p:cNvPr name="Freeform 40" id="40"/>
              <p:cNvSpPr/>
              <p:nvPr/>
            </p:nvSpPr>
            <p:spPr>
              <a:xfrm flipH="false" flipV="false" rot="0">
                <a:off x="0" y="0"/>
                <a:ext cx="450114" cy="633388"/>
              </a:xfrm>
              <a:custGeom>
                <a:avLst/>
                <a:gdLst/>
                <a:ahLst/>
                <a:cxnLst/>
                <a:rect r="r" b="b" t="t" l="l"/>
                <a:pathLst>
                  <a:path h="633388" w="450114">
                    <a:moveTo>
                      <a:pt x="0" y="0"/>
                    </a:moveTo>
                    <a:lnTo>
                      <a:pt x="450114" y="0"/>
                    </a:lnTo>
                    <a:lnTo>
                      <a:pt x="450114" y="633388"/>
                    </a:lnTo>
                    <a:lnTo>
                      <a:pt x="0" y="633388"/>
                    </a:lnTo>
                    <a:close/>
                  </a:path>
                </a:pathLst>
              </a:custGeom>
              <a:blipFill>
                <a:blip r:embed="rId3">
                  <a:alphaModFix amt="0"/>
                </a:blip>
                <a:stretch>
                  <a:fillRect l="-107632" t="0" r="-105143" b="13380"/>
                </a:stretch>
              </a:blipFill>
            </p:spPr>
          </p:sp>
          <p:sp>
            <p:nvSpPr>
              <p:cNvPr name="TextBox 41" id="41"/>
              <p:cNvSpPr txBox="true"/>
              <p:nvPr/>
            </p:nvSpPr>
            <p:spPr>
              <a:xfrm>
                <a:off x="0" y="-57150"/>
                <a:ext cx="450114" cy="690538"/>
              </a:xfrm>
              <a:prstGeom prst="rect">
                <a:avLst/>
              </a:prstGeom>
            </p:spPr>
            <p:txBody>
              <a:bodyPr anchor="ctr" rtlCol="false" tIns="0" lIns="0" bIns="0" rIns="0"/>
              <a:lstStyle/>
              <a:p>
                <a:pPr algn="ctr">
                  <a:lnSpc>
                    <a:spcPts val="2700"/>
                  </a:lnSpc>
                </a:pPr>
                <a:r>
                  <a:rPr lang="en-US" sz="2250" b="true">
                    <a:solidFill>
                      <a:srgbClr val="6B6B76"/>
                    </a:solidFill>
                    <a:latin typeface="Calibri (MS) Bold"/>
                    <a:ea typeface="Calibri (MS) Bold"/>
                    <a:cs typeface="Calibri (MS) Bold"/>
                    <a:sym typeface="Calibri (MS) Bold"/>
                  </a:rPr>
                  <a:t>›</a:t>
                </a:r>
              </a:p>
            </p:txBody>
          </p:sp>
        </p:grpSp>
        <p:grpSp>
          <p:nvGrpSpPr>
            <p:cNvPr name="Group 42" id="42"/>
            <p:cNvGrpSpPr/>
            <p:nvPr/>
          </p:nvGrpSpPr>
          <p:grpSpPr>
            <a:xfrm rot="0">
              <a:off x="15429985" y="1912551"/>
              <a:ext cx="488316" cy="687144"/>
              <a:chOff x="0" y="0"/>
              <a:chExt cx="450114" cy="633388"/>
            </a:xfrm>
          </p:grpSpPr>
          <p:sp>
            <p:nvSpPr>
              <p:cNvPr name="Freeform 43" id="43"/>
              <p:cNvSpPr/>
              <p:nvPr/>
            </p:nvSpPr>
            <p:spPr>
              <a:xfrm flipH="false" flipV="false" rot="0">
                <a:off x="0" y="0"/>
                <a:ext cx="450114" cy="633388"/>
              </a:xfrm>
              <a:custGeom>
                <a:avLst/>
                <a:gdLst/>
                <a:ahLst/>
                <a:cxnLst/>
                <a:rect r="r" b="b" t="t" l="l"/>
                <a:pathLst>
                  <a:path h="633388" w="450114">
                    <a:moveTo>
                      <a:pt x="0" y="0"/>
                    </a:moveTo>
                    <a:lnTo>
                      <a:pt x="450114" y="0"/>
                    </a:lnTo>
                    <a:lnTo>
                      <a:pt x="450114" y="633388"/>
                    </a:lnTo>
                    <a:lnTo>
                      <a:pt x="0" y="633388"/>
                    </a:lnTo>
                    <a:close/>
                  </a:path>
                </a:pathLst>
              </a:custGeom>
              <a:blipFill>
                <a:blip r:embed="rId3">
                  <a:alphaModFix amt="0"/>
                </a:blip>
                <a:stretch>
                  <a:fillRect l="-107632" t="0" r="-105143" b="13380"/>
                </a:stretch>
              </a:blipFill>
            </p:spPr>
          </p:sp>
          <p:sp>
            <p:nvSpPr>
              <p:cNvPr name="TextBox 44" id="44"/>
              <p:cNvSpPr txBox="true"/>
              <p:nvPr/>
            </p:nvSpPr>
            <p:spPr>
              <a:xfrm>
                <a:off x="0" y="-57150"/>
                <a:ext cx="450114" cy="690538"/>
              </a:xfrm>
              <a:prstGeom prst="rect">
                <a:avLst/>
              </a:prstGeom>
            </p:spPr>
            <p:txBody>
              <a:bodyPr anchor="ctr" rtlCol="false" tIns="0" lIns="0" bIns="0" rIns="0"/>
              <a:lstStyle/>
              <a:p>
                <a:pPr algn="ctr">
                  <a:lnSpc>
                    <a:spcPts val="2700"/>
                  </a:lnSpc>
                </a:pPr>
                <a:r>
                  <a:rPr lang="en-US" sz="2250" b="true">
                    <a:solidFill>
                      <a:srgbClr val="6B6B76"/>
                    </a:solidFill>
                    <a:latin typeface="Calibri (MS) Bold"/>
                    <a:ea typeface="Calibri (MS) Bold"/>
                    <a:cs typeface="Calibri (MS) Bold"/>
                    <a:sym typeface="Calibri (MS) Bold"/>
                  </a:rPr>
                  <a:t>›</a:t>
                </a:r>
              </a:p>
            </p:txBody>
          </p:sp>
        </p:grpSp>
        <p:grpSp>
          <p:nvGrpSpPr>
            <p:cNvPr name="Group 45" id="45"/>
            <p:cNvGrpSpPr/>
            <p:nvPr/>
          </p:nvGrpSpPr>
          <p:grpSpPr>
            <a:xfrm rot="0">
              <a:off x="0" y="3534338"/>
              <a:ext cx="7583588" cy="1978720"/>
              <a:chOff x="0" y="0"/>
              <a:chExt cx="6990316" cy="1823923"/>
            </a:xfrm>
          </p:grpSpPr>
          <p:sp>
            <p:nvSpPr>
              <p:cNvPr name="Freeform 46" id="46"/>
              <p:cNvSpPr/>
              <p:nvPr/>
            </p:nvSpPr>
            <p:spPr>
              <a:xfrm flipH="false" flipV="false" rot="0">
                <a:off x="0" y="0"/>
                <a:ext cx="6990316" cy="1823923"/>
              </a:xfrm>
              <a:custGeom>
                <a:avLst/>
                <a:gdLst/>
                <a:ahLst/>
                <a:cxnLst/>
                <a:rect r="r" b="b" t="t" l="l"/>
                <a:pathLst>
                  <a:path h="1823923" w="6990316">
                    <a:moveTo>
                      <a:pt x="0" y="109377"/>
                    </a:moveTo>
                    <a:cubicBezTo>
                      <a:pt x="0" y="48970"/>
                      <a:pt x="43501" y="0"/>
                      <a:pt x="97160" y="0"/>
                    </a:cubicBezTo>
                    <a:lnTo>
                      <a:pt x="6893156" y="0"/>
                    </a:lnTo>
                    <a:cubicBezTo>
                      <a:pt x="6946816" y="0"/>
                      <a:pt x="6990316" y="48970"/>
                      <a:pt x="6990316" y="109377"/>
                    </a:cubicBezTo>
                    <a:lnTo>
                      <a:pt x="6990316" y="1714546"/>
                    </a:lnTo>
                    <a:cubicBezTo>
                      <a:pt x="6990316" y="1774953"/>
                      <a:pt x="6946816" y="1823923"/>
                      <a:pt x="6893156" y="1823923"/>
                    </a:cubicBezTo>
                    <a:lnTo>
                      <a:pt x="97160" y="1823923"/>
                    </a:lnTo>
                    <a:cubicBezTo>
                      <a:pt x="43501" y="1823923"/>
                      <a:pt x="0" y="1774953"/>
                      <a:pt x="0" y="1714546"/>
                    </a:cubicBezTo>
                    <a:close/>
                  </a:path>
                </a:pathLst>
              </a:custGeom>
              <a:solidFill>
                <a:srgbClr val="FFFFFF"/>
              </a:solidFill>
              <a:ln w="19050" cap="sq">
                <a:solidFill>
                  <a:srgbClr val="D9D3F0"/>
                </a:solidFill>
                <a:prstDash val="solid"/>
                <a:miter/>
              </a:ln>
            </p:spPr>
          </p:sp>
        </p:grpSp>
        <p:grpSp>
          <p:nvGrpSpPr>
            <p:cNvPr name="Group 47" id="47"/>
            <p:cNvGrpSpPr/>
            <p:nvPr/>
          </p:nvGrpSpPr>
          <p:grpSpPr>
            <a:xfrm rot="0">
              <a:off x="7935695" y="3550244"/>
              <a:ext cx="7555329" cy="1946908"/>
              <a:chOff x="0" y="0"/>
              <a:chExt cx="6964268" cy="1794599"/>
            </a:xfrm>
          </p:grpSpPr>
          <p:sp>
            <p:nvSpPr>
              <p:cNvPr name="Freeform 48" id="48"/>
              <p:cNvSpPr/>
              <p:nvPr/>
            </p:nvSpPr>
            <p:spPr>
              <a:xfrm flipH="false" flipV="false" rot="0">
                <a:off x="0" y="0"/>
                <a:ext cx="6964268" cy="1794599"/>
              </a:xfrm>
              <a:custGeom>
                <a:avLst/>
                <a:gdLst/>
                <a:ahLst/>
                <a:cxnLst/>
                <a:rect r="r" b="b" t="t" l="l"/>
                <a:pathLst>
                  <a:path h="1794599" w="6964268">
                    <a:moveTo>
                      <a:pt x="0" y="107617"/>
                    </a:moveTo>
                    <a:cubicBezTo>
                      <a:pt x="0" y="48237"/>
                      <a:pt x="42849" y="0"/>
                      <a:pt x="95597" y="0"/>
                    </a:cubicBezTo>
                    <a:lnTo>
                      <a:pt x="6868671" y="0"/>
                    </a:lnTo>
                    <a:cubicBezTo>
                      <a:pt x="6921549" y="0"/>
                      <a:pt x="6964268" y="48237"/>
                      <a:pt x="6964268" y="107617"/>
                    </a:cubicBezTo>
                    <a:lnTo>
                      <a:pt x="6964268" y="1686982"/>
                    </a:lnTo>
                    <a:cubicBezTo>
                      <a:pt x="6964268" y="1746509"/>
                      <a:pt x="6921418" y="1794599"/>
                      <a:pt x="6868671" y="1794599"/>
                    </a:cubicBezTo>
                    <a:lnTo>
                      <a:pt x="95597" y="1794599"/>
                    </a:lnTo>
                    <a:cubicBezTo>
                      <a:pt x="42719" y="1794599"/>
                      <a:pt x="0" y="1746362"/>
                      <a:pt x="0" y="1686982"/>
                    </a:cubicBezTo>
                    <a:close/>
                  </a:path>
                </a:pathLst>
              </a:custGeom>
              <a:solidFill>
                <a:srgbClr val="FBE9E9"/>
              </a:solidFill>
            </p:spPr>
          </p:sp>
        </p:grpSp>
        <p:grpSp>
          <p:nvGrpSpPr>
            <p:cNvPr name="Group 49" id="49"/>
            <p:cNvGrpSpPr/>
            <p:nvPr/>
          </p:nvGrpSpPr>
          <p:grpSpPr>
            <a:xfrm rot="0">
              <a:off x="15839600" y="3530361"/>
              <a:ext cx="7590653" cy="1986673"/>
              <a:chOff x="0" y="0"/>
              <a:chExt cx="6996828" cy="1831254"/>
            </a:xfrm>
          </p:grpSpPr>
          <p:sp>
            <p:nvSpPr>
              <p:cNvPr name="Freeform 50" id="50"/>
              <p:cNvSpPr/>
              <p:nvPr/>
            </p:nvSpPr>
            <p:spPr>
              <a:xfrm flipH="false" flipV="false" rot="0">
                <a:off x="0" y="0"/>
                <a:ext cx="6996828" cy="1831254"/>
              </a:xfrm>
              <a:custGeom>
                <a:avLst/>
                <a:gdLst/>
                <a:ahLst/>
                <a:cxnLst/>
                <a:rect r="r" b="b" t="t" l="l"/>
                <a:pathLst>
                  <a:path h="1831254" w="6996828">
                    <a:moveTo>
                      <a:pt x="0" y="109817"/>
                    </a:moveTo>
                    <a:cubicBezTo>
                      <a:pt x="0" y="49264"/>
                      <a:pt x="43761" y="0"/>
                      <a:pt x="97551" y="0"/>
                    </a:cubicBezTo>
                    <a:lnTo>
                      <a:pt x="6899277" y="0"/>
                    </a:lnTo>
                    <a:cubicBezTo>
                      <a:pt x="6953197" y="0"/>
                      <a:pt x="6996828" y="49264"/>
                      <a:pt x="6996828" y="109817"/>
                    </a:cubicBezTo>
                    <a:lnTo>
                      <a:pt x="6996828" y="1721437"/>
                    </a:lnTo>
                    <a:cubicBezTo>
                      <a:pt x="6996828" y="1782137"/>
                      <a:pt x="6953067" y="1831254"/>
                      <a:pt x="6899277" y="1831254"/>
                    </a:cubicBezTo>
                    <a:lnTo>
                      <a:pt x="97551" y="1831254"/>
                    </a:lnTo>
                    <a:cubicBezTo>
                      <a:pt x="43631" y="1831254"/>
                      <a:pt x="0" y="1781990"/>
                      <a:pt x="0" y="1721437"/>
                    </a:cubicBezTo>
                    <a:close/>
                  </a:path>
                </a:pathLst>
              </a:custGeom>
              <a:solidFill>
                <a:srgbClr val="EDE9FB"/>
              </a:solidFill>
              <a:ln w="23812" cap="sq">
                <a:solidFill>
                  <a:srgbClr val="704EA6"/>
                </a:solidFill>
                <a:prstDash val="solid"/>
                <a:miter/>
              </a:ln>
            </p:spPr>
          </p:sp>
        </p:grpSp>
        <p:grpSp>
          <p:nvGrpSpPr>
            <p:cNvPr name="Group 51" id="51"/>
            <p:cNvGrpSpPr/>
            <p:nvPr/>
          </p:nvGrpSpPr>
          <p:grpSpPr>
            <a:xfrm rot="0">
              <a:off x="237941" y="4042697"/>
              <a:ext cx="854552" cy="962002"/>
              <a:chOff x="0" y="0"/>
              <a:chExt cx="787700" cy="886743"/>
            </a:xfrm>
          </p:grpSpPr>
          <p:sp>
            <p:nvSpPr>
              <p:cNvPr name="Freeform 52" id="52"/>
              <p:cNvSpPr/>
              <p:nvPr/>
            </p:nvSpPr>
            <p:spPr>
              <a:xfrm flipH="false" flipV="false" rot="0">
                <a:off x="0" y="0"/>
                <a:ext cx="787700" cy="886743"/>
              </a:xfrm>
              <a:custGeom>
                <a:avLst/>
                <a:gdLst/>
                <a:ahLst/>
                <a:cxnLst/>
                <a:rect r="r" b="b" t="t" l="l"/>
                <a:pathLst>
                  <a:path h="886743" w="787700">
                    <a:moveTo>
                      <a:pt x="0" y="443372"/>
                    </a:moveTo>
                    <a:cubicBezTo>
                      <a:pt x="0" y="198520"/>
                      <a:pt x="176347" y="0"/>
                      <a:pt x="393850" y="0"/>
                    </a:cubicBezTo>
                    <a:cubicBezTo>
                      <a:pt x="611353" y="0"/>
                      <a:pt x="787700" y="198520"/>
                      <a:pt x="787700" y="443372"/>
                    </a:cubicBezTo>
                    <a:cubicBezTo>
                      <a:pt x="787700" y="688223"/>
                      <a:pt x="611353" y="886743"/>
                      <a:pt x="393850" y="886743"/>
                    </a:cubicBezTo>
                    <a:cubicBezTo>
                      <a:pt x="176347" y="886743"/>
                      <a:pt x="0" y="688223"/>
                      <a:pt x="0" y="443372"/>
                    </a:cubicBezTo>
                    <a:close/>
                  </a:path>
                </a:pathLst>
              </a:custGeom>
              <a:solidFill>
                <a:srgbClr val="704EA6"/>
              </a:solidFill>
            </p:spPr>
          </p:sp>
          <p:sp>
            <p:nvSpPr>
              <p:cNvPr name="TextBox 53" id="53"/>
              <p:cNvSpPr txBox="true"/>
              <p:nvPr/>
            </p:nvSpPr>
            <p:spPr>
              <a:xfrm>
                <a:off x="0" y="-47625"/>
                <a:ext cx="787700" cy="934368"/>
              </a:xfrm>
              <a:prstGeom prst="rect">
                <a:avLst/>
              </a:prstGeom>
            </p:spPr>
            <p:txBody>
              <a:bodyPr anchor="ctr" rtlCol="false" tIns="50800" lIns="50800" bIns="50800" rIns="50800"/>
              <a:lstStyle/>
              <a:p>
                <a:pPr algn="ctr">
                  <a:lnSpc>
                    <a:spcPts val="2340"/>
                  </a:lnSpc>
                </a:pPr>
                <a:r>
                  <a:rPr lang="en-US" sz="1950" b="true">
                    <a:solidFill>
                      <a:srgbClr val="FFFFFF"/>
                    </a:solidFill>
                    <a:latin typeface="Calibri (MS) Bold"/>
                    <a:ea typeface="Calibri (MS) Bold"/>
                    <a:cs typeface="Calibri (MS) Bold"/>
                    <a:sym typeface="Calibri (MS) Bold"/>
                  </a:rPr>
                  <a:t>2</a:t>
                </a:r>
              </a:p>
            </p:txBody>
          </p:sp>
        </p:grpSp>
        <p:grpSp>
          <p:nvGrpSpPr>
            <p:cNvPr name="Group 54" id="54"/>
            <p:cNvGrpSpPr/>
            <p:nvPr/>
          </p:nvGrpSpPr>
          <p:grpSpPr>
            <a:xfrm rot="0">
              <a:off x="1336651" y="3825101"/>
              <a:ext cx="5927610" cy="1397193"/>
              <a:chOff x="0" y="0"/>
              <a:chExt cx="5463887" cy="1287889"/>
            </a:xfrm>
          </p:grpSpPr>
          <p:sp>
            <p:nvSpPr>
              <p:cNvPr name="Freeform 55" id="55"/>
              <p:cNvSpPr/>
              <p:nvPr/>
            </p:nvSpPr>
            <p:spPr>
              <a:xfrm flipH="false" flipV="false" rot="0">
                <a:off x="0" y="0"/>
                <a:ext cx="5463887" cy="1287889"/>
              </a:xfrm>
              <a:custGeom>
                <a:avLst/>
                <a:gdLst/>
                <a:ahLst/>
                <a:cxnLst/>
                <a:rect r="r" b="b" t="t" l="l"/>
                <a:pathLst>
                  <a:path h="1287889" w="5463887">
                    <a:moveTo>
                      <a:pt x="0" y="0"/>
                    </a:moveTo>
                    <a:lnTo>
                      <a:pt x="5463887" y="0"/>
                    </a:lnTo>
                    <a:lnTo>
                      <a:pt x="5463887" y="1287889"/>
                    </a:lnTo>
                    <a:lnTo>
                      <a:pt x="0" y="1287889"/>
                    </a:lnTo>
                    <a:close/>
                  </a:path>
                </a:pathLst>
              </a:custGeom>
              <a:blipFill>
                <a:blip r:embed="rId3">
                  <a:alphaModFix amt="0"/>
                </a:blip>
                <a:stretch>
                  <a:fillRect l="0" t="-37298" r="2488" b="-23918"/>
                </a:stretch>
              </a:blipFill>
            </p:spPr>
          </p:sp>
          <p:sp>
            <p:nvSpPr>
              <p:cNvPr name="TextBox 56" id="56"/>
              <p:cNvSpPr txBox="true"/>
              <p:nvPr/>
            </p:nvSpPr>
            <p:spPr>
              <a:xfrm>
                <a:off x="0" y="-85725"/>
                <a:ext cx="5463887" cy="1373614"/>
              </a:xfrm>
              <a:prstGeom prst="rect">
                <a:avLst/>
              </a:prstGeom>
            </p:spPr>
            <p:txBody>
              <a:bodyPr anchor="ctr" rtlCol="false" tIns="0" lIns="0" bIns="0" rIns="0"/>
              <a:lstStyle/>
              <a:p>
                <a:pPr algn="l">
                  <a:lnSpc>
                    <a:spcPts val="2796"/>
                  </a:lnSpc>
                </a:pPr>
                <a:r>
                  <a:rPr lang="en-US" sz="1974" b="true">
                    <a:solidFill>
                      <a:srgbClr val="33333D"/>
                    </a:solidFill>
                    <a:latin typeface="Calibri (MS) Bold"/>
                    <a:ea typeface="Calibri (MS) Bold"/>
                    <a:cs typeface="Calibri (MS) Bold"/>
                    <a:sym typeface="Calibri (MS) Bold"/>
                  </a:rPr>
                  <a:t>LLM re-ranking on top of a first-pass retriever</a:t>
                </a:r>
              </a:p>
            </p:txBody>
          </p:sp>
        </p:grpSp>
        <p:grpSp>
          <p:nvGrpSpPr>
            <p:cNvPr name="Group 57" id="57"/>
            <p:cNvGrpSpPr/>
            <p:nvPr/>
          </p:nvGrpSpPr>
          <p:grpSpPr>
            <a:xfrm rot="0">
              <a:off x="8342625" y="3825101"/>
              <a:ext cx="6741470" cy="1397193"/>
              <a:chOff x="0" y="0"/>
              <a:chExt cx="6214077" cy="1287889"/>
            </a:xfrm>
          </p:grpSpPr>
          <p:sp>
            <p:nvSpPr>
              <p:cNvPr name="Freeform 58" id="58"/>
              <p:cNvSpPr/>
              <p:nvPr/>
            </p:nvSpPr>
            <p:spPr>
              <a:xfrm flipH="false" flipV="false" rot="0">
                <a:off x="0" y="0"/>
                <a:ext cx="6214077" cy="1287889"/>
              </a:xfrm>
              <a:custGeom>
                <a:avLst/>
                <a:gdLst/>
                <a:ahLst/>
                <a:cxnLst/>
                <a:rect r="r" b="b" t="t" l="l"/>
                <a:pathLst>
                  <a:path h="1287889" w="6214077">
                    <a:moveTo>
                      <a:pt x="0" y="0"/>
                    </a:moveTo>
                    <a:lnTo>
                      <a:pt x="6214077" y="0"/>
                    </a:lnTo>
                    <a:lnTo>
                      <a:pt x="6214077" y="1287889"/>
                    </a:lnTo>
                    <a:lnTo>
                      <a:pt x="0" y="1287889"/>
                    </a:lnTo>
                    <a:close/>
                  </a:path>
                </a:pathLst>
              </a:custGeom>
              <a:blipFill>
                <a:blip r:embed="rId3">
                  <a:alphaModFix amt="0"/>
                </a:blip>
                <a:stretch>
                  <a:fillRect l="0" t="-48365" r="2488" b="-34985"/>
                </a:stretch>
              </a:blipFill>
            </p:spPr>
          </p:sp>
          <p:sp>
            <p:nvSpPr>
              <p:cNvPr name="TextBox 59" id="59"/>
              <p:cNvSpPr txBox="true"/>
              <p:nvPr/>
            </p:nvSpPr>
            <p:spPr>
              <a:xfrm>
                <a:off x="0" y="-85725"/>
                <a:ext cx="6214077" cy="1373614"/>
              </a:xfrm>
              <a:prstGeom prst="rect">
                <a:avLst/>
              </a:prstGeom>
            </p:spPr>
            <p:txBody>
              <a:bodyPr anchor="ctr" rtlCol="false" tIns="0" lIns="0" bIns="0" rIns="0"/>
              <a:lstStyle/>
              <a:p>
                <a:pPr algn="l">
                  <a:lnSpc>
                    <a:spcPts val="2796"/>
                  </a:lnSpc>
                </a:pPr>
                <a:r>
                  <a:rPr lang="en-US" sz="1974" b="true">
                    <a:solidFill>
                      <a:srgbClr val="B33B3B"/>
                    </a:solidFill>
                    <a:latin typeface="Calibri (MS) Bold"/>
                    <a:ea typeface="Calibri (MS) Bold"/>
                    <a:cs typeface="Calibri (MS) Bold"/>
                    <a:sym typeface="Calibri (MS) Bold"/>
                  </a:rPr>
                  <a:t>Corpus in the thousands → per-query LLM ranking slower than retrieval itself</a:t>
                </a:r>
              </a:p>
            </p:txBody>
          </p:sp>
        </p:grpSp>
        <p:grpSp>
          <p:nvGrpSpPr>
            <p:cNvPr name="Group 60" id="60"/>
            <p:cNvGrpSpPr/>
            <p:nvPr/>
          </p:nvGrpSpPr>
          <p:grpSpPr>
            <a:xfrm rot="0">
              <a:off x="16264191" y="3825101"/>
              <a:ext cx="6741470" cy="1397193"/>
              <a:chOff x="0" y="0"/>
              <a:chExt cx="6214077" cy="1287889"/>
            </a:xfrm>
          </p:grpSpPr>
          <p:sp>
            <p:nvSpPr>
              <p:cNvPr name="Freeform 61" id="61"/>
              <p:cNvSpPr/>
              <p:nvPr/>
            </p:nvSpPr>
            <p:spPr>
              <a:xfrm flipH="false" flipV="false" rot="0">
                <a:off x="0" y="0"/>
                <a:ext cx="6214077" cy="1287889"/>
              </a:xfrm>
              <a:custGeom>
                <a:avLst/>
                <a:gdLst/>
                <a:ahLst/>
                <a:cxnLst/>
                <a:rect r="r" b="b" t="t" l="l"/>
                <a:pathLst>
                  <a:path h="1287889" w="6214077">
                    <a:moveTo>
                      <a:pt x="0" y="0"/>
                    </a:moveTo>
                    <a:lnTo>
                      <a:pt x="6214077" y="0"/>
                    </a:lnTo>
                    <a:lnTo>
                      <a:pt x="6214077" y="1287889"/>
                    </a:lnTo>
                    <a:lnTo>
                      <a:pt x="0" y="1287889"/>
                    </a:lnTo>
                    <a:close/>
                  </a:path>
                </a:pathLst>
              </a:custGeom>
              <a:blipFill>
                <a:blip r:embed="rId3">
                  <a:alphaModFix amt="0"/>
                </a:blip>
                <a:stretch>
                  <a:fillRect l="0" t="-48365" r="2488" b="-34985"/>
                </a:stretch>
              </a:blipFill>
            </p:spPr>
          </p:sp>
          <p:sp>
            <p:nvSpPr>
              <p:cNvPr name="TextBox 62" id="62"/>
              <p:cNvSpPr txBox="true"/>
              <p:nvPr/>
            </p:nvSpPr>
            <p:spPr>
              <a:xfrm>
                <a:off x="0" y="-85725"/>
                <a:ext cx="6214077" cy="1373614"/>
              </a:xfrm>
              <a:prstGeom prst="rect">
                <a:avLst/>
              </a:prstGeom>
            </p:spPr>
            <p:txBody>
              <a:bodyPr anchor="ctr" rtlCol="false" tIns="0" lIns="0" bIns="0" rIns="0"/>
              <a:lstStyle/>
              <a:p>
                <a:pPr algn="l">
                  <a:lnSpc>
                    <a:spcPts val="2796"/>
                  </a:lnSpc>
                </a:pPr>
                <a:r>
                  <a:rPr lang="en-US" sz="1974" b="true">
                    <a:solidFill>
                      <a:srgbClr val="14142B"/>
                    </a:solidFill>
                    <a:latin typeface="Calibri (MS) Bold"/>
                    <a:ea typeface="Calibri (MS) Bold"/>
                    <a:cs typeface="Calibri (MS) Bold"/>
                    <a:sym typeface="Calibri (MS) Bold"/>
                  </a:rPr>
                  <a:t>No LLM in the ranking loop; any LLM use is offline pre-processing, cached</a:t>
                </a:r>
              </a:p>
            </p:txBody>
          </p:sp>
        </p:grpSp>
        <p:grpSp>
          <p:nvGrpSpPr>
            <p:cNvPr name="Group 63" id="63"/>
            <p:cNvGrpSpPr/>
            <p:nvPr/>
          </p:nvGrpSpPr>
          <p:grpSpPr>
            <a:xfrm rot="0">
              <a:off x="7508419" y="4180126"/>
              <a:ext cx="488316" cy="687144"/>
              <a:chOff x="0" y="0"/>
              <a:chExt cx="450114" cy="633388"/>
            </a:xfrm>
          </p:grpSpPr>
          <p:sp>
            <p:nvSpPr>
              <p:cNvPr name="Freeform 64" id="64"/>
              <p:cNvSpPr/>
              <p:nvPr/>
            </p:nvSpPr>
            <p:spPr>
              <a:xfrm flipH="false" flipV="false" rot="0">
                <a:off x="0" y="0"/>
                <a:ext cx="450114" cy="633388"/>
              </a:xfrm>
              <a:custGeom>
                <a:avLst/>
                <a:gdLst/>
                <a:ahLst/>
                <a:cxnLst/>
                <a:rect r="r" b="b" t="t" l="l"/>
                <a:pathLst>
                  <a:path h="633388" w="450114">
                    <a:moveTo>
                      <a:pt x="0" y="0"/>
                    </a:moveTo>
                    <a:lnTo>
                      <a:pt x="450114" y="0"/>
                    </a:lnTo>
                    <a:lnTo>
                      <a:pt x="450114" y="633388"/>
                    </a:lnTo>
                    <a:lnTo>
                      <a:pt x="0" y="633388"/>
                    </a:lnTo>
                    <a:close/>
                  </a:path>
                </a:pathLst>
              </a:custGeom>
              <a:blipFill>
                <a:blip r:embed="rId3">
                  <a:alphaModFix amt="0"/>
                </a:blip>
                <a:stretch>
                  <a:fillRect l="-107632" t="0" r="-105143" b="13380"/>
                </a:stretch>
              </a:blipFill>
            </p:spPr>
          </p:sp>
          <p:sp>
            <p:nvSpPr>
              <p:cNvPr name="TextBox 65" id="65"/>
              <p:cNvSpPr txBox="true"/>
              <p:nvPr/>
            </p:nvSpPr>
            <p:spPr>
              <a:xfrm>
                <a:off x="0" y="-57150"/>
                <a:ext cx="450114" cy="690538"/>
              </a:xfrm>
              <a:prstGeom prst="rect">
                <a:avLst/>
              </a:prstGeom>
            </p:spPr>
            <p:txBody>
              <a:bodyPr anchor="ctr" rtlCol="false" tIns="0" lIns="0" bIns="0" rIns="0"/>
              <a:lstStyle/>
              <a:p>
                <a:pPr algn="ctr">
                  <a:lnSpc>
                    <a:spcPts val="2700"/>
                  </a:lnSpc>
                </a:pPr>
                <a:r>
                  <a:rPr lang="en-US" sz="2250" b="true">
                    <a:solidFill>
                      <a:srgbClr val="6B6B76"/>
                    </a:solidFill>
                    <a:latin typeface="Calibri (MS) Bold"/>
                    <a:ea typeface="Calibri (MS) Bold"/>
                    <a:cs typeface="Calibri (MS) Bold"/>
                    <a:sym typeface="Calibri (MS) Bold"/>
                  </a:rPr>
                  <a:t>›</a:t>
                </a:r>
              </a:p>
            </p:txBody>
          </p:sp>
        </p:grpSp>
        <p:grpSp>
          <p:nvGrpSpPr>
            <p:cNvPr name="Group 66" id="66"/>
            <p:cNvGrpSpPr/>
            <p:nvPr/>
          </p:nvGrpSpPr>
          <p:grpSpPr>
            <a:xfrm rot="0">
              <a:off x="15429985" y="4180126"/>
              <a:ext cx="488316" cy="687144"/>
              <a:chOff x="0" y="0"/>
              <a:chExt cx="450114" cy="633388"/>
            </a:xfrm>
          </p:grpSpPr>
          <p:sp>
            <p:nvSpPr>
              <p:cNvPr name="Freeform 67" id="67"/>
              <p:cNvSpPr/>
              <p:nvPr/>
            </p:nvSpPr>
            <p:spPr>
              <a:xfrm flipH="false" flipV="false" rot="0">
                <a:off x="0" y="0"/>
                <a:ext cx="450114" cy="633388"/>
              </a:xfrm>
              <a:custGeom>
                <a:avLst/>
                <a:gdLst/>
                <a:ahLst/>
                <a:cxnLst/>
                <a:rect r="r" b="b" t="t" l="l"/>
                <a:pathLst>
                  <a:path h="633388" w="450114">
                    <a:moveTo>
                      <a:pt x="0" y="0"/>
                    </a:moveTo>
                    <a:lnTo>
                      <a:pt x="450114" y="0"/>
                    </a:lnTo>
                    <a:lnTo>
                      <a:pt x="450114" y="633388"/>
                    </a:lnTo>
                    <a:lnTo>
                      <a:pt x="0" y="633388"/>
                    </a:lnTo>
                    <a:close/>
                  </a:path>
                </a:pathLst>
              </a:custGeom>
              <a:blipFill>
                <a:blip r:embed="rId3">
                  <a:alphaModFix amt="0"/>
                </a:blip>
                <a:stretch>
                  <a:fillRect l="-107632" t="0" r="-105143" b="13380"/>
                </a:stretch>
              </a:blipFill>
            </p:spPr>
          </p:sp>
          <p:sp>
            <p:nvSpPr>
              <p:cNvPr name="TextBox 68" id="68"/>
              <p:cNvSpPr txBox="true"/>
              <p:nvPr/>
            </p:nvSpPr>
            <p:spPr>
              <a:xfrm>
                <a:off x="0" y="-57150"/>
                <a:ext cx="450114" cy="690538"/>
              </a:xfrm>
              <a:prstGeom prst="rect">
                <a:avLst/>
              </a:prstGeom>
            </p:spPr>
            <p:txBody>
              <a:bodyPr anchor="ctr" rtlCol="false" tIns="0" lIns="0" bIns="0" rIns="0"/>
              <a:lstStyle/>
              <a:p>
                <a:pPr algn="ctr">
                  <a:lnSpc>
                    <a:spcPts val="2700"/>
                  </a:lnSpc>
                </a:pPr>
                <a:r>
                  <a:rPr lang="en-US" sz="2250" b="true">
                    <a:solidFill>
                      <a:srgbClr val="6B6B76"/>
                    </a:solidFill>
                    <a:latin typeface="Calibri (MS) Bold"/>
                    <a:ea typeface="Calibri (MS) Bold"/>
                    <a:cs typeface="Calibri (MS) Bold"/>
                    <a:sym typeface="Calibri (MS) Bold"/>
                  </a:rPr>
                  <a:t>›</a:t>
                </a:r>
              </a:p>
            </p:txBody>
          </p:sp>
        </p:grpSp>
        <p:grpSp>
          <p:nvGrpSpPr>
            <p:cNvPr name="Group 69" id="69"/>
            <p:cNvGrpSpPr/>
            <p:nvPr/>
          </p:nvGrpSpPr>
          <p:grpSpPr>
            <a:xfrm rot="0">
              <a:off x="0" y="5801913"/>
              <a:ext cx="7583588" cy="1978720"/>
              <a:chOff x="0" y="0"/>
              <a:chExt cx="6990316" cy="1823923"/>
            </a:xfrm>
          </p:grpSpPr>
          <p:sp>
            <p:nvSpPr>
              <p:cNvPr name="Freeform 70" id="70"/>
              <p:cNvSpPr/>
              <p:nvPr/>
            </p:nvSpPr>
            <p:spPr>
              <a:xfrm flipH="false" flipV="false" rot="0">
                <a:off x="0" y="0"/>
                <a:ext cx="6990316" cy="1823923"/>
              </a:xfrm>
              <a:custGeom>
                <a:avLst/>
                <a:gdLst/>
                <a:ahLst/>
                <a:cxnLst/>
                <a:rect r="r" b="b" t="t" l="l"/>
                <a:pathLst>
                  <a:path h="1823923" w="6990316">
                    <a:moveTo>
                      <a:pt x="0" y="109377"/>
                    </a:moveTo>
                    <a:cubicBezTo>
                      <a:pt x="0" y="48970"/>
                      <a:pt x="43501" y="0"/>
                      <a:pt x="97160" y="0"/>
                    </a:cubicBezTo>
                    <a:lnTo>
                      <a:pt x="6893156" y="0"/>
                    </a:lnTo>
                    <a:cubicBezTo>
                      <a:pt x="6946816" y="0"/>
                      <a:pt x="6990316" y="48970"/>
                      <a:pt x="6990316" y="109377"/>
                    </a:cubicBezTo>
                    <a:lnTo>
                      <a:pt x="6990316" y="1714546"/>
                    </a:lnTo>
                    <a:cubicBezTo>
                      <a:pt x="6990316" y="1774953"/>
                      <a:pt x="6946816" y="1823923"/>
                      <a:pt x="6893156" y="1823923"/>
                    </a:cubicBezTo>
                    <a:lnTo>
                      <a:pt x="97160" y="1823923"/>
                    </a:lnTo>
                    <a:cubicBezTo>
                      <a:pt x="43501" y="1823923"/>
                      <a:pt x="0" y="1774953"/>
                      <a:pt x="0" y="1714546"/>
                    </a:cubicBezTo>
                    <a:close/>
                  </a:path>
                </a:pathLst>
              </a:custGeom>
              <a:solidFill>
                <a:srgbClr val="FFFFFF"/>
              </a:solidFill>
              <a:ln w="19050" cap="sq">
                <a:solidFill>
                  <a:srgbClr val="D9D3F0"/>
                </a:solidFill>
                <a:prstDash val="solid"/>
                <a:miter/>
              </a:ln>
            </p:spPr>
          </p:sp>
        </p:grpSp>
        <p:grpSp>
          <p:nvGrpSpPr>
            <p:cNvPr name="Group 71" id="71"/>
            <p:cNvGrpSpPr/>
            <p:nvPr/>
          </p:nvGrpSpPr>
          <p:grpSpPr>
            <a:xfrm rot="0">
              <a:off x="7935695" y="5817819"/>
              <a:ext cx="7555329" cy="1946908"/>
              <a:chOff x="0" y="0"/>
              <a:chExt cx="6964268" cy="1794599"/>
            </a:xfrm>
          </p:grpSpPr>
          <p:sp>
            <p:nvSpPr>
              <p:cNvPr name="Freeform 72" id="72"/>
              <p:cNvSpPr/>
              <p:nvPr/>
            </p:nvSpPr>
            <p:spPr>
              <a:xfrm flipH="false" flipV="false" rot="0">
                <a:off x="0" y="0"/>
                <a:ext cx="6964268" cy="1794599"/>
              </a:xfrm>
              <a:custGeom>
                <a:avLst/>
                <a:gdLst/>
                <a:ahLst/>
                <a:cxnLst/>
                <a:rect r="r" b="b" t="t" l="l"/>
                <a:pathLst>
                  <a:path h="1794599" w="6964268">
                    <a:moveTo>
                      <a:pt x="0" y="107617"/>
                    </a:moveTo>
                    <a:cubicBezTo>
                      <a:pt x="0" y="48237"/>
                      <a:pt x="42849" y="0"/>
                      <a:pt x="95597" y="0"/>
                    </a:cubicBezTo>
                    <a:lnTo>
                      <a:pt x="6868671" y="0"/>
                    </a:lnTo>
                    <a:cubicBezTo>
                      <a:pt x="6921549" y="0"/>
                      <a:pt x="6964268" y="48237"/>
                      <a:pt x="6964268" y="107617"/>
                    </a:cubicBezTo>
                    <a:lnTo>
                      <a:pt x="6964268" y="1686982"/>
                    </a:lnTo>
                    <a:cubicBezTo>
                      <a:pt x="6964268" y="1746509"/>
                      <a:pt x="6921418" y="1794599"/>
                      <a:pt x="6868671" y="1794599"/>
                    </a:cubicBezTo>
                    <a:lnTo>
                      <a:pt x="95597" y="1794599"/>
                    </a:lnTo>
                    <a:cubicBezTo>
                      <a:pt x="42719" y="1794599"/>
                      <a:pt x="0" y="1746362"/>
                      <a:pt x="0" y="1686982"/>
                    </a:cubicBezTo>
                    <a:close/>
                  </a:path>
                </a:pathLst>
              </a:custGeom>
              <a:solidFill>
                <a:srgbClr val="FBE9E9"/>
              </a:solidFill>
            </p:spPr>
          </p:sp>
        </p:grpSp>
        <p:grpSp>
          <p:nvGrpSpPr>
            <p:cNvPr name="Group 73" id="73"/>
            <p:cNvGrpSpPr/>
            <p:nvPr/>
          </p:nvGrpSpPr>
          <p:grpSpPr>
            <a:xfrm rot="0">
              <a:off x="15839600" y="5797936"/>
              <a:ext cx="7590653" cy="1986673"/>
              <a:chOff x="0" y="0"/>
              <a:chExt cx="6996828" cy="1831254"/>
            </a:xfrm>
          </p:grpSpPr>
          <p:sp>
            <p:nvSpPr>
              <p:cNvPr name="Freeform 74" id="74"/>
              <p:cNvSpPr/>
              <p:nvPr/>
            </p:nvSpPr>
            <p:spPr>
              <a:xfrm flipH="false" flipV="false" rot="0">
                <a:off x="0" y="0"/>
                <a:ext cx="6996828" cy="1831254"/>
              </a:xfrm>
              <a:custGeom>
                <a:avLst/>
                <a:gdLst/>
                <a:ahLst/>
                <a:cxnLst/>
                <a:rect r="r" b="b" t="t" l="l"/>
                <a:pathLst>
                  <a:path h="1831254" w="6996828">
                    <a:moveTo>
                      <a:pt x="0" y="109817"/>
                    </a:moveTo>
                    <a:cubicBezTo>
                      <a:pt x="0" y="49264"/>
                      <a:pt x="43761" y="0"/>
                      <a:pt x="97551" y="0"/>
                    </a:cubicBezTo>
                    <a:lnTo>
                      <a:pt x="6899277" y="0"/>
                    </a:lnTo>
                    <a:cubicBezTo>
                      <a:pt x="6953197" y="0"/>
                      <a:pt x="6996828" y="49264"/>
                      <a:pt x="6996828" y="109817"/>
                    </a:cubicBezTo>
                    <a:lnTo>
                      <a:pt x="6996828" y="1721437"/>
                    </a:lnTo>
                    <a:cubicBezTo>
                      <a:pt x="6996828" y="1782137"/>
                      <a:pt x="6953067" y="1831254"/>
                      <a:pt x="6899277" y="1831254"/>
                    </a:cubicBezTo>
                    <a:lnTo>
                      <a:pt x="97551" y="1831254"/>
                    </a:lnTo>
                    <a:cubicBezTo>
                      <a:pt x="43631" y="1831254"/>
                      <a:pt x="0" y="1781990"/>
                      <a:pt x="0" y="1721437"/>
                    </a:cubicBezTo>
                    <a:close/>
                  </a:path>
                </a:pathLst>
              </a:custGeom>
              <a:solidFill>
                <a:srgbClr val="EDE9FB"/>
              </a:solidFill>
              <a:ln w="23812" cap="sq">
                <a:solidFill>
                  <a:srgbClr val="704EA6"/>
                </a:solidFill>
                <a:prstDash val="solid"/>
                <a:miter/>
              </a:ln>
            </p:spPr>
          </p:sp>
        </p:grpSp>
        <p:grpSp>
          <p:nvGrpSpPr>
            <p:cNvPr name="Group 75" id="75"/>
            <p:cNvGrpSpPr/>
            <p:nvPr/>
          </p:nvGrpSpPr>
          <p:grpSpPr>
            <a:xfrm rot="0">
              <a:off x="237941" y="6310272"/>
              <a:ext cx="854552" cy="962002"/>
              <a:chOff x="0" y="0"/>
              <a:chExt cx="787700" cy="886743"/>
            </a:xfrm>
          </p:grpSpPr>
          <p:sp>
            <p:nvSpPr>
              <p:cNvPr name="Freeform 76" id="76"/>
              <p:cNvSpPr/>
              <p:nvPr/>
            </p:nvSpPr>
            <p:spPr>
              <a:xfrm flipH="false" flipV="false" rot="0">
                <a:off x="0" y="0"/>
                <a:ext cx="787700" cy="886743"/>
              </a:xfrm>
              <a:custGeom>
                <a:avLst/>
                <a:gdLst/>
                <a:ahLst/>
                <a:cxnLst/>
                <a:rect r="r" b="b" t="t" l="l"/>
                <a:pathLst>
                  <a:path h="886743" w="787700">
                    <a:moveTo>
                      <a:pt x="0" y="443372"/>
                    </a:moveTo>
                    <a:cubicBezTo>
                      <a:pt x="0" y="198520"/>
                      <a:pt x="176347" y="0"/>
                      <a:pt x="393850" y="0"/>
                    </a:cubicBezTo>
                    <a:cubicBezTo>
                      <a:pt x="611353" y="0"/>
                      <a:pt x="787700" y="198520"/>
                      <a:pt x="787700" y="443372"/>
                    </a:cubicBezTo>
                    <a:cubicBezTo>
                      <a:pt x="787700" y="688223"/>
                      <a:pt x="611353" y="886743"/>
                      <a:pt x="393850" y="886743"/>
                    </a:cubicBezTo>
                    <a:cubicBezTo>
                      <a:pt x="176347" y="886743"/>
                      <a:pt x="0" y="688223"/>
                      <a:pt x="0" y="443372"/>
                    </a:cubicBezTo>
                    <a:close/>
                  </a:path>
                </a:pathLst>
              </a:custGeom>
              <a:solidFill>
                <a:srgbClr val="704EA6"/>
              </a:solidFill>
            </p:spPr>
          </p:sp>
          <p:sp>
            <p:nvSpPr>
              <p:cNvPr name="TextBox 77" id="77"/>
              <p:cNvSpPr txBox="true"/>
              <p:nvPr/>
            </p:nvSpPr>
            <p:spPr>
              <a:xfrm>
                <a:off x="0" y="-47625"/>
                <a:ext cx="787700" cy="934368"/>
              </a:xfrm>
              <a:prstGeom prst="rect">
                <a:avLst/>
              </a:prstGeom>
            </p:spPr>
            <p:txBody>
              <a:bodyPr anchor="ctr" rtlCol="false" tIns="50800" lIns="50800" bIns="50800" rIns="50800"/>
              <a:lstStyle/>
              <a:p>
                <a:pPr algn="ctr">
                  <a:lnSpc>
                    <a:spcPts val="2340"/>
                  </a:lnSpc>
                </a:pPr>
                <a:r>
                  <a:rPr lang="en-US" sz="1950" b="true">
                    <a:solidFill>
                      <a:srgbClr val="FFFFFF"/>
                    </a:solidFill>
                    <a:latin typeface="Calibri (MS) Bold"/>
                    <a:ea typeface="Calibri (MS) Bold"/>
                    <a:cs typeface="Calibri (MS) Bold"/>
                    <a:sym typeface="Calibri (MS) Bold"/>
                  </a:rPr>
                  <a:t>3</a:t>
                </a:r>
              </a:p>
            </p:txBody>
          </p:sp>
        </p:grpSp>
        <p:grpSp>
          <p:nvGrpSpPr>
            <p:cNvPr name="Group 78" id="78"/>
            <p:cNvGrpSpPr/>
            <p:nvPr/>
          </p:nvGrpSpPr>
          <p:grpSpPr>
            <a:xfrm rot="0">
              <a:off x="1336651" y="6092676"/>
              <a:ext cx="5927610" cy="1397193"/>
              <a:chOff x="0" y="0"/>
              <a:chExt cx="5463887" cy="1287889"/>
            </a:xfrm>
          </p:grpSpPr>
          <p:sp>
            <p:nvSpPr>
              <p:cNvPr name="Freeform 79" id="79"/>
              <p:cNvSpPr/>
              <p:nvPr/>
            </p:nvSpPr>
            <p:spPr>
              <a:xfrm flipH="false" flipV="false" rot="0">
                <a:off x="0" y="0"/>
                <a:ext cx="5463887" cy="1287889"/>
              </a:xfrm>
              <a:custGeom>
                <a:avLst/>
                <a:gdLst/>
                <a:ahLst/>
                <a:cxnLst/>
                <a:rect r="r" b="b" t="t" l="l"/>
                <a:pathLst>
                  <a:path h="1287889" w="5463887">
                    <a:moveTo>
                      <a:pt x="0" y="0"/>
                    </a:moveTo>
                    <a:lnTo>
                      <a:pt x="5463887" y="0"/>
                    </a:lnTo>
                    <a:lnTo>
                      <a:pt x="5463887" y="1287889"/>
                    </a:lnTo>
                    <a:lnTo>
                      <a:pt x="0" y="1287889"/>
                    </a:lnTo>
                    <a:close/>
                  </a:path>
                </a:pathLst>
              </a:custGeom>
              <a:blipFill>
                <a:blip r:embed="rId3">
                  <a:alphaModFix amt="0"/>
                </a:blip>
                <a:stretch>
                  <a:fillRect l="0" t="-37298" r="2488" b="-23918"/>
                </a:stretch>
              </a:blipFill>
            </p:spPr>
          </p:sp>
          <p:sp>
            <p:nvSpPr>
              <p:cNvPr name="TextBox 80" id="80"/>
              <p:cNvSpPr txBox="true"/>
              <p:nvPr/>
            </p:nvSpPr>
            <p:spPr>
              <a:xfrm>
                <a:off x="0" y="-85725"/>
                <a:ext cx="5463887" cy="1373614"/>
              </a:xfrm>
              <a:prstGeom prst="rect">
                <a:avLst/>
              </a:prstGeom>
            </p:spPr>
            <p:txBody>
              <a:bodyPr anchor="ctr" rtlCol="false" tIns="0" lIns="0" bIns="0" rIns="0"/>
              <a:lstStyle/>
              <a:p>
                <a:pPr algn="l">
                  <a:lnSpc>
                    <a:spcPts val="2796"/>
                  </a:lnSpc>
                </a:pPr>
                <a:r>
                  <a:rPr lang="en-US" sz="1974" b="true">
                    <a:solidFill>
                      <a:srgbClr val="33333D"/>
                    </a:solidFill>
                    <a:latin typeface="Calibri (MS) Bold"/>
                    <a:ea typeface="Calibri (MS) Bold"/>
                    <a:cs typeface="Calibri (MS) Bold"/>
                    <a:sym typeface="Calibri (MS) Bold"/>
                  </a:rPr>
                  <a:t>One raw-text view per snippet, straight into the encoder</a:t>
                </a:r>
              </a:p>
            </p:txBody>
          </p:sp>
        </p:grpSp>
        <p:grpSp>
          <p:nvGrpSpPr>
            <p:cNvPr name="Group 81" id="81"/>
            <p:cNvGrpSpPr/>
            <p:nvPr/>
          </p:nvGrpSpPr>
          <p:grpSpPr>
            <a:xfrm rot="0">
              <a:off x="8342625" y="6092676"/>
              <a:ext cx="6741470" cy="1397193"/>
              <a:chOff x="0" y="0"/>
              <a:chExt cx="6214077" cy="1287889"/>
            </a:xfrm>
          </p:grpSpPr>
          <p:sp>
            <p:nvSpPr>
              <p:cNvPr name="Freeform 82" id="82"/>
              <p:cNvSpPr/>
              <p:nvPr/>
            </p:nvSpPr>
            <p:spPr>
              <a:xfrm flipH="false" flipV="false" rot="0">
                <a:off x="0" y="0"/>
                <a:ext cx="6214077" cy="1287889"/>
              </a:xfrm>
              <a:custGeom>
                <a:avLst/>
                <a:gdLst/>
                <a:ahLst/>
                <a:cxnLst/>
                <a:rect r="r" b="b" t="t" l="l"/>
                <a:pathLst>
                  <a:path h="1287889" w="6214077">
                    <a:moveTo>
                      <a:pt x="0" y="0"/>
                    </a:moveTo>
                    <a:lnTo>
                      <a:pt x="6214077" y="0"/>
                    </a:lnTo>
                    <a:lnTo>
                      <a:pt x="6214077" y="1287889"/>
                    </a:lnTo>
                    <a:lnTo>
                      <a:pt x="0" y="1287889"/>
                    </a:lnTo>
                    <a:close/>
                  </a:path>
                </a:pathLst>
              </a:custGeom>
              <a:blipFill>
                <a:blip r:embed="rId3">
                  <a:alphaModFix amt="0"/>
                </a:blip>
                <a:stretch>
                  <a:fillRect l="0" t="-48365" r="2488" b="-34985"/>
                </a:stretch>
              </a:blipFill>
            </p:spPr>
          </p:sp>
          <p:sp>
            <p:nvSpPr>
              <p:cNvPr name="TextBox 83" id="83"/>
              <p:cNvSpPr txBox="true"/>
              <p:nvPr/>
            </p:nvSpPr>
            <p:spPr>
              <a:xfrm>
                <a:off x="0" y="-85725"/>
                <a:ext cx="6214077" cy="1373614"/>
              </a:xfrm>
              <a:prstGeom prst="rect">
                <a:avLst/>
              </a:prstGeom>
            </p:spPr>
            <p:txBody>
              <a:bodyPr anchor="ctr" rtlCol="false" tIns="0" lIns="0" bIns="0" rIns="0"/>
              <a:lstStyle/>
              <a:p>
                <a:pPr algn="l">
                  <a:lnSpc>
                    <a:spcPts val="2796"/>
                  </a:lnSpc>
                </a:pPr>
                <a:r>
                  <a:rPr lang="en-US" sz="1974" b="true">
                    <a:solidFill>
                      <a:srgbClr val="B33B3B"/>
                    </a:solidFill>
                    <a:latin typeface="Calibri (MS) Bold"/>
                    <a:ea typeface="Calibri (MS) Bold"/>
                    <a:cs typeface="Calibri (MS) Bold"/>
                    <a:sym typeface="Calibri (MS) Bold"/>
                  </a:rPr>
                  <a:t>Raw text blurs the structure and identifiers usage &amp; structural queries need</a:t>
                </a:r>
              </a:p>
            </p:txBody>
          </p:sp>
        </p:grpSp>
        <p:grpSp>
          <p:nvGrpSpPr>
            <p:cNvPr name="Group 84" id="84"/>
            <p:cNvGrpSpPr/>
            <p:nvPr/>
          </p:nvGrpSpPr>
          <p:grpSpPr>
            <a:xfrm rot="0">
              <a:off x="16264191" y="6092676"/>
              <a:ext cx="6741470" cy="1397193"/>
              <a:chOff x="0" y="0"/>
              <a:chExt cx="6214077" cy="1287889"/>
            </a:xfrm>
          </p:grpSpPr>
          <p:sp>
            <p:nvSpPr>
              <p:cNvPr name="Freeform 85" id="85"/>
              <p:cNvSpPr/>
              <p:nvPr/>
            </p:nvSpPr>
            <p:spPr>
              <a:xfrm flipH="false" flipV="false" rot="0">
                <a:off x="0" y="0"/>
                <a:ext cx="6214077" cy="1287889"/>
              </a:xfrm>
              <a:custGeom>
                <a:avLst/>
                <a:gdLst/>
                <a:ahLst/>
                <a:cxnLst/>
                <a:rect r="r" b="b" t="t" l="l"/>
                <a:pathLst>
                  <a:path h="1287889" w="6214077">
                    <a:moveTo>
                      <a:pt x="0" y="0"/>
                    </a:moveTo>
                    <a:lnTo>
                      <a:pt x="6214077" y="0"/>
                    </a:lnTo>
                    <a:lnTo>
                      <a:pt x="6214077" y="1287889"/>
                    </a:lnTo>
                    <a:lnTo>
                      <a:pt x="0" y="1287889"/>
                    </a:lnTo>
                    <a:close/>
                  </a:path>
                </a:pathLst>
              </a:custGeom>
              <a:blipFill>
                <a:blip r:embed="rId3">
                  <a:alphaModFix amt="0"/>
                </a:blip>
                <a:stretch>
                  <a:fillRect l="0" t="-48365" r="2488" b="-34985"/>
                </a:stretch>
              </a:blipFill>
            </p:spPr>
          </p:sp>
          <p:sp>
            <p:nvSpPr>
              <p:cNvPr name="TextBox 86" id="86"/>
              <p:cNvSpPr txBox="true"/>
              <p:nvPr/>
            </p:nvSpPr>
            <p:spPr>
              <a:xfrm>
                <a:off x="0" y="-85725"/>
                <a:ext cx="6214077" cy="1373614"/>
              </a:xfrm>
              <a:prstGeom prst="rect">
                <a:avLst/>
              </a:prstGeom>
            </p:spPr>
            <p:txBody>
              <a:bodyPr anchor="ctr" rtlCol="false" tIns="0" lIns="0" bIns="0" rIns="0"/>
              <a:lstStyle/>
              <a:p>
                <a:pPr algn="l">
                  <a:lnSpc>
                    <a:spcPts val="2796"/>
                  </a:lnSpc>
                </a:pPr>
                <a:r>
                  <a:rPr lang="en-US" sz="1974" b="true">
                    <a:solidFill>
                      <a:srgbClr val="14142B"/>
                    </a:solidFill>
                    <a:latin typeface="Calibri (MS) Bold"/>
                    <a:ea typeface="Calibri (MS) Bold"/>
                    <a:cs typeface="Calibri (MS) Bold"/>
                    <a:sym typeface="Calibri (MS) Bold"/>
                  </a:rPr>
                  <a:t>Multi-view snippet embedding: raw + AST-normalized + identifier bag, fused</a:t>
                </a:r>
              </a:p>
            </p:txBody>
          </p:sp>
        </p:grpSp>
        <p:grpSp>
          <p:nvGrpSpPr>
            <p:cNvPr name="Group 87" id="87"/>
            <p:cNvGrpSpPr/>
            <p:nvPr/>
          </p:nvGrpSpPr>
          <p:grpSpPr>
            <a:xfrm rot="0">
              <a:off x="7508419" y="6447701"/>
              <a:ext cx="488316" cy="687144"/>
              <a:chOff x="0" y="0"/>
              <a:chExt cx="450114" cy="633388"/>
            </a:xfrm>
          </p:grpSpPr>
          <p:sp>
            <p:nvSpPr>
              <p:cNvPr name="Freeform 88" id="88"/>
              <p:cNvSpPr/>
              <p:nvPr/>
            </p:nvSpPr>
            <p:spPr>
              <a:xfrm flipH="false" flipV="false" rot="0">
                <a:off x="0" y="0"/>
                <a:ext cx="450114" cy="633388"/>
              </a:xfrm>
              <a:custGeom>
                <a:avLst/>
                <a:gdLst/>
                <a:ahLst/>
                <a:cxnLst/>
                <a:rect r="r" b="b" t="t" l="l"/>
                <a:pathLst>
                  <a:path h="633388" w="450114">
                    <a:moveTo>
                      <a:pt x="0" y="0"/>
                    </a:moveTo>
                    <a:lnTo>
                      <a:pt x="450114" y="0"/>
                    </a:lnTo>
                    <a:lnTo>
                      <a:pt x="450114" y="633388"/>
                    </a:lnTo>
                    <a:lnTo>
                      <a:pt x="0" y="633388"/>
                    </a:lnTo>
                    <a:close/>
                  </a:path>
                </a:pathLst>
              </a:custGeom>
              <a:blipFill>
                <a:blip r:embed="rId3">
                  <a:alphaModFix amt="0"/>
                </a:blip>
                <a:stretch>
                  <a:fillRect l="-107632" t="0" r="-105143" b="13380"/>
                </a:stretch>
              </a:blipFill>
            </p:spPr>
          </p:sp>
          <p:sp>
            <p:nvSpPr>
              <p:cNvPr name="TextBox 89" id="89"/>
              <p:cNvSpPr txBox="true"/>
              <p:nvPr/>
            </p:nvSpPr>
            <p:spPr>
              <a:xfrm>
                <a:off x="0" y="-57150"/>
                <a:ext cx="450114" cy="690538"/>
              </a:xfrm>
              <a:prstGeom prst="rect">
                <a:avLst/>
              </a:prstGeom>
            </p:spPr>
            <p:txBody>
              <a:bodyPr anchor="ctr" rtlCol="false" tIns="0" lIns="0" bIns="0" rIns="0"/>
              <a:lstStyle/>
              <a:p>
                <a:pPr algn="ctr">
                  <a:lnSpc>
                    <a:spcPts val="2700"/>
                  </a:lnSpc>
                </a:pPr>
                <a:r>
                  <a:rPr lang="en-US" sz="2250" b="true">
                    <a:solidFill>
                      <a:srgbClr val="6B6B76"/>
                    </a:solidFill>
                    <a:latin typeface="Calibri (MS) Bold"/>
                    <a:ea typeface="Calibri (MS) Bold"/>
                    <a:cs typeface="Calibri (MS) Bold"/>
                    <a:sym typeface="Calibri (MS) Bold"/>
                  </a:rPr>
                  <a:t>›</a:t>
                </a:r>
              </a:p>
            </p:txBody>
          </p:sp>
        </p:grpSp>
        <p:grpSp>
          <p:nvGrpSpPr>
            <p:cNvPr name="Group 90" id="90"/>
            <p:cNvGrpSpPr/>
            <p:nvPr/>
          </p:nvGrpSpPr>
          <p:grpSpPr>
            <a:xfrm rot="0">
              <a:off x="15429985" y="6447701"/>
              <a:ext cx="488316" cy="687144"/>
              <a:chOff x="0" y="0"/>
              <a:chExt cx="450114" cy="633388"/>
            </a:xfrm>
          </p:grpSpPr>
          <p:sp>
            <p:nvSpPr>
              <p:cNvPr name="Freeform 91" id="91"/>
              <p:cNvSpPr/>
              <p:nvPr/>
            </p:nvSpPr>
            <p:spPr>
              <a:xfrm flipH="false" flipV="false" rot="0">
                <a:off x="0" y="0"/>
                <a:ext cx="450114" cy="633388"/>
              </a:xfrm>
              <a:custGeom>
                <a:avLst/>
                <a:gdLst/>
                <a:ahLst/>
                <a:cxnLst/>
                <a:rect r="r" b="b" t="t" l="l"/>
                <a:pathLst>
                  <a:path h="633388" w="450114">
                    <a:moveTo>
                      <a:pt x="0" y="0"/>
                    </a:moveTo>
                    <a:lnTo>
                      <a:pt x="450114" y="0"/>
                    </a:lnTo>
                    <a:lnTo>
                      <a:pt x="450114" y="633388"/>
                    </a:lnTo>
                    <a:lnTo>
                      <a:pt x="0" y="633388"/>
                    </a:lnTo>
                    <a:close/>
                  </a:path>
                </a:pathLst>
              </a:custGeom>
              <a:blipFill>
                <a:blip r:embed="rId3">
                  <a:alphaModFix amt="0"/>
                </a:blip>
                <a:stretch>
                  <a:fillRect l="-107632" t="0" r="-105143" b="13380"/>
                </a:stretch>
              </a:blipFill>
            </p:spPr>
          </p:sp>
          <p:sp>
            <p:nvSpPr>
              <p:cNvPr name="TextBox 92" id="92"/>
              <p:cNvSpPr txBox="true"/>
              <p:nvPr/>
            </p:nvSpPr>
            <p:spPr>
              <a:xfrm>
                <a:off x="0" y="-57150"/>
                <a:ext cx="450114" cy="690538"/>
              </a:xfrm>
              <a:prstGeom prst="rect">
                <a:avLst/>
              </a:prstGeom>
            </p:spPr>
            <p:txBody>
              <a:bodyPr anchor="ctr" rtlCol="false" tIns="0" lIns="0" bIns="0" rIns="0"/>
              <a:lstStyle/>
              <a:p>
                <a:pPr algn="ctr">
                  <a:lnSpc>
                    <a:spcPts val="2700"/>
                  </a:lnSpc>
                </a:pPr>
                <a:r>
                  <a:rPr lang="en-US" sz="2250" b="true">
                    <a:solidFill>
                      <a:srgbClr val="6B6B76"/>
                    </a:solidFill>
                    <a:latin typeface="Calibri (MS) Bold"/>
                    <a:ea typeface="Calibri (MS) Bold"/>
                    <a:cs typeface="Calibri (MS) Bold"/>
                    <a:sym typeface="Calibri (MS) Bold"/>
                  </a:rPr>
                  <a:t>›</a:t>
                </a:r>
              </a:p>
            </p:txBody>
          </p:sp>
        </p:grpSp>
        <p:grpSp>
          <p:nvGrpSpPr>
            <p:cNvPr name="Group 93" id="93"/>
            <p:cNvGrpSpPr/>
            <p:nvPr/>
          </p:nvGrpSpPr>
          <p:grpSpPr>
            <a:xfrm rot="0">
              <a:off x="0" y="8069488"/>
              <a:ext cx="7583588" cy="1978720"/>
              <a:chOff x="0" y="0"/>
              <a:chExt cx="6990316" cy="1823923"/>
            </a:xfrm>
          </p:grpSpPr>
          <p:sp>
            <p:nvSpPr>
              <p:cNvPr name="Freeform 94" id="94"/>
              <p:cNvSpPr/>
              <p:nvPr/>
            </p:nvSpPr>
            <p:spPr>
              <a:xfrm flipH="false" flipV="false" rot="0">
                <a:off x="0" y="0"/>
                <a:ext cx="6990316" cy="1823923"/>
              </a:xfrm>
              <a:custGeom>
                <a:avLst/>
                <a:gdLst/>
                <a:ahLst/>
                <a:cxnLst/>
                <a:rect r="r" b="b" t="t" l="l"/>
                <a:pathLst>
                  <a:path h="1823923" w="6990316">
                    <a:moveTo>
                      <a:pt x="0" y="109377"/>
                    </a:moveTo>
                    <a:cubicBezTo>
                      <a:pt x="0" y="48970"/>
                      <a:pt x="43501" y="0"/>
                      <a:pt x="97160" y="0"/>
                    </a:cubicBezTo>
                    <a:lnTo>
                      <a:pt x="6893156" y="0"/>
                    </a:lnTo>
                    <a:cubicBezTo>
                      <a:pt x="6946816" y="0"/>
                      <a:pt x="6990316" y="48970"/>
                      <a:pt x="6990316" y="109377"/>
                    </a:cubicBezTo>
                    <a:lnTo>
                      <a:pt x="6990316" y="1714546"/>
                    </a:lnTo>
                    <a:cubicBezTo>
                      <a:pt x="6990316" y="1774953"/>
                      <a:pt x="6946816" y="1823923"/>
                      <a:pt x="6893156" y="1823923"/>
                    </a:cubicBezTo>
                    <a:lnTo>
                      <a:pt x="97160" y="1823923"/>
                    </a:lnTo>
                    <a:cubicBezTo>
                      <a:pt x="43501" y="1823923"/>
                      <a:pt x="0" y="1774953"/>
                      <a:pt x="0" y="1714546"/>
                    </a:cubicBezTo>
                    <a:close/>
                  </a:path>
                </a:pathLst>
              </a:custGeom>
              <a:solidFill>
                <a:srgbClr val="FFFFFF"/>
              </a:solidFill>
              <a:ln w="19050" cap="sq">
                <a:solidFill>
                  <a:srgbClr val="D9D3F0"/>
                </a:solidFill>
                <a:prstDash val="solid"/>
                <a:miter/>
              </a:ln>
            </p:spPr>
          </p:sp>
        </p:grpSp>
        <p:grpSp>
          <p:nvGrpSpPr>
            <p:cNvPr name="Group 95" id="95"/>
            <p:cNvGrpSpPr/>
            <p:nvPr/>
          </p:nvGrpSpPr>
          <p:grpSpPr>
            <a:xfrm rot="0">
              <a:off x="7935695" y="8085394"/>
              <a:ext cx="7555329" cy="1946908"/>
              <a:chOff x="0" y="0"/>
              <a:chExt cx="6964268" cy="1794599"/>
            </a:xfrm>
          </p:grpSpPr>
          <p:sp>
            <p:nvSpPr>
              <p:cNvPr name="Freeform 96" id="96"/>
              <p:cNvSpPr/>
              <p:nvPr/>
            </p:nvSpPr>
            <p:spPr>
              <a:xfrm flipH="false" flipV="false" rot="0">
                <a:off x="0" y="0"/>
                <a:ext cx="6964268" cy="1794599"/>
              </a:xfrm>
              <a:custGeom>
                <a:avLst/>
                <a:gdLst/>
                <a:ahLst/>
                <a:cxnLst/>
                <a:rect r="r" b="b" t="t" l="l"/>
                <a:pathLst>
                  <a:path h="1794599" w="6964268">
                    <a:moveTo>
                      <a:pt x="0" y="107617"/>
                    </a:moveTo>
                    <a:cubicBezTo>
                      <a:pt x="0" y="48237"/>
                      <a:pt x="42849" y="0"/>
                      <a:pt x="95597" y="0"/>
                    </a:cubicBezTo>
                    <a:lnTo>
                      <a:pt x="6868671" y="0"/>
                    </a:lnTo>
                    <a:cubicBezTo>
                      <a:pt x="6921549" y="0"/>
                      <a:pt x="6964268" y="48237"/>
                      <a:pt x="6964268" y="107617"/>
                    </a:cubicBezTo>
                    <a:lnTo>
                      <a:pt x="6964268" y="1686982"/>
                    </a:lnTo>
                    <a:cubicBezTo>
                      <a:pt x="6964268" y="1746509"/>
                      <a:pt x="6921418" y="1794599"/>
                      <a:pt x="6868671" y="1794599"/>
                    </a:cubicBezTo>
                    <a:lnTo>
                      <a:pt x="95597" y="1794599"/>
                    </a:lnTo>
                    <a:cubicBezTo>
                      <a:pt x="42719" y="1794599"/>
                      <a:pt x="0" y="1746362"/>
                      <a:pt x="0" y="1686982"/>
                    </a:cubicBezTo>
                    <a:close/>
                  </a:path>
                </a:pathLst>
              </a:custGeom>
              <a:solidFill>
                <a:srgbClr val="FBE9E9"/>
              </a:solidFill>
            </p:spPr>
          </p:sp>
        </p:grpSp>
        <p:grpSp>
          <p:nvGrpSpPr>
            <p:cNvPr name="Group 97" id="97"/>
            <p:cNvGrpSpPr/>
            <p:nvPr/>
          </p:nvGrpSpPr>
          <p:grpSpPr>
            <a:xfrm rot="0">
              <a:off x="15839600" y="8065511"/>
              <a:ext cx="7590653" cy="1986673"/>
              <a:chOff x="0" y="0"/>
              <a:chExt cx="6996828" cy="1831254"/>
            </a:xfrm>
          </p:grpSpPr>
          <p:sp>
            <p:nvSpPr>
              <p:cNvPr name="Freeform 98" id="98"/>
              <p:cNvSpPr/>
              <p:nvPr/>
            </p:nvSpPr>
            <p:spPr>
              <a:xfrm flipH="false" flipV="false" rot="0">
                <a:off x="0" y="0"/>
                <a:ext cx="6996828" cy="1831254"/>
              </a:xfrm>
              <a:custGeom>
                <a:avLst/>
                <a:gdLst/>
                <a:ahLst/>
                <a:cxnLst/>
                <a:rect r="r" b="b" t="t" l="l"/>
                <a:pathLst>
                  <a:path h="1831254" w="6996828">
                    <a:moveTo>
                      <a:pt x="0" y="109817"/>
                    </a:moveTo>
                    <a:cubicBezTo>
                      <a:pt x="0" y="49264"/>
                      <a:pt x="43761" y="0"/>
                      <a:pt x="97551" y="0"/>
                    </a:cubicBezTo>
                    <a:lnTo>
                      <a:pt x="6899277" y="0"/>
                    </a:lnTo>
                    <a:cubicBezTo>
                      <a:pt x="6953197" y="0"/>
                      <a:pt x="6996828" y="49264"/>
                      <a:pt x="6996828" y="109817"/>
                    </a:cubicBezTo>
                    <a:lnTo>
                      <a:pt x="6996828" y="1721437"/>
                    </a:lnTo>
                    <a:cubicBezTo>
                      <a:pt x="6996828" y="1782137"/>
                      <a:pt x="6953067" y="1831254"/>
                      <a:pt x="6899277" y="1831254"/>
                    </a:cubicBezTo>
                    <a:lnTo>
                      <a:pt x="97551" y="1831254"/>
                    </a:lnTo>
                    <a:cubicBezTo>
                      <a:pt x="43631" y="1831254"/>
                      <a:pt x="0" y="1781990"/>
                      <a:pt x="0" y="1721437"/>
                    </a:cubicBezTo>
                    <a:close/>
                  </a:path>
                </a:pathLst>
              </a:custGeom>
              <a:solidFill>
                <a:srgbClr val="EDE9FB"/>
              </a:solidFill>
              <a:ln w="23812" cap="sq">
                <a:solidFill>
                  <a:srgbClr val="704EA6"/>
                </a:solidFill>
                <a:prstDash val="solid"/>
                <a:miter/>
              </a:ln>
            </p:spPr>
          </p:sp>
        </p:grpSp>
        <p:grpSp>
          <p:nvGrpSpPr>
            <p:cNvPr name="Group 99" id="99"/>
            <p:cNvGrpSpPr/>
            <p:nvPr/>
          </p:nvGrpSpPr>
          <p:grpSpPr>
            <a:xfrm rot="0">
              <a:off x="237941" y="8577847"/>
              <a:ext cx="854552" cy="962002"/>
              <a:chOff x="0" y="0"/>
              <a:chExt cx="787700" cy="886743"/>
            </a:xfrm>
          </p:grpSpPr>
          <p:sp>
            <p:nvSpPr>
              <p:cNvPr name="Freeform 100" id="100"/>
              <p:cNvSpPr/>
              <p:nvPr/>
            </p:nvSpPr>
            <p:spPr>
              <a:xfrm flipH="false" flipV="false" rot="0">
                <a:off x="0" y="0"/>
                <a:ext cx="787700" cy="886743"/>
              </a:xfrm>
              <a:custGeom>
                <a:avLst/>
                <a:gdLst/>
                <a:ahLst/>
                <a:cxnLst/>
                <a:rect r="r" b="b" t="t" l="l"/>
                <a:pathLst>
                  <a:path h="886743" w="787700">
                    <a:moveTo>
                      <a:pt x="0" y="443372"/>
                    </a:moveTo>
                    <a:cubicBezTo>
                      <a:pt x="0" y="198520"/>
                      <a:pt x="176347" y="0"/>
                      <a:pt x="393850" y="0"/>
                    </a:cubicBezTo>
                    <a:cubicBezTo>
                      <a:pt x="611353" y="0"/>
                      <a:pt x="787700" y="198520"/>
                      <a:pt x="787700" y="443372"/>
                    </a:cubicBezTo>
                    <a:cubicBezTo>
                      <a:pt x="787700" y="688223"/>
                      <a:pt x="611353" y="886743"/>
                      <a:pt x="393850" y="886743"/>
                    </a:cubicBezTo>
                    <a:cubicBezTo>
                      <a:pt x="176347" y="886743"/>
                      <a:pt x="0" y="688223"/>
                      <a:pt x="0" y="443372"/>
                    </a:cubicBezTo>
                    <a:close/>
                  </a:path>
                </a:pathLst>
              </a:custGeom>
              <a:solidFill>
                <a:srgbClr val="704EA6"/>
              </a:solidFill>
            </p:spPr>
          </p:sp>
          <p:sp>
            <p:nvSpPr>
              <p:cNvPr name="TextBox 101" id="101"/>
              <p:cNvSpPr txBox="true"/>
              <p:nvPr/>
            </p:nvSpPr>
            <p:spPr>
              <a:xfrm>
                <a:off x="0" y="-47625"/>
                <a:ext cx="787700" cy="934368"/>
              </a:xfrm>
              <a:prstGeom prst="rect">
                <a:avLst/>
              </a:prstGeom>
            </p:spPr>
            <p:txBody>
              <a:bodyPr anchor="ctr" rtlCol="false" tIns="50800" lIns="50800" bIns="50800" rIns="50800"/>
              <a:lstStyle/>
              <a:p>
                <a:pPr algn="ctr">
                  <a:lnSpc>
                    <a:spcPts val="2340"/>
                  </a:lnSpc>
                </a:pPr>
                <a:r>
                  <a:rPr lang="en-US" sz="1950" b="true">
                    <a:solidFill>
                      <a:srgbClr val="FFFFFF"/>
                    </a:solidFill>
                    <a:latin typeface="Calibri (MS) Bold"/>
                    <a:ea typeface="Calibri (MS) Bold"/>
                    <a:cs typeface="Calibri (MS) Bold"/>
                    <a:sym typeface="Calibri (MS) Bold"/>
                  </a:rPr>
                  <a:t>4</a:t>
                </a:r>
              </a:p>
            </p:txBody>
          </p:sp>
        </p:grpSp>
        <p:grpSp>
          <p:nvGrpSpPr>
            <p:cNvPr name="Group 102" id="102"/>
            <p:cNvGrpSpPr/>
            <p:nvPr/>
          </p:nvGrpSpPr>
          <p:grpSpPr>
            <a:xfrm rot="0">
              <a:off x="1336651" y="8360251"/>
              <a:ext cx="5927610" cy="1397193"/>
              <a:chOff x="0" y="0"/>
              <a:chExt cx="5463887" cy="1287889"/>
            </a:xfrm>
          </p:grpSpPr>
          <p:sp>
            <p:nvSpPr>
              <p:cNvPr name="Freeform 103" id="103"/>
              <p:cNvSpPr/>
              <p:nvPr/>
            </p:nvSpPr>
            <p:spPr>
              <a:xfrm flipH="false" flipV="false" rot="0">
                <a:off x="0" y="0"/>
                <a:ext cx="5463887" cy="1287889"/>
              </a:xfrm>
              <a:custGeom>
                <a:avLst/>
                <a:gdLst/>
                <a:ahLst/>
                <a:cxnLst/>
                <a:rect r="r" b="b" t="t" l="l"/>
                <a:pathLst>
                  <a:path h="1287889" w="5463887">
                    <a:moveTo>
                      <a:pt x="0" y="0"/>
                    </a:moveTo>
                    <a:lnTo>
                      <a:pt x="5463887" y="0"/>
                    </a:lnTo>
                    <a:lnTo>
                      <a:pt x="5463887" y="1287889"/>
                    </a:lnTo>
                    <a:lnTo>
                      <a:pt x="0" y="1287889"/>
                    </a:lnTo>
                    <a:close/>
                  </a:path>
                </a:pathLst>
              </a:custGeom>
              <a:blipFill>
                <a:blip r:embed="rId3">
                  <a:alphaModFix amt="0"/>
                </a:blip>
                <a:stretch>
                  <a:fillRect l="0" t="-37298" r="2488" b="-23918"/>
                </a:stretch>
              </a:blipFill>
            </p:spPr>
          </p:sp>
          <p:sp>
            <p:nvSpPr>
              <p:cNvPr name="TextBox 104" id="104"/>
              <p:cNvSpPr txBox="true"/>
              <p:nvPr/>
            </p:nvSpPr>
            <p:spPr>
              <a:xfrm>
                <a:off x="0" y="-85725"/>
                <a:ext cx="5463887" cy="1373614"/>
              </a:xfrm>
              <a:prstGeom prst="rect">
                <a:avLst/>
              </a:prstGeom>
            </p:spPr>
            <p:txBody>
              <a:bodyPr anchor="ctr" rtlCol="false" tIns="0" lIns="0" bIns="0" rIns="0"/>
              <a:lstStyle/>
              <a:p>
                <a:pPr algn="l">
                  <a:lnSpc>
                    <a:spcPts val="2796"/>
                  </a:lnSpc>
                </a:pPr>
                <a:r>
                  <a:rPr lang="en-US" sz="1974" b="true">
                    <a:solidFill>
                      <a:srgbClr val="33333D"/>
                    </a:solidFill>
                    <a:latin typeface="Calibri (MS) Bold"/>
                    <a:ea typeface="Calibri (MS) Bold"/>
                    <a:cs typeface="Calibri (MS) Bold"/>
                    <a:sym typeface="Calibri (MS) Bold"/>
                  </a:rPr>
                  <a:t>A single index built once for one code version</a:t>
                </a:r>
              </a:p>
            </p:txBody>
          </p:sp>
        </p:grpSp>
        <p:grpSp>
          <p:nvGrpSpPr>
            <p:cNvPr name="Group 105" id="105"/>
            <p:cNvGrpSpPr/>
            <p:nvPr/>
          </p:nvGrpSpPr>
          <p:grpSpPr>
            <a:xfrm rot="0">
              <a:off x="8342625" y="8360251"/>
              <a:ext cx="6741470" cy="1397193"/>
              <a:chOff x="0" y="0"/>
              <a:chExt cx="6214077" cy="1287889"/>
            </a:xfrm>
          </p:grpSpPr>
          <p:sp>
            <p:nvSpPr>
              <p:cNvPr name="Freeform 106" id="106"/>
              <p:cNvSpPr/>
              <p:nvPr/>
            </p:nvSpPr>
            <p:spPr>
              <a:xfrm flipH="false" flipV="false" rot="0">
                <a:off x="0" y="0"/>
                <a:ext cx="6214077" cy="1287889"/>
              </a:xfrm>
              <a:custGeom>
                <a:avLst/>
                <a:gdLst/>
                <a:ahLst/>
                <a:cxnLst/>
                <a:rect r="r" b="b" t="t" l="l"/>
                <a:pathLst>
                  <a:path h="1287889" w="6214077">
                    <a:moveTo>
                      <a:pt x="0" y="0"/>
                    </a:moveTo>
                    <a:lnTo>
                      <a:pt x="6214077" y="0"/>
                    </a:lnTo>
                    <a:lnTo>
                      <a:pt x="6214077" y="1287889"/>
                    </a:lnTo>
                    <a:lnTo>
                      <a:pt x="0" y="1287889"/>
                    </a:lnTo>
                    <a:close/>
                  </a:path>
                </a:pathLst>
              </a:custGeom>
              <a:blipFill>
                <a:blip r:embed="rId3">
                  <a:alphaModFix amt="0"/>
                </a:blip>
                <a:stretch>
                  <a:fillRect l="0" t="-48365" r="2488" b="-34985"/>
                </a:stretch>
              </a:blipFill>
            </p:spPr>
          </p:sp>
          <p:sp>
            <p:nvSpPr>
              <p:cNvPr name="TextBox 107" id="107"/>
              <p:cNvSpPr txBox="true"/>
              <p:nvPr/>
            </p:nvSpPr>
            <p:spPr>
              <a:xfrm>
                <a:off x="0" y="-85725"/>
                <a:ext cx="6214077" cy="1373614"/>
              </a:xfrm>
              <a:prstGeom prst="rect">
                <a:avLst/>
              </a:prstGeom>
            </p:spPr>
            <p:txBody>
              <a:bodyPr anchor="ctr" rtlCol="false" tIns="0" lIns="0" bIns="0" rIns="0"/>
              <a:lstStyle/>
              <a:p>
                <a:pPr algn="l">
                  <a:lnSpc>
                    <a:spcPts val="2796"/>
                  </a:lnSpc>
                </a:pPr>
                <a:r>
                  <a:rPr lang="en-US" sz="1974" b="true">
                    <a:solidFill>
                      <a:srgbClr val="B33B3B"/>
                    </a:solidFill>
                    <a:latin typeface="Calibri (MS) Bold"/>
                    <a:ea typeface="Calibri (MS) Bold"/>
                    <a:cs typeface="Calibri (MS) Bold"/>
                    <a:sym typeface="Calibri (MS) Bold"/>
                  </a:rPr>
                  <a:t>Near-identical versions become indistinguishable; every change rebuilds all</a:t>
                </a:r>
              </a:p>
            </p:txBody>
          </p:sp>
        </p:grpSp>
        <p:grpSp>
          <p:nvGrpSpPr>
            <p:cNvPr name="Group 108" id="108"/>
            <p:cNvGrpSpPr/>
            <p:nvPr/>
          </p:nvGrpSpPr>
          <p:grpSpPr>
            <a:xfrm rot="0">
              <a:off x="16264191" y="8360251"/>
              <a:ext cx="6741470" cy="1397193"/>
              <a:chOff x="0" y="0"/>
              <a:chExt cx="6214077" cy="1287889"/>
            </a:xfrm>
          </p:grpSpPr>
          <p:sp>
            <p:nvSpPr>
              <p:cNvPr name="Freeform 109" id="109"/>
              <p:cNvSpPr/>
              <p:nvPr/>
            </p:nvSpPr>
            <p:spPr>
              <a:xfrm flipH="false" flipV="false" rot="0">
                <a:off x="0" y="0"/>
                <a:ext cx="6214077" cy="1287889"/>
              </a:xfrm>
              <a:custGeom>
                <a:avLst/>
                <a:gdLst/>
                <a:ahLst/>
                <a:cxnLst/>
                <a:rect r="r" b="b" t="t" l="l"/>
                <a:pathLst>
                  <a:path h="1287889" w="6214077">
                    <a:moveTo>
                      <a:pt x="0" y="0"/>
                    </a:moveTo>
                    <a:lnTo>
                      <a:pt x="6214077" y="0"/>
                    </a:lnTo>
                    <a:lnTo>
                      <a:pt x="6214077" y="1287889"/>
                    </a:lnTo>
                    <a:lnTo>
                      <a:pt x="0" y="1287889"/>
                    </a:lnTo>
                    <a:close/>
                  </a:path>
                </a:pathLst>
              </a:custGeom>
              <a:blipFill>
                <a:blip r:embed="rId3">
                  <a:alphaModFix amt="0"/>
                </a:blip>
                <a:stretch>
                  <a:fillRect l="0" t="-48365" r="2488" b="-34985"/>
                </a:stretch>
              </a:blipFill>
            </p:spPr>
          </p:sp>
          <p:sp>
            <p:nvSpPr>
              <p:cNvPr name="TextBox 110" id="110"/>
              <p:cNvSpPr txBox="true"/>
              <p:nvPr/>
            </p:nvSpPr>
            <p:spPr>
              <a:xfrm>
                <a:off x="0" y="-85725"/>
                <a:ext cx="6214077" cy="1373614"/>
              </a:xfrm>
              <a:prstGeom prst="rect">
                <a:avLst/>
              </a:prstGeom>
            </p:spPr>
            <p:txBody>
              <a:bodyPr anchor="ctr" rtlCol="false" tIns="0" lIns="0" bIns="0" rIns="0"/>
              <a:lstStyle/>
              <a:p>
                <a:pPr algn="l">
                  <a:lnSpc>
                    <a:spcPts val="2796"/>
                  </a:lnSpc>
                </a:pPr>
                <a:r>
                  <a:rPr lang="en-US" sz="1974" b="true">
                    <a:solidFill>
                      <a:srgbClr val="14142B"/>
                    </a:solidFill>
                    <a:latin typeface="Calibri (MS) Bold"/>
                    <a:ea typeface="Calibri (MS) Bold"/>
                    <a:cs typeface="Calibri (MS) Bold"/>
                    <a:sym typeface="Calibri (MS) Bold"/>
                  </a:rPr>
                  <a:t>Content-addressed versioned index + stable-core / version-delta representation</a:t>
                </a:r>
              </a:p>
            </p:txBody>
          </p:sp>
        </p:grpSp>
        <p:grpSp>
          <p:nvGrpSpPr>
            <p:cNvPr name="Group 111" id="111"/>
            <p:cNvGrpSpPr/>
            <p:nvPr/>
          </p:nvGrpSpPr>
          <p:grpSpPr>
            <a:xfrm rot="0">
              <a:off x="7508419" y="8715276"/>
              <a:ext cx="488316" cy="687144"/>
              <a:chOff x="0" y="0"/>
              <a:chExt cx="450114" cy="633388"/>
            </a:xfrm>
          </p:grpSpPr>
          <p:sp>
            <p:nvSpPr>
              <p:cNvPr name="Freeform 112" id="112"/>
              <p:cNvSpPr/>
              <p:nvPr/>
            </p:nvSpPr>
            <p:spPr>
              <a:xfrm flipH="false" flipV="false" rot="0">
                <a:off x="0" y="0"/>
                <a:ext cx="450114" cy="633388"/>
              </a:xfrm>
              <a:custGeom>
                <a:avLst/>
                <a:gdLst/>
                <a:ahLst/>
                <a:cxnLst/>
                <a:rect r="r" b="b" t="t" l="l"/>
                <a:pathLst>
                  <a:path h="633388" w="450114">
                    <a:moveTo>
                      <a:pt x="0" y="0"/>
                    </a:moveTo>
                    <a:lnTo>
                      <a:pt x="450114" y="0"/>
                    </a:lnTo>
                    <a:lnTo>
                      <a:pt x="450114" y="633388"/>
                    </a:lnTo>
                    <a:lnTo>
                      <a:pt x="0" y="633388"/>
                    </a:lnTo>
                    <a:close/>
                  </a:path>
                </a:pathLst>
              </a:custGeom>
              <a:blipFill>
                <a:blip r:embed="rId3">
                  <a:alphaModFix amt="0"/>
                </a:blip>
                <a:stretch>
                  <a:fillRect l="-107632" t="0" r="-105143" b="13380"/>
                </a:stretch>
              </a:blipFill>
            </p:spPr>
          </p:sp>
          <p:sp>
            <p:nvSpPr>
              <p:cNvPr name="TextBox 113" id="113"/>
              <p:cNvSpPr txBox="true"/>
              <p:nvPr/>
            </p:nvSpPr>
            <p:spPr>
              <a:xfrm>
                <a:off x="0" y="-57150"/>
                <a:ext cx="450114" cy="690538"/>
              </a:xfrm>
              <a:prstGeom prst="rect">
                <a:avLst/>
              </a:prstGeom>
            </p:spPr>
            <p:txBody>
              <a:bodyPr anchor="ctr" rtlCol="false" tIns="0" lIns="0" bIns="0" rIns="0"/>
              <a:lstStyle/>
              <a:p>
                <a:pPr algn="ctr">
                  <a:lnSpc>
                    <a:spcPts val="2700"/>
                  </a:lnSpc>
                </a:pPr>
                <a:r>
                  <a:rPr lang="en-US" sz="2250" b="true">
                    <a:solidFill>
                      <a:srgbClr val="6B6B76"/>
                    </a:solidFill>
                    <a:latin typeface="Calibri (MS) Bold"/>
                    <a:ea typeface="Calibri (MS) Bold"/>
                    <a:cs typeface="Calibri (MS) Bold"/>
                    <a:sym typeface="Calibri (MS) Bold"/>
                  </a:rPr>
                  <a:t>›</a:t>
                </a:r>
              </a:p>
            </p:txBody>
          </p:sp>
        </p:grpSp>
        <p:grpSp>
          <p:nvGrpSpPr>
            <p:cNvPr name="Group 114" id="114"/>
            <p:cNvGrpSpPr/>
            <p:nvPr/>
          </p:nvGrpSpPr>
          <p:grpSpPr>
            <a:xfrm rot="0">
              <a:off x="15429985" y="8715276"/>
              <a:ext cx="488316" cy="687144"/>
              <a:chOff x="0" y="0"/>
              <a:chExt cx="450114" cy="633388"/>
            </a:xfrm>
          </p:grpSpPr>
          <p:sp>
            <p:nvSpPr>
              <p:cNvPr name="Freeform 115" id="115"/>
              <p:cNvSpPr/>
              <p:nvPr/>
            </p:nvSpPr>
            <p:spPr>
              <a:xfrm flipH="false" flipV="false" rot="0">
                <a:off x="0" y="0"/>
                <a:ext cx="450114" cy="633388"/>
              </a:xfrm>
              <a:custGeom>
                <a:avLst/>
                <a:gdLst/>
                <a:ahLst/>
                <a:cxnLst/>
                <a:rect r="r" b="b" t="t" l="l"/>
                <a:pathLst>
                  <a:path h="633388" w="450114">
                    <a:moveTo>
                      <a:pt x="0" y="0"/>
                    </a:moveTo>
                    <a:lnTo>
                      <a:pt x="450114" y="0"/>
                    </a:lnTo>
                    <a:lnTo>
                      <a:pt x="450114" y="633388"/>
                    </a:lnTo>
                    <a:lnTo>
                      <a:pt x="0" y="633388"/>
                    </a:lnTo>
                    <a:close/>
                  </a:path>
                </a:pathLst>
              </a:custGeom>
              <a:blipFill>
                <a:blip r:embed="rId3">
                  <a:alphaModFix amt="0"/>
                </a:blip>
                <a:stretch>
                  <a:fillRect l="-107632" t="0" r="-105143" b="13380"/>
                </a:stretch>
              </a:blipFill>
            </p:spPr>
          </p:sp>
          <p:sp>
            <p:nvSpPr>
              <p:cNvPr name="TextBox 116" id="116"/>
              <p:cNvSpPr txBox="true"/>
              <p:nvPr/>
            </p:nvSpPr>
            <p:spPr>
              <a:xfrm>
                <a:off x="0" y="-57150"/>
                <a:ext cx="450114" cy="690538"/>
              </a:xfrm>
              <a:prstGeom prst="rect">
                <a:avLst/>
              </a:prstGeom>
            </p:spPr>
            <p:txBody>
              <a:bodyPr anchor="ctr" rtlCol="false" tIns="0" lIns="0" bIns="0" rIns="0"/>
              <a:lstStyle/>
              <a:p>
                <a:pPr algn="ctr">
                  <a:lnSpc>
                    <a:spcPts val="2700"/>
                  </a:lnSpc>
                </a:pPr>
                <a:r>
                  <a:rPr lang="en-US" sz="2250" b="true">
                    <a:solidFill>
                      <a:srgbClr val="6B6B76"/>
                    </a:solidFill>
                    <a:latin typeface="Calibri (MS) Bold"/>
                    <a:ea typeface="Calibri (MS) Bold"/>
                    <a:cs typeface="Calibri (MS) Bold"/>
                    <a:sym typeface="Calibri (MS) Bold"/>
                  </a:rPr>
                  <a:t>›</a:t>
                </a:r>
              </a:p>
            </p:txBody>
          </p:sp>
        </p:grpSp>
        <p:grpSp>
          <p:nvGrpSpPr>
            <p:cNvPr name="Group 117" id="117"/>
            <p:cNvGrpSpPr/>
            <p:nvPr/>
          </p:nvGrpSpPr>
          <p:grpSpPr>
            <a:xfrm rot="0">
              <a:off x="14130" y="10215540"/>
              <a:ext cx="23398461" cy="595525"/>
              <a:chOff x="0" y="0"/>
              <a:chExt cx="21567974" cy="548936"/>
            </a:xfrm>
          </p:grpSpPr>
          <p:sp>
            <p:nvSpPr>
              <p:cNvPr name="Freeform 118" id="118"/>
              <p:cNvSpPr/>
              <p:nvPr/>
            </p:nvSpPr>
            <p:spPr>
              <a:xfrm flipH="false" flipV="false" rot="0">
                <a:off x="0" y="0"/>
                <a:ext cx="21567975" cy="548936"/>
              </a:xfrm>
              <a:custGeom>
                <a:avLst/>
                <a:gdLst/>
                <a:ahLst/>
                <a:cxnLst/>
                <a:rect r="r" b="b" t="t" l="l"/>
                <a:pathLst>
                  <a:path h="548936" w="21567975">
                    <a:moveTo>
                      <a:pt x="0" y="0"/>
                    </a:moveTo>
                    <a:lnTo>
                      <a:pt x="21567975" y="0"/>
                    </a:lnTo>
                    <a:lnTo>
                      <a:pt x="21567975" y="548936"/>
                    </a:lnTo>
                    <a:lnTo>
                      <a:pt x="0" y="548936"/>
                    </a:lnTo>
                    <a:close/>
                  </a:path>
                </a:pathLst>
              </a:custGeom>
              <a:blipFill>
                <a:blip r:embed="rId3">
                  <a:alphaModFix amt="0"/>
                </a:blip>
                <a:stretch>
                  <a:fillRect l="0" t="-703213" r="2488" b="-689833"/>
                </a:stretch>
              </a:blipFill>
            </p:spPr>
          </p:sp>
          <p:sp>
            <p:nvSpPr>
              <p:cNvPr name="TextBox 119" id="119"/>
              <p:cNvSpPr txBox="true"/>
              <p:nvPr/>
            </p:nvSpPr>
            <p:spPr>
              <a:xfrm>
                <a:off x="0" y="-47625"/>
                <a:ext cx="21567974" cy="596561"/>
              </a:xfrm>
              <a:prstGeom prst="rect">
                <a:avLst/>
              </a:prstGeom>
            </p:spPr>
            <p:txBody>
              <a:bodyPr anchor="ctr" rtlCol="false" tIns="0" lIns="0" bIns="0" rIns="0"/>
              <a:lstStyle/>
              <a:p>
                <a:pPr algn="l">
                  <a:lnSpc>
                    <a:spcPts val="2519"/>
                  </a:lnSpc>
                </a:pPr>
                <a:r>
                  <a:rPr lang="en-US" sz="2099" i="true">
                    <a:solidFill>
                      <a:srgbClr val="6B6B76"/>
                    </a:solidFill>
                    <a:latin typeface="Calibri (MS) Italics"/>
                    <a:ea typeface="Calibri (MS) Italics"/>
                    <a:cs typeface="Calibri (MS) Italics"/>
                    <a:sym typeface="Calibri (MS) Italics"/>
                  </a:rPr>
                  <a:t>Measured: rows 1 and 3 (HyDE, multi-view) lost and are off; row 4's version-delta ties naive retrieval; e5-base-v2 is what moved the score.</a:t>
                </a:r>
              </a:p>
            </p:txBody>
          </p:sp>
        </p:grpSp>
      </p:gr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076331" y="112253"/>
            <a:ext cx="15773400" cy="1988344"/>
            <a:chOff x="0" y="0"/>
            <a:chExt cx="21031200" cy="2651125"/>
          </a:xfrm>
        </p:grpSpPr>
        <p:sp>
          <p:nvSpPr>
            <p:cNvPr name="Freeform 3" id="3"/>
            <p:cNvSpPr/>
            <p:nvPr/>
          </p:nvSpPr>
          <p:spPr>
            <a:xfrm flipH="false" flipV="false" rot="0">
              <a:off x="0" y="0"/>
              <a:ext cx="21031200" cy="2651126"/>
            </a:xfrm>
            <a:custGeom>
              <a:avLst/>
              <a:gdLst/>
              <a:ahLst/>
              <a:cxnLst/>
              <a:rect r="r" b="b" t="t" l="l"/>
              <a:pathLst>
                <a:path h="2651126" w="21031200">
                  <a:moveTo>
                    <a:pt x="0" y="0"/>
                  </a:moveTo>
                  <a:lnTo>
                    <a:pt x="21031200" y="0"/>
                  </a:lnTo>
                  <a:lnTo>
                    <a:pt x="21031200" y="2651126"/>
                  </a:lnTo>
                  <a:lnTo>
                    <a:pt x="0" y="2651126"/>
                  </a:lnTo>
                  <a:close/>
                </a:path>
              </a:pathLst>
            </a:custGeom>
            <a:blipFill>
              <a:blip r:embed="rId3">
                <a:alphaModFix amt="0"/>
              </a:blip>
              <a:stretch>
                <a:fillRect l="0" t="-104573" r="0" b="-104573"/>
              </a:stretch>
            </a:blipFill>
          </p:spPr>
        </p:sp>
        <p:sp>
          <p:nvSpPr>
            <p:cNvPr name="TextBox 4" id="4"/>
            <p:cNvSpPr txBox="true"/>
            <p:nvPr/>
          </p:nvSpPr>
          <p:spPr>
            <a:xfrm>
              <a:off x="0" y="-66675"/>
              <a:ext cx="21031200" cy="2717800"/>
            </a:xfrm>
            <a:prstGeom prst="rect">
              <a:avLst/>
            </a:prstGeom>
          </p:spPr>
          <p:txBody>
            <a:bodyPr anchor="ctr" rtlCol="false" tIns="0" lIns="0" bIns="0" rIns="0"/>
            <a:lstStyle/>
            <a:p>
              <a:pPr algn="l">
                <a:lnSpc>
                  <a:spcPts val="7128"/>
                </a:lnSpc>
              </a:pPr>
              <a:r>
                <a:rPr lang="en-US" sz="6600" b="true">
                  <a:solidFill>
                    <a:srgbClr val="704EA6"/>
                  </a:solidFill>
                  <a:latin typeface="Calibri (MS) Bold"/>
                  <a:ea typeface="Calibri (MS) Bold"/>
                  <a:cs typeface="Calibri (MS) Bold"/>
                  <a:sym typeface="Calibri (MS) Bold"/>
                </a:rPr>
                <a:t>Our Solutions &amp; Architecture Diagram</a:t>
              </a:r>
            </a:p>
          </p:txBody>
        </p:sp>
      </p:grpSp>
      <p:sp>
        <p:nvSpPr>
          <p:cNvPr name="TextBox 5" id="5"/>
          <p:cNvSpPr txBox="true"/>
          <p:nvPr/>
        </p:nvSpPr>
        <p:spPr>
          <a:xfrm rot="0">
            <a:off x="505187" y="2214897"/>
            <a:ext cx="4509035" cy="339877"/>
          </a:xfrm>
          <a:prstGeom prst="rect">
            <a:avLst/>
          </a:prstGeom>
        </p:spPr>
        <p:txBody>
          <a:bodyPr anchor="t" rtlCol="false" tIns="0" lIns="0" bIns="0" rIns="0">
            <a:spAutoFit/>
          </a:bodyPr>
          <a:lstStyle/>
          <a:p>
            <a:pPr algn="l">
              <a:lnSpc>
                <a:spcPts val="2366"/>
              </a:lnSpc>
            </a:pPr>
            <a:r>
              <a:rPr lang="en-US" sz="1972" b="true">
                <a:solidFill>
                  <a:srgbClr val="6D28D9"/>
                </a:solidFill>
                <a:latin typeface="Calibri (MS) Bold"/>
                <a:ea typeface="Calibri (MS) Bold"/>
                <a:cs typeface="Calibri (MS) Bold"/>
                <a:sym typeface="Calibri (MS) Bold"/>
              </a:rPr>
              <a:t>QUERY PATH</a:t>
            </a:r>
          </a:p>
        </p:txBody>
      </p:sp>
      <p:sp>
        <p:nvSpPr>
          <p:cNvPr name="TextBox 6" id="6"/>
          <p:cNvSpPr txBox="true"/>
          <p:nvPr/>
        </p:nvSpPr>
        <p:spPr>
          <a:xfrm rot="0">
            <a:off x="505187" y="5521523"/>
            <a:ext cx="4509035" cy="339877"/>
          </a:xfrm>
          <a:prstGeom prst="rect">
            <a:avLst/>
          </a:prstGeom>
        </p:spPr>
        <p:txBody>
          <a:bodyPr anchor="t" rtlCol="false" tIns="0" lIns="0" bIns="0" rIns="0">
            <a:spAutoFit/>
          </a:bodyPr>
          <a:lstStyle/>
          <a:p>
            <a:pPr algn="l">
              <a:lnSpc>
                <a:spcPts val="2366"/>
              </a:lnSpc>
            </a:pPr>
            <a:r>
              <a:rPr lang="en-US" sz="1972" b="true">
                <a:solidFill>
                  <a:srgbClr val="6D28D9"/>
                </a:solidFill>
                <a:latin typeface="Calibri (MS) Bold"/>
                <a:ea typeface="Calibri (MS) Bold"/>
                <a:cs typeface="Calibri (MS) Bold"/>
                <a:sym typeface="Calibri (MS) Bold"/>
              </a:rPr>
              <a:t>SNIPPET PATH</a:t>
            </a:r>
          </a:p>
        </p:txBody>
      </p:sp>
      <p:grpSp>
        <p:nvGrpSpPr>
          <p:cNvPr name="Group 7" id="7"/>
          <p:cNvGrpSpPr/>
          <p:nvPr/>
        </p:nvGrpSpPr>
        <p:grpSpPr>
          <a:xfrm rot="0">
            <a:off x="492140" y="2730438"/>
            <a:ext cx="2355762" cy="1303654"/>
            <a:chOff x="0" y="0"/>
            <a:chExt cx="2866390" cy="1586230"/>
          </a:xfrm>
        </p:grpSpPr>
        <p:sp>
          <p:nvSpPr>
            <p:cNvPr name="Freeform 8" id="8"/>
            <p:cNvSpPr/>
            <p:nvPr/>
          </p:nvSpPr>
          <p:spPr>
            <a:xfrm flipH="false" flipV="false" rot="0">
              <a:off x="0" y="0"/>
              <a:ext cx="2866390" cy="1586230"/>
            </a:xfrm>
            <a:custGeom>
              <a:avLst/>
              <a:gdLst/>
              <a:ahLst/>
              <a:cxnLst/>
              <a:rect r="r" b="b" t="t" l="l"/>
              <a:pathLst>
                <a:path h="1586230" w="2866390">
                  <a:moveTo>
                    <a:pt x="0" y="142748"/>
                  </a:moveTo>
                  <a:cubicBezTo>
                    <a:pt x="0" y="63881"/>
                    <a:pt x="63881" y="0"/>
                    <a:pt x="142748" y="0"/>
                  </a:cubicBezTo>
                  <a:lnTo>
                    <a:pt x="2723642" y="0"/>
                  </a:lnTo>
                  <a:cubicBezTo>
                    <a:pt x="2802509" y="0"/>
                    <a:pt x="2866390" y="63881"/>
                    <a:pt x="2866390" y="142748"/>
                  </a:cubicBezTo>
                  <a:lnTo>
                    <a:pt x="2866390" y="1443482"/>
                  </a:lnTo>
                  <a:cubicBezTo>
                    <a:pt x="2866390" y="1522349"/>
                    <a:pt x="2802509" y="1586230"/>
                    <a:pt x="2723642" y="1586230"/>
                  </a:cubicBezTo>
                  <a:lnTo>
                    <a:pt x="142748" y="1586230"/>
                  </a:lnTo>
                  <a:cubicBezTo>
                    <a:pt x="63881" y="1586230"/>
                    <a:pt x="0" y="1522349"/>
                    <a:pt x="0" y="1443482"/>
                  </a:cubicBezTo>
                  <a:close/>
                </a:path>
              </a:pathLst>
            </a:custGeom>
            <a:solidFill>
              <a:srgbClr val="EDE9FB"/>
            </a:solidFill>
            <a:ln w="23812" cap="sq">
              <a:solidFill>
                <a:srgbClr val="D9D3F0"/>
              </a:solidFill>
              <a:prstDash val="solid"/>
              <a:miter/>
            </a:ln>
          </p:spPr>
        </p:sp>
        <p:sp>
          <p:nvSpPr>
            <p:cNvPr name="TextBox 9" id="9"/>
            <p:cNvSpPr txBox="true"/>
            <p:nvPr/>
          </p:nvSpPr>
          <p:spPr>
            <a:xfrm>
              <a:off x="0" y="-47625"/>
              <a:ext cx="2866390" cy="1633855"/>
            </a:xfrm>
            <a:prstGeom prst="rect">
              <a:avLst/>
            </a:prstGeom>
          </p:spPr>
          <p:txBody>
            <a:bodyPr anchor="ctr" rtlCol="false" tIns="50800" lIns="50800" bIns="50800" rIns="50800"/>
            <a:lstStyle/>
            <a:p>
              <a:pPr algn="ctr">
                <a:lnSpc>
                  <a:spcPts val="2551"/>
                </a:lnSpc>
              </a:pPr>
              <a:r>
                <a:rPr lang="en-US" sz="2024" b="true">
                  <a:solidFill>
                    <a:srgbClr val="14142B"/>
                  </a:solidFill>
                  <a:latin typeface="Calibri (MS) Bold"/>
                  <a:ea typeface="Calibri (MS) Bold"/>
                  <a:cs typeface="Calibri (MS) Bold"/>
                  <a:sym typeface="Calibri (MS) Bold"/>
                </a:rPr>
                <a:t>NL query</a:t>
              </a:r>
            </a:p>
          </p:txBody>
        </p:sp>
      </p:grpSp>
      <p:grpSp>
        <p:nvGrpSpPr>
          <p:cNvPr name="Group 10" id="10"/>
          <p:cNvGrpSpPr/>
          <p:nvPr/>
        </p:nvGrpSpPr>
        <p:grpSpPr>
          <a:xfrm rot="0">
            <a:off x="3347862" y="2730438"/>
            <a:ext cx="3858774" cy="1303654"/>
            <a:chOff x="0" y="0"/>
            <a:chExt cx="4695190" cy="1586230"/>
          </a:xfrm>
        </p:grpSpPr>
        <p:sp>
          <p:nvSpPr>
            <p:cNvPr name="Freeform 11" id="11"/>
            <p:cNvSpPr/>
            <p:nvPr/>
          </p:nvSpPr>
          <p:spPr>
            <a:xfrm flipH="false" flipV="false" rot="0">
              <a:off x="0" y="0"/>
              <a:ext cx="4695190" cy="1586230"/>
            </a:xfrm>
            <a:custGeom>
              <a:avLst/>
              <a:gdLst/>
              <a:ahLst/>
              <a:cxnLst/>
              <a:rect r="r" b="b" t="t" l="l"/>
              <a:pathLst>
                <a:path h="1586230" w="4695190">
                  <a:moveTo>
                    <a:pt x="0" y="142748"/>
                  </a:moveTo>
                  <a:cubicBezTo>
                    <a:pt x="0" y="63881"/>
                    <a:pt x="63881" y="0"/>
                    <a:pt x="142748" y="0"/>
                  </a:cubicBezTo>
                  <a:lnTo>
                    <a:pt x="4552442" y="0"/>
                  </a:lnTo>
                  <a:cubicBezTo>
                    <a:pt x="4631309" y="0"/>
                    <a:pt x="4695190" y="63881"/>
                    <a:pt x="4695190" y="142748"/>
                  </a:cubicBezTo>
                  <a:lnTo>
                    <a:pt x="4695190" y="1443482"/>
                  </a:lnTo>
                  <a:cubicBezTo>
                    <a:pt x="4695190" y="1522349"/>
                    <a:pt x="4631309" y="1586230"/>
                    <a:pt x="4552442" y="1586230"/>
                  </a:cubicBezTo>
                  <a:lnTo>
                    <a:pt x="142748" y="1586230"/>
                  </a:lnTo>
                  <a:cubicBezTo>
                    <a:pt x="63881" y="1586230"/>
                    <a:pt x="0" y="1522349"/>
                    <a:pt x="0" y="1443482"/>
                  </a:cubicBezTo>
                  <a:close/>
                </a:path>
              </a:pathLst>
            </a:custGeom>
            <a:solidFill>
              <a:srgbClr val="FFFFFF"/>
            </a:solidFill>
            <a:ln w="23812" cap="sq">
              <a:solidFill>
                <a:srgbClr val="704EA6"/>
              </a:solidFill>
              <a:prstDash val="solid"/>
              <a:miter/>
            </a:ln>
          </p:spPr>
        </p:sp>
        <p:sp>
          <p:nvSpPr>
            <p:cNvPr name="TextBox 12" id="12"/>
            <p:cNvSpPr txBox="true"/>
            <p:nvPr/>
          </p:nvSpPr>
          <p:spPr>
            <a:xfrm>
              <a:off x="0" y="-47625"/>
              <a:ext cx="4695190" cy="1633855"/>
            </a:xfrm>
            <a:prstGeom prst="rect">
              <a:avLst/>
            </a:prstGeom>
          </p:spPr>
          <p:txBody>
            <a:bodyPr anchor="ctr" rtlCol="false" tIns="50800" lIns="50800" bIns="50800" rIns="50800"/>
            <a:lstStyle/>
            <a:p>
              <a:pPr algn="ctr">
                <a:lnSpc>
                  <a:spcPts val="2551"/>
                </a:lnSpc>
              </a:pPr>
              <a:r>
                <a:rPr lang="en-US" sz="2024" b="true">
                  <a:solidFill>
                    <a:srgbClr val="14142B"/>
                  </a:solidFill>
                  <a:latin typeface="Calibri (MS) Bold"/>
                  <a:ea typeface="Calibri (MS) Bold"/>
                  <a:cs typeface="Calibri (MS) Bold"/>
                  <a:sym typeface="Calibri (MS) Bold"/>
                </a:rPr>
                <a:t>Query preprocess</a:t>
              </a:r>
            </a:p>
            <a:p>
              <a:pPr algn="ctr">
                <a:lnSpc>
                  <a:spcPts val="2551"/>
                </a:lnSpc>
              </a:pPr>
              <a:r>
                <a:rPr lang="en-US" sz="2024">
                  <a:solidFill>
                    <a:srgbClr val="14142B"/>
                  </a:solidFill>
                  <a:latin typeface="Calibri (MS)"/>
                  <a:ea typeface="Calibri (MS)"/>
                  <a:cs typeface="Calibri (MS)"/>
                  <a:sym typeface="Calibri (MS)"/>
                </a:rPr>
                <a:t>+ “query: ” prefix</a:t>
              </a:r>
            </a:p>
            <a:p>
              <a:pPr algn="ctr">
                <a:lnSpc>
                  <a:spcPts val="2267"/>
                </a:lnSpc>
              </a:pPr>
              <a:r>
                <a:rPr lang="en-US" sz="1799" i="true">
                  <a:solidFill>
                    <a:srgbClr val="6B6B76"/>
                  </a:solidFill>
                  <a:latin typeface="Calibri (MS) Italics"/>
                  <a:ea typeface="Calibri (MS) Italics"/>
                  <a:cs typeface="Calibri (MS) Italics"/>
                  <a:sym typeface="Calibri (MS) Italics"/>
                </a:rPr>
                <a:t>query→code HyDE: measured, off</a:t>
              </a:r>
            </a:p>
          </p:txBody>
        </p:sp>
      </p:grpSp>
      <p:grpSp>
        <p:nvGrpSpPr>
          <p:cNvPr name="Group 13" id="13"/>
          <p:cNvGrpSpPr/>
          <p:nvPr/>
        </p:nvGrpSpPr>
        <p:grpSpPr>
          <a:xfrm rot="0">
            <a:off x="7706597" y="2730438"/>
            <a:ext cx="2956967" cy="1303654"/>
            <a:chOff x="0" y="0"/>
            <a:chExt cx="3597910" cy="1586230"/>
          </a:xfrm>
        </p:grpSpPr>
        <p:sp>
          <p:nvSpPr>
            <p:cNvPr name="Freeform 14" id="14"/>
            <p:cNvSpPr/>
            <p:nvPr/>
          </p:nvSpPr>
          <p:spPr>
            <a:xfrm flipH="false" flipV="false" rot="0">
              <a:off x="0" y="0"/>
              <a:ext cx="3597910" cy="1586230"/>
            </a:xfrm>
            <a:custGeom>
              <a:avLst/>
              <a:gdLst/>
              <a:ahLst/>
              <a:cxnLst/>
              <a:rect r="r" b="b" t="t" l="l"/>
              <a:pathLst>
                <a:path h="1586230" w="3597910">
                  <a:moveTo>
                    <a:pt x="0" y="142748"/>
                  </a:moveTo>
                  <a:cubicBezTo>
                    <a:pt x="0" y="63881"/>
                    <a:pt x="63881" y="0"/>
                    <a:pt x="142748" y="0"/>
                  </a:cubicBezTo>
                  <a:lnTo>
                    <a:pt x="3455162" y="0"/>
                  </a:lnTo>
                  <a:cubicBezTo>
                    <a:pt x="3534029" y="0"/>
                    <a:pt x="3597910" y="63881"/>
                    <a:pt x="3597910" y="142748"/>
                  </a:cubicBezTo>
                  <a:lnTo>
                    <a:pt x="3597910" y="1443482"/>
                  </a:lnTo>
                  <a:cubicBezTo>
                    <a:pt x="3597910" y="1522349"/>
                    <a:pt x="3534029" y="1586230"/>
                    <a:pt x="3455162" y="1586230"/>
                  </a:cubicBezTo>
                  <a:lnTo>
                    <a:pt x="142748" y="1586230"/>
                  </a:lnTo>
                  <a:cubicBezTo>
                    <a:pt x="63881" y="1586230"/>
                    <a:pt x="0" y="1522349"/>
                    <a:pt x="0" y="1443482"/>
                  </a:cubicBezTo>
                  <a:close/>
                </a:path>
              </a:pathLst>
            </a:custGeom>
            <a:solidFill>
              <a:srgbClr val="FFFFFF"/>
            </a:solidFill>
            <a:ln w="23812" cap="sq">
              <a:solidFill>
                <a:srgbClr val="704EA6"/>
              </a:solidFill>
              <a:prstDash val="solid"/>
              <a:miter/>
            </a:ln>
          </p:spPr>
        </p:sp>
        <p:sp>
          <p:nvSpPr>
            <p:cNvPr name="TextBox 15" id="15"/>
            <p:cNvSpPr txBox="true"/>
            <p:nvPr/>
          </p:nvSpPr>
          <p:spPr>
            <a:xfrm>
              <a:off x="0" y="-47625"/>
              <a:ext cx="3597910" cy="1633855"/>
            </a:xfrm>
            <a:prstGeom prst="rect">
              <a:avLst/>
            </a:prstGeom>
          </p:spPr>
          <p:txBody>
            <a:bodyPr anchor="ctr" rtlCol="false" tIns="50800" lIns="50800" bIns="50800" rIns="50800"/>
            <a:lstStyle/>
            <a:p>
              <a:pPr algn="ctr">
                <a:lnSpc>
                  <a:spcPts val="2551"/>
                </a:lnSpc>
              </a:pPr>
              <a:r>
                <a:rPr lang="en-US" sz="2024" b="true">
                  <a:solidFill>
                    <a:srgbClr val="14142B"/>
                  </a:solidFill>
                  <a:latin typeface="Calibri (MS) Bold"/>
                  <a:ea typeface="Calibri (MS) Bold"/>
                  <a:cs typeface="Calibri (MS) Bold"/>
                  <a:sym typeface="Calibri (MS) Bold"/>
                </a:rPr>
                <a:t>Query encode</a:t>
              </a:r>
            </a:p>
            <a:p>
              <a:pPr algn="ctr">
                <a:lnSpc>
                  <a:spcPts val="2551"/>
                </a:lnSpc>
              </a:pPr>
              <a:r>
                <a:rPr lang="en-US" sz="2024">
                  <a:solidFill>
                    <a:srgbClr val="14142B"/>
                  </a:solidFill>
                  <a:latin typeface="Calibri (MS)"/>
                  <a:ea typeface="Calibri (MS)"/>
                  <a:cs typeface="Calibri (MS)"/>
                  <a:sym typeface="Calibri (MS)"/>
                </a:rPr>
                <a:t>e5-base-v2</a:t>
              </a:r>
            </a:p>
          </p:txBody>
        </p:sp>
      </p:grpSp>
      <p:grpSp>
        <p:nvGrpSpPr>
          <p:cNvPr name="Group 16" id="16"/>
          <p:cNvGrpSpPr/>
          <p:nvPr/>
        </p:nvGrpSpPr>
        <p:grpSpPr>
          <a:xfrm rot="0">
            <a:off x="492140" y="6037064"/>
            <a:ext cx="2355762" cy="1303654"/>
            <a:chOff x="0" y="0"/>
            <a:chExt cx="2866390" cy="1586230"/>
          </a:xfrm>
        </p:grpSpPr>
        <p:sp>
          <p:nvSpPr>
            <p:cNvPr name="Freeform 17" id="17"/>
            <p:cNvSpPr/>
            <p:nvPr/>
          </p:nvSpPr>
          <p:spPr>
            <a:xfrm flipH="false" flipV="false" rot="0">
              <a:off x="0" y="0"/>
              <a:ext cx="2866390" cy="1586230"/>
            </a:xfrm>
            <a:custGeom>
              <a:avLst/>
              <a:gdLst/>
              <a:ahLst/>
              <a:cxnLst/>
              <a:rect r="r" b="b" t="t" l="l"/>
              <a:pathLst>
                <a:path h="1586230" w="2866390">
                  <a:moveTo>
                    <a:pt x="0" y="142748"/>
                  </a:moveTo>
                  <a:cubicBezTo>
                    <a:pt x="0" y="63881"/>
                    <a:pt x="63881" y="0"/>
                    <a:pt x="142748" y="0"/>
                  </a:cubicBezTo>
                  <a:lnTo>
                    <a:pt x="2723642" y="0"/>
                  </a:lnTo>
                  <a:cubicBezTo>
                    <a:pt x="2802509" y="0"/>
                    <a:pt x="2866390" y="63881"/>
                    <a:pt x="2866390" y="142748"/>
                  </a:cubicBezTo>
                  <a:lnTo>
                    <a:pt x="2866390" y="1443482"/>
                  </a:lnTo>
                  <a:cubicBezTo>
                    <a:pt x="2866390" y="1522349"/>
                    <a:pt x="2802509" y="1586230"/>
                    <a:pt x="2723642" y="1586230"/>
                  </a:cubicBezTo>
                  <a:lnTo>
                    <a:pt x="142748" y="1586230"/>
                  </a:lnTo>
                  <a:cubicBezTo>
                    <a:pt x="63881" y="1586230"/>
                    <a:pt x="0" y="1522349"/>
                    <a:pt x="0" y="1443482"/>
                  </a:cubicBezTo>
                  <a:close/>
                </a:path>
              </a:pathLst>
            </a:custGeom>
            <a:solidFill>
              <a:srgbClr val="EDE9FB"/>
            </a:solidFill>
            <a:ln w="23812" cap="sq">
              <a:solidFill>
                <a:srgbClr val="D9D3F0"/>
              </a:solidFill>
              <a:prstDash val="solid"/>
              <a:miter/>
            </a:ln>
          </p:spPr>
        </p:sp>
        <p:sp>
          <p:nvSpPr>
            <p:cNvPr name="TextBox 18" id="18"/>
            <p:cNvSpPr txBox="true"/>
            <p:nvPr/>
          </p:nvSpPr>
          <p:spPr>
            <a:xfrm>
              <a:off x="0" y="-47625"/>
              <a:ext cx="2866390" cy="1633855"/>
            </a:xfrm>
            <a:prstGeom prst="rect">
              <a:avLst/>
            </a:prstGeom>
          </p:spPr>
          <p:txBody>
            <a:bodyPr anchor="ctr" rtlCol="false" tIns="50800" lIns="50800" bIns="50800" rIns="50800"/>
            <a:lstStyle/>
            <a:p>
              <a:pPr algn="ctr">
                <a:lnSpc>
                  <a:spcPts val="2551"/>
                </a:lnSpc>
              </a:pPr>
              <a:r>
                <a:rPr lang="en-US" sz="2024" b="true">
                  <a:solidFill>
                    <a:srgbClr val="14142B"/>
                  </a:solidFill>
                  <a:latin typeface="Calibri (MS) Bold"/>
                  <a:ea typeface="Calibri (MS) Bold"/>
                  <a:cs typeface="Calibri (MS) Bold"/>
                  <a:sym typeface="Calibri (MS) Bold"/>
                </a:rPr>
                <a:t>Code snippets</a:t>
              </a:r>
            </a:p>
          </p:txBody>
        </p:sp>
      </p:grpSp>
      <p:grpSp>
        <p:nvGrpSpPr>
          <p:cNvPr name="Group 19" id="19"/>
          <p:cNvGrpSpPr/>
          <p:nvPr/>
        </p:nvGrpSpPr>
        <p:grpSpPr>
          <a:xfrm rot="0">
            <a:off x="3347862" y="6037064"/>
            <a:ext cx="3858774" cy="1303654"/>
            <a:chOff x="0" y="0"/>
            <a:chExt cx="4695190" cy="1586230"/>
          </a:xfrm>
        </p:grpSpPr>
        <p:sp>
          <p:nvSpPr>
            <p:cNvPr name="Freeform 20" id="20"/>
            <p:cNvSpPr/>
            <p:nvPr/>
          </p:nvSpPr>
          <p:spPr>
            <a:xfrm flipH="false" flipV="false" rot="0">
              <a:off x="0" y="0"/>
              <a:ext cx="4695190" cy="1586230"/>
            </a:xfrm>
            <a:custGeom>
              <a:avLst/>
              <a:gdLst/>
              <a:ahLst/>
              <a:cxnLst/>
              <a:rect r="r" b="b" t="t" l="l"/>
              <a:pathLst>
                <a:path h="1586230" w="4695190">
                  <a:moveTo>
                    <a:pt x="0" y="142748"/>
                  </a:moveTo>
                  <a:cubicBezTo>
                    <a:pt x="0" y="63881"/>
                    <a:pt x="63881" y="0"/>
                    <a:pt x="142748" y="0"/>
                  </a:cubicBezTo>
                  <a:lnTo>
                    <a:pt x="4552442" y="0"/>
                  </a:lnTo>
                  <a:cubicBezTo>
                    <a:pt x="4631309" y="0"/>
                    <a:pt x="4695190" y="63881"/>
                    <a:pt x="4695190" y="142748"/>
                  </a:cubicBezTo>
                  <a:lnTo>
                    <a:pt x="4695190" y="1443482"/>
                  </a:lnTo>
                  <a:cubicBezTo>
                    <a:pt x="4695190" y="1522349"/>
                    <a:pt x="4631309" y="1586230"/>
                    <a:pt x="4552442" y="1586230"/>
                  </a:cubicBezTo>
                  <a:lnTo>
                    <a:pt x="142748" y="1586230"/>
                  </a:lnTo>
                  <a:cubicBezTo>
                    <a:pt x="63881" y="1586230"/>
                    <a:pt x="0" y="1522349"/>
                    <a:pt x="0" y="1443482"/>
                  </a:cubicBezTo>
                  <a:close/>
                </a:path>
              </a:pathLst>
            </a:custGeom>
            <a:solidFill>
              <a:srgbClr val="FFFFFF"/>
            </a:solidFill>
            <a:ln w="23812" cap="sq">
              <a:solidFill>
                <a:srgbClr val="704EA6"/>
              </a:solidFill>
              <a:prstDash val="solid"/>
              <a:miter/>
            </a:ln>
          </p:spPr>
        </p:sp>
        <p:sp>
          <p:nvSpPr>
            <p:cNvPr name="TextBox 21" id="21"/>
            <p:cNvSpPr txBox="true"/>
            <p:nvPr/>
          </p:nvSpPr>
          <p:spPr>
            <a:xfrm>
              <a:off x="0" y="-47625"/>
              <a:ext cx="4695190" cy="1633855"/>
            </a:xfrm>
            <a:prstGeom prst="rect">
              <a:avLst/>
            </a:prstGeom>
          </p:spPr>
          <p:txBody>
            <a:bodyPr anchor="ctr" rtlCol="false" tIns="50800" lIns="50800" bIns="50800" rIns="50800"/>
            <a:lstStyle/>
            <a:p>
              <a:pPr algn="ctr">
                <a:lnSpc>
                  <a:spcPts val="2551"/>
                </a:lnSpc>
              </a:pPr>
              <a:r>
                <a:rPr lang="en-US" sz="2024" b="true">
                  <a:solidFill>
                    <a:srgbClr val="14142B"/>
                  </a:solidFill>
                  <a:latin typeface="Calibri (MS) Bold"/>
                  <a:ea typeface="Calibri (MS) Bold"/>
                  <a:cs typeface="Calibri (MS) Bold"/>
                  <a:sym typeface="Calibri (MS) Bold"/>
                </a:rPr>
                <a:t>Snippet cleanup</a:t>
              </a:r>
            </a:p>
            <a:p>
              <a:pPr algn="ctr">
                <a:lnSpc>
                  <a:spcPts val="2551"/>
                </a:lnSpc>
              </a:pPr>
              <a:r>
                <a:rPr lang="en-US" sz="2024">
                  <a:solidFill>
                    <a:srgbClr val="14142B"/>
                  </a:solidFill>
                  <a:latin typeface="Calibri (MS)"/>
                  <a:ea typeface="Calibri (MS)"/>
                  <a:cs typeface="Calibri (MS)"/>
                  <a:sym typeface="Calibri (MS)"/>
                </a:rPr>
                <a:t>+ chunking + “passage: ”</a:t>
              </a:r>
            </a:p>
            <a:p>
              <a:pPr algn="ctr">
                <a:lnSpc>
                  <a:spcPts val="2267"/>
                </a:lnSpc>
              </a:pPr>
              <a:r>
                <a:rPr lang="en-US" sz="1799" i="true">
                  <a:solidFill>
                    <a:srgbClr val="6B6B76"/>
                  </a:solidFill>
                  <a:latin typeface="Calibri (MS) Italics"/>
                  <a:ea typeface="Calibri (MS) Italics"/>
                  <a:cs typeface="Calibri (MS) Italics"/>
                  <a:sym typeface="Calibri (MS) Italics"/>
                </a:rPr>
                <a:t>multi-view: measured, off</a:t>
              </a:r>
            </a:p>
          </p:txBody>
        </p:sp>
      </p:grpSp>
      <p:grpSp>
        <p:nvGrpSpPr>
          <p:cNvPr name="Group 22" id="22"/>
          <p:cNvGrpSpPr/>
          <p:nvPr/>
        </p:nvGrpSpPr>
        <p:grpSpPr>
          <a:xfrm rot="0">
            <a:off x="7706597" y="6037064"/>
            <a:ext cx="2956967" cy="1303654"/>
            <a:chOff x="0" y="0"/>
            <a:chExt cx="3597910" cy="1586230"/>
          </a:xfrm>
        </p:grpSpPr>
        <p:sp>
          <p:nvSpPr>
            <p:cNvPr name="Freeform 23" id="23"/>
            <p:cNvSpPr/>
            <p:nvPr/>
          </p:nvSpPr>
          <p:spPr>
            <a:xfrm flipH="false" flipV="false" rot="0">
              <a:off x="0" y="0"/>
              <a:ext cx="3597910" cy="1586230"/>
            </a:xfrm>
            <a:custGeom>
              <a:avLst/>
              <a:gdLst/>
              <a:ahLst/>
              <a:cxnLst/>
              <a:rect r="r" b="b" t="t" l="l"/>
              <a:pathLst>
                <a:path h="1586230" w="3597910">
                  <a:moveTo>
                    <a:pt x="0" y="142748"/>
                  </a:moveTo>
                  <a:cubicBezTo>
                    <a:pt x="0" y="63881"/>
                    <a:pt x="63881" y="0"/>
                    <a:pt x="142748" y="0"/>
                  </a:cubicBezTo>
                  <a:lnTo>
                    <a:pt x="3455162" y="0"/>
                  </a:lnTo>
                  <a:cubicBezTo>
                    <a:pt x="3534029" y="0"/>
                    <a:pt x="3597910" y="63881"/>
                    <a:pt x="3597910" y="142748"/>
                  </a:cubicBezTo>
                  <a:lnTo>
                    <a:pt x="3597910" y="1443482"/>
                  </a:lnTo>
                  <a:cubicBezTo>
                    <a:pt x="3597910" y="1522349"/>
                    <a:pt x="3534029" y="1586230"/>
                    <a:pt x="3455162" y="1586230"/>
                  </a:cubicBezTo>
                  <a:lnTo>
                    <a:pt x="142748" y="1586230"/>
                  </a:lnTo>
                  <a:cubicBezTo>
                    <a:pt x="63881" y="1586230"/>
                    <a:pt x="0" y="1522349"/>
                    <a:pt x="0" y="1443482"/>
                  </a:cubicBezTo>
                  <a:close/>
                </a:path>
              </a:pathLst>
            </a:custGeom>
            <a:solidFill>
              <a:srgbClr val="FFFFFF"/>
            </a:solidFill>
            <a:ln w="23812" cap="sq">
              <a:solidFill>
                <a:srgbClr val="704EA6"/>
              </a:solidFill>
              <a:prstDash val="solid"/>
              <a:miter/>
            </a:ln>
          </p:spPr>
        </p:sp>
        <p:sp>
          <p:nvSpPr>
            <p:cNvPr name="TextBox 24" id="24"/>
            <p:cNvSpPr txBox="true"/>
            <p:nvPr/>
          </p:nvSpPr>
          <p:spPr>
            <a:xfrm>
              <a:off x="0" y="-47625"/>
              <a:ext cx="3597910" cy="1633855"/>
            </a:xfrm>
            <a:prstGeom prst="rect">
              <a:avLst/>
            </a:prstGeom>
          </p:spPr>
          <p:txBody>
            <a:bodyPr anchor="ctr" rtlCol="false" tIns="50800" lIns="50800" bIns="50800" rIns="50800"/>
            <a:lstStyle/>
            <a:p>
              <a:pPr algn="ctr">
                <a:lnSpc>
                  <a:spcPts val="2551"/>
                </a:lnSpc>
              </a:pPr>
              <a:r>
                <a:rPr lang="en-US" sz="2024" b="true">
                  <a:solidFill>
                    <a:srgbClr val="14142B"/>
                  </a:solidFill>
                  <a:latin typeface="Calibri (MS) Bold"/>
                  <a:ea typeface="Calibri (MS) Bold"/>
                  <a:cs typeface="Calibri (MS) Bold"/>
                  <a:sym typeface="Calibri (MS) Bold"/>
                </a:rPr>
                <a:t>Snippet encode</a:t>
              </a:r>
            </a:p>
            <a:p>
              <a:pPr algn="ctr">
                <a:lnSpc>
                  <a:spcPts val="2551"/>
                </a:lnSpc>
              </a:pPr>
              <a:r>
                <a:rPr lang="en-US" sz="2024">
                  <a:solidFill>
                    <a:srgbClr val="14142B"/>
                  </a:solidFill>
                  <a:latin typeface="Calibri (MS)"/>
                  <a:ea typeface="Calibri (MS)"/>
                  <a:cs typeface="Calibri (MS)"/>
                  <a:sym typeface="Calibri (MS)"/>
                </a:rPr>
                <a:t>e5-base-v2</a:t>
              </a:r>
            </a:p>
            <a:p>
              <a:pPr algn="ctr">
                <a:lnSpc>
                  <a:spcPts val="2551"/>
                </a:lnSpc>
              </a:pPr>
              <a:r>
                <a:rPr lang="en-US" sz="2024">
                  <a:solidFill>
                    <a:srgbClr val="14142B"/>
                  </a:solidFill>
                  <a:latin typeface="Calibri (MS)"/>
                  <a:ea typeface="Calibri (MS)"/>
                  <a:cs typeface="Calibri (MS)"/>
                  <a:sym typeface="Calibri (MS)"/>
                </a:rPr>
                <a:t>+ versioned index</a:t>
              </a:r>
            </a:p>
          </p:txBody>
        </p:sp>
      </p:grpSp>
      <p:grpSp>
        <p:nvGrpSpPr>
          <p:cNvPr name="Group 25" id="25"/>
          <p:cNvGrpSpPr/>
          <p:nvPr/>
        </p:nvGrpSpPr>
        <p:grpSpPr>
          <a:xfrm rot="0">
            <a:off x="11464126" y="4233450"/>
            <a:ext cx="3257569" cy="2656365"/>
            <a:chOff x="0" y="0"/>
            <a:chExt cx="3963670" cy="3232150"/>
          </a:xfrm>
        </p:grpSpPr>
        <p:sp>
          <p:nvSpPr>
            <p:cNvPr name="Freeform 26" id="26"/>
            <p:cNvSpPr/>
            <p:nvPr/>
          </p:nvSpPr>
          <p:spPr>
            <a:xfrm flipH="false" flipV="false" rot="0">
              <a:off x="0" y="0"/>
              <a:ext cx="3963543" cy="3232150"/>
            </a:xfrm>
            <a:custGeom>
              <a:avLst/>
              <a:gdLst/>
              <a:ahLst/>
              <a:cxnLst/>
              <a:rect r="r" b="b" t="t" l="l"/>
              <a:pathLst>
                <a:path h="3232150" w="3963543">
                  <a:moveTo>
                    <a:pt x="0" y="290830"/>
                  </a:moveTo>
                  <a:cubicBezTo>
                    <a:pt x="0" y="130175"/>
                    <a:pt x="130175" y="0"/>
                    <a:pt x="290830" y="0"/>
                  </a:cubicBezTo>
                  <a:lnTo>
                    <a:pt x="3672713" y="0"/>
                  </a:lnTo>
                  <a:cubicBezTo>
                    <a:pt x="3833368" y="0"/>
                    <a:pt x="3963543" y="130175"/>
                    <a:pt x="3963543" y="290830"/>
                  </a:cubicBezTo>
                  <a:lnTo>
                    <a:pt x="3963543" y="2941193"/>
                  </a:lnTo>
                  <a:cubicBezTo>
                    <a:pt x="3963543" y="3101848"/>
                    <a:pt x="3833368" y="3232150"/>
                    <a:pt x="3672713" y="3232150"/>
                  </a:cubicBezTo>
                  <a:lnTo>
                    <a:pt x="290830" y="3232150"/>
                  </a:lnTo>
                  <a:cubicBezTo>
                    <a:pt x="130175" y="3232150"/>
                    <a:pt x="0" y="3101975"/>
                    <a:pt x="0" y="2941193"/>
                  </a:cubicBezTo>
                  <a:close/>
                </a:path>
              </a:pathLst>
            </a:custGeom>
            <a:solidFill>
              <a:srgbClr val="704EA6"/>
            </a:solidFill>
            <a:ln w="23812" cap="sq">
              <a:solidFill>
                <a:srgbClr val="704EA6"/>
              </a:solidFill>
              <a:prstDash val="solid"/>
              <a:miter/>
            </a:ln>
          </p:spPr>
        </p:sp>
        <p:sp>
          <p:nvSpPr>
            <p:cNvPr name="TextBox 27" id="27"/>
            <p:cNvSpPr txBox="true"/>
            <p:nvPr/>
          </p:nvSpPr>
          <p:spPr>
            <a:xfrm>
              <a:off x="0" y="-57150"/>
              <a:ext cx="3963670" cy="3289300"/>
            </a:xfrm>
            <a:prstGeom prst="rect">
              <a:avLst/>
            </a:prstGeom>
          </p:spPr>
          <p:txBody>
            <a:bodyPr anchor="ctr" rtlCol="false" tIns="50800" lIns="50800" bIns="50800" rIns="50800"/>
            <a:lstStyle/>
            <a:p>
              <a:pPr algn="ctr">
                <a:lnSpc>
                  <a:spcPts val="2740"/>
                </a:lnSpc>
              </a:pPr>
              <a:r>
                <a:rPr lang="en-US" sz="2174" b="true">
                  <a:solidFill>
                    <a:srgbClr val="FFFFFF"/>
                  </a:solidFill>
                  <a:latin typeface="Calibri (MS) Bold"/>
                  <a:ea typeface="Calibri (MS) Bold"/>
                  <a:cs typeface="Calibri (MS) Bold"/>
                  <a:sym typeface="Calibri (MS) Bold"/>
                </a:rPr>
                <a:t>Cosine score</a:t>
              </a:r>
            </a:p>
            <a:p>
              <a:pPr algn="ctr">
                <a:lnSpc>
                  <a:spcPts val="2740"/>
                </a:lnSpc>
              </a:pPr>
              <a:r>
                <a:rPr lang="en-US" sz="2174">
                  <a:solidFill>
                    <a:srgbClr val="FFFFFF"/>
                  </a:solidFill>
                  <a:latin typeface="Calibri (MS)"/>
                  <a:ea typeface="Calibri (MS)"/>
                  <a:cs typeface="Calibri (MS)"/>
                  <a:sym typeface="Calibri (MS)"/>
                </a:rPr>
                <a:t>(+ cross-version, P1)</a:t>
              </a:r>
            </a:p>
          </p:txBody>
        </p:sp>
      </p:grpSp>
      <p:grpSp>
        <p:nvGrpSpPr>
          <p:cNvPr name="Group 28" id="28"/>
          <p:cNvGrpSpPr/>
          <p:nvPr/>
        </p:nvGrpSpPr>
        <p:grpSpPr>
          <a:xfrm rot="0">
            <a:off x="15221656" y="4233450"/>
            <a:ext cx="2280612" cy="2656365"/>
            <a:chOff x="0" y="0"/>
            <a:chExt cx="2774950" cy="3232150"/>
          </a:xfrm>
        </p:grpSpPr>
        <p:sp>
          <p:nvSpPr>
            <p:cNvPr name="Freeform 29" id="29"/>
            <p:cNvSpPr/>
            <p:nvPr/>
          </p:nvSpPr>
          <p:spPr>
            <a:xfrm flipH="false" flipV="false" rot="0">
              <a:off x="0" y="0"/>
              <a:ext cx="2774950" cy="3232150"/>
            </a:xfrm>
            <a:custGeom>
              <a:avLst/>
              <a:gdLst/>
              <a:ahLst/>
              <a:cxnLst/>
              <a:rect r="r" b="b" t="t" l="l"/>
              <a:pathLst>
                <a:path h="3232150" w="2774950">
                  <a:moveTo>
                    <a:pt x="0" y="249682"/>
                  </a:moveTo>
                  <a:cubicBezTo>
                    <a:pt x="0" y="111760"/>
                    <a:pt x="111760" y="0"/>
                    <a:pt x="249682" y="0"/>
                  </a:cubicBezTo>
                  <a:lnTo>
                    <a:pt x="2525141" y="0"/>
                  </a:lnTo>
                  <a:cubicBezTo>
                    <a:pt x="2663190" y="0"/>
                    <a:pt x="2774950" y="111760"/>
                    <a:pt x="2774950" y="249682"/>
                  </a:cubicBezTo>
                  <a:lnTo>
                    <a:pt x="2774950" y="2982341"/>
                  </a:lnTo>
                  <a:cubicBezTo>
                    <a:pt x="2774950" y="3120263"/>
                    <a:pt x="2663190" y="3232150"/>
                    <a:pt x="2525141" y="3232150"/>
                  </a:cubicBezTo>
                  <a:lnTo>
                    <a:pt x="249682" y="3232150"/>
                  </a:lnTo>
                  <a:cubicBezTo>
                    <a:pt x="111760" y="3232150"/>
                    <a:pt x="0" y="3120390"/>
                    <a:pt x="0" y="2982341"/>
                  </a:cubicBezTo>
                  <a:close/>
                </a:path>
              </a:pathLst>
            </a:custGeom>
            <a:solidFill>
              <a:srgbClr val="FFFFFF"/>
            </a:solidFill>
            <a:ln w="23812" cap="sq">
              <a:solidFill>
                <a:srgbClr val="D9A441"/>
              </a:solidFill>
              <a:prstDash val="solid"/>
              <a:miter/>
            </a:ln>
          </p:spPr>
        </p:sp>
        <p:sp>
          <p:nvSpPr>
            <p:cNvPr name="TextBox 30" id="30"/>
            <p:cNvSpPr txBox="true"/>
            <p:nvPr/>
          </p:nvSpPr>
          <p:spPr>
            <a:xfrm>
              <a:off x="0" y="-57150"/>
              <a:ext cx="2774950" cy="3289300"/>
            </a:xfrm>
            <a:prstGeom prst="rect">
              <a:avLst/>
            </a:prstGeom>
          </p:spPr>
          <p:txBody>
            <a:bodyPr anchor="ctr" rtlCol="false" tIns="50800" lIns="50800" bIns="50800" rIns="50800"/>
            <a:lstStyle/>
            <a:p>
              <a:pPr algn="ctr">
                <a:lnSpc>
                  <a:spcPts val="2740"/>
                </a:lnSpc>
              </a:pPr>
              <a:r>
                <a:rPr lang="en-US" sz="2174" b="true">
                  <a:solidFill>
                    <a:srgbClr val="14142B"/>
                  </a:solidFill>
                  <a:latin typeface="Calibri (MS) Bold"/>
                  <a:ea typeface="Calibri (MS) Bold"/>
                  <a:cs typeface="Calibri (MS) Bold"/>
                  <a:sym typeface="Calibri (MS) Bold"/>
                </a:rPr>
                <a:t>Ranked</a:t>
              </a:r>
            </a:p>
            <a:p>
              <a:pPr algn="ctr">
                <a:lnSpc>
                  <a:spcPts val="2740"/>
                </a:lnSpc>
              </a:pPr>
              <a:r>
                <a:rPr lang="en-US" sz="2174">
                  <a:solidFill>
                    <a:srgbClr val="14142B"/>
                  </a:solidFill>
                  <a:latin typeface="Calibri (MS)"/>
                  <a:ea typeface="Calibri (MS)"/>
                  <a:cs typeface="Calibri (MS)"/>
                  <a:sym typeface="Calibri (MS)"/>
                </a:rPr>
                <a:t>snippets</a:t>
              </a:r>
            </a:p>
          </p:txBody>
        </p:sp>
      </p:grpSp>
      <p:sp>
        <p:nvSpPr>
          <p:cNvPr name="AutoShape 31" id="31"/>
          <p:cNvSpPr/>
          <p:nvPr/>
        </p:nvSpPr>
        <p:spPr>
          <a:xfrm>
            <a:off x="2816587" y="3364001"/>
            <a:ext cx="562591" cy="36529"/>
          </a:xfrm>
          <a:prstGeom prst="line">
            <a:avLst/>
          </a:prstGeom>
          <a:ln cap="rnd" w="19050">
            <a:solidFill>
              <a:srgbClr val="704EA6"/>
            </a:solidFill>
            <a:prstDash val="solid"/>
            <a:headEnd type="none" len="sm" w="sm"/>
            <a:tailEnd type="triangle" len="med" w="lg"/>
          </a:ln>
        </p:spPr>
      </p:sp>
      <p:sp>
        <p:nvSpPr>
          <p:cNvPr name="AutoShape 32" id="32"/>
          <p:cNvSpPr/>
          <p:nvPr/>
        </p:nvSpPr>
        <p:spPr>
          <a:xfrm>
            <a:off x="7175321" y="3364001"/>
            <a:ext cx="562591" cy="36529"/>
          </a:xfrm>
          <a:prstGeom prst="line">
            <a:avLst/>
          </a:prstGeom>
          <a:ln cap="rnd" w="19050">
            <a:solidFill>
              <a:srgbClr val="704EA6"/>
            </a:solidFill>
            <a:prstDash val="solid"/>
            <a:headEnd type="none" len="sm" w="sm"/>
            <a:tailEnd type="triangle" len="med" w="lg"/>
          </a:ln>
        </p:spPr>
      </p:sp>
      <p:sp>
        <p:nvSpPr>
          <p:cNvPr name="AutoShape 33" id="33"/>
          <p:cNvSpPr/>
          <p:nvPr/>
        </p:nvSpPr>
        <p:spPr>
          <a:xfrm>
            <a:off x="2816587" y="6670627"/>
            <a:ext cx="562591" cy="36529"/>
          </a:xfrm>
          <a:prstGeom prst="line">
            <a:avLst/>
          </a:prstGeom>
          <a:ln cap="rnd" w="19050">
            <a:solidFill>
              <a:srgbClr val="704EA6"/>
            </a:solidFill>
            <a:prstDash val="solid"/>
            <a:headEnd type="none" len="sm" w="sm"/>
            <a:tailEnd type="triangle" len="med" w="lg"/>
          </a:ln>
        </p:spPr>
      </p:sp>
      <p:sp>
        <p:nvSpPr>
          <p:cNvPr name="AutoShape 34" id="34"/>
          <p:cNvSpPr/>
          <p:nvPr/>
        </p:nvSpPr>
        <p:spPr>
          <a:xfrm>
            <a:off x="7175321" y="6670627"/>
            <a:ext cx="562591" cy="36529"/>
          </a:xfrm>
          <a:prstGeom prst="line">
            <a:avLst/>
          </a:prstGeom>
          <a:ln cap="rnd" w="19050">
            <a:solidFill>
              <a:srgbClr val="704EA6"/>
            </a:solidFill>
            <a:prstDash val="solid"/>
            <a:headEnd type="none" len="sm" w="sm"/>
            <a:tailEnd type="triangle" len="med" w="lg"/>
          </a:ln>
        </p:spPr>
      </p:sp>
      <p:sp>
        <p:nvSpPr>
          <p:cNvPr name="AutoShape 35" id="35"/>
          <p:cNvSpPr/>
          <p:nvPr/>
        </p:nvSpPr>
        <p:spPr>
          <a:xfrm>
            <a:off x="10632252" y="3363996"/>
            <a:ext cx="863185" cy="1637246"/>
          </a:xfrm>
          <a:prstGeom prst="line">
            <a:avLst/>
          </a:prstGeom>
          <a:ln cap="rnd" w="19050">
            <a:solidFill>
              <a:srgbClr val="704EA6"/>
            </a:solidFill>
            <a:prstDash val="solid"/>
            <a:headEnd type="none" len="sm" w="sm"/>
            <a:tailEnd type="triangle" len="med" w="lg"/>
          </a:ln>
        </p:spPr>
      </p:sp>
      <p:sp>
        <p:nvSpPr>
          <p:cNvPr name="AutoShape 36" id="36"/>
          <p:cNvSpPr/>
          <p:nvPr/>
        </p:nvSpPr>
        <p:spPr>
          <a:xfrm flipV="true">
            <a:off x="10632250" y="6122028"/>
            <a:ext cx="863190" cy="585127"/>
          </a:xfrm>
          <a:prstGeom prst="line">
            <a:avLst/>
          </a:prstGeom>
          <a:ln cap="rnd" w="19050">
            <a:solidFill>
              <a:srgbClr val="704EA6"/>
            </a:solidFill>
            <a:prstDash val="solid"/>
            <a:headEnd type="none" len="sm" w="sm"/>
            <a:tailEnd type="triangle" len="med" w="lg"/>
          </a:ln>
        </p:spPr>
      </p:sp>
      <p:sp>
        <p:nvSpPr>
          <p:cNvPr name="AutoShape 37" id="37"/>
          <p:cNvSpPr/>
          <p:nvPr/>
        </p:nvSpPr>
        <p:spPr>
          <a:xfrm>
            <a:off x="14690380" y="5543368"/>
            <a:ext cx="562591" cy="36529"/>
          </a:xfrm>
          <a:prstGeom prst="line">
            <a:avLst/>
          </a:prstGeom>
          <a:ln cap="rnd" w="19050">
            <a:solidFill>
              <a:srgbClr val="704EA6"/>
            </a:solidFill>
            <a:prstDash val="solid"/>
            <a:headEnd type="none" len="sm" w="sm"/>
            <a:tailEnd type="triangle" len="med" w="lg"/>
          </a:ln>
        </p:spPr>
      </p:sp>
      <p:sp>
        <p:nvSpPr>
          <p:cNvPr name="TextBox 38" id="38"/>
          <p:cNvSpPr txBox="true"/>
          <p:nvPr/>
        </p:nvSpPr>
        <p:spPr>
          <a:xfrm rot="0">
            <a:off x="505187" y="7580649"/>
            <a:ext cx="17284636" cy="381628"/>
          </a:xfrm>
          <a:prstGeom prst="rect">
            <a:avLst/>
          </a:prstGeom>
        </p:spPr>
        <p:txBody>
          <a:bodyPr anchor="t" rtlCol="false" tIns="0" lIns="0" bIns="0" rIns="0">
            <a:spAutoFit/>
          </a:bodyPr>
          <a:lstStyle/>
          <a:p>
            <a:pPr algn="ctr">
              <a:lnSpc>
                <a:spcPts val="2662"/>
              </a:lnSpc>
            </a:pPr>
            <a:r>
              <a:rPr lang="en-US" sz="2219" i="true">
                <a:solidFill>
                  <a:srgbClr val="6B6B76"/>
                </a:solidFill>
                <a:latin typeface="Calibri (MS) Italics"/>
                <a:ea typeface="Calibri (MS) Italics"/>
                <a:cs typeface="Calibri (MS) Italics"/>
                <a:sym typeface="Calibri (MS) Italics"/>
              </a:rPr>
              <a:t>Submitted: e5-base-v2, 512-token window, CPU-only. Grey items are built and switchable by config, but lost on the real split and are off.</a:t>
            </a:r>
          </a:p>
        </p:txBody>
      </p:sp>
      <p:grpSp>
        <p:nvGrpSpPr>
          <p:cNvPr name="Group 39" id="39"/>
          <p:cNvGrpSpPr/>
          <p:nvPr/>
        </p:nvGrpSpPr>
        <p:grpSpPr>
          <a:xfrm rot="0">
            <a:off x="505187" y="8304629"/>
            <a:ext cx="17284636" cy="1277560"/>
            <a:chOff x="0" y="0"/>
            <a:chExt cx="21031200" cy="1554480"/>
          </a:xfrm>
        </p:grpSpPr>
        <p:sp>
          <p:nvSpPr>
            <p:cNvPr name="Freeform 40" id="40"/>
            <p:cNvSpPr/>
            <p:nvPr/>
          </p:nvSpPr>
          <p:spPr>
            <a:xfrm flipH="false" flipV="false" rot="0">
              <a:off x="0" y="0"/>
              <a:ext cx="21031200" cy="1554480"/>
            </a:xfrm>
            <a:custGeom>
              <a:avLst/>
              <a:gdLst/>
              <a:ahLst/>
              <a:cxnLst/>
              <a:rect r="r" b="b" t="t" l="l"/>
              <a:pathLst>
                <a:path h="1554480" w="21031200">
                  <a:moveTo>
                    <a:pt x="0" y="93218"/>
                  </a:moveTo>
                  <a:cubicBezTo>
                    <a:pt x="0" y="41783"/>
                    <a:pt x="41783" y="0"/>
                    <a:pt x="93218" y="0"/>
                  </a:cubicBezTo>
                  <a:lnTo>
                    <a:pt x="20937982" y="0"/>
                  </a:lnTo>
                  <a:cubicBezTo>
                    <a:pt x="20989545" y="0"/>
                    <a:pt x="21031200" y="41783"/>
                    <a:pt x="21031200" y="93218"/>
                  </a:cubicBezTo>
                  <a:lnTo>
                    <a:pt x="21031200" y="1461262"/>
                  </a:lnTo>
                  <a:cubicBezTo>
                    <a:pt x="21031200" y="1512824"/>
                    <a:pt x="20989418" y="1554480"/>
                    <a:pt x="20937982" y="1554480"/>
                  </a:cubicBezTo>
                  <a:lnTo>
                    <a:pt x="93218" y="1554480"/>
                  </a:lnTo>
                  <a:cubicBezTo>
                    <a:pt x="41656" y="1554480"/>
                    <a:pt x="0" y="1512697"/>
                    <a:pt x="0" y="1461262"/>
                  </a:cubicBezTo>
                  <a:close/>
                </a:path>
              </a:pathLst>
            </a:custGeom>
            <a:solidFill>
              <a:srgbClr val="EDE9FB"/>
            </a:solidFill>
          </p:spPr>
        </p:sp>
      </p:grpSp>
      <p:sp>
        <p:nvSpPr>
          <p:cNvPr name="TextBox 41" id="41"/>
          <p:cNvSpPr txBox="true"/>
          <p:nvPr/>
        </p:nvSpPr>
        <p:spPr>
          <a:xfrm rot="0">
            <a:off x="880940" y="8386770"/>
            <a:ext cx="16533130" cy="319915"/>
          </a:xfrm>
          <a:prstGeom prst="rect">
            <a:avLst/>
          </a:prstGeom>
        </p:spPr>
        <p:txBody>
          <a:bodyPr anchor="t" rtlCol="false" tIns="0" lIns="0" bIns="0" rIns="0">
            <a:spAutoFit/>
          </a:bodyPr>
          <a:lstStyle/>
          <a:p>
            <a:pPr algn="l">
              <a:lnSpc>
                <a:spcPts val="2268"/>
              </a:lnSpc>
            </a:pPr>
            <a:r>
              <a:rPr lang="en-US" sz="1890" b="true">
                <a:solidFill>
                  <a:srgbClr val="6D28D9"/>
                </a:solidFill>
                <a:latin typeface="Calibri (MS) Bold"/>
                <a:ea typeface="Calibri (MS) Bold"/>
                <a:cs typeface="Calibri (MS) Bold"/>
                <a:sym typeface="Calibri (MS) Bold"/>
              </a:rPr>
              <a:t>EXAMPLE TRACE  —  one real query through the pipeline</a:t>
            </a:r>
          </a:p>
        </p:txBody>
      </p:sp>
      <p:grpSp>
        <p:nvGrpSpPr>
          <p:cNvPr name="Group 42" id="42"/>
          <p:cNvGrpSpPr/>
          <p:nvPr/>
        </p:nvGrpSpPr>
        <p:grpSpPr>
          <a:xfrm rot="0">
            <a:off x="945653" y="8865336"/>
            <a:ext cx="3081007" cy="622080"/>
            <a:chOff x="0" y="0"/>
            <a:chExt cx="3748837" cy="756920"/>
          </a:xfrm>
        </p:grpSpPr>
        <p:sp>
          <p:nvSpPr>
            <p:cNvPr name="Freeform 43" id="43"/>
            <p:cNvSpPr/>
            <p:nvPr/>
          </p:nvSpPr>
          <p:spPr>
            <a:xfrm flipH="false" flipV="false" rot="0">
              <a:off x="0" y="0"/>
              <a:ext cx="3748786" cy="756920"/>
            </a:xfrm>
            <a:custGeom>
              <a:avLst/>
              <a:gdLst/>
              <a:ahLst/>
              <a:cxnLst/>
              <a:rect r="r" b="b" t="t" l="l"/>
              <a:pathLst>
                <a:path h="756920" w="3748786">
                  <a:moveTo>
                    <a:pt x="0" y="378460"/>
                  </a:moveTo>
                  <a:cubicBezTo>
                    <a:pt x="0" y="169418"/>
                    <a:pt x="169418" y="0"/>
                    <a:pt x="378460" y="0"/>
                  </a:cubicBezTo>
                  <a:lnTo>
                    <a:pt x="3370326" y="0"/>
                  </a:lnTo>
                  <a:cubicBezTo>
                    <a:pt x="3579368" y="0"/>
                    <a:pt x="3748786" y="169418"/>
                    <a:pt x="3748786" y="378460"/>
                  </a:cubicBezTo>
                  <a:cubicBezTo>
                    <a:pt x="3748786" y="587502"/>
                    <a:pt x="3579368" y="756920"/>
                    <a:pt x="3370326" y="756920"/>
                  </a:cubicBezTo>
                  <a:lnTo>
                    <a:pt x="378460" y="756920"/>
                  </a:lnTo>
                  <a:cubicBezTo>
                    <a:pt x="169418" y="756920"/>
                    <a:pt x="0" y="587502"/>
                    <a:pt x="0" y="378460"/>
                  </a:cubicBezTo>
                  <a:close/>
                </a:path>
              </a:pathLst>
            </a:custGeom>
            <a:solidFill>
              <a:srgbClr val="FFFFFF"/>
            </a:solidFill>
            <a:ln w="19050" cap="sq">
              <a:solidFill>
                <a:srgbClr val="D9D3F0"/>
              </a:solidFill>
              <a:prstDash val="solid"/>
              <a:miter/>
            </a:ln>
          </p:spPr>
        </p:sp>
      </p:grpSp>
      <p:grpSp>
        <p:nvGrpSpPr>
          <p:cNvPr name="Group 44" id="44"/>
          <p:cNvGrpSpPr/>
          <p:nvPr/>
        </p:nvGrpSpPr>
        <p:grpSpPr>
          <a:xfrm rot="0">
            <a:off x="1250157" y="8572396"/>
            <a:ext cx="2400096" cy="1207960"/>
            <a:chOff x="0" y="0"/>
            <a:chExt cx="2920333" cy="1469794"/>
          </a:xfrm>
        </p:grpSpPr>
        <p:sp>
          <p:nvSpPr>
            <p:cNvPr name="Freeform 45" id="45"/>
            <p:cNvSpPr/>
            <p:nvPr/>
          </p:nvSpPr>
          <p:spPr>
            <a:xfrm flipH="false" flipV="false" rot="0">
              <a:off x="0" y="0"/>
              <a:ext cx="2920333" cy="1469794"/>
            </a:xfrm>
            <a:custGeom>
              <a:avLst/>
              <a:gdLst/>
              <a:ahLst/>
              <a:cxnLst/>
              <a:rect r="r" b="b" t="t" l="l"/>
              <a:pathLst>
                <a:path h="1469794" w="2920333">
                  <a:moveTo>
                    <a:pt x="0" y="0"/>
                  </a:moveTo>
                  <a:lnTo>
                    <a:pt x="2920333" y="0"/>
                  </a:lnTo>
                  <a:lnTo>
                    <a:pt x="2920333" y="1469794"/>
                  </a:lnTo>
                  <a:lnTo>
                    <a:pt x="0" y="1469794"/>
                  </a:lnTo>
                  <a:close/>
                </a:path>
              </a:pathLst>
            </a:custGeom>
            <a:blipFill>
              <a:blip r:embed="rId3">
                <a:alphaModFix amt="0"/>
              </a:blip>
              <a:stretch>
                <a:fillRect l="0" t="-23085" r="-17480" b="32120"/>
              </a:stretch>
            </a:blipFill>
          </p:spPr>
        </p:sp>
        <p:sp>
          <p:nvSpPr>
            <p:cNvPr name="TextBox 46" id="46"/>
            <p:cNvSpPr txBox="true"/>
            <p:nvPr/>
          </p:nvSpPr>
          <p:spPr>
            <a:xfrm>
              <a:off x="0" y="-19050"/>
              <a:ext cx="2920333" cy="1488844"/>
            </a:xfrm>
            <a:prstGeom prst="rect">
              <a:avLst/>
            </a:prstGeom>
          </p:spPr>
          <p:txBody>
            <a:bodyPr anchor="ctr" rtlCol="false" tIns="0" lIns="0" bIns="0" rIns="0"/>
            <a:lstStyle/>
            <a:p>
              <a:pPr algn="ctr">
                <a:lnSpc>
                  <a:spcPts val="1889"/>
                </a:lnSpc>
              </a:pPr>
              <a:r>
                <a:rPr lang="en-US" sz="1574" b="true">
                  <a:solidFill>
                    <a:srgbClr val="6D28D9"/>
                  </a:solidFill>
                  <a:latin typeface="Calibri (MS) Bold"/>
                  <a:ea typeface="Calibri (MS) Bold"/>
                  <a:cs typeface="Calibri (MS) Bold"/>
                  <a:sym typeface="Calibri (MS) Bold"/>
                </a:rPr>
                <a:t>Query</a:t>
              </a:r>
            </a:p>
            <a:p>
              <a:pPr algn="ctr">
                <a:lnSpc>
                  <a:spcPts val="1769"/>
                </a:lnSpc>
              </a:pPr>
              <a:r>
                <a:rPr lang="en-US" sz="1474">
                  <a:solidFill>
                    <a:srgbClr val="14142B"/>
                  </a:solidFill>
                  <a:latin typeface="Calibri (MS)"/>
                  <a:ea typeface="Calibri (MS)"/>
                  <a:cs typeface="Calibri (MS)"/>
                  <a:sym typeface="Calibri (MS)"/>
                </a:rPr>
                <a:t>“find two numbers that sum to a target”</a:t>
              </a:r>
            </a:p>
          </p:txBody>
        </p:sp>
      </p:grpSp>
      <p:grpSp>
        <p:nvGrpSpPr>
          <p:cNvPr name="Group 47" id="47"/>
          <p:cNvGrpSpPr/>
          <p:nvPr/>
        </p:nvGrpSpPr>
        <p:grpSpPr>
          <a:xfrm rot="0">
            <a:off x="4031253" y="8905834"/>
            <a:ext cx="240482" cy="541084"/>
            <a:chOff x="0" y="0"/>
            <a:chExt cx="292608" cy="658368"/>
          </a:xfrm>
        </p:grpSpPr>
        <p:sp>
          <p:nvSpPr>
            <p:cNvPr name="Freeform 48" id="48"/>
            <p:cNvSpPr/>
            <p:nvPr/>
          </p:nvSpPr>
          <p:spPr>
            <a:xfrm flipH="false" flipV="false" rot="0">
              <a:off x="0" y="0"/>
              <a:ext cx="292608" cy="658368"/>
            </a:xfrm>
            <a:custGeom>
              <a:avLst/>
              <a:gdLst/>
              <a:ahLst/>
              <a:cxnLst/>
              <a:rect r="r" b="b" t="t" l="l"/>
              <a:pathLst>
                <a:path h="658368" w="292608">
                  <a:moveTo>
                    <a:pt x="0" y="0"/>
                  </a:moveTo>
                  <a:lnTo>
                    <a:pt x="292608" y="0"/>
                  </a:lnTo>
                  <a:lnTo>
                    <a:pt x="292608" y="658368"/>
                  </a:lnTo>
                  <a:lnTo>
                    <a:pt x="0" y="658368"/>
                  </a:lnTo>
                  <a:close/>
                </a:path>
              </a:pathLst>
            </a:custGeom>
            <a:blipFill>
              <a:blip r:embed="rId3">
                <a:alphaModFix amt="0"/>
              </a:blip>
              <a:stretch>
                <a:fillRect l="-238683" t="0" r="-238683" b="0"/>
              </a:stretch>
            </a:blipFill>
          </p:spPr>
        </p:sp>
        <p:sp>
          <p:nvSpPr>
            <p:cNvPr name="TextBox 49" id="49"/>
            <p:cNvSpPr txBox="true"/>
            <p:nvPr/>
          </p:nvSpPr>
          <p:spPr>
            <a:xfrm>
              <a:off x="0" y="-57150"/>
              <a:ext cx="292608" cy="715518"/>
            </a:xfrm>
            <a:prstGeom prst="rect">
              <a:avLst/>
            </a:prstGeom>
          </p:spPr>
          <p:txBody>
            <a:bodyPr anchor="ctr" rtlCol="false" tIns="0" lIns="0" bIns="0" rIns="0"/>
            <a:lstStyle/>
            <a:p>
              <a:pPr algn="ctr">
                <a:lnSpc>
                  <a:spcPts val="2879"/>
                </a:lnSpc>
              </a:pPr>
              <a:r>
                <a:rPr lang="en-US" sz="2399" b="true">
                  <a:solidFill>
                    <a:srgbClr val="6B6B76"/>
                  </a:solidFill>
                  <a:latin typeface="Calibri (MS) Bold"/>
                  <a:ea typeface="Calibri (MS) Bold"/>
                  <a:cs typeface="Calibri (MS) Bold"/>
                  <a:sym typeface="Calibri (MS) Bold"/>
                </a:rPr>
                <a:t>›</a:t>
              </a:r>
            </a:p>
          </p:txBody>
        </p:sp>
      </p:grpSp>
      <p:grpSp>
        <p:nvGrpSpPr>
          <p:cNvPr name="Group 50" id="50"/>
          <p:cNvGrpSpPr/>
          <p:nvPr/>
        </p:nvGrpSpPr>
        <p:grpSpPr>
          <a:xfrm rot="0">
            <a:off x="4276327" y="8865336"/>
            <a:ext cx="3081007" cy="622080"/>
            <a:chOff x="0" y="0"/>
            <a:chExt cx="3748837" cy="756920"/>
          </a:xfrm>
        </p:grpSpPr>
        <p:sp>
          <p:nvSpPr>
            <p:cNvPr name="Freeform 51" id="51"/>
            <p:cNvSpPr/>
            <p:nvPr/>
          </p:nvSpPr>
          <p:spPr>
            <a:xfrm flipH="false" flipV="false" rot="0">
              <a:off x="0" y="0"/>
              <a:ext cx="3748786" cy="756920"/>
            </a:xfrm>
            <a:custGeom>
              <a:avLst/>
              <a:gdLst/>
              <a:ahLst/>
              <a:cxnLst/>
              <a:rect r="r" b="b" t="t" l="l"/>
              <a:pathLst>
                <a:path h="756920" w="3748786">
                  <a:moveTo>
                    <a:pt x="0" y="378460"/>
                  </a:moveTo>
                  <a:cubicBezTo>
                    <a:pt x="0" y="169418"/>
                    <a:pt x="169418" y="0"/>
                    <a:pt x="378460" y="0"/>
                  </a:cubicBezTo>
                  <a:lnTo>
                    <a:pt x="3370326" y="0"/>
                  </a:lnTo>
                  <a:cubicBezTo>
                    <a:pt x="3579368" y="0"/>
                    <a:pt x="3748786" y="169418"/>
                    <a:pt x="3748786" y="378460"/>
                  </a:cubicBezTo>
                  <a:cubicBezTo>
                    <a:pt x="3748786" y="587502"/>
                    <a:pt x="3579368" y="756920"/>
                    <a:pt x="3370326" y="756920"/>
                  </a:cubicBezTo>
                  <a:lnTo>
                    <a:pt x="378460" y="756920"/>
                  </a:lnTo>
                  <a:cubicBezTo>
                    <a:pt x="169418" y="756920"/>
                    <a:pt x="0" y="587502"/>
                    <a:pt x="0" y="378460"/>
                  </a:cubicBezTo>
                  <a:close/>
                </a:path>
              </a:pathLst>
            </a:custGeom>
            <a:solidFill>
              <a:srgbClr val="FFFFFF"/>
            </a:solidFill>
            <a:ln w="19050" cap="sq">
              <a:solidFill>
                <a:srgbClr val="D9D3F0"/>
              </a:solidFill>
              <a:prstDash val="solid"/>
              <a:miter/>
            </a:ln>
          </p:spPr>
        </p:sp>
      </p:grpSp>
      <p:grpSp>
        <p:nvGrpSpPr>
          <p:cNvPr name="Group 52" id="52"/>
          <p:cNvGrpSpPr/>
          <p:nvPr/>
        </p:nvGrpSpPr>
        <p:grpSpPr>
          <a:xfrm rot="0">
            <a:off x="4407006" y="8905834"/>
            <a:ext cx="2819650" cy="606964"/>
            <a:chOff x="0" y="0"/>
            <a:chExt cx="3430829" cy="738528"/>
          </a:xfrm>
        </p:grpSpPr>
        <p:sp>
          <p:nvSpPr>
            <p:cNvPr name="Freeform 53" id="53"/>
            <p:cNvSpPr/>
            <p:nvPr/>
          </p:nvSpPr>
          <p:spPr>
            <a:xfrm flipH="false" flipV="false" rot="0">
              <a:off x="0" y="0"/>
              <a:ext cx="3430828" cy="738528"/>
            </a:xfrm>
            <a:custGeom>
              <a:avLst/>
              <a:gdLst/>
              <a:ahLst/>
              <a:cxnLst/>
              <a:rect r="r" b="b" t="t" l="l"/>
              <a:pathLst>
                <a:path h="738528" w="3430828">
                  <a:moveTo>
                    <a:pt x="0" y="0"/>
                  </a:moveTo>
                  <a:lnTo>
                    <a:pt x="3430828" y="0"/>
                  </a:lnTo>
                  <a:lnTo>
                    <a:pt x="3430828" y="738528"/>
                  </a:lnTo>
                  <a:lnTo>
                    <a:pt x="0" y="738528"/>
                  </a:lnTo>
                  <a:close/>
                </a:path>
              </a:pathLst>
            </a:custGeom>
            <a:blipFill>
              <a:blip r:embed="rId3">
                <a:alphaModFix amt="0"/>
              </a:blip>
              <a:stretch>
                <a:fillRect l="0" t="-45944" r="0" b="-35090"/>
              </a:stretch>
            </a:blipFill>
          </p:spPr>
        </p:sp>
        <p:sp>
          <p:nvSpPr>
            <p:cNvPr name="TextBox 54" id="54"/>
            <p:cNvSpPr txBox="true"/>
            <p:nvPr/>
          </p:nvSpPr>
          <p:spPr>
            <a:xfrm>
              <a:off x="0" y="-19050"/>
              <a:ext cx="3430829" cy="757578"/>
            </a:xfrm>
            <a:prstGeom prst="rect">
              <a:avLst/>
            </a:prstGeom>
          </p:spPr>
          <p:txBody>
            <a:bodyPr anchor="ctr" rtlCol="false" tIns="0" lIns="0" bIns="0" rIns="0"/>
            <a:lstStyle/>
            <a:p>
              <a:pPr algn="ctr">
                <a:lnSpc>
                  <a:spcPts val="1889"/>
                </a:lnSpc>
              </a:pPr>
              <a:r>
                <a:rPr lang="en-US" sz="1574" b="true">
                  <a:solidFill>
                    <a:srgbClr val="6D28D9"/>
                  </a:solidFill>
                  <a:latin typeface="Calibri (MS) Bold"/>
                  <a:ea typeface="Calibri (MS) Bold"/>
                  <a:cs typeface="Calibri (MS) Bold"/>
                  <a:sym typeface="Calibri (MS) Bold"/>
                </a:rPr>
                <a:t>Preprocess</a:t>
              </a:r>
            </a:p>
            <a:p>
              <a:pPr algn="ctr">
                <a:lnSpc>
                  <a:spcPts val="1889"/>
                </a:lnSpc>
              </a:pPr>
              <a:r>
                <a:rPr lang="en-US" sz="1574">
                  <a:solidFill>
                    <a:srgbClr val="14142B"/>
                  </a:solidFill>
                  <a:latin typeface="Calibri (MS)"/>
                  <a:ea typeface="Calibri (MS)"/>
                  <a:cs typeface="Calibri (MS)"/>
                  <a:sym typeface="Calibri (MS)"/>
                </a:rPr>
                <a:t>“query: ” + normalized text</a:t>
              </a:r>
            </a:p>
          </p:txBody>
        </p:sp>
      </p:grpSp>
      <p:grpSp>
        <p:nvGrpSpPr>
          <p:cNvPr name="Group 55" id="55"/>
          <p:cNvGrpSpPr/>
          <p:nvPr/>
        </p:nvGrpSpPr>
        <p:grpSpPr>
          <a:xfrm rot="0">
            <a:off x="7361927" y="8905834"/>
            <a:ext cx="240482" cy="541084"/>
            <a:chOff x="0" y="0"/>
            <a:chExt cx="292608" cy="658368"/>
          </a:xfrm>
        </p:grpSpPr>
        <p:sp>
          <p:nvSpPr>
            <p:cNvPr name="Freeform 56" id="56"/>
            <p:cNvSpPr/>
            <p:nvPr/>
          </p:nvSpPr>
          <p:spPr>
            <a:xfrm flipH="false" flipV="false" rot="0">
              <a:off x="0" y="0"/>
              <a:ext cx="292608" cy="658368"/>
            </a:xfrm>
            <a:custGeom>
              <a:avLst/>
              <a:gdLst/>
              <a:ahLst/>
              <a:cxnLst/>
              <a:rect r="r" b="b" t="t" l="l"/>
              <a:pathLst>
                <a:path h="658368" w="292608">
                  <a:moveTo>
                    <a:pt x="0" y="0"/>
                  </a:moveTo>
                  <a:lnTo>
                    <a:pt x="292608" y="0"/>
                  </a:lnTo>
                  <a:lnTo>
                    <a:pt x="292608" y="658368"/>
                  </a:lnTo>
                  <a:lnTo>
                    <a:pt x="0" y="658368"/>
                  </a:lnTo>
                  <a:close/>
                </a:path>
              </a:pathLst>
            </a:custGeom>
            <a:blipFill>
              <a:blip r:embed="rId3">
                <a:alphaModFix amt="0"/>
              </a:blip>
              <a:stretch>
                <a:fillRect l="-238683" t="0" r="-238683" b="0"/>
              </a:stretch>
            </a:blipFill>
          </p:spPr>
        </p:sp>
        <p:sp>
          <p:nvSpPr>
            <p:cNvPr name="TextBox 57" id="57"/>
            <p:cNvSpPr txBox="true"/>
            <p:nvPr/>
          </p:nvSpPr>
          <p:spPr>
            <a:xfrm>
              <a:off x="0" y="-57150"/>
              <a:ext cx="292608" cy="715518"/>
            </a:xfrm>
            <a:prstGeom prst="rect">
              <a:avLst/>
            </a:prstGeom>
          </p:spPr>
          <p:txBody>
            <a:bodyPr anchor="ctr" rtlCol="false" tIns="0" lIns="0" bIns="0" rIns="0"/>
            <a:lstStyle/>
            <a:p>
              <a:pPr algn="ctr">
                <a:lnSpc>
                  <a:spcPts val="2879"/>
                </a:lnSpc>
              </a:pPr>
              <a:r>
                <a:rPr lang="en-US" sz="2399" b="true">
                  <a:solidFill>
                    <a:srgbClr val="6B6B76"/>
                  </a:solidFill>
                  <a:latin typeface="Calibri (MS) Bold"/>
                  <a:ea typeface="Calibri (MS) Bold"/>
                  <a:cs typeface="Calibri (MS) Bold"/>
                  <a:sym typeface="Calibri (MS) Bold"/>
                </a:rPr>
                <a:t>›</a:t>
              </a:r>
            </a:p>
          </p:txBody>
        </p:sp>
      </p:grpSp>
      <p:grpSp>
        <p:nvGrpSpPr>
          <p:cNvPr name="Group 58" id="58"/>
          <p:cNvGrpSpPr/>
          <p:nvPr/>
        </p:nvGrpSpPr>
        <p:grpSpPr>
          <a:xfrm rot="0">
            <a:off x="7607001" y="8865336"/>
            <a:ext cx="3081007" cy="622080"/>
            <a:chOff x="0" y="0"/>
            <a:chExt cx="3748837" cy="756920"/>
          </a:xfrm>
        </p:grpSpPr>
        <p:sp>
          <p:nvSpPr>
            <p:cNvPr name="Freeform 59" id="59"/>
            <p:cNvSpPr/>
            <p:nvPr/>
          </p:nvSpPr>
          <p:spPr>
            <a:xfrm flipH="false" flipV="false" rot="0">
              <a:off x="0" y="0"/>
              <a:ext cx="3748786" cy="756920"/>
            </a:xfrm>
            <a:custGeom>
              <a:avLst/>
              <a:gdLst/>
              <a:ahLst/>
              <a:cxnLst/>
              <a:rect r="r" b="b" t="t" l="l"/>
              <a:pathLst>
                <a:path h="756920" w="3748786">
                  <a:moveTo>
                    <a:pt x="0" y="378460"/>
                  </a:moveTo>
                  <a:cubicBezTo>
                    <a:pt x="0" y="169418"/>
                    <a:pt x="169418" y="0"/>
                    <a:pt x="378460" y="0"/>
                  </a:cubicBezTo>
                  <a:lnTo>
                    <a:pt x="3370326" y="0"/>
                  </a:lnTo>
                  <a:cubicBezTo>
                    <a:pt x="3579368" y="0"/>
                    <a:pt x="3748786" y="169418"/>
                    <a:pt x="3748786" y="378460"/>
                  </a:cubicBezTo>
                  <a:cubicBezTo>
                    <a:pt x="3748786" y="587502"/>
                    <a:pt x="3579368" y="756920"/>
                    <a:pt x="3370326" y="756920"/>
                  </a:cubicBezTo>
                  <a:lnTo>
                    <a:pt x="378460" y="756920"/>
                  </a:lnTo>
                  <a:cubicBezTo>
                    <a:pt x="169418" y="756920"/>
                    <a:pt x="0" y="587502"/>
                    <a:pt x="0" y="378460"/>
                  </a:cubicBezTo>
                  <a:close/>
                </a:path>
              </a:pathLst>
            </a:custGeom>
            <a:solidFill>
              <a:srgbClr val="FFFFFF"/>
            </a:solidFill>
            <a:ln w="19050" cap="sq">
              <a:solidFill>
                <a:srgbClr val="D9D3F0"/>
              </a:solidFill>
              <a:prstDash val="solid"/>
              <a:miter/>
            </a:ln>
          </p:spPr>
        </p:sp>
      </p:grpSp>
      <p:grpSp>
        <p:nvGrpSpPr>
          <p:cNvPr name="Group 60" id="60"/>
          <p:cNvGrpSpPr/>
          <p:nvPr/>
        </p:nvGrpSpPr>
        <p:grpSpPr>
          <a:xfrm rot="0">
            <a:off x="7737680" y="8905834"/>
            <a:ext cx="2819650" cy="606964"/>
            <a:chOff x="0" y="0"/>
            <a:chExt cx="3430829" cy="738528"/>
          </a:xfrm>
        </p:grpSpPr>
        <p:sp>
          <p:nvSpPr>
            <p:cNvPr name="Freeform 61" id="61"/>
            <p:cNvSpPr/>
            <p:nvPr/>
          </p:nvSpPr>
          <p:spPr>
            <a:xfrm flipH="false" flipV="false" rot="0">
              <a:off x="0" y="0"/>
              <a:ext cx="3430828" cy="738528"/>
            </a:xfrm>
            <a:custGeom>
              <a:avLst/>
              <a:gdLst/>
              <a:ahLst/>
              <a:cxnLst/>
              <a:rect r="r" b="b" t="t" l="l"/>
              <a:pathLst>
                <a:path h="738528" w="3430828">
                  <a:moveTo>
                    <a:pt x="0" y="0"/>
                  </a:moveTo>
                  <a:lnTo>
                    <a:pt x="3430828" y="0"/>
                  </a:lnTo>
                  <a:lnTo>
                    <a:pt x="3430828" y="738528"/>
                  </a:lnTo>
                  <a:lnTo>
                    <a:pt x="0" y="738528"/>
                  </a:lnTo>
                  <a:close/>
                </a:path>
              </a:pathLst>
            </a:custGeom>
            <a:blipFill>
              <a:blip r:embed="rId3">
                <a:alphaModFix amt="0"/>
              </a:blip>
              <a:stretch>
                <a:fillRect l="0" t="-45944" r="0" b="-35090"/>
              </a:stretch>
            </a:blipFill>
          </p:spPr>
        </p:sp>
        <p:sp>
          <p:nvSpPr>
            <p:cNvPr name="TextBox 62" id="62"/>
            <p:cNvSpPr txBox="true"/>
            <p:nvPr/>
          </p:nvSpPr>
          <p:spPr>
            <a:xfrm>
              <a:off x="0" y="-19050"/>
              <a:ext cx="3430829" cy="757578"/>
            </a:xfrm>
            <a:prstGeom prst="rect">
              <a:avLst/>
            </a:prstGeom>
          </p:spPr>
          <p:txBody>
            <a:bodyPr anchor="ctr" rtlCol="false" tIns="0" lIns="0" bIns="0" rIns="0"/>
            <a:lstStyle/>
            <a:p>
              <a:pPr algn="ctr">
                <a:lnSpc>
                  <a:spcPts val="1889"/>
                </a:lnSpc>
              </a:pPr>
              <a:r>
                <a:rPr lang="en-US" sz="1574" b="true">
                  <a:solidFill>
                    <a:srgbClr val="6D28D9"/>
                  </a:solidFill>
                  <a:latin typeface="Calibri (MS) Bold"/>
                  <a:ea typeface="Calibri (MS) Bold"/>
                  <a:cs typeface="Calibri (MS) Bold"/>
                  <a:sym typeface="Calibri (MS) Bold"/>
                </a:rPr>
                <a:t>Encode</a:t>
              </a:r>
            </a:p>
            <a:p>
              <a:pPr algn="ctr">
                <a:lnSpc>
                  <a:spcPts val="1889"/>
                </a:lnSpc>
              </a:pPr>
              <a:r>
                <a:rPr lang="en-US" sz="1574">
                  <a:solidFill>
                    <a:srgbClr val="14142B"/>
                  </a:solidFill>
                  <a:latin typeface="Calibri (MS)"/>
                  <a:ea typeface="Calibri (MS)"/>
                  <a:cs typeface="Calibri (MS)"/>
                  <a:sym typeface="Calibri (MS)"/>
                </a:rPr>
                <a:t>768-d vector (e5)</a:t>
              </a:r>
            </a:p>
          </p:txBody>
        </p:sp>
      </p:grpSp>
      <p:grpSp>
        <p:nvGrpSpPr>
          <p:cNvPr name="Group 63" id="63"/>
          <p:cNvGrpSpPr/>
          <p:nvPr/>
        </p:nvGrpSpPr>
        <p:grpSpPr>
          <a:xfrm rot="0">
            <a:off x="10692601" y="8905834"/>
            <a:ext cx="240482" cy="541084"/>
            <a:chOff x="0" y="0"/>
            <a:chExt cx="292608" cy="658368"/>
          </a:xfrm>
        </p:grpSpPr>
        <p:sp>
          <p:nvSpPr>
            <p:cNvPr name="Freeform 64" id="64"/>
            <p:cNvSpPr/>
            <p:nvPr/>
          </p:nvSpPr>
          <p:spPr>
            <a:xfrm flipH="false" flipV="false" rot="0">
              <a:off x="0" y="0"/>
              <a:ext cx="292608" cy="658368"/>
            </a:xfrm>
            <a:custGeom>
              <a:avLst/>
              <a:gdLst/>
              <a:ahLst/>
              <a:cxnLst/>
              <a:rect r="r" b="b" t="t" l="l"/>
              <a:pathLst>
                <a:path h="658368" w="292608">
                  <a:moveTo>
                    <a:pt x="0" y="0"/>
                  </a:moveTo>
                  <a:lnTo>
                    <a:pt x="292608" y="0"/>
                  </a:lnTo>
                  <a:lnTo>
                    <a:pt x="292608" y="658368"/>
                  </a:lnTo>
                  <a:lnTo>
                    <a:pt x="0" y="658368"/>
                  </a:lnTo>
                  <a:close/>
                </a:path>
              </a:pathLst>
            </a:custGeom>
            <a:blipFill>
              <a:blip r:embed="rId3">
                <a:alphaModFix amt="0"/>
              </a:blip>
              <a:stretch>
                <a:fillRect l="-238683" t="0" r="-238683" b="0"/>
              </a:stretch>
            </a:blipFill>
          </p:spPr>
        </p:sp>
        <p:sp>
          <p:nvSpPr>
            <p:cNvPr name="TextBox 65" id="65"/>
            <p:cNvSpPr txBox="true"/>
            <p:nvPr/>
          </p:nvSpPr>
          <p:spPr>
            <a:xfrm>
              <a:off x="0" y="-57150"/>
              <a:ext cx="292608" cy="715518"/>
            </a:xfrm>
            <a:prstGeom prst="rect">
              <a:avLst/>
            </a:prstGeom>
          </p:spPr>
          <p:txBody>
            <a:bodyPr anchor="ctr" rtlCol="false" tIns="0" lIns="0" bIns="0" rIns="0"/>
            <a:lstStyle/>
            <a:p>
              <a:pPr algn="ctr">
                <a:lnSpc>
                  <a:spcPts val="2879"/>
                </a:lnSpc>
              </a:pPr>
              <a:r>
                <a:rPr lang="en-US" sz="2399" b="true">
                  <a:solidFill>
                    <a:srgbClr val="6B6B76"/>
                  </a:solidFill>
                  <a:latin typeface="Calibri (MS) Bold"/>
                  <a:ea typeface="Calibri (MS) Bold"/>
                  <a:cs typeface="Calibri (MS) Bold"/>
                  <a:sym typeface="Calibri (MS) Bold"/>
                </a:rPr>
                <a:t>›</a:t>
              </a:r>
            </a:p>
          </p:txBody>
        </p:sp>
      </p:grpSp>
      <p:grpSp>
        <p:nvGrpSpPr>
          <p:cNvPr name="Group 66" id="66"/>
          <p:cNvGrpSpPr/>
          <p:nvPr/>
        </p:nvGrpSpPr>
        <p:grpSpPr>
          <a:xfrm rot="0">
            <a:off x="10937675" y="8865336"/>
            <a:ext cx="3081007" cy="622080"/>
            <a:chOff x="0" y="0"/>
            <a:chExt cx="3748837" cy="756920"/>
          </a:xfrm>
        </p:grpSpPr>
        <p:sp>
          <p:nvSpPr>
            <p:cNvPr name="Freeform 67" id="67"/>
            <p:cNvSpPr/>
            <p:nvPr/>
          </p:nvSpPr>
          <p:spPr>
            <a:xfrm flipH="false" flipV="false" rot="0">
              <a:off x="0" y="0"/>
              <a:ext cx="3748786" cy="756920"/>
            </a:xfrm>
            <a:custGeom>
              <a:avLst/>
              <a:gdLst/>
              <a:ahLst/>
              <a:cxnLst/>
              <a:rect r="r" b="b" t="t" l="l"/>
              <a:pathLst>
                <a:path h="756920" w="3748786">
                  <a:moveTo>
                    <a:pt x="0" y="378460"/>
                  </a:moveTo>
                  <a:cubicBezTo>
                    <a:pt x="0" y="169418"/>
                    <a:pt x="169418" y="0"/>
                    <a:pt x="378460" y="0"/>
                  </a:cubicBezTo>
                  <a:lnTo>
                    <a:pt x="3370326" y="0"/>
                  </a:lnTo>
                  <a:cubicBezTo>
                    <a:pt x="3579368" y="0"/>
                    <a:pt x="3748786" y="169418"/>
                    <a:pt x="3748786" y="378460"/>
                  </a:cubicBezTo>
                  <a:cubicBezTo>
                    <a:pt x="3748786" y="587502"/>
                    <a:pt x="3579368" y="756920"/>
                    <a:pt x="3370326" y="756920"/>
                  </a:cubicBezTo>
                  <a:lnTo>
                    <a:pt x="378460" y="756920"/>
                  </a:lnTo>
                  <a:cubicBezTo>
                    <a:pt x="169418" y="756920"/>
                    <a:pt x="0" y="587502"/>
                    <a:pt x="0" y="378460"/>
                  </a:cubicBezTo>
                  <a:close/>
                </a:path>
              </a:pathLst>
            </a:custGeom>
            <a:solidFill>
              <a:srgbClr val="FFFFFF"/>
            </a:solidFill>
            <a:ln w="19050" cap="sq">
              <a:solidFill>
                <a:srgbClr val="D9D3F0"/>
              </a:solidFill>
              <a:prstDash val="solid"/>
              <a:miter/>
            </a:ln>
          </p:spPr>
        </p:sp>
      </p:grpSp>
      <p:grpSp>
        <p:nvGrpSpPr>
          <p:cNvPr name="Group 68" id="68"/>
          <p:cNvGrpSpPr/>
          <p:nvPr/>
        </p:nvGrpSpPr>
        <p:grpSpPr>
          <a:xfrm rot="0">
            <a:off x="11068354" y="8905834"/>
            <a:ext cx="2819650" cy="606964"/>
            <a:chOff x="0" y="0"/>
            <a:chExt cx="3430829" cy="738528"/>
          </a:xfrm>
        </p:grpSpPr>
        <p:sp>
          <p:nvSpPr>
            <p:cNvPr name="Freeform 69" id="69"/>
            <p:cNvSpPr/>
            <p:nvPr/>
          </p:nvSpPr>
          <p:spPr>
            <a:xfrm flipH="false" flipV="false" rot="0">
              <a:off x="0" y="0"/>
              <a:ext cx="3430828" cy="738528"/>
            </a:xfrm>
            <a:custGeom>
              <a:avLst/>
              <a:gdLst/>
              <a:ahLst/>
              <a:cxnLst/>
              <a:rect r="r" b="b" t="t" l="l"/>
              <a:pathLst>
                <a:path h="738528" w="3430828">
                  <a:moveTo>
                    <a:pt x="0" y="0"/>
                  </a:moveTo>
                  <a:lnTo>
                    <a:pt x="3430828" y="0"/>
                  </a:lnTo>
                  <a:lnTo>
                    <a:pt x="3430828" y="738528"/>
                  </a:lnTo>
                  <a:lnTo>
                    <a:pt x="0" y="738528"/>
                  </a:lnTo>
                  <a:close/>
                </a:path>
              </a:pathLst>
            </a:custGeom>
            <a:blipFill>
              <a:blip r:embed="rId3">
                <a:alphaModFix amt="0"/>
              </a:blip>
              <a:stretch>
                <a:fillRect l="0" t="-45944" r="0" b="-35090"/>
              </a:stretch>
            </a:blipFill>
          </p:spPr>
        </p:sp>
        <p:sp>
          <p:nvSpPr>
            <p:cNvPr name="TextBox 70" id="70"/>
            <p:cNvSpPr txBox="true"/>
            <p:nvPr/>
          </p:nvSpPr>
          <p:spPr>
            <a:xfrm>
              <a:off x="0" y="-19050"/>
              <a:ext cx="3430829" cy="757578"/>
            </a:xfrm>
            <a:prstGeom prst="rect">
              <a:avLst/>
            </a:prstGeom>
          </p:spPr>
          <p:txBody>
            <a:bodyPr anchor="ctr" rtlCol="false" tIns="0" lIns="0" bIns="0" rIns="0"/>
            <a:lstStyle/>
            <a:p>
              <a:pPr algn="ctr">
                <a:lnSpc>
                  <a:spcPts val="1889"/>
                </a:lnSpc>
              </a:pPr>
              <a:r>
                <a:rPr lang="en-US" sz="1574" b="true">
                  <a:solidFill>
                    <a:srgbClr val="6D28D9"/>
                  </a:solidFill>
                  <a:latin typeface="Calibri (MS) Bold"/>
                  <a:ea typeface="Calibri (MS) Bold"/>
                  <a:cs typeface="Calibri (MS) Bold"/>
                  <a:sym typeface="Calibri (MS) Bold"/>
                </a:rPr>
                <a:t>Score</a:t>
              </a:r>
            </a:p>
            <a:p>
              <a:pPr algn="ctr">
                <a:lnSpc>
                  <a:spcPts val="1889"/>
                </a:lnSpc>
              </a:pPr>
              <a:r>
                <a:rPr lang="en-US" sz="1574">
                  <a:solidFill>
                    <a:srgbClr val="14142B"/>
                  </a:solidFill>
                  <a:latin typeface="Calibri (MS)"/>
                  <a:ea typeface="Calibri (MS)"/>
                  <a:cs typeface="Calibri (MS)"/>
                  <a:sym typeface="Calibri (MS)"/>
                </a:rPr>
                <a:t>cosine vs every snippet</a:t>
              </a:r>
            </a:p>
          </p:txBody>
        </p:sp>
      </p:grpSp>
      <p:grpSp>
        <p:nvGrpSpPr>
          <p:cNvPr name="Group 71" id="71"/>
          <p:cNvGrpSpPr/>
          <p:nvPr/>
        </p:nvGrpSpPr>
        <p:grpSpPr>
          <a:xfrm rot="0">
            <a:off x="14023275" y="8905834"/>
            <a:ext cx="240482" cy="541084"/>
            <a:chOff x="0" y="0"/>
            <a:chExt cx="292608" cy="658368"/>
          </a:xfrm>
        </p:grpSpPr>
        <p:sp>
          <p:nvSpPr>
            <p:cNvPr name="Freeform 72" id="72"/>
            <p:cNvSpPr/>
            <p:nvPr/>
          </p:nvSpPr>
          <p:spPr>
            <a:xfrm flipH="false" flipV="false" rot="0">
              <a:off x="0" y="0"/>
              <a:ext cx="292608" cy="658368"/>
            </a:xfrm>
            <a:custGeom>
              <a:avLst/>
              <a:gdLst/>
              <a:ahLst/>
              <a:cxnLst/>
              <a:rect r="r" b="b" t="t" l="l"/>
              <a:pathLst>
                <a:path h="658368" w="292608">
                  <a:moveTo>
                    <a:pt x="0" y="0"/>
                  </a:moveTo>
                  <a:lnTo>
                    <a:pt x="292608" y="0"/>
                  </a:lnTo>
                  <a:lnTo>
                    <a:pt x="292608" y="658368"/>
                  </a:lnTo>
                  <a:lnTo>
                    <a:pt x="0" y="658368"/>
                  </a:lnTo>
                  <a:close/>
                </a:path>
              </a:pathLst>
            </a:custGeom>
            <a:blipFill>
              <a:blip r:embed="rId3">
                <a:alphaModFix amt="0"/>
              </a:blip>
              <a:stretch>
                <a:fillRect l="-238683" t="0" r="-238683" b="0"/>
              </a:stretch>
            </a:blipFill>
          </p:spPr>
        </p:sp>
        <p:sp>
          <p:nvSpPr>
            <p:cNvPr name="TextBox 73" id="73"/>
            <p:cNvSpPr txBox="true"/>
            <p:nvPr/>
          </p:nvSpPr>
          <p:spPr>
            <a:xfrm>
              <a:off x="0" y="-57150"/>
              <a:ext cx="292608" cy="715518"/>
            </a:xfrm>
            <a:prstGeom prst="rect">
              <a:avLst/>
            </a:prstGeom>
          </p:spPr>
          <p:txBody>
            <a:bodyPr anchor="ctr" rtlCol="false" tIns="0" lIns="0" bIns="0" rIns="0"/>
            <a:lstStyle/>
            <a:p>
              <a:pPr algn="ctr">
                <a:lnSpc>
                  <a:spcPts val="2879"/>
                </a:lnSpc>
              </a:pPr>
              <a:r>
                <a:rPr lang="en-US" sz="2399" b="true">
                  <a:solidFill>
                    <a:srgbClr val="6B6B76"/>
                  </a:solidFill>
                  <a:latin typeface="Calibri (MS) Bold"/>
                  <a:ea typeface="Calibri (MS) Bold"/>
                  <a:cs typeface="Calibri (MS) Bold"/>
                  <a:sym typeface="Calibri (MS) Bold"/>
                </a:rPr>
                <a:t>›</a:t>
              </a:r>
            </a:p>
          </p:txBody>
        </p:sp>
      </p:grpSp>
      <p:grpSp>
        <p:nvGrpSpPr>
          <p:cNvPr name="Group 74" id="74"/>
          <p:cNvGrpSpPr/>
          <p:nvPr/>
        </p:nvGrpSpPr>
        <p:grpSpPr>
          <a:xfrm rot="0">
            <a:off x="14268350" y="8865336"/>
            <a:ext cx="3081007" cy="622080"/>
            <a:chOff x="0" y="0"/>
            <a:chExt cx="3748837" cy="756920"/>
          </a:xfrm>
        </p:grpSpPr>
        <p:sp>
          <p:nvSpPr>
            <p:cNvPr name="Freeform 75" id="75"/>
            <p:cNvSpPr/>
            <p:nvPr/>
          </p:nvSpPr>
          <p:spPr>
            <a:xfrm flipH="false" flipV="false" rot="0">
              <a:off x="0" y="0"/>
              <a:ext cx="3748786" cy="756920"/>
            </a:xfrm>
            <a:custGeom>
              <a:avLst/>
              <a:gdLst/>
              <a:ahLst/>
              <a:cxnLst/>
              <a:rect r="r" b="b" t="t" l="l"/>
              <a:pathLst>
                <a:path h="756920" w="3748786">
                  <a:moveTo>
                    <a:pt x="0" y="378460"/>
                  </a:moveTo>
                  <a:cubicBezTo>
                    <a:pt x="0" y="169418"/>
                    <a:pt x="169418" y="0"/>
                    <a:pt x="378460" y="0"/>
                  </a:cubicBezTo>
                  <a:lnTo>
                    <a:pt x="3370326" y="0"/>
                  </a:lnTo>
                  <a:cubicBezTo>
                    <a:pt x="3579368" y="0"/>
                    <a:pt x="3748786" y="169418"/>
                    <a:pt x="3748786" y="378460"/>
                  </a:cubicBezTo>
                  <a:cubicBezTo>
                    <a:pt x="3748786" y="587502"/>
                    <a:pt x="3579368" y="756920"/>
                    <a:pt x="3370326" y="756920"/>
                  </a:cubicBezTo>
                  <a:lnTo>
                    <a:pt x="378460" y="756920"/>
                  </a:lnTo>
                  <a:cubicBezTo>
                    <a:pt x="169418" y="756920"/>
                    <a:pt x="0" y="587502"/>
                    <a:pt x="0" y="378460"/>
                  </a:cubicBezTo>
                  <a:close/>
                </a:path>
              </a:pathLst>
            </a:custGeom>
            <a:solidFill>
              <a:srgbClr val="D9A441"/>
            </a:solidFill>
            <a:ln w="19050" cap="sq">
              <a:solidFill>
                <a:srgbClr val="D9A441"/>
              </a:solidFill>
              <a:prstDash val="solid"/>
              <a:miter/>
            </a:ln>
          </p:spPr>
        </p:sp>
      </p:grpSp>
      <p:grpSp>
        <p:nvGrpSpPr>
          <p:cNvPr name="Group 76" id="76"/>
          <p:cNvGrpSpPr/>
          <p:nvPr/>
        </p:nvGrpSpPr>
        <p:grpSpPr>
          <a:xfrm rot="0">
            <a:off x="14399028" y="8905834"/>
            <a:ext cx="2819650" cy="606964"/>
            <a:chOff x="0" y="0"/>
            <a:chExt cx="3430829" cy="738528"/>
          </a:xfrm>
        </p:grpSpPr>
        <p:sp>
          <p:nvSpPr>
            <p:cNvPr name="Freeform 77" id="77"/>
            <p:cNvSpPr/>
            <p:nvPr/>
          </p:nvSpPr>
          <p:spPr>
            <a:xfrm flipH="false" flipV="false" rot="0">
              <a:off x="0" y="0"/>
              <a:ext cx="3430828" cy="738528"/>
            </a:xfrm>
            <a:custGeom>
              <a:avLst/>
              <a:gdLst/>
              <a:ahLst/>
              <a:cxnLst/>
              <a:rect r="r" b="b" t="t" l="l"/>
              <a:pathLst>
                <a:path h="738528" w="3430828">
                  <a:moveTo>
                    <a:pt x="0" y="0"/>
                  </a:moveTo>
                  <a:lnTo>
                    <a:pt x="3430828" y="0"/>
                  </a:lnTo>
                  <a:lnTo>
                    <a:pt x="3430828" y="738528"/>
                  </a:lnTo>
                  <a:lnTo>
                    <a:pt x="0" y="738528"/>
                  </a:lnTo>
                  <a:close/>
                </a:path>
              </a:pathLst>
            </a:custGeom>
            <a:blipFill>
              <a:blip r:embed="rId3">
                <a:alphaModFix amt="0"/>
              </a:blip>
              <a:stretch>
                <a:fillRect l="0" t="-45944" r="0" b="-35090"/>
              </a:stretch>
            </a:blipFill>
          </p:spPr>
        </p:sp>
        <p:sp>
          <p:nvSpPr>
            <p:cNvPr name="TextBox 78" id="78"/>
            <p:cNvSpPr txBox="true"/>
            <p:nvPr/>
          </p:nvSpPr>
          <p:spPr>
            <a:xfrm>
              <a:off x="0" y="-19050"/>
              <a:ext cx="3430829" cy="757578"/>
            </a:xfrm>
            <a:prstGeom prst="rect">
              <a:avLst/>
            </a:prstGeom>
          </p:spPr>
          <p:txBody>
            <a:bodyPr anchor="ctr" rtlCol="false" tIns="0" lIns="0" bIns="0" rIns="0"/>
            <a:lstStyle/>
            <a:p>
              <a:pPr algn="ctr">
                <a:lnSpc>
                  <a:spcPts val="1889"/>
                </a:lnSpc>
              </a:pPr>
              <a:r>
                <a:rPr lang="en-US" sz="1574" b="true">
                  <a:solidFill>
                    <a:srgbClr val="6D28D9"/>
                  </a:solidFill>
                  <a:latin typeface="Calibri (MS) Bold"/>
                  <a:ea typeface="Calibri (MS) Bold"/>
                  <a:cs typeface="Calibri (MS) Bold"/>
                  <a:sym typeface="Calibri (MS) Bold"/>
                </a:rPr>
                <a:t>Top hit</a:t>
              </a:r>
            </a:p>
            <a:p>
              <a:pPr algn="ctr">
                <a:lnSpc>
                  <a:spcPts val="1889"/>
                </a:lnSpc>
              </a:pPr>
              <a:r>
                <a:rPr lang="en-US" sz="1574">
                  <a:solidFill>
                    <a:srgbClr val="14142B"/>
                  </a:solidFill>
                  <a:latin typeface="Calibri (MS)"/>
                  <a:ea typeface="Calibri (MS)"/>
                  <a:cs typeface="Calibri (MS)"/>
                  <a:sym typeface="Calibri (MS)"/>
                </a:rPr>
                <a:t>[two_sum]</a:t>
              </a:r>
            </a:p>
          </p:txBody>
        </p:sp>
      </p:gr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257300" y="547688"/>
            <a:ext cx="15773400" cy="1988344"/>
            <a:chOff x="0" y="0"/>
            <a:chExt cx="21031200" cy="2651125"/>
          </a:xfrm>
        </p:grpSpPr>
        <p:sp>
          <p:nvSpPr>
            <p:cNvPr name="Freeform 3" id="3"/>
            <p:cNvSpPr/>
            <p:nvPr/>
          </p:nvSpPr>
          <p:spPr>
            <a:xfrm flipH="false" flipV="false" rot="0">
              <a:off x="0" y="0"/>
              <a:ext cx="21031200" cy="2651126"/>
            </a:xfrm>
            <a:custGeom>
              <a:avLst/>
              <a:gdLst/>
              <a:ahLst/>
              <a:cxnLst/>
              <a:rect r="r" b="b" t="t" l="l"/>
              <a:pathLst>
                <a:path h="2651126" w="21031200">
                  <a:moveTo>
                    <a:pt x="0" y="0"/>
                  </a:moveTo>
                  <a:lnTo>
                    <a:pt x="21031200" y="0"/>
                  </a:lnTo>
                  <a:lnTo>
                    <a:pt x="21031200" y="2651126"/>
                  </a:lnTo>
                  <a:lnTo>
                    <a:pt x="0" y="2651126"/>
                  </a:lnTo>
                  <a:close/>
                </a:path>
              </a:pathLst>
            </a:custGeom>
            <a:blipFill>
              <a:blip r:embed="rId3">
                <a:alphaModFix amt="0"/>
              </a:blip>
              <a:stretch>
                <a:fillRect l="0" t="-104573" r="0" b="-104573"/>
              </a:stretch>
            </a:blipFill>
          </p:spPr>
        </p:sp>
        <p:sp>
          <p:nvSpPr>
            <p:cNvPr name="TextBox 4" id="4"/>
            <p:cNvSpPr txBox="true"/>
            <p:nvPr/>
          </p:nvSpPr>
          <p:spPr>
            <a:xfrm>
              <a:off x="0" y="-66675"/>
              <a:ext cx="21031200" cy="2717800"/>
            </a:xfrm>
            <a:prstGeom prst="rect">
              <a:avLst/>
            </a:prstGeom>
          </p:spPr>
          <p:txBody>
            <a:bodyPr anchor="ctr" rtlCol="false" tIns="0" lIns="0" bIns="0" rIns="0"/>
            <a:lstStyle/>
            <a:p>
              <a:pPr algn="l">
                <a:lnSpc>
                  <a:spcPts val="7128"/>
                </a:lnSpc>
              </a:pPr>
              <a:r>
                <a:rPr lang="en-US" sz="6600" b="true">
                  <a:solidFill>
                    <a:srgbClr val="704EA6"/>
                  </a:solidFill>
                  <a:latin typeface="Calibri (MS) Bold"/>
                  <a:ea typeface="Calibri (MS) Bold"/>
                  <a:cs typeface="Calibri (MS) Bold"/>
                  <a:sym typeface="Calibri (MS) Bold"/>
                </a:rPr>
                <a:t>Demo &amp; Product Walkthrough</a:t>
              </a:r>
            </a:p>
          </p:txBody>
        </p:sp>
      </p:grpSp>
      <p:grpSp>
        <p:nvGrpSpPr>
          <p:cNvPr name="Group 5" id="5"/>
          <p:cNvGrpSpPr/>
          <p:nvPr/>
        </p:nvGrpSpPr>
        <p:grpSpPr>
          <a:xfrm rot="0">
            <a:off x="284710" y="2117006"/>
            <a:ext cx="17837089" cy="7530042"/>
            <a:chOff x="0" y="0"/>
            <a:chExt cx="23782786" cy="10040056"/>
          </a:xfrm>
        </p:grpSpPr>
        <p:grpSp>
          <p:nvGrpSpPr>
            <p:cNvPr name="Group 6" id="6"/>
            <p:cNvGrpSpPr/>
            <p:nvPr/>
          </p:nvGrpSpPr>
          <p:grpSpPr>
            <a:xfrm rot="0">
              <a:off x="0" y="0"/>
              <a:ext cx="14887045" cy="6177617"/>
              <a:chOff x="0" y="0"/>
              <a:chExt cx="13441680" cy="5577840"/>
            </a:xfrm>
          </p:grpSpPr>
          <p:sp>
            <p:nvSpPr>
              <p:cNvPr name="Freeform 7" id="7"/>
              <p:cNvSpPr/>
              <p:nvPr/>
            </p:nvSpPr>
            <p:spPr>
              <a:xfrm flipH="false" flipV="false" rot="0">
                <a:off x="0" y="0"/>
                <a:ext cx="13441680" cy="5577840"/>
              </a:xfrm>
              <a:custGeom>
                <a:avLst/>
                <a:gdLst/>
                <a:ahLst/>
                <a:cxnLst/>
                <a:rect r="r" b="b" t="t" l="l"/>
                <a:pathLst>
                  <a:path h="5577840" w="13441680">
                    <a:moveTo>
                      <a:pt x="0" y="195199"/>
                    </a:moveTo>
                    <a:cubicBezTo>
                      <a:pt x="0" y="87376"/>
                      <a:pt x="87376" y="0"/>
                      <a:pt x="195199" y="0"/>
                    </a:cubicBezTo>
                    <a:lnTo>
                      <a:pt x="13246481" y="0"/>
                    </a:lnTo>
                    <a:cubicBezTo>
                      <a:pt x="13354304" y="0"/>
                      <a:pt x="13441680" y="87376"/>
                      <a:pt x="13441680" y="195199"/>
                    </a:cubicBezTo>
                    <a:lnTo>
                      <a:pt x="13441680" y="5382641"/>
                    </a:lnTo>
                    <a:cubicBezTo>
                      <a:pt x="13441680" y="5490464"/>
                      <a:pt x="13354304" y="5577840"/>
                      <a:pt x="13246481" y="5577840"/>
                    </a:cubicBezTo>
                    <a:lnTo>
                      <a:pt x="195199" y="5577840"/>
                    </a:lnTo>
                    <a:cubicBezTo>
                      <a:pt x="87376" y="5577840"/>
                      <a:pt x="0" y="5490464"/>
                      <a:pt x="0" y="5382641"/>
                    </a:cubicBezTo>
                    <a:close/>
                  </a:path>
                </a:pathLst>
              </a:custGeom>
              <a:solidFill>
                <a:srgbClr val="1C172E"/>
              </a:solidFill>
            </p:spPr>
          </p:sp>
        </p:grpSp>
        <p:grpSp>
          <p:nvGrpSpPr>
            <p:cNvPr name="Group 8" id="8"/>
            <p:cNvGrpSpPr/>
            <p:nvPr/>
          </p:nvGrpSpPr>
          <p:grpSpPr>
            <a:xfrm rot="0">
              <a:off x="733185" y="922726"/>
              <a:ext cx="283563" cy="283563"/>
              <a:chOff x="0" y="0"/>
              <a:chExt cx="256032" cy="256032"/>
            </a:xfrm>
          </p:grpSpPr>
          <p:sp>
            <p:nvSpPr>
              <p:cNvPr name="Freeform 9" id="9"/>
              <p:cNvSpPr/>
              <p:nvPr/>
            </p:nvSpPr>
            <p:spPr>
              <a:xfrm flipH="false" flipV="false" rot="0">
                <a:off x="0" y="0"/>
                <a:ext cx="256032" cy="256032"/>
              </a:xfrm>
              <a:custGeom>
                <a:avLst/>
                <a:gdLst/>
                <a:ahLst/>
                <a:cxnLst/>
                <a:rect r="r" b="b" t="t" l="l"/>
                <a:pathLst>
                  <a:path h="256032" w="256032">
                    <a:moveTo>
                      <a:pt x="0" y="128016"/>
                    </a:moveTo>
                    <a:cubicBezTo>
                      <a:pt x="0" y="57277"/>
                      <a:pt x="57277" y="0"/>
                      <a:pt x="128016" y="0"/>
                    </a:cubicBezTo>
                    <a:cubicBezTo>
                      <a:pt x="198755" y="0"/>
                      <a:pt x="256032" y="57277"/>
                      <a:pt x="256032" y="128016"/>
                    </a:cubicBezTo>
                    <a:cubicBezTo>
                      <a:pt x="256032" y="198755"/>
                      <a:pt x="198755" y="256032"/>
                      <a:pt x="128016" y="256032"/>
                    </a:cubicBezTo>
                    <a:cubicBezTo>
                      <a:pt x="57277" y="256032"/>
                      <a:pt x="0" y="198755"/>
                      <a:pt x="0" y="128016"/>
                    </a:cubicBezTo>
                    <a:close/>
                  </a:path>
                </a:pathLst>
              </a:custGeom>
              <a:solidFill>
                <a:srgbClr val="E06C6C"/>
              </a:solidFill>
            </p:spPr>
          </p:sp>
        </p:grpSp>
        <p:grpSp>
          <p:nvGrpSpPr>
            <p:cNvPr name="Group 10" id="10"/>
            <p:cNvGrpSpPr/>
            <p:nvPr/>
          </p:nvGrpSpPr>
          <p:grpSpPr>
            <a:xfrm rot="0">
              <a:off x="1300310" y="922726"/>
              <a:ext cx="283563" cy="283563"/>
              <a:chOff x="0" y="0"/>
              <a:chExt cx="256032" cy="256032"/>
            </a:xfrm>
          </p:grpSpPr>
          <p:sp>
            <p:nvSpPr>
              <p:cNvPr name="Freeform 11" id="11"/>
              <p:cNvSpPr/>
              <p:nvPr/>
            </p:nvSpPr>
            <p:spPr>
              <a:xfrm flipH="false" flipV="false" rot="0">
                <a:off x="0" y="0"/>
                <a:ext cx="256032" cy="256032"/>
              </a:xfrm>
              <a:custGeom>
                <a:avLst/>
                <a:gdLst/>
                <a:ahLst/>
                <a:cxnLst/>
                <a:rect r="r" b="b" t="t" l="l"/>
                <a:pathLst>
                  <a:path h="256032" w="256032">
                    <a:moveTo>
                      <a:pt x="0" y="128016"/>
                    </a:moveTo>
                    <a:cubicBezTo>
                      <a:pt x="0" y="57277"/>
                      <a:pt x="57277" y="0"/>
                      <a:pt x="128016" y="0"/>
                    </a:cubicBezTo>
                    <a:cubicBezTo>
                      <a:pt x="198755" y="0"/>
                      <a:pt x="256032" y="57277"/>
                      <a:pt x="256032" y="128016"/>
                    </a:cubicBezTo>
                    <a:cubicBezTo>
                      <a:pt x="256032" y="198755"/>
                      <a:pt x="198755" y="256032"/>
                      <a:pt x="128016" y="256032"/>
                    </a:cubicBezTo>
                    <a:cubicBezTo>
                      <a:pt x="57277" y="256032"/>
                      <a:pt x="0" y="198755"/>
                      <a:pt x="0" y="128016"/>
                    </a:cubicBezTo>
                    <a:close/>
                  </a:path>
                </a:pathLst>
              </a:custGeom>
              <a:solidFill>
                <a:srgbClr val="E8C17A"/>
              </a:solidFill>
            </p:spPr>
          </p:sp>
        </p:grpSp>
        <p:grpSp>
          <p:nvGrpSpPr>
            <p:cNvPr name="Group 12" id="12"/>
            <p:cNvGrpSpPr/>
            <p:nvPr/>
          </p:nvGrpSpPr>
          <p:grpSpPr>
            <a:xfrm rot="0">
              <a:off x="1867436" y="922726"/>
              <a:ext cx="283563" cy="283563"/>
              <a:chOff x="0" y="0"/>
              <a:chExt cx="256032" cy="256032"/>
            </a:xfrm>
          </p:grpSpPr>
          <p:sp>
            <p:nvSpPr>
              <p:cNvPr name="Freeform 13" id="13"/>
              <p:cNvSpPr/>
              <p:nvPr/>
            </p:nvSpPr>
            <p:spPr>
              <a:xfrm flipH="false" flipV="false" rot="0">
                <a:off x="0" y="0"/>
                <a:ext cx="256032" cy="256032"/>
              </a:xfrm>
              <a:custGeom>
                <a:avLst/>
                <a:gdLst/>
                <a:ahLst/>
                <a:cxnLst/>
                <a:rect r="r" b="b" t="t" l="l"/>
                <a:pathLst>
                  <a:path h="256032" w="256032">
                    <a:moveTo>
                      <a:pt x="0" y="128016"/>
                    </a:moveTo>
                    <a:cubicBezTo>
                      <a:pt x="0" y="57277"/>
                      <a:pt x="57277" y="0"/>
                      <a:pt x="128016" y="0"/>
                    </a:cubicBezTo>
                    <a:cubicBezTo>
                      <a:pt x="198755" y="0"/>
                      <a:pt x="256032" y="57277"/>
                      <a:pt x="256032" y="128016"/>
                    </a:cubicBezTo>
                    <a:cubicBezTo>
                      <a:pt x="256032" y="198755"/>
                      <a:pt x="198755" y="256032"/>
                      <a:pt x="128016" y="256032"/>
                    </a:cubicBezTo>
                    <a:cubicBezTo>
                      <a:pt x="57277" y="256032"/>
                      <a:pt x="0" y="198755"/>
                      <a:pt x="0" y="128016"/>
                    </a:cubicBezTo>
                    <a:close/>
                  </a:path>
                </a:pathLst>
              </a:custGeom>
              <a:solidFill>
                <a:srgbClr val="7BC98E"/>
              </a:solidFill>
            </p:spPr>
          </p:sp>
        </p:grpSp>
        <p:sp>
          <p:nvSpPr>
            <p:cNvPr name="TextBox 14" id="14"/>
            <p:cNvSpPr txBox="true"/>
            <p:nvPr/>
          </p:nvSpPr>
          <p:spPr>
            <a:xfrm rot="0">
              <a:off x="874966" y="1723380"/>
              <a:ext cx="13469231" cy="3258682"/>
            </a:xfrm>
            <a:prstGeom prst="rect">
              <a:avLst/>
            </a:prstGeom>
          </p:spPr>
          <p:txBody>
            <a:bodyPr anchor="t" rtlCol="false" tIns="0" lIns="0" bIns="0" rIns="0">
              <a:spAutoFit/>
            </a:bodyPr>
            <a:lstStyle/>
            <a:p>
              <a:pPr algn="l">
                <a:lnSpc>
                  <a:spcPts val="2790"/>
                </a:lnSpc>
              </a:pPr>
              <a:r>
                <a:rPr lang="en-US" sz="2325">
                  <a:solidFill>
                    <a:srgbClr val="9C94B8"/>
                  </a:solidFill>
                  <a:latin typeface="Courier New"/>
                  <a:ea typeface="Courier New"/>
                  <a:cs typeface="Courier New"/>
                  <a:sym typeface="Courier New"/>
                </a:rPr>
                <a:t>$ python -m prism.cli demo --backend hashing</a:t>
              </a:r>
            </a:p>
            <a:p>
              <a:pPr algn="l">
                <a:lnSpc>
                  <a:spcPts val="2790"/>
                </a:lnSpc>
              </a:pPr>
              <a:r>
                <a:rPr lang="en-US" sz="2325">
                  <a:solidFill>
                    <a:srgbClr val="9C94B8"/>
                  </a:solidFill>
                  <a:latin typeface="Courier New"/>
                  <a:ea typeface="Courier New"/>
                  <a:cs typeface="Courier New"/>
                  <a:sym typeface="Courier New"/>
                </a:rPr>
                <a:t>[prism-demo] embedding backend: offline HashingBackend</a:t>
              </a:r>
            </a:p>
            <a:p>
              <a:pPr algn="l">
                <a:lnSpc>
                  <a:spcPts val="2790"/>
                </a:lnSpc>
              </a:pPr>
              <a:r>
                <a:rPr lang="en-US" sz="2325">
                  <a:solidFill>
                    <a:srgbClr val="9C94B8"/>
                  </a:solidFill>
                  <a:latin typeface="Courier New"/>
                  <a:ea typeface="Courier New"/>
                  <a:cs typeface="Courier New"/>
                  <a:sym typeface="Courier New"/>
                </a:rPr>
                <a:t> </a:t>
              </a:r>
            </a:p>
            <a:p>
              <a:pPr algn="l">
                <a:lnSpc>
                  <a:spcPts val="2790"/>
                </a:lnSpc>
              </a:pPr>
              <a:r>
                <a:rPr lang="en-US" sz="2325">
                  <a:solidFill>
                    <a:srgbClr val="EFECF9"/>
                  </a:solidFill>
                  <a:latin typeface="Courier New"/>
                  <a:ea typeface="Courier New"/>
                  <a:cs typeface="Courier New"/>
                  <a:sym typeface="Courier New"/>
                </a:rPr>
                <a:t>Q: find two numbers that sum to a target</a:t>
              </a:r>
            </a:p>
            <a:p>
              <a:pPr algn="l">
                <a:lnSpc>
                  <a:spcPts val="2790"/>
                </a:lnSpc>
              </a:pPr>
              <a:r>
                <a:rPr lang="en-US" sz="2325">
                  <a:solidFill>
                    <a:srgbClr val="E8C17A"/>
                  </a:solidFill>
                  <a:latin typeface="Courier New"/>
                  <a:ea typeface="Courier New"/>
                  <a:cs typeface="Courier New"/>
                  <a:sym typeface="Courier New"/>
                </a:rPr>
                <a:t>  1. [two_sum]            score=0.3810</a:t>
              </a:r>
            </a:p>
            <a:p>
              <a:pPr algn="l">
                <a:lnSpc>
                  <a:spcPts val="2790"/>
                </a:lnSpc>
              </a:pPr>
              <a:r>
                <a:rPr lang="en-US" sz="2325">
                  <a:solidFill>
                    <a:srgbClr val="9C94B8"/>
                  </a:solidFill>
                  <a:latin typeface="Courier New"/>
                  <a:ea typeface="Courier New"/>
                  <a:cs typeface="Courier New"/>
                  <a:sym typeface="Courier New"/>
                </a:rPr>
                <a:t>  2. [binary_search]      score=0.1483</a:t>
              </a:r>
            </a:p>
            <a:p>
              <a:pPr algn="l">
                <a:lnSpc>
                  <a:spcPts val="2790"/>
                </a:lnSpc>
              </a:pPr>
              <a:r>
                <a:rPr lang="en-US" sz="2325">
                  <a:solidFill>
                    <a:srgbClr val="9C94B8"/>
                  </a:solidFill>
                  <a:latin typeface="Courier New"/>
                  <a:ea typeface="Courier New"/>
                  <a:cs typeface="Courier New"/>
                  <a:sym typeface="Courier New"/>
                </a:rPr>
                <a:t>  3. [lru_cache_manual]   score=0.0785</a:t>
              </a:r>
            </a:p>
          </p:txBody>
        </p:sp>
        <p:grpSp>
          <p:nvGrpSpPr>
            <p:cNvPr name="Group 15" id="15"/>
            <p:cNvGrpSpPr/>
            <p:nvPr/>
          </p:nvGrpSpPr>
          <p:grpSpPr>
            <a:xfrm rot="0">
              <a:off x="15660738" y="416363"/>
              <a:ext cx="7797976" cy="2784991"/>
              <a:chOff x="0" y="0"/>
              <a:chExt cx="7040880" cy="2514600"/>
            </a:xfrm>
          </p:grpSpPr>
          <p:sp>
            <p:nvSpPr>
              <p:cNvPr name="Freeform 16" id="16"/>
              <p:cNvSpPr/>
              <p:nvPr/>
            </p:nvSpPr>
            <p:spPr>
              <a:xfrm flipH="false" flipV="false" rot="0">
                <a:off x="0" y="0"/>
                <a:ext cx="7040880" cy="2514600"/>
              </a:xfrm>
              <a:custGeom>
                <a:avLst/>
                <a:gdLst/>
                <a:ahLst/>
                <a:cxnLst/>
                <a:rect r="r" b="b" t="t" l="l"/>
                <a:pathLst>
                  <a:path h="2514600" w="7040880">
                    <a:moveTo>
                      <a:pt x="0" y="201168"/>
                    </a:moveTo>
                    <a:cubicBezTo>
                      <a:pt x="0" y="90043"/>
                      <a:pt x="90043" y="0"/>
                      <a:pt x="201168" y="0"/>
                    </a:cubicBezTo>
                    <a:lnTo>
                      <a:pt x="6839712" y="0"/>
                    </a:lnTo>
                    <a:cubicBezTo>
                      <a:pt x="6950837" y="0"/>
                      <a:pt x="7040880" y="90043"/>
                      <a:pt x="7040880" y="201168"/>
                    </a:cubicBezTo>
                    <a:lnTo>
                      <a:pt x="7040880" y="2313432"/>
                    </a:lnTo>
                    <a:cubicBezTo>
                      <a:pt x="7040880" y="2424557"/>
                      <a:pt x="6950837" y="2514600"/>
                      <a:pt x="6839712" y="2514600"/>
                    </a:cubicBezTo>
                    <a:lnTo>
                      <a:pt x="201168" y="2514600"/>
                    </a:lnTo>
                    <a:cubicBezTo>
                      <a:pt x="90043" y="2514600"/>
                      <a:pt x="0" y="2424557"/>
                      <a:pt x="0" y="2313432"/>
                    </a:cubicBezTo>
                    <a:close/>
                  </a:path>
                </a:pathLst>
              </a:custGeom>
              <a:solidFill>
                <a:srgbClr val="EDE9FB"/>
              </a:solidFill>
            </p:spPr>
          </p:sp>
        </p:grpSp>
        <p:grpSp>
          <p:nvGrpSpPr>
            <p:cNvPr name="Group 17" id="17"/>
            <p:cNvGrpSpPr/>
            <p:nvPr/>
          </p:nvGrpSpPr>
          <p:grpSpPr>
            <a:xfrm rot="0">
              <a:off x="15964555" y="780944"/>
              <a:ext cx="7190341" cy="2105508"/>
              <a:chOff x="0" y="0"/>
              <a:chExt cx="6492240" cy="1901087"/>
            </a:xfrm>
          </p:grpSpPr>
          <p:sp>
            <p:nvSpPr>
              <p:cNvPr name="Freeform 18" id="18"/>
              <p:cNvSpPr/>
              <p:nvPr/>
            </p:nvSpPr>
            <p:spPr>
              <a:xfrm flipH="false" flipV="false" rot="0">
                <a:off x="0" y="0"/>
                <a:ext cx="6492240" cy="1901087"/>
              </a:xfrm>
              <a:custGeom>
                <a:avLst/>
                <a:gdLst/>
                <a:ahLst/>
                <a:cxnLst/>
                <a:rect r="r" b="b" t="t" l="l"/>
                <a:pathLst>
                  <a:path h="1901087" w="6492240">
                    <a:moveTo>
                      <a:pt x="0" y="0"/>
                    </a:moveTo>
                    <a:lnTo>
                      <a:pt x="6492240" y="0"/>
                    </a:lnTo>
                    <a:lnTo>
                      <a:pt x="6492240" y="1901087"/>
                    </a:lnTo>
                    <a:lnTo>
                      <a:pt x="0" y="1901087"/>
                    </a:lnTo>
                    <a:close/>
                  </a:path>
                </a:pathLst>
              </a:custGeom>
              <a:blipFill>
                <a:blip r:embed="rId3">
                  <a:alphaModFix amt="0"/>
                </a:blip>
                <a:stretch>
                  <a:fillRect l="0" t="-17721" r="0" b="-15361"/>
                </a:stretch>
              </a:blipFill>
            </p:spPr>
          </p:sp>
          <p:sp>
            <p:nvSpPr>
              <p:cNvPr name="TextBox 19" id="19"/>
              <p:cNvSpPr txBox="true"/>
              <p:nvPr/>
            </p:nvSpPr>
            <p:spPr>
              <a:xfrm>
                <a:off x="0" y="-85725"/>
                <a:ext cx="6492240" cy="1986812"/>
              </a:xfrm>
              <a:prstGeom prst="rect">
                <a:avLst/>
              </a:prstGeom>
            </p:spPr>
            <p:txBody>
              <a:bodyPr anchor="ctr" rtlCol="false" tIns="0" lIns="0" bIns="0" rIns="0"/>
              <a:lstStyle/>
              <a:p>
                <a:pPr algn="ctr">
                  <a:lnSpc>
                    <a:spcPts val="5399"/>
                  </a:lnSpc>
                </a:pPr>
                <a:r>
                  <a:rPr lang="en-US" sz="4499" b="true">
                    <a:solidFill>
                      <a:srgbClr val="6D28D9"/>
                    </a:solidFill>
                    <a:latin typeface="Calibri (MS) Bold"/>
                    <a:ea typeface="Calibri (MS) Bold"/>
                    <a:cs typeface="Calibri (MS) Bold"/>
                    <a:sym typeface="Calibri (MS) Bold"/>
                  </a:rPr>
                  <a:t>~42 ms</a:t>
                </a:r>
              </a:p>
              <a:p>
                <a:pPr algn="ctr">
                  <a:lnSpc>
                    <a:spcPts val="2339"/>
                  </a:lnSpc>
                </a:pPr>
                <a:r>
                  <a:rPr lang="en-US" sz="1949">
                    <a:solidFill>
                      <a:srgbClr val="6B6B76"/>
                    </a:solidFill>
                    <a:latin typeface="Calibri (MS)"/>
                    <a:ea typeface="Calibri (MS)"/>
                    <a:cs typeface="Calibri (MS)"/>
                    <a:sym typeface="Calibri (MS)"/>
                  </a:rPr>
                  <a:t>per query, end to end</a:t>
                </a:r>
              </a:p>
              <a:p>
                <a:pPr algn="ctr">
                  <a:lnSpc>
                    <a:spcPts val="2339"/>
                  </a:lnSpc>
                </a:pPr>
                <a:r>
                  <a:rPr lang="en-US" sz="1949">
                    <a:solidFill>
                      <a:srgbClr val="6B6B76"/>
                    </a:solidFill>
                    <a:latin typeface="Calibri (MS)"/>
                    <a:ea typeface="Calibri (MS)"/>
                    <a:cs typeface="Calibri (MS)"/>
                    <a:sym typeface="Calibri (MS)"/>
                  </a:rPr>
                  <a:t>e5-base-v2 on CPU</a:t>
                </a:r>
              </a:p>
            </p:txBody>
          </p:sp>
        </p:grpSp>
        <p:grpSp>
          <p:nvGrpSpPr>
            <p:cNvPr name="Group 20" id="20"/>
            <p:cNvGrpSpPr/>
            <p:nvPr/>
          </p:nvGrpSpPr>
          <p:grpSpPr>
            <a:xfrm rot="0">
              <a:off x="15660738" y="3808989"/>
              <a:ext cx="7797976" cy="2784991"/>
              <a:chOff x="0" y="0"/>
              <a:chExt cx="7040880" cy="2514600"/>
            </a:xfrm>
          </p:grpSpPr>
          <p:sp>
            <p:nvSpPr>
              <p:cNvPr name="Freeform 21" id="21"/>
              <p:cNvSpPr/>
              <p:nvPr/>
            </p:nvSpPr>
            <p:spPr>
              <a:xfrm flipH="false" flipV="false" rot="0">
                <a:off x="0" y="0"/>
                <a:ext cx="7040880" cy="2514600"/>
              </a:xfrm>
              <a:custGeom>
                <a:avLst/>
                <a:gdLst/>
                <a:ahLst/>
                <a:cxnLst/>
                <a:rect r="r" b="b" t="t" l="l"/>
                <a:pathLst>
                  <a:path h="2514600" w="7040880">
                    <a:moveTo>
                      <a:pt x="0" y="201168"/>
                    </a:moveTo>
                    <a:cubicBezTo>
                      <a:pt x="0" y="90043"/>
                      <a:pt x="90043" y="0"/>
                      <a:pt x="201168" y="0"/>
                    </a:cubicBezTo>
                    <a:lnTo>
                      <a:pt x="6839712" y="0"/>
                    </a:lnTo>
                    <a:cubicBezTo>
                      <a:pt x="6950837" y="0"/>
                      <a:pt x="7040880" y="90043"/>
                      <a:pt x="7040880" y="201168"/>
                    </a:cubicBezTo>
                    <a:lnTo>
                      <a:pt x="7040880" y="2313432"/>
                    </a:lnTo>
                    <a:cubicBezTo>
                      <a:pt x="7040880" y="2424557"/>
                      <a:pt x="6950837" y="2514600"/>
                      <a:pt x="6839712" y="2514600"/>
                    </a:cubicBezTo>
                    <a:lnTo>
                      <a:pt x="201168" y="2514600"/>
                    </a:lnTo>
                    <a:cubicBezTo>
                      <a:pt x="90043" y="2514600"/>
                      <a:pt x="0" y="2424557"/>
                      <a:pt x="0" y="2313432"/>
                    </a:cubicBezTo>
                    <a:close/>
                  </a:path>
                </a:pathLst>
              </a:custGeom>
              <a:solidFill>
                <a:srgbClr val="EDE9FB"/>
              </a:solidFill>
            </p:spPr>
          </p:sp>
        </p:grpSp>
        <p:grpSp>
          <p:nvGrpSpPr>
            <p:cNvPr name="Group 22" id="22"/>
            <p:cNvGrpSpPr/>
            <p:nvPr/>
          </p:nvGrpSpPr>
          <p:grpSpPr>
            <a:xfrm rot="0">
              <a:off x="15964555" y="4173570"/>
              <a:ext cx="7190341" cy="2105508"/>
              <a:chOff x="0" y="0"/>
              <a:chExt cx="6492240" cy="1901087"/>
            </a:xfrm>
          </p:grpSpPr>
          <p:sp>
            <p:nvSpPr>
              <p:cNvPr name="Freeform 23" id="23"/>
              <p:cNvSpPr/>
              <p:nvPr/>
            </p:nvSpPr>
            <p:spPr>
              <a:xfrm flipH="false" flipV="false" rot="0">
                <a:off x="0" y="0"/>
                <a:ext cx="6492240" cy="1901087"/>
              </a:xfrm>
              <a:custGeom>
                <a:avLst/>
                <a:gdLst/>
                <a:ahLst/>
                <a:cxnLst/>
                <a:rect r="r" b="b" t="t" l="l"/>
                <a:pathLst>
                  <a:path h="1901087" w="6492240">
                    <a:moveTo>
                      <a:pt x="0" y="0"/>
                    </a:moveTo>
                    <a:lnTo>
                      <a:pt x="6492240" y="0"/>
                    </a:lnTo>
                    <a:lnTo>
                      <a:pt x="6492240" y="1901087"/>
                    </a:lnTo>
                    <a:lnTo>
                      <a:pt x="0" y="1901087"/>
                    </a:lnTo>
                    <a:close/>
                  </a:path>
                </a:pathLst>
              </a:custGeom>
              <a:blipFill>
                <a:blip r:embed="rId3">
                  <a:alphaModFix amt="0"/>
                </a:blip>
                <a:stretch>
                  <a:fillRect l="0" t="-17721" r="0" b="-15361"/>
                </a:stretch>
              </a:blipFill>
            </p:spPr>
          </p:sp>
          <p:sp>
            <p:nvSpPr>
              <p:cNvPr name="TextBox 24" id="24"/>
              <p:cNvSpPr txBox="true"/>
              <p:nvPr/>
            </p:nvSpPr>
            <p:spPr>
              <a:xfrm>
                <a:off x="0" y="-85725"/>
                <a:ext cx="6492240" cy="1986812"/>
              </a:xfrm>
              <a:prstGeom prst="rect">
                <a:avLst/>
              </a:prstGeom>
            </p:spPr>
            <p:txBody>
              <a:bodyPr anchor="ctr" rtlCol="false" tIns="0" lIns="0" bIns="0" rIns="0"/>
              <a:lstStyle/>
              <a:p>
                <a:pPr algn="ctr">
                  <a:lnSpc>
                    <a:spcPts val="5399"/>
                  </a:lnSpc>
                </a:pPr>
                <a:r>
                  <a:rPr lang="en-US" sz="4499" b="true">
                    <a:solidFill>
                      <a:srgbClr val="6D28D9"/>
                    </a:solidFill>
                    <a:latin typeface="Calibri (MS) Bold"/>
                    <a:ea typeface="Calibri (MS) Bold"/>
                    <a:cs typeface="Calibri (MS) Bold"/>
                    <a:sym typeface="Calibri (MS) Bold"/>
                  </a:rPr>
                  <a:t>84 min</a:t>
                </a:r>
              </a:p>
              <a:p>
                <a:pPr algn="ctr">
                  <a:lnSpc>
                    <a:spcPts val="2339"/>
                  </a:lnSpc>
                </a:pPr>
                <a:r>
                  <a:rPr lang="en-US" sz="1949">
                    <a:solidFill>
                      <a:srgbClr val="6B6B76"/>
                    </a:solidFill>
                    <a:latin typeface="Calibri (MS)"/>
                    <a:ea typeface="Calibri (MS)"/>
                    <a:cs typeface="Calibri (MS)"/>
                    <a:sym typeface="Calibri (MS)"/>
                  </a:rPr>
                  <a:t>full real eval, e5-base-v2</a:t>
                </a:r>
              </a:p>
              <a:p>
                <a:pPr algn="ctr">
                  <a:lnSpc>
                    <a:spcPts val="2339"/>
                  </a:lnSpc>
                </a:pPr>
                <a:r>
                  <a:rPr lang="en-US" sz="1949">
                    <a:solidFill>
                      <a:srgbClr val="6B6B76"/>
                    </a:solidFill>
                    <a:latin typeface="Calibri (MS)"/>
                    <a:ea typeface="Calibri (MS)"/>
                    <a:cs typeface="Calibri (MS)"/>
                    <a:sym typeface="Calibri (MS)"/>
                  </a:rPr>
                  <a:t>12,530 texts on a free Kaggle CPU</a:t>
                </a:r>
              </a:p>
            </p:txBody>
          </p:sp>
        </p:grpSp>
        <p:sp>
          <p:nvSpPr>
            <p:cNvPr name="TextBox 25" id="25"/>
            <p:cNvSpPr txBox="true"/>
            <p:nvPr/>
          </p:nvSpPr>
          <p:spPr>
            <a:xfrm rot="0">
              <a:off x="490131" y="6342404"/>
              <a:ext cx="23292655" cy="479425"/>
            </a:xfrm>
            <a:prstGeom prst="rect">
              <a:avLst/>
            </a:prstGeom>
          </p:spPr>
          <p:txBody>
            <a:bodyPr anchor="t" rtlCol="false" tIns="0" lIns="0" bIns="0" rIns="0">
              <a:spAutoFit/>
            </a:bodyPr>
            <a:lstStyle/>
            <a:p>
              <a:pPr algn="l">
                <a:lnSpc>
                  <a:spcPts val="2611"/>
                </a:lnSpc>
              </a:pPr>
              <a:r>
                <a:rPr lang="en-US" sz="2176" b="true">
                  <a:solidFill>
                    <a:srgbClr val="6D28D9"/>
                  </a:solidFill>
                  <a:latin typeface="Calibri (MS) Bold"/>
                  <a:ea typeface="Calibri (MS) Bold"/>
                  <a:cs typeface="Calibri (MS) Bold"/>
                  <a:sym typeface="Calibri (MS) Bold"/>
                </a:rPr>
                <a:t>3 more behavioural queries, top-1 hits on the same corpus</a:t>
              </a:r>
            </a:p>
          </p:txBody>
        </p:sp>
        <p:grpSp>
          <p:nvGrpSpPr>
            <p:cNvPr name="Group 26" id="26"/>
            <p:cNvGrpSpPr/>
            <p:nvPr/>
          </p:nvGrpSpPr>
          <p:grpSpPr>
            <a:xfrm rot="0">
              <a:off x="151993" y="7086277"/>
              <a:ext cx="7454775" cy="2357397"/>
              <a:chOff x="0" y="0"/>
              <a:chExt cx="6731000" cy="2128520"/>
            </a:xfrm>
          </p:grpSpPr>
          <p:sp>
            <p:nvSpPr>
              <p:cNvPr name="Freeform 27" id="27"/>
              <p:cNvSpPr/>
              <p:nvPr/>
            </p:nvSpPr>
            <p:spPr>
              <a:xfrm flipH="false" flipV="false" rot="0">
                <a:off x="0" y="0"/>
                <a:ext cx="6731000" cy="2128520"/>
              </a:xfrm>
              <a:custGeom>
                <a:avLst/>
                <a:gdLst/>
                <a:ahLst/>
                <a:cxnLst/>
                <a:rect r="r" b="b" t="t" l="l"/>
                <a:pathLst>
                  <a:path h="2128520" w="6731000">
                    <a:moveTo>
                      <a:pt x="0" y="127762"/>
                    </a:moveTo>
                    <a:cubicBezTo>
                      <a:pt x="0" y="57150"/>
                      <a:pt x="57150" y="0"/>
                      <a:pt x="127762" y="0"/>
                    </a:cubicBezTo>
                    <a:lnTo>
                      <a:pt x="6603238" y="0"/>
                    </a:lnTo>
                    <a:cubicBezTo>
                      <a:pt x="6673850" y="0"/>
                      <a:pt x="6731000" y="57150"/>
                      <a:pt x="6731000" y="127762"/>
                    </a:cubicBezTo>
                    <a:lnTo>
                      <a:pt x="6731000" y="2000758"/>
                    </a:lnTo>
                    <a:cubicBezTo>
                      <a:pt x="6731000" y="2071243"/>
                      <a:pt x="6673850" y="2128520"/>
                      <a:pt x="6603238" y="2128520"/>
                    </a:cubicBezTo>
                    <a:lnTo>
                      <a:pt x="127762" y="2128520"/>
                    </a:lnTo>
                    <a:cubicBezTo>
                      <a:pt x="57150" y="2128520"/>
                      <a:pt x="0" y="2071370"/>
                      <a:pt x="0" y="2000758"/>
                    </a:cubicBezTo>
                    <a:close/>
                  </a:path>
                </a:pathLst>
              </a:custGeom>
              <a:solidFill>
                <a:srgbClr val="FFFFFF"/>
              </a:solidFill>
              <a:ln w="19050" cap="sq">
                <a:solidFill>
                  <a:srgbClr val="D9D3F0"/>
                </a:solidFill>
                <a:prstDash val="solid"/>
                <a:miter/>
              </a:ln>
            </p:spPr>
          </p:sp>
        </p:grpSp>
        <p:sp>
          <p:nvSpPr>
            <p:cNvPr name="TextBox 28" id="28"/>
            <p:cNvSpPr txBox="true"/>
            <p:nvPr/>
          </p:nvSpPr>
          <p:spPr>
            <a:xfrm rot="0">
              <a:off x="490131" y="7236212"/>
              <a:ext cx="6778500" cy="505046"/>
            </a:xfrm>
            <a:prstGeom prst="rect">
              <a:avLst/>
            </a:prstGeom>
          </p:spPr>
          <p:txBody>
            <a:bodyPr anchor="t" rtlCol="false" tIns="0" lIns="0" bIns="0" rIns="0">
              <a:spAutoFit/>
            </a:bodyPr>
            <a:lstStyle/>
            <a:p>
              <a:pPr algn="l">
                <a:lnSpc>
                  <a:spcPts val="2873"/>
                </a:lnSpc>
              </a:pPr>
              <a:r>
                <a:rPr lang="en-US" sz="2176" i="true">
                  <a:solidFill>
                    <a:srgbClr val="6B6B76"/>
                  </a:solidFill>
                  <a:latin typeface="Calibri (MS) Italics"/>
                  <a:ea typeface="Calibri (MS) Italics"/>
                  <a:cs typeface="Calibri (MS) Italics"/>
                  <a:sym typeface="Calibri (MS) Italics"/>
                </a:rPr>
                <a:t>Q  “check if a string is a palindrome”</a:t>
              </a:r>
            </a:p>
          </p:txBody>
        </p:sp>
        <p:sp>
          <p:nvSpPr>
            <p:cNvPr name="TextBox 29" id="29"/>
            <p:cNvSpPr txBox="true"/>
            <p:nvPr/>
          </p:nvSpPr>
          <p:spPr>
            <a:xfrm rot="0">
              <a:off x="490131" y="8227478"/>
              <a:ext cx="6778500" cy="1004087"/>
            </a:xfrm>
            <a:prstGeom prst="rect">
              <a:avLst/>
            </a:prstGeom>
          </p:spPr>
          <p:txBody>
            <a:bodyPr anchor="t" rtlCol="false" tIns="0" lIns="0" bIns="0" rIns="0">
              <a:spAutoFit/>
            </a:bodyPr>
            <a:lstStyle/>
            <a:p>
              <a:pPr algn="l">
                <a:lnSpc>
                  <a:spcPts val="3389"/>
                </a:lnSpc>
              </a:pPr>
              <a:r>
                <a:rPr lang="en-US" sz="2824" b="true">
                  <a:solidFill>
                    <a:srgbClr val="6D28D9"/>
                  </a:solidFill>
                  <a:latin typeface="Calibri (MS) Bold"/>
                  <a:ea typeface="Calibri (MS) Bold"/>
                  <a:cs typeface="Calibri (MS) Bold"/>
                  <a:sym typeface="Calibri (MS) Bold"/>
                </a:rPr>
                <a:t>▶  is_palindrome</a:t>
              </a:r>
            </a:p>
            <a:p>
              <a:pPr algn="l">
                <a:lnSpc>
                  <a:spcPts val="2392"/>
                </a:lnSpc>
              </a:pPr>
              <a:r>
                <a:rPr lang="en-US" sz="1993">
                  <a:solidFill>
                    <a:srgbClr val="6B6B76"/>
                  </a:solidFill>
                  <a:latin typeface="Calibri (MS)"/>
                  <a:ea typeface="Calibri (MS)"/>
                  <a:cs typeface="Calibri (MS)"/>
                  <a:sym typeface="Calibri (MS)"/>
                </a:rPr>
                <a:t>score  0.44</a:t>
              </a:r>
            </a:p>
          </p:txBody>
        </p:sp>
        <p:grpSp>
          <p:nvGrpSpPr>
            <p:cNvPr name="Group 30" id="30"/>
            <p:cNvGrpSpPr/>
            <p:nvPr/>
          </p:nvGrpSpPr>
          <p:grpSpPr>
            <a:xfrm rot="0">
              <a:off x="8084999" y="7086277"/>
              <a:ext cx="7454775" cy="2357397"/>
              <a:chOff x="0" y="0"/>
              <a:chExt cx="6731000" cy="2128520"/>
            </a:xfrm>
          </p:grpSpPr>
          <p:sp>
            <p:nvSpPr>
              <p:cNvPr name="Freeform 31" id="31"/>
              <p:cNvSpPr/>
              <p:nvPr/>
            </p:nvSpPr>
            <p:spPr>
              <a:xfrm flipH="false" flipV="false" rot="0">
                <a:off x="0" y="0"/>
                <a:ext cx="6731000" cy="2128520"/>
              </a:xfrm>
              <a:custGeom>
                <a:avLst/>
                <a:gdLst/>
                <a:ahLst/>
                <a:cxnLst/>
                <a:rect r="r" b="b" t="t" l="l"/>
                <a:pathLst>
                  <a:path h="2128520" w="6731000">
                    <a:moveTo>
                      <a:pt x="0" y="127762"/>
                    </a:moveTo>
                    <a:cubicBezTo>
                      <a:pt x="0" y="57150"/>
                      <a:pt x="57150" y="0"/>
                      <a:pt x="127762" y="0"/>
                    </a:cubicBezTo>
                    <a:lnTo>
                      <a:pt x="6603238" y="0"/>
                    </a:lnTo>
                    <a:cubicBezTo>
                      <a:pt x="6673850" y="0"/>
                      <a:pt x="6731000" y="57150"/>
                      <a:pt x="6731000" y="127762"/>
                    </a:cubicBezTo>
                    <a:lnTo>
                      <a:pt x="6731000" y="2000758"/>
                    </a:lnTo>
                    <a:cubicBezTo>
                      <a:pt x="6731000" y="2071243"/>
                      <a:pt x="6673850" y="2128520"/>
                      <a:pt x="6603238" y="2128520"/>
                    </a:cubicBezTo>
                    <a:lnTo>
                      <a:pt x="127762" y="2128520"/>
                    </a:lnTo>
                    <a:cubicBezTo>
                      <a:pt x="57150" y="2128520"/>
                      <a:pt x="0" y="2071370"/>
                      <a:pt x="0" y="2000758"/>
                    </a:cubicBezTo>
                    <a:close/>
                  </a:path>
                </a:pathLst>
              </a:custGeom>
              <a:solidFill>
                <a:srgbClr val="FFFFFF"/>
              </a:solidFill>
              <a:ln w="19050" cap="sq">
                <a:solidFill>
                  <a:srgbClr val="D9D3F0"/>
                </a:solidFill>
                <a:prstDash val="solid"/>
                <a:miter/>
              </a:ln>
            </p:spPr>
          </p:sp>
        </p:grpSp>
        <p:sp>
          <p:nvSpPr>
            <p:cNvPr name="TextBox 32" id="32"/>
            <p:cNvSpPr txBox="true"/>
            <p:nvPr/>
          </p:nvSpPr>
          <p:spPr>
            <a:xfrm rot="0">
              <a:off x="8423136" y="7236212"/>
              <a:ext cx="6778500" cy="505046"/>
            </a:xfrm>
            <a:prstGeom prst="rect">
              <a:avLst/>
            </a:prstGeom>
          </p:spPr>
          <p:txBody>
            <a:bodyPr anchor="t" rtlCol="false" tIns="0" lIns="0" bIns="0" rIns="0">
              <a:spAutoFit/>
            </a:bodyPr>
            <a:lstStyle/>
            <a:p>
              <a:pPr algn="l">
                <a:lnSpc>
                  <a:spcPts val="2873"/>
                </a:lnSpc>
              </a:pPr>
              <a:r>
                <a:rPr lang="en-US" sz="2176" i="true">
                  <a:solidFill>
                    <a:srgbClr val="6B6B76"/>
                  </a:solidFill>
                  <a:latin typeface="Calibri (MS) Italics"/>
                  <a:ea typeface="Calibri (MS) Italics"/>
                  <a:cs typeface="Calibri (MS) Italics"/>
                  <a:sym typeface="Calibri (MS) Italics"/>
                </a:rPr>
                <a:t>Q  “shortest path in an unweighted graph”</a:t>
              </a:r>
            </a:p>
          </p:txBody>
        </p:sp>
        <p:sp>
          <p:nvSpPr>
            <p:cNvPr name="TextBox 33" id="33"/>
            <p:cNvSpPr txBox="true"/>
            <p:nvPr/>
          </p:nvSpPr>
          <p:spPr>
            <a:xfrm rot="0">
              <a:off x="8423136" y="8227478"/>
              <a:ext cx="6778500" cy="1004087"/>
            </a:xfrm>
            <a:prstGeom prst="rect">
              <a:avLst/>
            </a:prstGeom>
          </p:spPr>
          <p:txBody>
            <a:bodyPr anchor="t" rtlCol="false" tIns="0" lIns="0" bIns="0" rIns="0">
              <a:spAutoFit/>
            </a:bodyPr>
            <a:lstStyle/>
            <a:p>
              <a:pPr algn="l">
                <a:lnSpc>
                  <a:spcPts val="3389"/>
                </a:lnSpc>
              </a:pPr>
              <a:r>
                <a:rPr lang="en-US" sz="2824" b="true">
                  <a:solidFill>
                    <a:srgbClr val="6D28D9"/>
                  </a:solidFill>
                  <a:latin typeface="Calibri (MS) Bold"/>
                  <a:ea typeface="Calibri (MS) Bold"/>
                  <a:cs typeface="Calibri (MS) Bold"/>
                  <a:sym typeface="Calibri (MS) Bold"/>
                </a:rPr>
                <a:t>▶  bfs</a:t>
              </a:r>
            </a:p>
            <a:p>
              <a:pPr algn="l">
                <a:lnSpc>
                  <a:spcPts val="2392"/>
                </a:lnSpc>
              </a:pPr>
              <a:r>
                <a:rPr lang="en-US" sz="1993">
                  <a:solidFill>
                    <a:srgbClr val="6B6B76"/>
                  </a:solidFill>
                  <a:latin typeface="Calibri (MS)"/>
                  <a:ea typeface="Calibri (MS)"/>
                  <a:cs typeface="Calibri (MS)"/>
                  <a:sym typeface="Calibri (MS)"/>
                </a:rPr>
                <a:t>score  0.15</a:t>
              </a:r>
            </a:p>
          </p:txBody>
        </p:sp>
        <p:grpSp>
          <p:nvGrpSpPr>
            <p:cNvPr name="Group 34" id="34"/>
            <p:cNvGrpSpPr/>
            <p:nvPr/>
          </p:nvGrpSpPr>
          <p:grpSpPr>
            <a:xfrm rot="0">
              <a:off x="16018005" y="7086277"/>
              <a:ext cx="7454775" cy="2357397"/>
              <a:chOff x="0" y="0"/>
              <a:chExt cx="6731000" cy="2128520"/>
            </a:xfrm>
          </p:grpSpPr>
          <p:sp>
            <p:nvSpPr>
              <p:cNvPr name="Freeform 35" id="35"/>
              <p:cNvSpPr/>
              <p:nvPr/>
            </p:nvSpPr>
            <p:spPr>
              <a:xfrm flipH="false" flipV="false" rot="0">
                <a:off x="0" y="0"/>
                <a:ext cx="6731000" cy="2128520"/>
              </a:xfrm>
              <a:custGeom>
                <a:avLst/>
                <a:gdLst/>
                <a:ahLst/>
                <a:cxnLst/>
                <a:rect r="r" b="b" t="t" l="l"/>
                <a:pathLst>
                  <a:path h="2128520" w="6731000">
                    <a:moveTo>
                      <a:pt x="0" y="127762"/>
                    </a:moveTo>
                    <a:cubicBezTo>
                      <a:pt x="0" y="57150"/>
                      <a:pt x="57150" y="0"/>
                      <a:pt x="127762" y="0"/>
                    </a:cubicBezTo>
                    <a:lnTo>
                      <a:pt x="6603238" y="0"/>
                    </a:lnTo>
                    <a:cubicBezTo>
                      <a:pt x="6673850" y="0"/>
                      <a:pt x="6731000" y="57150"/>
                      <a:pt x="6731000" y="127762"/>
                    </a:cubicBezTo>
                    <a:lnTo>
                      <a:pt x="6731000" y="2000758"/>
                    </a:lnTo>
                    <a:cubicBezTo>
                      <a:pt x="6731000" y="2071243"/>
                      <a:pt x="6673850" y="2128520"/>
                      <a:pt x="6603238" y="2128520"/>
                    </a:cubicBezTo>
                    <a:lnTo>
                      <a:pt x="127762" y="2128520"/>
                    </a:lnTo>
                    <a:cubicBezTo>
                      <a:pt x="57150" y="2128520"/>
                      <a:pt x="0" y="2071370"/>
                      <a:pt x="0" y="2000758"/>
                    </a:cubicBezTo>
                    <a:close/>
                  </a:path>
                </a:pathLst>
              </a:custGeom>
              <a:solidFill>
                <a:srgbClr val="FFFFFF"/>
              </a:solidFill>
              <a:ln w="19050" cap="sq">
                <a:solidFill>
                  <a:srgbClr val="D9D3F0"/>
                </a:solidFill>
                <a:prstDash val="solid"/>
                <a:miter/>
              </a:ln>
            </p:spPr>
          </p:sp>
        </p:grpSp>
        <p:sp>
          <p:nvSpPr>
            <p:cNvPr name="TextBox 36" id="36"/>
            <p:cNvSpPr txBox="true"/>
            <p:nvPr/>
          </p:nvSpPr>
          <p:spPr>
            <a:xfrm rot="0">
              <a:off x="16356142" y="7236212"/>
              <a:ext cx="6778500" cy="505046"/>
            </a:xfrm>
            <a:prstGeom prst="rect">
              <a:avLst/>
            </a:prstGeom>
          </p:spPr>
          <p:txBody>
            <a:bodyPr anchor="t" rtlCol="false" tIns="0" lIns="0" bIns="0" rIns="0">
              <a:spAutoFit/>
            </a:bodyPr>
            <a:lstStyle/>
            <a:p>
              <a:pPr algn="l">
                <a:lnSpc>
                  <a:spcPts val="2873"/>
                </a:lnSpc>
              </a:pPr>
              <a:r>
                <a:rPr lang="en-US" sz="2176" i="true">
                  <a:solidFill>
                    <a:srgbClr val="6B6B76"/>
                  </a:solidFill>
                  <a:latin typeface="Calibri (MS) Italics"/>
                  <a:ea typeface="Calibri (MS) Italics"/>
                  <a:cs typeface="Calibri (MS) Italics"/>
                  <a:sym typeface="Calibri (MS) Italics"/>
                </a:rPr>
                <a:t>Q  “count word frequencies in a text”</a:t>
              </a:r>
            </a:p>
          </p:txBody>
        </p:sp>
        <p:sp>
          <p:nvSpPr>
            <p:cNvPr name="TextBox 37" id="37"/>
            <p:cNvSpPr txBox="true"/>
            <p:nvPr/>
          </p:nvSpPr>
          <p:spPr>
            <a:xfrm rot="0">
              <a:off x="16356142" y="8227478"/>
              <a:ext cx="6778500" cy="1004087"/>
            </a:xfrm>
            <a:prstGeom prst="rect">
              <a:avLst/>
            </a:prstGeom>
          </p:spPr>
          <p:txBody>
            <a:bodyPr anchor="t" rtlCol="false" tIns="0" lIns="0" bIns="0" rIns="0">
              <a:spAutoFit/>
            </a:bodyPr>
            <a:lstStyle/>
            <a:p>
              <a:pPr algn="l">
                <a:lnSpc>
                  <a:spcPts val="3389"/>
                </a:lnSpc>
              </a:pPr>
              <a:r>
                <a:rPr lang="en-US" sz="2824" b="true">
                  <a:solidFill>
                    <a:srgbClr val="6D28D9"/>
                  </a:solidFill>
                  <a:latin typeface="Calibri (MS) Bold"/>
                  <a:ea typeface="Calibri (MS) Bold"/>
                  <a:cs typeface="Calibri (MS) Bold"/>
                  <a:sym typeface="Calibri (MS) Bold"/>
                </a:rPr>
                <a:t>▶  word_count</a:t>
              </a:r>
            </a:p>
            <a:p>
              <a:pPr algn="l">
                <a:lnSpc>
                  <a:spcPts val="2392"/>
                </a:lnSpc>
              </a:pPr>
              <a:r>
                <a:rPr lang="en-US" sz="1993">
                  <a:solidFill>
                    <a:srgbClr val="6B6B76"/>
                  </a:solidFill>
                  <a:latin typeface="Calibri (MS)"/>
                  <a:ea typeface="Calibri (MS)"/>
                  <a:cs typeface="Calibri (MS)"/>
                  <a:sym typeface="Calibri (MS)"/>
                </a:rPr>
                <a:t>score  0.48</a:t>
              </a:r>
            </a:p>
          </p:txBody>
        </p:sp>
        <p:sp>
          <p:nvSpPr>
            <p:cNvPr name="TextBox 38" id="38"/>
            <p:cNvSpPr txBox="true"/>
            <p:nvPr/>
          </p:nvSpPr>
          <p:spPr>
            <a:xfrm rot="0">
              <a:off x="166059" y="9594053"/>
              <a:ext cx="23292655" cy="446003"/>
            </a:xfrm>
            <a:prstGeom prst="rect">
              <a:avLst/>
            </a:prstGeom>
          </p:spPr>
          <p:txBody>
            <a:bodyPr anchor="t" rtlCol="false" tIns="0" lIns="0" bIns="0" rIns="0">
              <a:spAutoFit/>
            </a:bodyPr>
            <a:lstStyle/>
            <a:p>
              <a:pPr algn="l">
                <a:lnSpc>
                  <a:spcPts val="2491"/>
                </a:lnSpc>
              </a:pPr>
              <a:r>
                <a:rPr lang="en-US" sz="2076" i="true">
                  <a:solidFill>
                    <a:srgbClr val="6B6B76"/>
                  </a:solidFill>
                  <a:latin typeface="Calibri (MS) Italics"/>
                  <a:ea typeface="Calibri (MS) Italics"/>
                  <a:cs typeface="Calibri (MS) Italics"/>
                  <a:sym typeface="Calibri (MS) Italics"/>
                </a:rPr>
                <a:t>Offline demo (hashing backend, no downloads): same pipeline and ranking code as the leaderboard run — the submitted model swaps in by config.</a:t>
              </a:r>
            </a:p>
          </p:txBody>
        </p:sp>
      </p:gr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88943" y="319088"/>
            <a:ext cx="15773400" cy="1988344"/>
            <a:chOff x="0" y="0"/>
            <a:chExt cx="21031200" cy="2651125"/>
          </a:xfrm>
        </p:grpSpPr>
        <p:sp>
          <p:nvSpPr>
            <p:cNvPr name="Freeform 3" id="3"/>
            <p:cNvSpPr/>
            <p:nvPr/>
          </p:nvSpPr>
          <p:spPr>
            <a:xfrm flipH="false" flipV="false" rot="0">
              <a:off x="0" y="0"/>
              <a:ext cx="21031200" cy="2651126"/>
            </a:xfrm>
            <a:custGeom>
              <a:avLst/>
              <a:gdLst/>
              <a:ahLst/>
              <a:cxnLst/>
              <a:rect r="r" b="b" t="t" l="l"/>
              <a:pathLst>
                <a:path h="2651126" w="21031200">
                  <a:moveTo>
                    <a:pt x="0" y="0"/>
                  </a:moveTo>
                  <a:lnTo>
                    <a:pt x="21031200" y="0"/>
                  </a:lnTo>
                  <a:lnTo>
                    <a:pt x="21031200" y="2651126"/>
                  </a:lnTo>
                  <a:lnTo>
                    <a:pt x="0" y="2651126"/>
                  </a:lnTo>
                  <a:close/>
                </a:path>
              </a:pathLst>
            </a:custGeom>
            <a:blipFill>
              <a:blip r:embed="rId3">
                <a:alphaModFix amt="0"/>
              </a:blip>
              <a:stretch>
                <a:fillRect l="0" t="-104573" r="0" b="-104573"/>
              </a:stretch>
            </a:blipFill>
          </p:spPr>
        </p:sp>
        <p:sp>
          <p:nvSpPr>
            <p:cNvPr name="TextBox 4" id="4"/>
            <p:cNvSpPr txBox="true"/>
            <p:nvPr/>
          </p:nvSpPr>
          <p:spPr>
            <a:xfrm>
              <a:off x="0" y="-66675"/>
              <a:ext cx="21031200" cy="2717800"/>
            </a:xfrm>
            <a:prstGeom prst="rect">
              <a:avLst/>
            </a:prstGeom>
          </p:spPr>
          <p:txBody>
            <a:bodyPr anchor="ctr" rtlCol="false" tIns="0" lIns="0" bIns="0" rIns="0"/>
            <a:lstStyle/>
            <a:p>
              <a:pPr algn="l">
                <a:lnSpc>
                  <a:spcPts val="7128"/>
                </a:lnSpc>
              </a:pPr>
              <a:r>
                <a:rPr lang="en-US" sz="6600" b="true">
                  <a:solidFill>
                    <a:srgbClr val="704EA6"/>
                  </a:solidFill>
                  <a:latin typeface="Calibri (MS) Bold"/>
                  <a:ea typeface="Calibri (MS) Bold"/>
                  <a:cs typeface="Calibri (MS) Bold"/>
                  <a:sym typeface="Calibri (MS) Bold"/>
                </a:rPr>
                <a:t>Tools and tech stack used</a:t>
              </a:r>
            </a:p>
          </p:txBody>
        </p:sp>
      </p:grpSp>
      <p:grpSp>
        <p:nvGrpSpPr>
          <p:cNvPr name="Group 5" id="5"/>
          <p:cNvGrpSpPr/>
          <p:nvPr/>
        </p:nvGrpSpPr>
        <p:grpSpPr>
          <a:xfrm rot="0">
            <a:off x="424017" y="2536031"/>
            <a:ext cx="17439965" cy="1485237"/>
            <a:chOff x="0" y="0"/>
            <a:chExt cx="21056600" cy="1793240"/>
          </a:xfrm>
        </p:grpSpPr>
        <p:sp>
          <p:nvSpPr>
            <p:cNvPr name="Freeform 6" id="6"/>
            <p:cNvSpPr/>
            <p:nvPr/>
          </p:nvSpPr>
          <p:spPr>
            <a:xfrm flipH="false" flipV="false" rot="0">
              <a:off x="0" y="0"/>
              <a:ext cx="21056600" cy="1793240"/>
            </a:xfrm>
            <a:custGeom>
              <a:avLst/>
              <a:gdLst/>
              <a:ahLst/>
              <a:cxnLst/>
              <a:rect r="r" b="b" t="t" l="l"/>
              <a:pathLst>
                <a:path h="1793240" w="21056600">
                  <a:moveTo>
                    <a:pt x="0" y="107569"/>
                  </a:moveTo>
                  <a:cubicBezTo>
                    <a:pt x="0" y="48133"/>
                    <a:pt x="48133" y="0"/>
                    <a:pt x="107569" y="0"/>
                  </a:cubicBezTo>
                  <a:lnTo>
                    <a:pt x="20949031" y="0"/>
                  </a:lnTo>
                  <a:cubicBezTo>
                    <a:pt x="21008468" y="0"/>
                    <a:pt x="21056600" y="48133"/>
                    <a:pt x="21056600" y="107569"/>
                  </a:cubicBezTo>
                  <a:lnTo>
                    <a:pt x="21056600" y="1685671"/>
                  </a:lnTo>
                  <a:cubicBezTo>
                    <a:pt x="21056600" y="1745107"/>
                    <a:pt x="21008468" y="1793240"/>
                    <a:pt x="20949031" y="1793240"/>
                  </a:cubicBezTo>
                  <a:lnTo>
                    <a:pt x="107569" y="1793240"/>
                  </a:lnTo>
                  <a:cubicBezTo>
                    <a:pt x="48133" y="1793240"/>
                    <a:pt x="0" y="1745107"/>
                    <a:pt x="0" y="1685671"/>
                  </a:cubicBezTo>
                  <a:close/>
                </a:path>
              </a:pathLst>
            </a:custGeom>
            <a:solidFill>
              <a:srgbClr val="FFFFFF"/>
            </a:solidFill>
            <a:ln w="19050" cap="sq">
              <a:solidFill>
                <a:srgbClr val="D9D3F0"/>
              </a:solidFill>
              <a:prstDash val="solid"/>
              <a:miter/>
            </a:ln>
          </p:spPr>
        </p:sp>
      </p:grpSp>
      <p:grpSp>
        <p:nvGrpSpPr>
          <p:cNvPr name="Group 7" id="7"/>
          <p:cNvGrpSpPr/>
          <p:nvPr/>
        </p:nvGrpSpPr>
        <p:grpSpPr>
          <a:xfrm rot="0">
            <a:off x="813208" y="2899977"/>
            <a:ext cx="757345" cy="757345"/>
            <a:chOff x="0" y="0"/>
            <a:chExt cx="914400" cy="914400"/>
          </a:xfrm>
        </p:grpSpPr>
        <p:sp>
          <p:nvSpPr>
            <p:cNvPr name="Freeform 8" id="8"/>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704EA6"/>
            </a:solidFill>
          </p:spPr>
        </p:sp>
        <p:sp>
          <p:nvSpPr>
            <p:cNvPr name="TextBox 9" id="9"/>
            <p:cNvSpPr txBox="true"/>
            <p:nvPr/>
          </p:nvSpPr>
          <p:spPr>
            <a:xfrm>
              <a:off x="0" y="-47625"/>
              <a:ext cx="914400" cy="962025"/>
            </a:xfrm>
            <a:prstGeom prst="rect">
              <a:avLst/>
            </a:prstGeom>
          </p:spPr>
          <p:txBody>
            <a:bodyPr anchor="ctr" rtlCol="false" tIns="50800" lIns="50800" bIns="50800" rIns="50800"/>
            <a:lstStyle/>
            <a:p>
              <a:pPr algn="ctr">
                <a:lnSpc>
                  <a:spcPts val="2699"/>
                </a:lnSpc>
              </a:pPr>
              <a:r>
                <a:rPr lang="en-US" sz="2249" b="true">
                  <a:solidFill>
                    <a:srgbClr val="FFFFFF"/>
                  </a:solidFill>
                  <a:latin typeface="Calibri (MS) Bold"/>
                  <a:ea typeface="Calibri (MS) Bold"/>
                  <a:cs typeface="Calibri (MS) Bold"/>
                  <a:sym typeface="Calibri (MS) Bold"/>
                </a:rPr>
                <a:t>1</a:t>
              </a:r>
            </a:p>
          </p:txBody>
        </p:sp>
      </p:grpSp>
      <p:grpSp>
        <p:nvGrpSpPr>
          <p:cNvPr name="Group 10" id="10"/>
          <p:cNvGrpSpPr/>
          <p:nvPr/>
        </p:nvGrpSpPr>
        <p:grpSpPr>
          <a:xfrm rot="0">
            <a:off x="1873491" y="2758606"/>
            <a:ext cx="3786723" cy="1293732"/>
            <a:chOff x="0" y="0"/>
            <a:chExt cx="4572000" cy="1562022"/>
          </a:xfrm>
        </p:grpSpPr>
        <p:sp>
          <p:nvSpPr>
            <p:cNvPr name="Freeform 11" id="11"/>
            <p:cNvSpPr/>
            <p:nvPr/>
          </p:nvSpPr>
          <p:spPr>
            <a:xfrm flipH="false" flipV="false" rot="0">
              <a:off x="0" y="0"/>
              <a:ext cx="4572000" cy="1562022"/>
            </a:xfrm>
            <a:custGeom>
              <a:avLst/>
              <a:gdLst/>
              <a:ahLst/>
              <a:cxnLst/>
              <a:rect r="r" b="b" t="t" l="l"/>
              <a:pathLst>
                <a:path h="1562022" w="4572000">
                  <a:moveTo>
                    <a:pt x="0" y="0"/>
                  </a:moveTo>
                  <a:lnTo>
                    <a:pt x="4572000" y="0"/>
                  </a:lnTo>
                  <a:lnTo>
                    <a:pt x="4572000" y="1562022"/>
                  </a:lnTo>
                  <a:lnTo>
                    <a:pt x="0" y="1562022"/>
                  </a:lnTo>
                  <a:close/>
                </a:path>
              </a:pathLst>
            </a:custGeom>
            <a:blipFill>
              <a:blip r:embed="rId3">
                <a:alphaModFix amt="0"/>
              </a:blip>
              <a:stretch>
                <a:fillRect l="0" t="-16835" r="0" b="2770"/>
              </a:stretch>
            </a:blipFill>
          </p:spPr>
        </p:sp>
        <p:sp>
          <p:nvSpPr>
            <p:cNvPr name="TextBox 12" id="12"/>
            <p:cNvSpPr txBox="true"/>
            <p:nvPr/>
          </p:nvSpPr>
          <p:spPr>
            <a:xfrm>
              <a:off x="0" y="-47625"/>
              <a:ext cx="4572000" cy="1609647"/>
            </a:xfrm>
            <a:prstGeom prst="rect">
              <a:avLst/>
            </a:prstGeom>
          </p:spPr>
          <p:txBody>
            <a:bodyPr anchor="ctr" rtlCol="false" tIns="0" lIns="0" bIns="0" rIns="0"/>
            <a:lstStyle/>
            <a:p>
              <a:pPr algn="l">
                <a:lnSpc>
                  <a:spcPts val="2789"/>
                </a:lnSpc>
              </a:pPr>
              <a:r>
                <a:rPr lang="en-US" sz="2324" b="true">
                  <a:solidFill>
                    <a:srgbClr val="14142B"/>
                  </a:solidFill>
                  <a:latin typeface="Calibri (MS) Bold"/>
                  <a:ea typeface="Calibri (MS) Bold"/>
                  <a:cs typeface="Calibri (MS) Bold"/>
                  <a:sym typeface="Calibri (MS) Bold"/>
                </a:rPr>
                <a:t>Core ML &amp; evaluation</a:t>
              </a:r>
            </a:p>
            <a:p>
              <a:pPr algn="l">
                <a:lnSpc>
                  <a:spcPts val="2318"/>
                </a:lnSpc>
              </a:pPr>
              <a:r>
                <a:rPr lang="en-US" sz="1724" i="true">
                  <a:solidFill>
                    <a:srgbClr val="6B6B76"/>
                  </a:solidFill>
                  <a:latin typeface="Calibri (MS) Italics"/>
                  <a:ea typeface="Calibri (MS) Italics"/>
                  <a:cs typeface="Calibri (MS) Italics"/>
                  <a:sym typeface="Calibri (MS) Italics"/>
                </a:rPr>
                <a:t>MTEB is the same library the leaderboard runs; picking it removes any doubt about metric parity.</a:t>
              </a:r>
            </a:p>
          </p:txBody>
        </p:sp>
      </p:grpSp>
      <p:grpSp>
        <p:nvGrpSpPr>
          <p:cNvPr name="Group 13" id="13"/>
          <p:cNvGrpSpPr/>
          <p:nvPr/>
        </p:nvGrpSpPr>
        <p:grpSpPr>
          <a:xfrm rot="0">
            <a:off x="5811683" y="2758606"/>
            <a:ext cx="11814577" cy="1040087"/>
            <a:chOff x="0" y="0"/>
            <a:chExt cx="14264640" cy="1255776"/>
          </a:xfrm>
        </p:grpSpPr>
        <p:sp>
          <p:nvSpPr>
            <p:cNvPr name="Freeform 14" id="14"/>
            <p:cNvSpPr/>
            <p:nvPr/>
          </p:nvSpPr>
          <p:spPr>
            <a:xfrm flipH="false" flipV="false" rot="0">
              <a:off x="0" y="0"/>
              <a:ext cx="14264639" cy="1255776"/>
            </a:xfrm>
            <a:custGeom>
              <a:avLst/>
              <a:gdLst/>
              <a:ahLst/>
              <a:cxnLst/>
              <a:rect r="r" b="b" t="t" l="l"/>
              <a:pathLst>
                <a:path h="1255776" w="14264639">
                  <a:moveTo>
                    <a:pt x="0" y="0"/>
                  </a:moveTo>
                  <a:lnTo>
                    <a:pt x="14264639" y="0"/>
                  </a:lnTo>
                  <a:lnTo>
                    <a:pt x="14264639" y="1255776"/>
                  </a:lnTo>
                  <a:lnTo>
                    <a:pt x="0" y="1255776"/>
                  </a:lnTo>
                  <a:close/>
                </a:path>
              </a:pathLst>
            </a:custGeom>
            <a:blipFill>
              <a:blip r:embed="rId3">
                <a:alphaModFix amt="0"/>
              </a:blip>
              <a:stretch>
                <a:fillRect l="0" t="-171334" r="0" b="-171334"/>
              </a:stretch>
            </a:blipFill>
          </p:spPr>
        </p:sp>
        <p:sp>
          <p:nvSpPr>
            <p:cNvPr name="TextBox 15" id="15"/>
            <p:cNvSpPr txBox="true"/>
            <p:nvPr/>
          </p:nvSpPr>
          <p:spPr>
            <a:xfrm>
              <a:off x="0" y="-76200"/>
              <a:ext cx="14264640" cy="1331976"/>
            </a:xfrm>
            <a:prstGeom prst="rect">
              <a:avLst/>
            </a:prstGeom>
          </p:spPr>
          <p:txBody>
            <a:bodyPr anchor="ctr" rtlCol="false" tIns="0" lIns="0" bIns="0" rIns="0"/>
            <a:lstStyle/>
            <a:p>
              <a:pPr algn="l">
                <a:lnSpc>
                  <a:spcPts val="2897"/>
                </a:lnSpc>
              </a:pPr>
              <a:r>
                <a:rPr lang="en-US" sz="2099">
                  <a:solidFill>
                    <a:srgbClr val="33333D"/>
                  </a:solidFill>
                  <a:latin typeface="Calibri (MS)"/>
                  <a:ea typeface="Calibri (MS)"/>
                  <a:cs typeface="Calibri (MS)"/>
                  <a:sym typeface="Calibri (MS)"/>
                </a:rPr>
                <a:t>Python 3.11   ·   PyTorch (CPU)   ·   sentence-transformers   ·   MTEB (official scorer)</a:t>
              </a:r>
            </a:p>
          </p:txBody>
        </p:sp>
      </p:grpSp>
      <p:grpSp>
        <p:nvGrpSpPr>
          <p:cNvPr name="Group 16" id="16"/>
          <p:cNvGrpSpPr/>
          <p:nvPr/>
        </p:nvGrpSpPr>
        <p:grpSpPr>
          <a:xfrm rot="0">
            <a:off x="424017" y="4303169"/>
            <a:ext cx="17439965" cy="1485237"/>
            <a:chOff x="0" y="0"/>
            <a:chExt cx="21056600" cy="1793240"/>
          </a:xfrm>
        </p:grpSpPr>
        <p:sp>
          <p:nvSpPr>
            <p:cNvPr name="Freeform 17" id="17"/>
            <p:cNvSpPr/>
            <p:nvPr/>
          </p:nvSpPr>
          <p:spPr>
            <a:xfrm flipH="false" flipV="false" rot="0">
              <a:off x="0" y="0"/>
              <a:ext cx="21056600" cy="1793240"/>
            </a:xfrm>
            <a:custGeom>
              <a:avLst/>
              <a:gdLst/>
              <a:ahLst/>
              <a:cxnLst/>
              <a:rect r="r" b="b" t="t" l="l"/>
              <a:pathLst>
                <a:path h="1793240" w="21056600">
                  <a:moveTo>
                    <a:pt x="0" y="107569"/>
                  </a:moveTo>
                  <a:cubicBezTo>
                    <a:pt x="0" y="48133"/>
                    <a:pt x="48133" y="0"/>
                    <a:pt x="107569" y="0"/>
                  </a:cubicBezTo>
                  <a:lnTo>
                    <a:pt x="20949031" y="0"/>
                  </a:lnTo>
                  <a:cubicBezTo>
                    <a:pt x="21008468" y="0"/>
                    <a:pt x="21056600" y="48133"/>
                    <a:pt x="21056600" y="107569"/>
                  </a:cubicBezTo>
                  <a:lnTo>
                    <a:pt x="21056600" y="1685671"/>
                  </a:lnTo>
                  <a:cubicBezTo>
                    <a:pt x="21056600" y="1745107"/>
                    <a:pt x="21008468" y="1793240"/>
                    <a:pt x="20949031" y="1793240"/>
                  </a:cubicBezTo>
                  <a:lnTo>
                    <a:pt x="107569" y="1793240"/>
                  </a:lnTo>
                  <a:cubicBezTo>
                    <a:pt x="48133" y="1793240"/>
                    <a:pt x="0" y="1745107"/>
                    <a:pt x="0" y="1685671"/>
                  </a:cubicBezTo>
                  <a:close/>
                </a:path>
              </a:pathLst>
            </a:custGeom>
            <a:solidFill>
              <a:srgbClr val="EDE9FB"/>
            </a:solidFill>
            <a:ln w="19050" cap="sq">
              <a:solidFill>
                <a:srgbClr val="D9D3F0"/>
              </a:solidFill>
              <a:prstDash val="solid"/>
              <a:miter/>
            </a:ln>
          </p:spPr>
        </p:sp>
      </p:grpSp>
      <p:grpSp>
        <p:nvGrpSpPr>
          <p:cNvPr name="Group 18" id="18"/>
          <p:cNvGrpSpPr/>
          <p:nvPr/>
        </p:nvGrpSpPr>
        <p:grpSpPr>
          <a:xfrm rot="0">
            <a:off x="813208" y="4667115"/>
            <a:ext cx="757345" cy="757345"/>
            <a:chOff x="0" y="0"/>
            <a:chExt cx="914400" cy="914400"/>
          </a:xfrm>
        </p:grpSpPr>
        <p:sp>
          <p:nvSpPr>
            <p:cNvPr name="Freeform 19" id="19"/>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704EA6"/>
            </a:solidFill>
          </p:spPr>
        </p:sp>
        <p:sp>
          <p:nvSpPr>
            <p:cNvPr name="TextBox 20" id="20"/>
            <p:cNvSpPr txBox="true"/>
            <p:nvPr/>
          </p:nvSpPr>
          <p:spPr>
            <a:xfrm>
              <a:off x="0" y="-47625"/>
              <a:ext cx="914400" cy="962025"/>
            </a:xfrm>
            <a:prstGeom prst="rect">
              <a:avLst/>
            </a:prstGeom>
          </p:spPr>
          <p:txBody>
            <a:bodyPr anchor="ctr" rtlCol="false" tIns="50800" lIns="50800" bIns="50800" rIns="50800"/>
            <a:lstStyle/>
            <a:p>
              <a:pPr algn="ctr">
                <a:lnSpc>
                  <a:spcPts val="2699"/>
                </a:lnSpc>
              </a:pPr>
              <a:r>
                <a:rPr lang="en-US" sz="2249" b="true">
                  <a:solidFill>
                    <a:srgbClr val="FFFFFF"/>
                  </a:solidFill>
                  <a:latin typeface="Calibri (MS) Bold"/>
                  <a:ea typeface="Calibri (MS) Bold"/>
                  <a:cs typeface="Calibri (MS) Bold"/>
                  <a:sym typeface="Calibri (MS) Bold"/>
                </a:rPr>
                <a:t>2</a:t>
              </a:r>
            </a:p>
          </p:txBody>
        </p:sp>
      </p:grpSp>
      <p:grpSp>
        <p:nvGrpSpPr>
          <p:cNvPr name="Group 21" id="21"/>
          <p:cNvGrpSpPr/>
          <p:nvPr/>
        </p:nvGrpSpPr>
        <p:grpSpPr>
          <a:xfrm rot="0">
            <a:off x="1873491" y="4525744"/>
            <a:ext cx="3786723" cy="1293732"/>
            <a:chOff x="0" y="0"/>
            <a:chExt cx="4572000" cy="1562022"/>
          </a:xfrm>
        </p:grpSpPr>
        <p:sp>
          <p:nvSpPr>
            <p:cNvPr name="Freeform 22" id="22"/>
            <p:cNvSpPr/>
            <p:nvPr/>
          </p:nvSpPr>
          <p:spPr>
            <a:xfrm flipH="false" flipV="false" rot="0">
              <a:off x="0" y="0"/>
              <a:ext cx="4572000" cy="1562022"/>
            </a:xfrm>
            <a:custGeom>
              <a:avLst/>
              <a:gdLst/>
              <a:ahLst/>
              <a:cxnLst/>
              <a:rect r="r" b="b" t="t" l="l"/>
              <a:pathLst>
                <a:path h="1562022" w="4572000">
                  <a:moveTo>
                    <a:pt x="0" y="0"/>
                  </a:moveTo>
                  <a:lnTo>
                    <a:pt x="4572000" y="0"/>
                  </a:lnTo>
                  <a:lnTo>
                    <a:pt x="4572000" y="1562022"/>
                  </a:lnTo>
                  <a:lnTo>
                    <a:pt x="0" y="1562022"/>
                  </a:lnTo>
                  <a:close/>
                </a:path>
              </a:pathLst>
            </a:custGeom>
            <a:blipFill>
              <a:blip r:embed="rId3">
                <a:alphaModFix amt="0"/>
              </a:blip>
              <a:stretch>
                <a:fillRect l="0" t="-16835" r="0" b="2770"/>
              </a:stretch>
            </a:blipFill>
          </p:spPr>
        </p:sp>
        <p:sp>
          <p:nvSpPr>
            <p:cNvPr name="TextBox 23" id="23"/>
            <p:cNvSpPr txBox="true"/>
            <p:nvPr/>
          </p:nvSpPr>
          <p:spPr>
            <a:xfrm>
              <a:off x="0" y="-47625"/>
              <a:ext cx="4572000" cy="1609647"/>
            </a:xfrm>
            <a:prstGeom prst="rect">
              <a:avLst/>
            </a:prstGeom>
          </p:spPr>
          <p:txBody>
            <a:bodyPr anchor="ctr" rtlCol="false" tIns="0" lIns="0" bIns="0" rIns="0"/>
            <a:lstStyle/>
            <a:p>
              <a:pPr algn="l">
                <a:lnSpc>
                  <a:spcPts val="2789"/>
                </a:lnSpc>
              </a:pPr>
              <a:r>
                <a:rPr lang="en-US" sz="2324" b="true">
                  <a:solidFill>
                    <a:srgbClr val="14142B"/>
                  </a:solidFill>
                  <a:latin typeface="Calibri (MS) Bold"/>
                  <a:ea typeface="Calibri (MS) Bold"/>
                  <a:cs typeface="Calibri (MS) Bold"/>
                  <a:sym typeface="Calibri (MS) Bold"/>
                </a:rPr>
                <a:t>Retrieval signals</a:t>
              </a:r>
            </a:p>
            <a:p>
              <a:pPr algn="l">
                <a:lnSpc>
                  <a:spcPts val="2318"/>
                </a:lnSpc>
              </a:pPr>
              <a:r>
                <a:rPr lang="en-US" sz="1724" i="true">
                  <a:solidFill>
                    <a:srgbClr val="6B6B76"/>
                  </a:solidFill>
                  <a:latin typeface="Calibri (MS) Italics"/>
                  <a:ea typeface="Calibri (MS) Italics"/>
                  <a:cs typeface="Calibri (MS) Italics"/>
                  <a:sym typeface="Calibri (MS) Italics"/>
                </a:rPr>
                <a:t>Stdlib `ast` avoids a third-party parser dependency — the eval box does not need to install one.</a:t>
              </a:r>
            </a:p>
          </p:txBody>
        </p:sp>
      </p:grpSp>
      <p:grpSp>
        <p:nvGrpSpPr>
          <p:cNvPr name="Group 24" id="24"/>
          <p:cNvGrpSpPr/>
          <p:nvPr/>
        </p:nvGrpSpPr>
        <p:grpSpPr>
          <a:xfrm rot="0">
            <a:off x="5811683" y="4525744"/>
            <a:ext cx="11814577" cy="1040087"/>
            <a:chOff x="0" y="0"/>
            <a:chExt cx="14264640" cy="1255776"/>
          </a:xfrm>
        </p:grpSpPr>
        <p:sp>
          <p:nvSpPr>
            <p:cNvPr name="Freeform 25" id="25"/>
            <p:cNvSpPr/>
            <p:nvPr/>
          </p:nvSpPr>
          <p:spPr>
            <a:xfrm flipH="false" flipV="false" rot="0">
              <a:off x="0" y="0"/>
              <a:ext cx="14264639" cy="1255776"/>
            </a:xfrm>
            <a:custGeom>
              <a:avLst/>
              <a:gdLst/>
              <a:ahLst/>
              <a:cxnLst/>
              <a:rect r="r" b="b" t="t" l="l"/>
              <a:pathLst>
                <a:path h="1255776" w="14264639">
                  <a:moveTo>
                    <a:pt x="0" y="0"/>
                  </a:moveTo>
                  <a:lnTo>
                    <a:pt x="14264639" y="0"/>
                  </a:lnTo>
                  <a:lnTo>
                    <a:pt x="14264639" y="1255776"/>
                  </a:lnTo>
                  <a:lnTo>
                    <a:pt x="0" y="1255776"/>
                  </a:lnTo>
                  <a:close/>
                </a:path>
              </a:pathLst>
            </a:custGeom>
            <a:blipFill>
              <a:blip r:embed="rId3">
                <a:alphaModFix amt="0"/>
              </a:blip>
              <a:stretch>
                <a:fillRect l="0" t="-171334" r="0" b="-171334"/>
              </a:stretch>
            </a:blipFill>
          </p:spPr>
        </p:sp>
        <p:sp>
          <p:nvSpPr>
            <p:cNvPr name="TextBox 26" id="26"/>
            <p:cNvSpPr txBox="true"/>
            <p:nvPr/>
          </p:nvSpPr>
          <p:spPr>
            <a:xfrm>
              <a:off x="0" y="-76200"/>
              <a:ext cx="14264640" cy="1331976"/>
            </a:xfrm>
            <a:prstGeom prst="rect">
              <a:avLst/>
            </a:prstGeom>
          </p:spPr>
          <p:txBody>
            <a:bodyPr anchor="ctr" rtlCol="false" tIns="0" lIns="0" bIns="0" rIns="0"/>
            <a:lstStyle/>
            <a:p>
              <a:pPr algn="l">
                <a:lnSpc>
                  <a:spcPts val="2897"/>
                </a:lnSpc>
              </a:pPr>
              <a:r>
                <a:rPr lang="en-US" sz="2099">
                  <a:solidFill>
                    <a:srgbClr val="33333D"/>
                  </a:solidFill>
                  <a:latin typeface="Calibri (MS)"/>
                  <a:ea typeface="Calibri (MS)"/>
                  <a:cs typeface="Calibri (MS)"/>
                  <a:sym typeface="Calibri (MS)"/>
                </a:rPr>
                <a:t>NumPy   ·   rank-bm25 (sparse/BM25)   ·   Python `ast` (structural normalization)</a:t>
              </a:r>
            </a:p>
          </p:txBody>
        </p:sp>
      </p:grpSp>
      <p:grpSp>
        <p:nvGrpSpPr>
          <p:cNvPr name="Group 27" id="27"/>
          <p:cNvGrpSpPr/>
          <p:nvPr/>
        </p:nvGrpSpPr>
        <p:grpSpPr>
          <a:xfrm rot="0">
            <a:off x="424017" y="6070306"/>
            <a:ext cx="17439965" cy="1485237"/>
            <a:chOff x="0" y="0"/>
            <a:chExt cx="21056600" cy="1793240"/>
          </a:xfrm>
        </p:grpSpPr>
        <p:sp>
          <p:nvSpPr>
            <p:cNvPr name="Freeform 28" id="28"/>
            <p:cNvSpPr/>
            <p:nvPr/>
          </p:nvSpPr>
          <p:spPr>
            <a:xfrm flipH="false" flipV="false" rot="0">
              <a:off x="0" y="0"/>
              <a:ext cx="21056600" cy="1793240"/>
            </a:xfrm>
            <a:custGeom>
              <a:avLst/>
              <a:gdLst/>
              <a:ahLst/>
              <a:cxnLst/>
              <a:rect r="r" b="b" t="t" l="l"/>
              <a:pathLst>
                <a:path h="1793240" w="21056600">
                  <a:moveTo>
                    <a:pt x="0" y="107569"/>
                  </a:moveTo>
                  <a:cubicBezTo>
                    <a:pt x="0" y="48133"/>
                    <a:pt x="48133" y="0"/>
                    <a:pt x="107569" y="0"/>
                  </a:cubicBezTo>
                  <a:lnTo>
                    <a:pt x="20949031" y="0"/>
                  </a:lnTo>
                  <a:cubicBezTo>
                    <a:pt x="21008468" y="0"/>
                    <a:pt x="21056600" y="48133"/>
                    <a:pt x="21056600" y="107569"/>
                  </a:cubicBezTo>
                  <a:lnTo>
                    <a:pt x="21056600" y="1685671"/>
                  </a:lnTo>
                  <a:cubicBezTo>
                    <a:pt x="21056600" y="1745107"/>
                    <a:pt x="21008468" y="1793240"/>
                    <a:pt x="20949031" y="1793240"/>
                  </a:cubicBezTo>
                  <a:lnTo>
                    <a:pt x="107569" y="1793240"/>
                  </a:lnTo>
                  <a:cubicBezTo>
                    <a:pt x="48133" y="1793240"/>
                    <a:pt x="0" y="1745107"/>
                    <a:pt x="0" y="1685671"/>
                  </a:cubicBezTo>
                  <a:close/>
                </a:path>
              </a:pathLst>
            </a:custGeom>
            <a:solidFill>
              <a:srgbClr val="FFFFFF"/>
            </a:solidFill>
            <a:ln w="19050" cap="sq">
              <a:solidFill>
                <a:srgbClr val="D9D3F0"/>
              </a:solidFill>
              <a:prstDash val="solid"/>
              <a:miter/>
            </a:ln>
          </p:spPr>
        </p:sp>
      </p:grpSp>
      <p:grpSp>
        <p:nvGrpSpPr>
          <p:cNvPr name="Group 29" id="29"/>
          <p:cNvGrpSpPr/>
          <p:nvPr/>
        </p:nvGrpSpPr>
        <p:grpSpPr>
          <a:xfrm rot="0">
            <a:off x="813208" y="6434253"/>
            <a:ext cx="757345" cy="757345"/>
            <a:chOff x="0" y="0"/>
            <a:chExt cx="914400" cy="914400"/>
          </a:xfrm>
        </p:grpSpPr>
        <p:sp>
          <p:nvSpPr>
            <p:cNvPr name="Freeform 30" id="30"/>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704EA6"/>
            </a:solidFill>
          </p:spPr>
        </p:sp>
        <p:sp>
          <p:nvSpPr>
            <p:cNvPr name="TextBox 31" id="31"/>
            <p:cNvSpPr txBox="true"/>
            <p:nvPr/>
          </p:nvSpPr>
          <p:spPr>
            <a:xfrm>
              <a:off x="0" y="-47625"/>
              <a:ext cx="914400" cy="962025"/>
            </a:xfrm>
            <a:prstGeom prst="rect">
              <a:avLst/>
            </a:prstGeom>
          </p:spPr>
          <p:txBody>
            <a:bodyPr anchor="ctr" rtlCol="false" tIns="50800" lIns="50800" bIns="50800" rIns="50800"/>
            <a:lstStyle/>
            <a:p>
              <a:pPr algn="ctr">
                <a:lnSpc>
                  <a:spcPts val="2699"/>
                </a:lnSpc>
              </a:pPr>
              <a:r>
                <a:rPr lang="en-US" sz="2249" b="true">
                  <a:solidFill>
                    <a:srgbClr val="FFFFFF"/>
                  </a:solidFill>
                  <a:latin typeface="Calibri (MS) Bold"/>
                  <a:ea typeface="Calibri (MS) Bold"/>
                  <a:cs typeface="Calibri (MS) Bold"/>
                  <a:sym typeface="Calibri (MS) Bold"/>
                </a:rPr>
                <a:t>3</a:t>
              </a:r>
            </a:p>
          </p:txBody>
        </p:sp>
      </p:grpSp>
      <p:grpSp>
        <p:nvGrpSpPr>
          <p:cNvPr name="Group 32" id="32"/>
          <p:cNvGrpSpPr/>
          <p:nvPr/>
        </p:nvGrpSpPr>
        <p:grpSpPr>
          <a:xfrm rot="0">
            <a:off x="1873491" y="6292882"/>
            <a:ext cx="3786723" cy="1293732"/>
            <a:chOff x="0" y="0"/>
            <a:chExt cx="4572000" cy="1562022"/>
          </a:xfrm>
        </p:grpSpPr>
        <p:sp>
          <p:nvSpPr>
            <p:cNvPr name="Freeform 33" id="33"/>
            <p:cNvSpPr/>
            <p:nvPr/>
          </p:nvSpPr>
          <p:spPr>
            <a:xfrm flipH="false" flipV="false" rot="0">
              <a:off x="0" y="0"/>
              <a:ext cx="4572000" cy="1562022"/>
            </a:xfrm>
            <a:custGeom>
              <a:avLst/>
              <a:gdLst/>
              <a:ahLst/>
              <a:cxnLst/>
              <a:rect r="r" b="b" t="t" l="l"/>
              <a:pathLst>
                <a:path h="1562022" w="4572000">
                  <a:moveTo>
                    <a:pt x="0" y="0"/>
                  </a:moveTo>
                  <a:lnTo>
                    <a:pt x="4572000" y="0"/>
                  </a:lnTo>
                  <a:lnTo>
                    <a:pt x="4572000" y="1562022"/>
                  </a:lnTo>
                  <a:lnTo>
                    <a:pt x="0" y="1562022"/>
                  </a:lnTo>
                  <a:close/>
                </a:path>
              </a:pathLst>
            </a:custGeom>
            <a:blipFill>
              <a:blip r:embed="rId3">
                <a:alphaModFix amt="0"/>
              </a:blip>
              <a:stretch>
                <a:fillRect l="0" t="-16835" r="0" b="2770"/>
              </a:stretch>
            </a:blipFill>
          </p:spPr>
        </p:sp>
        <p:sp>
          <p:nvSpPr>
            <p:cNvPr name="TextBox 34" id="34"/>
            <p:cNvSpPr txBox="true"/>
            <p:nvPr/>
          </p:nvSpPr>
          <p:spPr>
            <a:xfrm>
              <a:off x="0" y="-47625"/>
              <a:ext cx="4572000" cy="1609647"/>
            </a:xfrm>
            <a:prstGeom prst="rect">
              <a:avLst/>
            </a:prstGeom>
          </p:spPr>
          <p:txBody>
            <a:bodyPr anchor="ctr" rtlCol="false" tIns="0" lIns="0" bIns="0" rIns="0"/>
            <a:lstStyle/>
            <a:p>
              <a:pPr algn="l">
                <a:lnSpc>
                  <a:spcPts val="2789"/>
                </a:lnSpc>
              </a:pPr>
              <a:r>
                <a:rPr lang="en-US" sz="2324" b="true">
                  <a:solidFill>
                    <a:srgbClr val="14142B"/>
                  </a:solidFill>
                  <a:latin typeface="Calibri (MS) Bold"/>
                  <a:ea typeface="Calibri (MS) Bold"/>
                  <a:cs typeface="Calibri (MS) Bold"/>
                  <a:sym typeface="Calibri (MS) Bold"/>
                </a:rPr>
                <a:t>Reproducibility &amp; infra</a:t>
              </a:r>
            </a:p>
            <a:p>
              <a:pPr algn="l">
                <a:lnSpc>
                  <a:spcPts val="2318"/>
                </a:lnSpc>
              </a:pPr>
              <a:r>
                <a:rPr lang="en-US" sz="1724" i="true">
                  <a:solidFill>
                    <a:srgbClr val="6B6B76"/>
                  </a:solidFill>
                  <a:latin typeface="Calibri (MS) Italics"/>
                  <a:ea typeface="Calibri (MS) Italics"/>
                  <a:cs typeface="Calibri (MS) Italics"/>
                  <a:sym typeface="Calibri (MS) Italics"/>
                </a:rPr>
                <a:t>The default `docker run` runs the whole test suite and demo with no HuggingFace round-trip needed.</a:t>
              </a:r>
            </a:p>
          </p:txBody>
        </p:sp>
      </p:grpSp>
      <p:grpSp>
        <p:nvGrpSpPr>
          <p:cNvPr name="Group 35" id="35"/>
          <p:cNvGrpSpPr/>
          <p:nvPr/>
        </p:nvGrpSpPr>
        <p:grpSpPr>
          <a:xfrm rot="0">
            <a:off x="5811683" y="6292882"/>
            <a:ext cx="11814577" cy="1040087"/>
            <a:chOff x="0" y="0"/>
            <a:chExt cx="14264640" cy="1255776"/>
          </a:xfrm>
        </p:grpSpPr>
        <p:sp>
          <p:nvSpPr>
            <p:cNvPr name="Freeform 36" id="36"/>
            <p:cNvSpPr/>
            <p:nvPr/>
          </p:nvSpPr>
          <p:spPr>
            <a:xfrm flipH="false" flipV="false" rot="0">
              <a:off x="0" y="0"/>
              <a:ext cx="14264639" cy="1255776"/>
            </a:xfrm>
            <a:custGeom>
              <a:avLst/>
              <a:gdLst/>
              <a:ahLst/>
              <a:cxnLst/>
              <a:rect r="r" b="b" t="t" l="l"/>
              <a:pathLst>
                <a:path h="1255776" w="14264639">
                  <a:moveTo>
                    <a:pt x="0" y="0"/>
                  </a:moveTo>
                  <a:lnTo>
                    <a:pt x="14264639" y="0"/>
                  </a:lnTo>
                  <a:lnTo>
                    <a:pt x="14264639" y="1255776"/>
                  </a:lnTo>
                  <a:lnTo>
                    <a:pt x="0" y="1255776"/>
                  </a:lnTo>
                  <a:close/>
                </a:path>
              </a:pathLst>
            </a:custGeom>
            <a:blipFill>
              <a:blip r:embed="rId3">
                <a:alphaModFix amt="0"/>
              </a:blip>
              <a:stretch>
                <a:fillRect l="0" t="-171334" r="0" b="-171334"/>
              </a:stretch>
            </a:blipFill>
          </p:spPr>
        </p:sp>
        <p:sp>
          <p:nvSpPr>
            <p:cNvPr name="TextBox 37" id="37"/>
            <p:cNvSpPr txBox="true"/>
            <p:nvPr/>
          </p:nvSpPr>
          <p:spPr>
            <a:xfrm>
              <a:off x="0" y="-76200"/>
              <a:ext cx="14264640" cy="1331976"/>
            </a:xfrm>
            <a:prstGeom prst="rect">
              <a:avLst/>
            </a:prstGeom>
          </p:spPr>
          <p:txBody>
            <a:bodyPr anchor="ctr" rtlCol="false" tIns="0" lIns="0" bIns="0" rIns="0"/>
            <a:lstStyle/>
            <a:p>
              <a:pPr algn="l">
                <a:lnSpc>
                  <a:spcPts val="2897"/>
                </a:lnSpc>
              </a:pPr>
              <a:r>
                <a:rPr lang="en-US" sz="2099">
                  <a:solidFill>
                    <a:srgbClr val="33333D"/>
                  </a:solidFill>
                  <a:latin typeface="Calibri (MS)"/>
                  <a:ea typeface="Calibri (MS)"/>
                  <a:cs typeface="Calibri (MS)"/>
                  <a:sym typeface="Calibri (MS)"/>
                </a:rPr>
                <a:t>Docker   ·   pytest — 78 offline tests   ·   Makefile: one command per step</a:t>
              </a:r>
            </a:p>
          </p:txBody>
        </p:sp>
      </p:grpSp>
      <p:grpSp>
        <p:nvGrpSpPr>
          <p:cNvPr name="Group 38" id="38"/>
          <p:cNvGrpSpPr/>
          <p:nvPr/>
        </p:nvGrpSpPr>
        <p:grpSpPr>
          <a:xfrm rot="0">
            <a:off x="434536" y="7620759"/>
            <a:ext cx="17418928" cy="1741893"/>
            <a:chOff x="0" y="0"/>
            <a:chExt cx="21031200" cy="2103120"/>
          </a:xfrm>
        </p:grpSpPr>
        <p:sp>
          <p:nvSpPr>
            <p:cNvPr name="Freeform 39" id="39"/>
            <p:cNvSpPr/>
            <p:nvPr/>
          </p:nvSpPr>
          <p:spPr>
            <a:xfrm flipH="false" flipV="false" rot="0">
              <a:off x="0" y="0"/>
              <a:ext cx="21031200" cy="2103120"/>
            </a:xfrm>
            <a:custGeom>
              <a:avLst/>
              <a:gdLst/>
              <a:ahLst/>
              <a:cxnLst/>
              <a:rect r="r" b="b" t="t" l="l"/>
              <a:pathLst>
                <a:path h="2103120" w="21031200">
                  <a:moveTo>
                    <a:pt x="0" y="168275"/>
                  </a:moveTo>
                  <a:cubicBezTo>
                    <a:pt x="0" y="75311"/>
                    <a:pt x="75311" y="0"/>
                    <a:pt x="168275" y="0"/>
                  </a:cubicBezTo>
                  <a:lnTo>
                    <a:pt x="20862925" y="0"/>
                  </a:lnTo>
                  <a:cubicBezTo>
                    <a:pt x="20955890" y="0"/>
                    <a:pt x="21031200" y="75311"/>
                    <a:pt x="21031200" y="168275"/>
                  </a:cubicBezTo>
                  <a:lnTo>
                    <a:pt x="21031200" y="1934845"/>
                  </a:lnTo>
                  <a:cubicBezTo>
                    <a:pt x="21031200" y="2027809"/>
                    <a:pt x="20955890" y="2103120"/>
                    <a:pt x="20862925" y="2103120"/>
                  </a:cubicBezTo>
                  <a:lnTo>
                    <a:pt x="168275" y="2103120"/>
                  </a:lnTo>
                  <a:cubicBezTo>
                    <a:pt x="75311" y="2103120"/>
                    <a:pt x="0" y="2027809"/>
                    <a:pt x="0" y="1934845"/>
                  </a:cubicBezTo>
                  <a:close/>
                </a:path>
              </a:pathLst>
            </a:custGeom>
            <a:solidFill>
              <a:srgbClr val="704EA6"/>
            </a:solidFill>
          </p:spPr>
        </p:sp>
      </p:grpSp>
      <p:sp>
        <p:nvSpPr>
          <p:cNvPr name="TextBox 40" id="40"/>
          <p:cNvSpPr txBox="true"/>
          <p:nvPr/>
        </p:nvSpPr>
        <p:spPr>
          <a:xfrm rot="0">
            <a:off x="888943" y="7779569"/>
            <a:ext cx="16510114" cy="323850"/>
          </a:xfrm>
          <a:prstGeom prst="rect">
            <a:avLst/>
          </a:prstGeom>
        </p:spPr>
        <p:txBody>
          <a:bodyPr anchor="t" rtlCol="false" tIns="0" lIns="0" bIns="0" rIns="0">
            <a:spAutoFit/>
          </a:bodyPr>
          <a:lstStyle/>
          <a:p>
            <a:pPr algn="l">
              <a:lnSpc>
                <a:spcPts val="2260"/>
              </a:lnSpc>
            </a:pPr>
            <a:r>
              <a:rPr lang="en-US" sz="1884" b="true">
                <a:solidFill>
                  <a:srgbClr val="E3DAF7"/>
                </a:solidFill>
                <a:latin typeface="Calibri (MS) Bold"/>
                <a:ea typeface="Calibri (MS) Bold"/>
                <a:cs typeface="Calibri (MS) Bold"/>
                <a:sym typeface="Calibri (MS) Bold"/>
              </a:rPr>
              <a:t>BY THE NUMBERS</a:t>
            </a:r>
          </a:p>
        </p:txBody>
      </p:sp>
      <p:grpSp>
        <p:nvGrpSpPr>
          <p:cNvPr name="Group 41" id="41"/>
          <p:cNvGrpSpPr/>
          <p:nvPr/>
        </p:nvGrpSpPr>
        <p:grpSpPr>
          <a:xfrm rot="0">
            <a:off x="888943" y="8256929"/>
            <a:ext cx="2999085" cy="984548"/>
            <a:chOff x="0" y="0"/>
            <a:chExt cx="3621024" cy="1188720"/>
          </a:xfrm>
        </p:grpSpPr>
        <p:sp>
          <p:nvSpPr>
            <p:cNvPr name="Freeform 42" id="42"/>
            <p:cNvSpPr/>
            <p:nvPr/>
          </p:nvSpPr>
          <p:spPr>
            <a:xfrm flipH="false" flipV="false" rot="0">
              <a:off x="0" y="0"/>
              <a:ext cx="3621024" cy="1188720"/>
            </a:xfrm>
            <a:custGeom>
              <a:avLst/>
              <a:gdLst/>
              <a:ahLst/>
              <a:cxnLst/>
              <a:rect r="r" b="b" t="t" l="l"/>
              <a:pathLst>
                <a:path h="1188720" w="3621024">
                  <a:moveTo>
                    <a:pt x="0" y="0"/>
                  </a:moveTo>
                  <a:lnTo>
                    <a:pt x="3621024" y="0"/>
                  </a:lnTo>
                  <a:lnTo>
                    <a:pt x="3621024" y="1188720"/>
                  </a:lnTo>
                  <a:lnTo>
                    <a:pt x="0" y="1188720"/>
                  </a:lnTo>
                  <a:close/>
                </a:path>
              </a:pathLst>
            </a:custGeom>
            <a:blipFill>
              <a:blip r:embed="rId3">
                <a:alphaModFix amt="0"/>
              </a:blip>
              <a:stretch>
                <a:fillRect l="0" t="-9354" r="0" b="-9354"/>
              </a:stretch>
            </a:blipFill>
          </p:spPr>
        </p:sp>
        <p:sp>
          <p:nvSpPr>
            <p:cNvPr name="TextBox 43" id="43"/>
            <p:cNvSpPr txBox="true"/>
            <p:nvPr/>
          </p:nvSpPr>
          <p:spPr>
            <a:xfrm>
              <a:off x="0" y="-85725"/>
              <a:ext cx="3621024" cy="1274445"/>
            </a:xfrm>
            <a:prstGeom prst="rect">
              <a:avLst/>
            </a:prstGeom>
          </p:spPr>
          <p:txBody>
            <a:bodyPr anchor="ctr" rtlCol="false" tIns="0" lIns="0" bIns="0" rIns="0"/>
            <a:lstStyle/>
            <a:p>
              <a:pPr algn="ctr">
                <a:lnSpc>
                  <a:spcPts val="4319"/>
                </a:lnSpc>
              </a:pPr>
              <a:r>
                <a:rPr lang="en-US" sz="3599" b="true">
                  <a:solidFill>
                    <a:srgbClr val="FFFFFF"/>
                  </a:solidFill>
                  <a:latin typeface="Calibri (MS) Bold"/>
                  <a:ea typeface="Calibri (MS) Bold"/>
                  <a:cs typeface="Calibri (MS) Bold"/>
                  <a:sym typeface="Calibri (MS) Bold"/>
                </a:rPr>
                <a:t>78</a:t>
              </a:r>
            </a:p>
            <a:p>
              <a:pPr algn="ctr">
                <a:lnSpc>
                  <a:spcPts val="2159"/>
                </a:lnSpc>
              </a:pPr>
              <a:r>
                <a:rPr lang="en-US" sz="1799">
                  <a:solidFill>
                    <a:srgbClr val="E3DAF7"/>
                  </a:solidFill>
                  <a:latin typeface="Calibri (MS)"/>
                  <a:ea typeface="Calibri (MS)"/>
                  <a:cs typeface="Calibri (MS)"/>
                  <a:sym typeface="Calibri (MS)"/>
                </a:rPr>
                <a:t>offline tests</a:t>
              </a:r>
            </a:p>
          </p:txBody>
        </p:sp>
      </p:grpSp>
      <p:grpSp>
        <p:nvGrpSpPr>
          <p:cNvPr name="Group 44" id="44"/>
          <p:cNvGrpSpPr/>
          <p:nvPr/>
        </p:nvGrpSpPr>
        <p:grpSpPr>
          <a:xfrm rot="0">
            <a:off x="4266700" y="8256929"/>
            <a:ext cx="2999085" cy="984548"/>
            <a:chOff x="0" y="0"/>
            <a:chExt cx="3621024" cy="1188720"/>
          </a:xfrm>
        </p:grpSpPr>
        <p:sp>
          <p:nvSpPr>
            <p:cNvPr name="Freeform 45" id="45"/>
            <p:cNvSpPr/>
            <p:nvPr/>
          </p:nvSpPr>
          <p:spPr>
            <a:xfrm flipH="false" flipV="false" rot="0">
              <a:off x="0" y="0"/>
              <a:ext cx="3621024" cy="1188720"/>
            </a:xfrm>
            <a:custGeom>
              <a:avLst/>
              <a:gdLst/>
              <a:ahLst/>
              <a:cxnLst/>
              <a:rect r="r" b="b" t="t" l="l"/>
              <a:pathLst>
                <a:path h="1188720" w="3621024">
                  <a:moveTo>
                    <a:pt x="0" y="0"/>
                  </a:moveTo>
                  <a:lnTo>
                    <a:pt x="3621024" y="0"/>
                  </a:lnTo>
                  <a:lnTo>
                    <a:pt x="3621024" y="1188720"/>
                  </a:lnTo>
                  <a:lnTo>
                    <a:pt x="0" y="1188720"/>
                  </a:lnTo>
                  <a:close/>
                </a:path>
              </a:pathLst>
            </a:custGeom>
            <a:blipFill>
              <a:blip r:embed="rId3">
                <a:alphaModFix amt="0"/>
              </a:blip>
              <a:stretch>
                <a:fillRect l="0" t="-9354" r="0" b="-9354"/>
              </a:stretch>
            </a:blipFill>
          </p:spPr>
        </p:sp>
        <p:sp>
          <p:nvSpPr>
            <p:cNvPr name="TextBox 46" id="46"/>
            <p:cNvSpPr txBox="true"/>
            <p:nvPr/>
          </p:nvSpPr>
          <p:spPr>
            <a:xfrm>
              <a:off x="0" y="-85725"/>
              <a:ext cx="3621024" cy="1274445"/>
            </a:xfrm>
            <a:prstGeom prst="rect">
              <a:avLst/>
            </a:prstGeom>
          </p:spPr>
          <p:txBody>
            <a:bodyPr anchor="ctr" rtlCol="false" tIns="0" lIns="0" bIns="0" rIns="0"/>
            <a:lstStyle/>
            <a:p>
              <a:pPr algn="ctr">
                <a:lnSpc>
                  <a:spcPts val="4319"/>
                </a:lnSpc>
              </a:pPr>
              <a:r>
                <a:rPr lang="en-US" sz="3599" b="true">
                  <a:solidFill>
                    <a:srgbClr val="FFFFFF"/>
                  </a:solidFill>
                  <a:latin typeface="Calibri (MS) Bold"/>
                  <a:ea typeface="Calibri (MS) Bold"/>
                  <a:cs typeface="Calibri (MS) Bold"/>
                  <a:sym typeface="Calibri (MS) Bold"/>
                </a:rPr>
                <a:t>10</a:t>
              </a:r>
            </a:p>
            <a:p>
              <a:pPr algn="ctr">
                <a:lnSpc>
                  <a:spcPts val="2159"/>
                </a:lnSpc>
              </a:pPr>
              <a:r>
                <a:rPr lang="en-US" sz="1799">
                  <a:solidFill>
                    <a:srgbClr val="E3DAF7"/>
                  </a:solidFill>
                  <a:latin typeface="Calibri (MS)"/>
                  <a:ea typeface="Calibri (MS)"/>
                  <a:cs typeface="Calibri (MS)"/>
                  <a:sym typeface="Calibri (MS)"/>
                </a:rPr>
                <a:t>configs measured</a:t>
              </a:r>
            </a:p>
          </p:txBody>
        </p:sp>
      </p:grpSp>
      <p:grpSp>
        <p:nvGrpSpPr>
          <p:cNvPr name="Group 47" id="47"/>
          <p:cNvGrpSpPr/>
          <p:nvPr/>
        </p:nvGrpSpPr>
        <p:grpSpPr>
          <a:xfrm rot="0">
            <a:off x="7644458" y="8256929"/>
            <a:ext cx="2999085" cy="984548"/>
            <a:chOff x="0" y="0"/>
            <a:chExt cx="3621024" cy="1188720"/>
          </a:xfrm>
        </p:grpSpPr>
        <p:sp>
          <p:nvSpPr>
            <p:cNvPr name="Freeform 48" id="48"/>
            <p:cNvSpPr/>
            <p:nvPr/>
          </p:nvSpPr>
          <p:spPr>
            <a:xfrm flipH="false" flipV="false" rot="0">
              <a:off x="0" y="0"/>
              <a:ext cx="3621024" cy="1188720"/>
            </a:xfrm>
            <a:custGeom>
              <a:avLst/>
              <a:gdLst/>
              <a:ahLst/>
              <a:cxnLst/>
              <a:rect r="r" b="b" t="t" l="l"/>
              <a:pathLst>
                <a:path h="1188720" w="3621024">
                  <a:moveTo>
                    <a:pt x="0" y="0"/>
                  </a:moveTo>
                  <a:lnTo>
                    <a:pt x="3621024" y="0"/>
                  </a:lnTo>
                  <a:lnTo>
                    <a:pt x="3621024" y="1188720"/>
                  </a:lnTo>
                  <a:lnTo>
                    <a:pt x="0" y="1188720"/>
                  </a:lnTo>
                  <a:close/>
                </a:path>
              </a:pathLst>
            </a:custGeom>
            <a:blipFill>
              <a:blip r:embed="rId3">
                <a:alphaModFix amt="0"/>
              </a:blip>
              <a:stretch>
                <a:fillRect l="0" t="-9354" r="0" b="-9354"/>
              </a:stretch>
            </a:blipFill>
          </p:spPr>
        </p:sp>
        <p:sp>
          <p:nvSpPr>
            <p:cNvPr name="TextBox 49" id="49"/>
            <p:cNvSpPr txBox="true"/>
            <p:nvPr/>
          </p:nvSpPr>
          <p:spPr>
            <a:xfrm>
              <a:off x="0" y="-85725"/>
              <a:ext cx="3621024" cy="1274445"/>
            </a:xfrm>
            <a:prstGeom prst="rect">
              <a:avLst/>
            </a:prstGeom>
          </p:spPr>
          <p:txBody>
            <a:bodyPr anchor="ctr" rtlCol="false" tIns="0" lIns="0" bIns="0" rIns="0"/>
            <a:lstStyle/>
            <a:p>
              <a:pPr algn="ctr">
                <a:lnSpc>
                  <a:spcPts val="4319"/>
                </a:lnSpc>
              </a:pPr>
              <a:r>
                <a:rPr lang="en-US" sz="3599" b="true">
                  <a:solidFill>
                    <a:srgbClr val="FFFFFF"/>
                  </a:solidFill>
                  <a:latin typeface="Calibri (MS) Bold"/>
                  <a:ea typeface="Calibri (MS) Bold"/>
                  <a:cs typeface="Calibri (MS) Bold"/>
                  <a:sym typeface="Calibri (MS) Bold"/>
                </a:rPr>
                <a:t>1</a:t>
              </a:r>
            </a:p>
            <a:p>
              <a:pPr algn="ctr">
                <a:lnSpc>
                  <a:spcPts val="2159"/>
                </a:lnSpc>
              </a:pPr>
              <a:r>
                <a:rPr lang="en-US" sz="1799">
                  <a:solidFill>
                    <a:srgbClr val="E3DAF7"/>
                  </a:solidFill>
                  <a:latin typeface="Calibri (MS)"/>
                  <a:ea typeface="Calibri (MS)"/>
                  <a:cs typeface="Calibri (MS)"/>
                  <a:sym typeface="Calibri (MS)"/>
                </a:rPr>
                <a:t>docker run</a:t>
              </a:r>
            </a:p>
          </p:txBody>
        </p:sp>
      </p:grpSp>
      <p:grpSp>
        <p:nvGrpSpPr>
          <p:cNvPr name="Group 50" id="50"/>
          <p:cNvGrpSpPr/>
          <p:nvPr/>
        </p:nvGrpSpPr>
        <p:grpSpPr>
          <a:xfrm rot="0">
            <a:off x="11022215" y="8256929"/>
            <a:ext cx="2999085" cy="984548"/>
            <a:chOff x="0" y="0"/>
            <a:chExt cx="3621024" cy="1188720"/>
          </a:xfrm>
        </p:grpSpPr>
        <p:sp>
          <p:nvSpPr>
            <p:cNvPr name="Freeform 51" id="51"/>
            <p:cNvSpPr/>
            <p:nvPr/>
          </p:nvSpPr>
          <p:spPr>
            <a:xfrm flipH="false" flipV="false" rot="0">
              <a:off x="0" y="0"/>
              <a:ext cx="3621024" cy="1188720"/>
            </a:xfrm>
            <a:custGeom>
              <a:avLst/>
              <a:gdLst/>
              <a:ahLst/>
              <a:cxnLst/>
              <a:rect r="r" b="b" t="t" l="l"/>
              <a:pathLst>
                <a:path h="1188720" w="3621024">
                  <a:moveTo>
                    <a:pt x="0" y="0"/>
                  </a:moveTo>
                  <a:lnTo>
                    <a:pt x="3621024" y="0"/>
                  </a:lnTo>
                  <a:lnTo>
                    <a:pt x="3621024" y="1188720"/>
                  </a:lnTo>
                  <a:lnTo>
                    <a:pt x="0" y="1188720"/>
                  </a:lnTo>
                  <a:close/>
                </a:path>
              </a:pathLst>
            </a:custGeom>
            <a:blipFill>
              <a:blip r:embed="rId3">
                <a:alphaModFix amt="0"/>
              </a:blip>
              <a:stretch>
                <a:fillRect l="0" t="-9354" r="0" b="-9354"/>
              </a:stretch>
            </a:blipFill>
          </p:spPr>
        </p:sp>
        <p:sp>
          <p:nvSpPr>
            <p:cNvPr name="TextBox 52" id="52"/>
            <p:cNvSpPr txBox="true"/>
            <p:nvPr/>
          </p:nvSpPr>
          <p:spPr>
            <a:xfrm>
              <a:off x="0" y="-85725"/>
              <a:ext cx="3621024" cy="1274445"/>
            </a:xfrm>
            <a:prstGeom prst="rect">
              <a:avLst/>
            </a:prstGeom>
          </p:spPr>
          <p:txBody>
            <a:bodyPr anchor="ctr" rtlCol="false" tIns="0" lIns="0" bIns="0" rIns="0"/>
            <a:lstStyle/>
            <a:p>
              <a:pPr algn="ctr">
                <a:lnSpc>
                  <a:spcPts val="4319"/>
                </a:lnSpc>
              </a:pPr>
              <a:r>
                <a:rPr lang="en-US" sz="3599" b="true">
                  <a:solidFill>
                    <a:srgbClr val="FFFFFF"/>
                  </a:solidFill>
                  <a:latin typeface="Calibri (MS) Bold"/>
                  <a:ea typeface="Calibri (MS) Bold"/>
                  <a:cs typeface="Calibri (MS) Bold"/>
                  <a:sym typeface="Calibri (MS) Bold"/>
                </a:rPr>
                <a:t>~42 ms</a:t>
              </a:r>
            </a:p>
            <a:p>
              <a:pPr algn="ctr">
                <a:lnSpc>
                  <a:spcPts val="2159"/>
                </a:lnSpc>
              </a:pPr>
              <a:r>
                <a:rPr lang="en-US" sz="1799">
                  <a:solidFill>
                    <a:srgbClr val="E3DAF7"/>
                  </a:solidFill>
                  <a:latin typeface="Calibri (MS)"/>
                  <a:ea typeface="Calibri (MS)"/>
                  <a:cs typeface="Calibri (MS)"/>
                  <a:sym typeface="Calibri (MS)"/>
                </a:rPr>
                <a:t>per query, e5 on CPU</a:t>
              </a:r>
            </a:p>
          </p:txBody>
        </p:sp>
      </p:grpSp>
      <p:grpSp>
        <p:nvGrpSpPr>
          <p:cNvPr name="Group 53" id="53"/>
          <p:cNvGrpSpPr/>
          <p:nvPr/>
        </p:nvGrpSpPr>
        <p:grpSpPr>
          <a:xfrm rot="0">
            <a:off x="14548180" y="8256929"/>
            <a:ext cx="2999085" cy="984548"/>
            <a:chOff x="0" y="0"/>
            <a:chExt cx="3621024" cy="1188720"/>
          </a:xfrm>
        </p:grpSpPr>
        <p:sp>
          <p:nvSpPr>
            <p:cNvPr name="Freeform 54" id="54"/>
            <p:cNvSpPr/>
            <p:nvPr/>
          </p:nvSpPr>
          <p:spPr>
            <a:xfrm flipH="false" flipV="false" rot="0">
              <a:off x="0" y="0"/>
              <a:ext cx="3621024" cy="1188720"/>
            </a:xfrm>
            <a:custGeom>
              <a:avLst/>
              <a:gdLst/>
              <a:ahLst/>
              <a:cxnLst/>
              <a:rect r="r" b="b" t="t" l="l"/>
              <a:pathLst>
                <a:path h="1188720" w="3621024">
                  <a:moveTo>
                    <a:pt x="0" y="0"/>
                  </a:moveTo>
                  <a:lnTo>
                    <a:pt x="3621024" y="0"/>
                  </a:lnTo>
                  <a:lnTo>
                    <a:pt x="3621024" y="1188720"/>
                  </a:lnTo>
                  <a:lnTo>
                    <a:pt x="0" y="1188720"/>
                  </a:lnTo>
                  <a:close/>
                </a:path>
              </a:pathLst>
            </a:custGeom>
            <a:blipFill>
              <a:blip r:embed="rId3">
                <a:alphaModFix amt="0"/>
              </a:blip>
              <a:stretch>
                <a:fillRect l="0" t="-9354" r="0" b="-9354"/>
              </a:stretch>
            </a:blipFill>
          </p:spPr>
        </p:sp>
        <p:sp>
          <p:nvSpPr>
            <p:cNvPr name="TextBox 55" id="55"/>
            <p:cNvSpPr txBox="true"/>
            <p:nvPr/>
          </p:nvSpPr>
          <p:spPr>
            <a:xfrm>
              <a:off x="0" y="-85725"/>
              <a:ext cx="3621024" cy="1274445"/>
            </a:xfrm>
            <a:prstGeom prst="rect">
              <a:avLst/>
            </a:prstGeom>
          </p:spPr>
          <p:txBody>
            <a:bodyPr anchor="ctr" rtlCol="false" tIns="0" lIns="0" bIns="0" rIns="0"/>
            <a:lstStyle/>
            <a:p>
              <a:pPr algn="ctr">
                <a:lnSpc>
                  <a:spcPts val="4319"/>
                </a:lnSpc>
              </a:pPr>
              <a:r>
                <a:rPr lang="en-US" sz="3599" b="true">
                  <a:solidFill>
                    <a:srgbClr val="FFFFFF"/>
                  </a:solidFill>
                  <a:latin typeface="Calibri (MS) Bold"/>
                  <a:ea typeface="Calibri (MS) Bold"/>
                  <a:cs typeface="Calibri (MS) Bold"/>
                  <a:sym typeface="Calibri (MS) Bold"/>
                </a:rPr>
                <a:t>100%</a:t>
              </a:r>
            </a:p>
            <a:p>
              <a:pPr algn="ctr">
                <a:lnSpc>
                  <a:spcPts val="2159"/>
                </a:lnSpc>
              </a:pPr>
              <a:r>
                <a:rPr lang="en-US" sz="1799">
                  <a:solidFill>
                    <a:srgbClr val="E3DAF7"/>
                  </a:solidFill>
                  <a:latin typeface="Calibri (MS)"/>
                  <a:ea typeface="Calibri (MS)"/>
                  <a:cs typeface="Calibri (MS)"/>
                  <a:sym typeface="Calibri (MS)"/>
                </a:rPr>
                <a:t>CPU inference</a:t>
              </a:r>
            </a:p>
          </p:txBody>
        </p:sp>
      </p:gr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257300" y="547688"/>
            <a:ext cx="15773400" cy="1988344"/>
            <a:chOff x="0" y="0"/>
            <a:chExt cx="21031200" cy="2651125"/>
          </a:xfrm>
        </p:grpSpPr>
        <p:sp>
          <p:nvSpPr>
            <p:cNvPr name="Freeform 3" id="3"/>
            <p:cNvSpPr/>
            <p:nvPr/>
          </p:nvSpPr>
          <p:spPr>
            <a:xfrm flipH="false" flipV="false" rot="0">
              <a:off x="0" y="0"/>
              <a:ext cx="21031200" cy="2651126"/>
            </a:xfrm>
            <a:custGeom>
              <a:avLst/>
              <a:gdLst/>
              <a:ahLst/>
              <a:cxnLst/>
              <a:rect r="r" b="b" t="t" l="l"/>
              <a:pathLst>
                <a:path h="2651126" w="21031200">
                  <a:moveTo>
                    <a:pt x="0" y="0"/>
                  </a:moveTo>
                  <a:lnTo>
                    <a:pt x="21031200" y="0"/>
                  </a:lnTo>
                  <a:lnTo>
                    <a:pt x="21031200" y="2651126"/>
                  </a:lnTo>
                  <a:lnTo>
                    <a:pt x="0" y="2651126"/>
                  </a:lnTo>
                  <a:close/>
                </a:path>
              </a:pathLst>
            </a:custGeom>
            <a:blipFill>
              <a:blip r:embed="rId3">
                <a:alphaModFix amt="0"/>
              </a:blip>
              <a:stretch>
                <a:fillRect l="0" t="-104573" r="0" b="-104573"/>
              </a:stretch>
            </a:blipFill>
          </p:spPr>
        </p:sp>
        <p:sp>
          <p:nvSpPr>
            <p:cNvPr name="TextBox 4" id="4"/>
            <p:cNvSpPr txBox="true"/>
            <p:nvPr/>
          </p:nvSpPr>
          <p:spPr>
            <a:xfrm>
              <a:off x="0" y="-66675"/>
              <a:ext cx="21031200" cy="2717800"/>
            </a:xfrm>
            <a:prstGeom prst="rect">
              <a:avLst/>
            </a:prstGeom>
          </p:spPr>
          <p:txBody>
            <a:bodyPr anchor="ctr" rtlCol="false" tIns="0" lIns="0" bIns="0" rIns="0"/>
            <a:lstStyle/>
            <a:p>
              <a:pPr algn="l">
                <a:lnSpc>
                  <a:spcPts val="7128"/>
                </a:lnSpc>
              </a:pPr>
              <a:r>
                <a:rPr lang="en-US" sz="6600" b="true">
                  <a:solidFill>
                    <a:srgbClr val="704EA6"/>
                  </a:solidFill>
                  <a:latin typeface="Calibri (MS) Bold"/>
                  <a:ea typeface="Calibri (MS) Bold"/>
                  <a:cs typeface="Calibri (MS) Bold"/>
                  <a:sym typeface="Calibri (MS) Bold"/>
                </a:rPr>
                <a:t>Impact &amp; Use case</a:t>
              </a:r>
            </a:p>
          </p:txBody>
        </p:sp>
      </p:grpSp>
      <p:grpSp>
        <p:nvGrpSpPr>
          <p:cNvPr name="Group 5" id="5"/>
          <p:cNvGrpSpPr/>
          <p:nvPr/>
        </p:nvGrpSpPr>
        <p:grpSpPr>
          <a:xfrm rot="0">
            <a:off x="420320" y="2358111"/>
            <a:ext cx="17447359" cy="7143105"/>
            <a:chOff x="0" y="0"/>
            <a:chExt cx="23263146" cy="9524139"/>
          </a:xfrm>
        </p:grpSpPr>
        <p:grpSp>
          <p:nvGrpSpPr>
            <p:cNvPr name="Group 6" id="6"/>
            <p:cNvGrpSpPr/>
            <p:nvPr/>
          </p:nvGrpSpPr>
          <p:grpSpPr>
            <a:xfrm rot="0">
              <a:off x="0" y="0"/>
              <a:ext cx="11342537" cy="4473034"/>
              <a:chOff x="0" y="0"/>
              <a:chExt cx="10266680" cy="4048760"/>
            </a:xfrm>
          </p:grpSpPr>
          <p:sp>
            <p:nvSpPr>
              <p:cNvPr name="Freeform 7" id="7"/>
              <p:cNvSpPr/>
              <p:nvPr/>
            </p:nvSpPr>
            <p:spPr>
              <a:xfrm flipH="false" flipV="false" rot="0">
                <a:off x="0" y="0"/>
                <a:ext cx="10266680" cy="4048760"/>
              </a:xfrm>
              <a:custGeom>
                <a:avLst/>
                <a:gdLst/>
                <a:ahLst/>
                <a:cxnLst/>
                <a:rect r="r" b="b" t="t" l="l"/>
                <a:pathLst>
                  <a:path h="4048760" w="10266680">
                    <a:moveTo>
                      <a:pt x="0" y="242951"/>
                    </a:moveTo>
                    <a:cubicBezTo>
                      <a:pt x="0" y="108712"/>
                      <a:pt x="108712" y="0"/>
                      <a:pt x="242951" y="0"/>
                    </a:cubicBezTo>
                    <a:lnTo>
                      <a:pt x="10023729" y="0"/>
                    </a:lnTo>
                    <a:cubicBezTo>
                      <a:pt x="10157841" y="0"/>
                      <a:pt x="10266680" y="108712"/>
                      <a:pt x="10266680" y="242951"/>
                    </a:cubicBezTo>
                    <a:lnTo>
                      <a:pt x="10266680" y="3805809"/>
                    </a:lnTo>
                    <a:cubicBezTo>
                      <a:pt x="10266680" y="3939921"/>
                      <a:pt x="10157968" y="4048760"/>
                      <a:pt x="10023729" y="4048760"/>
                    </a:cubicBezTo>
                    <a:lnTo>
                      <a:pt x="242951" y="4048760"/>
                    </a:lnTo>
                    <a:cubicBezTo>
                      <a:pt x="108712" y="4048760"/>
                      <a:pt x="0" y="3940048"/>
                      <a:pt x="0" y="3805809"/>
                    </a:cubicBezTo>
                    <a:close/>
                  </a:path>
                </a:pathLst>
              </a:custGeom>
              <a:solidFill>
                <a:srgbClr val="FFFFFF"/>
              </a:solidFill>
              <a:ln w="19050" cap="sq">
                <a:solidFill>
                  <a:srgbClr val="D9D3F0"/>
                </a:solidFill>
                <a:prstDash val="solid"/>
                <a:miter/>
              </a:ln>
            </p:spPr>
          </p:sp>
        </p:grpSp>
        <p:grpSp>
          <p:nvGrpSpPr>
            <p:cNvPr name="Group 8" id="8"/>
            <p:cNvGrpSpPr/>
            <p:nvPr/>
          </p:nvGrpSpPr>
          <p:grpSpPr>
            <a:xfrm rot="0">
              <a:off x="468630" y="468630"/>
              <a:ext cx="1111243" cy="1111243"/>
              <a:chOff x="0" y="0"/>
              <a:chExt cx="1005840" cy="1005840"/>
            </a:xfrm>
          </p:grpSpPr>
          <p:sp>
            <p:nvSpPr>
              <p:cNvPr name="Freeform 9" id="9"/>
              <p:cNvSpPr/>
              <p:nvPr/>
            </p:nvSpPr>
            <p:spPr>
              <a:xfrm flipH="false" flipV="false" rot="0">
                <a:off x="0" y="0"/>
                <a:ext cx="1005840" cy="1005840"/>
              </a:xfrm>
              <a:custGeom>
                <a:avLst/>
                <a:gdLst/>
                <a:ahLst/>
                <a:cxnLst/>
                <a:rect r="r" b="b" t="t" l="l"/>
                <a:pathLst>
                  <a:path h="1005840" w="1005840">
                    <a:moveTo>
                      <a:pt x="0" y="502920"/>
                    </a:moveTo>
                    <a:cubicBezTo>
                      <a:pt x="0" y="225171"/>
                      <a:pt x="225171" y="0"/>
                      <a:pt x="502920" y="0"/>
                    </a:cubicBezTo>
                    <a:cubicBezTo>
                      <a:pt x="780669" y="0"/>
                      <a:pt x="1005840" y="225171"/>
                      <a:pt x="1005840" y="502920"/>
                    </a:cubicBezTo>
                    <a:cubicBezTo>
                      <a:pt x="1005840" y="780669"/>
                      <a:pt x="780669" y="1005840"/>
                      <a:pt x="502920" y="1005840"/>
                    </a:cubicBezTo>
                    <a:cubicBezTo>
                      <a:pt x="225171" y="1005840"/>
                      <a:pt x="0" y="780669"/>
                      <a:pt x="0" y="502920"/>
                    </a:cubicBezTo>
                    <a:close/>
                  </a:path>
                </a:pathLst>
              </a:custGeom>
              <a:solidFill>
                <a:srgbClr val="704EA6"/>
              </a:solidFill>
            </p:spPr>
          </p:sp>
          <p:sp>
            <p:nvSpPr>
              <p:cNvPr name="TextBox 10" id="10"/>
              <p:cNvSpPr txBox="true"/>
              <p:nvPr/>
            </p:nvSpPr>
            <p:spPr>
              <a:xfrm>
                <a:off x="0" y="-47625"/>
                <a:ext cx="1005840" cy="1053465"/>
              </a:xfrm>
              <a:prstGeom prst="rect">
                <a:avLst/>
              </a:prstGeom>
            </p:spPr>
            <p:txBody>
              <a:bodyPr anchor="ctr" rtlCol="false" tIns="50800" lIns="50800" bIns="50800" rIns="50800"/>
              <a:lstStyle/>
              <a:p>
                <a:pPr algn="ctr">
                  <a:lnSpc>
                    <a:spcPts val="2939"/>
                  </a:lnSpc>
                </a:pPr>
                <a:r>
                  <a:rPr lang="en-US" sz="2449" b="true">
                    <a:solidFill>
                      <a:srgbClr val="FFFFFF"/>
                    </a:solidFill>
                    <a:latin typeface="Calibri (MS) Bold"/>
                    <a:ea typeface="Calibri (MS) Bold"/>
                    <a:cs typeface="Calibri (MS) Bold"/>
                    <a:sym typeface="Calibri (MS) Bold"/>
                  </a:rPr>
                  <a:t>1</a:t>
                </a:r>
              </a:p>
            </p:txBody>
          </p:sp>
        </p:grpSp>
        <p:sp>
          <p:nvSpPr>
            <p:cNvPr name="TextBox 11" id="11"/>
            <p:cNvSpPr txBox="true"/>
            <p:nvPr/>
          </p:nvSpPr>
          <p:spPr>
            <a:xfrm rot="0">
              <a:off x="1933451" y="401378"/>
              <a:ext cx="8990967" cy="540388"/>
            </a:xfrm>
            <a:prstGeom prst="rect">
              <a:avLst/>
            </a:prstGeom>
          </p:spPr>
          <p:txBody>
            <a:bodyPr anchor="t" rtlCol="false" tIns="0" lIns="0" bIns="0" rIns="0">
              <a:spAutoFit/>
            </a:bodyPr>
            <a:lstStyle/>
            <a:p>
              <a:pPr algn="l">
                <a:lnSpc>
                  <a:spcPts val="3070"/>
                </a:lnSpc>
              </a:pPr>
              <a:r>
                <a:rPr lang="en-US" sz="2437" b="true">
                  <a:solidFill>
                    <a:srgbClr val="14142B"/>
                  </a:solidFill>
                  <a:latin typeface="Calibri (MS) Bold"/>
                  <a:ea typeface="Calibri (MS) Bold"/>
                  <a:cs typeface="Calibri (MS) Bold"/>
                  <a:sym typeface="Calibri (MS) Bold"/>
                </a:rPr>
                <a:t>Faster onboarding</a:t>
              </a:r>
            </a:p>
          </p:txBody>
        </p:sp>
        <p:grpSp>
          <p:nvGrpSpPr>
            <p:cNvPr name="Group 12" id="12"/>
            <p:cNvGrpSpPr/>
            <p:nvPr/>
          </p:nvGrpSpPr>
          <p:grpSpPr>
            <a:xfrm rot="0">
              <a:off x="1922928" y="1215773"/>
              <a:ext cx="3758864" cy="546361"/>
              <a:chOff x="0" y="0"/>
              <a:chExt cx="3402330" cy="494538"/>
            </a:xfrm>
          </p:grpSpPr>
          <p:sp>
            <p:nvSpPr>
              <p:cNvPr name="Freeform 13" id="13"/>
              <p:cNvSpPr/>
              <p:nvPr/>
            </p:nvSpPr>
            <p:spPr>
              <a:xfrm flipH="false" flipV="false" rot="0">
                <a:off x="0" y="0"/>
                <a:ext cx="3402330" cy="494538"/>
              </a:xfrm>
              <a:custGeom>
                <a:avLst/>
                <a:gdLst/>
                <a:ahLst/>
                <a:cxnLst/>
                <a:rect r="r" b="b" t="t" l="l"/>
                <a:pathLst>
                  <a:path h="494538" w="3402330">
                    <a:moveTo>
                      <a:pt x="0" y="247269"/>
                    </a:moveTo>
                    <a:cubicBezTo>
                      <a:pt x="0" y="110744"/>
                      <a:pt x="110744" y="0"/>
                      <a:pt x="247269" y="0"/>
                    </a:cubicBezTo>
                    <a:lnTo>
                      <a:pt x="3155061" y="0"/>
                    </a:lnTo>
                    <a:cubicBezTo>
                      <a:pt x="3291586" y="0"/>
                      <a:pt x="3402330" y="110744"/>
                      <a:pt x="3402330" y="247269"/>
                    </a:cubicBezTo>
                    <a:cubicBezTo>
                      <a:pt x="3402330" y="383794"/>
                      <a:pt x="3291586" y="494538"/>
                      <a:pt x="3155061" y="494538"/>
                    </a:cubicBezTo>
                    <a:lnTo>
                      <a:pt x="247269" y="494538"/>
                    </a:lnTo>
                    <a:cubicBezTo>
                      <a:pt x="110744" y="494538"/>
                      <a:pt x="0" y="383794"/>
                      <a:pt x="0" y="247269"/>
                    </a:cubicBezTo>
                    <a:close/>
                  </a:path>
                </a:pathLst>
              </a:custGeom>
              <a:solidFill>
                <a:srgbClr val="EDE9FB"/>
              </a:solidFill>
              <a:ln w="14288" cap="sq">
                <a:solidFill>
                  <a:srgbClr val="D9D3F0"/>
                </a:solidFill>
                <a:prstDash val="solid"/>
                <a:miter/>
              </a:ln>
            </p:spPr>
          </p:sp>
        </p:grpSp>
        <p:grpSp>
          <p:nvGrpSpPr>
            <p:cNvPr name="Group 14" id="14"/>
            <p:cNvGrpSpPr/>
            <p:nvPr/>
          </p:nvGrpSpPr>
          <p:grpSpPr>
            <a:xfrm rot="0">
              <a:off x="1933451" y="1226296"/>
              <a:ext cx="3737818" cy="525315"/>
              <a:chOff x="0" y="0"/>
              <a:chExt cx="3383280" cy="475488"/>
            </a:xfrm>
          </p:grpSpPr>
          <p:sp>
            <p:nvSpPr>
              <p:cNvPr name="Freeform 15" id="15"/>
              <p:cNvSpPr/>
              <p:nvPr/>
            </p:nvSpPr>
            <p:spPr>
              <a:xfrm flipH="false" flipV="false" rot="0">
                <a:off x="0" y="0"/>
                <a:ext cx="3383280" cy="475488"/>
              </a:xfrm>
              <a:custGeom>
                <a:avLst/>
                <a:gdLst/>
                <a:ahLst/>
                <a:cxnLst/>
                <a:rect r="r" b="b" t="t" l="l"/>
                <a:pathLst>
                  <a:path h="475488" w="3383280">
                    <a:moveTo>
                      <a:pt x="0" y="0"/>
                    </a:moveTo>
                    <a:lnTo>
                      <a:pt x="3383280" y="0"/>
                    </a:lnTo>
                    <a:lnTo>
                      <a:pt x="3383280" y="475488"/>
                    </a:lnTo>
                    <a:lnTo>
                      <a:pt x="0" y="475488"/>
                    </a:lnTo>
                    <a:close/>
                  </a:path>
                </a:pathLst>
              </a:custGeom>
              <a:blipFill>
                <a:blip r:embed="rId3">
                  <a:alphaModFix amt="0"/>
                </a:blip>
                <a:stretch>
                  <a:fillRect l="0" t="-88643" r="0" b="-88643"/>
                </a:stretch>
              </a:blipFill>
            </p:spPr>
          </p:sp>
          <p:sp>
            <p:nvSpPr>
              <p:cNvPr name="TextBox 16" id="16"/>
              <p:cNvSpPr txBox="true"/>
              <p:nvPr/>
            </p:nvSpPr>
            <p:spPr>
              <a:xfrm>
                <a:off x="0" y="-28575"/>
                <a:ext cx="3383280" cy="504063"/>
              </a:xfrm>
              <a:prstGeom prst="rect">
                <a:avLst/>
              </a:prstGeom>
            </p:spPr>
            <p:txBody>
              <a:bodyPr anchor="ctr" rtlCol="false" tIns="0" lIns="0" bIns="0" rIns="0"/>
              <a:lstStyle/>
              <a:p>
                <a:pPr algn="ctr">
                  <a:lnSpc>
                    <a:spcPts val="1770"/>
                  </a:lnSpc>
                </a:pPr>
                <a:r>
                  <a:rPr lang="en-US" sz="1475" b="true">
                    <a:solidFill>
                      <a:srgbClr val="6D28D9"/>
                    </a:solidFill>
                    <a:latin typeface="Calibri (MS) Bold"/>
                    <a:ea typeface="Calibri (MS) Bold"/>
                    <a:cs typeface="Calibri (MS) Bold"/>
                    <a:sym typeface="Calibri (MS) Bold"/>
                  </a:rPr>
                  <a:t>For: new engineers</a:t>
                </a:r>
              </a:p>
            </p:txBody>
          </p:sp>
        </p:grpSp>
        <p:sp>
          <p:nvSpPr>
            <p:cNvPr name="TextBox 17" id="17"/>
            <p:cNvSpPr txBox="true"/>
            <p:nvPr/>
          </p:nvSpPr>
          <p:spPr>
            <a:xfrm rot="0">
              <a:off x="579755" y="1847726"/>
              <a:ext cx="10183028" cy="946681"/>
            </a:xfrm>
            <a:prstGeom prst="rect">
              <a:avLst/>
            </a:prstGeom>
          </p:spPr>
          <p:txBody>
            <a:bodyPr anchor="t" rtlCol="false" tIns="0" lIns="0" bIns="0" rIns="0">
              <a:spAutoFit/>
            </a:bodyPr>
            <a:lstStyle/>
            <a:p>
              <a:pPr algn="l">
                <a:lnSpc>
                  <a:spcPts val="2793"/>
                </a:lnSpc>
              </a:pPr>
              <a:r>
                <a:rPr lang="en-US" sz="1940">
                  <a:solidFill>
                    <a:srgbClr val="6B6B76"/>
                  </a:solidFill>
                  <a:latin typeface="Calibri (MS)"/>
                  <a:ea typeface="Calibri (MS)"/>
                  <a:cs typeface="Calibri (MS)"/>
                  <a:sym typeface="Calibri (MS)"/>
                </a:rPr>
                <a:t>Search unfamiliar code by describing behavior, not memorized function names.</a:t>
              </a:r>
            </a:p>
          </p:txBody>
        </p:sp>
        <p:grpSp>
          <p:nvGrpSpPr>
            <p:cNvPr name="Group 18" id="18"/>
            <p:cNvGrpSpPr/>
            <p:nvPr/>
          </p:nvGrpSpPr>
          <p:grpSpPr>
            <a:xfrm rot="0">
              <a:off x="579755" y="2842650"/>
              <a:ext cx="10183028" cy="1010221"/>
              <a:chOff x="0" y="0"/>
              <a:chExt cx="9217152" cy="914400"/>
            </a:xfrm>
          </p:grpSpPr>
          <p:sp>
            <p:nvSpPr>
              <p:cNvPr name="Freeform 19" id="19"/>
              <p:cNvSpPr/>
              <p:nvPr/>
            </p:nvSpPr>
            <p:spPr>
              <a:xfrm flipH="false" flipV="false" rot="0">
                <a:off x="0" y="0"/>
                <a:ext cx="9217152" cy="914400"/>
              </a:xfrm>
              <a:custGeom>
                <a:avLst/>
                <a:gdLst/>
                <a:ahLst/>
                <a:cxnLst/>
                <a:rect r="r" b="b" t="t" l="l"/>
                <a:pathLst>
                  <a:path h="914400" w="9217152">
                    <a:moveTo>
                      <a:pt x="0" y="54864"/>
                    </a:moveTo>
                    <a:cubicBezTo>
                      <a:pt x="0" y="24511"/>
                      <a:pt x="24511" y="0"/>
                      <a:pt x="54864" y="0"/>
                    </a:cubicBezTo>
                    <a:lnTo>
                      <a:pt x="9162288" y="0"/>
                    </a:lnTo>
                    <a:cubicBezTo>
                      <a:pt x="9192641" y="0"/>
                      <a:pt x="9217152" y="24511"/>
                      <a:pt x="9217152" y="54864"/>
                    </a:cubicBezTo>
                    <a:lnTo>
                      <a:pt x="9217152" y="859536"/>
                    </a:lnTo>
                    <a:cubicBezTo>
                      <a:pt x="9217152" y="889889"/>
                      <a:pt x="9192641" y="914400"/>
                      <a:pt x="9162288" y="914400"/>
                    </a:cubicBezTo>
                    <a:lnTo>
                      <a:pt x="54864" y="914400"/>
                    </a:lnTo>
                    <a:cubicBezTo>
                      <a:pt x="24511" y="914400"/>
                      <a:pt x="0" y="889889"/>
                      <a:pt x="0" y="859536"/>
                    </a:cubicBezTo>
                    <a:close/>
                  </a:path>
                </a:pathLst>
              </a:custGeom>
              <a:solidFill>
                <a:srgbClr val="F7F5FC"/>
              </a:solidFill>
            </p:spPr>
          </p:sp>
        </p:grpSp>
        <p:sp>
          <p:nvSpPr>
            <p:cNvPr name="TextBox 20" id="20"/>
            <p:cNvSpPr txBox="true"/>
            <p:nvPr/>
          </p:nvSpPr>
          <p:spPr>
            <a:xfrm rot="0">
              <a:off x="903025" y="2885367"/>
              <a:ext cx="9536487" cy="342900"/>
            </a:xfrm>
            <a:prstGeom prst="rect">
              <a:avLst/>
            </a:prstGeom>
          </p:spPr>
          <p:txBody>
            <a:bodyPr anchor="t" rtlCol="false" tIns="0" lIns="0" bIns="0" rIns="0">
              <a:spAutoFit/>
            </a:bodyPr>
            <a:lstStyle/>
            <a:p>
              <a:pPr algn="l">
                <a:lnSpc>
                  <a:spcPts val="1830"/>
                </a:lnSpc>
              </a:pPr>
              <a:r>
                <a:rPr lang="en-US" sz="1525" b="true">
                  <a:solidFill>
                    <a:srgbClr val="6D28D9"/>
                  </a:solidFill>
                  <a:latin typeface="Calibri (MS) Bold"/>
                  <a:ea typeface="Calibri (MS) Bold"/>
                  <a:cs typeface="Calibri (MS) Bold"/>
                  <a:sym typeface="Calibri (MS) Bold"/>
                </a:rPr>
                <a:t>EXAMPLE QUERY</a:t>
              </a:r>
            </a:p>
          </p:txBody>
        </p:sp>
        <p:sp>
          <p:nvSpPr>
            <p:cNvPr name="TextBox 21" id="21"/>
            <p:cNvSpPr txBox="true"/>
            <p:nvPr/>
          </p:nvSpPr>
          <p:spPr>
            <a:xfrm rot="0">
              <a:off x="903025" y="3298981"/>
              <a:ext cx="9536487" cy="397237"/>
            </a:xfrm>
            <a:prstGeom prst="rect">
              <a:avLst/>
            </a:prstGeom>
          </p:spPr>
          <p:txBody>
            <a:bodyPr anchor="t" rtlCol="false" tIns="0" lIns="0" bIns="0" rIns="0">
              <a:spAutoFit/>
            </a:bodyPr>
            <a:lstStyle/>
            <a:p>
              <a:pPr algn="l">
                <a:lnSpc>
                  <a:spcPts val="2451"/>
                </a:lnSpc>
              </a:pPr>
              <a:r>
                <a:rPr lang="en-US" sz="1857">
                  <a:solidFill>
                    <a:srgbClr val="14142B"/>
                  </a:solidFill>
                  <a:latin typeface="Courier New"/>
                  <a:ea typeface="Courier New"/>
                  <a:cs typeface="Courier New"/>
                  <a:sym typeface="Courier New"/>
                </a:rPr>
                <a:t>“where do we retry a failed payment?”</a:t>
              </a:r>
            </a:p>
          </p:txBody>
        </p:sp>
        <p:sp>
          <p:nvSpPr>
            <p:cNvPr name="TextBox 22" id="22"/>
            <p:cNvSpPr txBox="true"/>
            <p:nvPr/>
          </p:nvSpPr>
          <p:spPr>
            <a:xfrm rot="0">
              <a:off x="579755" y="3814771"/>
              <a:ext cx="10183028" cy="406400"/>
            </a:xfrm>
            <a:prstGeom prst="rect">
              <a:avLst/>
            </a:prstGeom>
          </p:spPr>
          <p:txBody>
            <a:bodyPr anchor="t" rtlCol="false" tIns="0" lIns="0" bIns="0" rIns="0">
              <a:spAutoFit/>
            </a:bodyPr>
            <a:lstStyle/>
            <a:p>
              <a:pPr algn="l">
                <a:lnSpc>
                  <a:spcPts val="2228"/>
                </a:lnSpc>
              </a:pPr>
              <a:r>
                <a:rPr lang="en-US" b="true" sz="1857" i="true">
                  <a:solidFill>
                    <a:srgbClr val="D9A441"/>
                  </a:solidFill>
                  <a:latin typeface="Calibri (MS) Bold Italics"/>
                  <a:ea typeface="Calibri (MS) Bold Italics"/>
                  <a:cs typeface="Calibri (MS) Bold Italics"/>
                  <a:sym typeface="Calibri (MS) Bold Italics"/>
                </a:rPr>
                <a:t>▸ Days-to-productivity → hours.</a:t>
              </a:r>
            </a:p>
          </p:txBody>
        </p:sp>
        <p:grpSp>
          <p:nvGrpSpPr>
            <p:cNvPr name="Group 23" id="23"/>
            <p:cNvGrpSpPr/>
            <p:nvPr/>
          </p:nvGrpSpPr>
          <p:grpSpPr>
            <a:xfrm rot="0">
              <a:off x="11920608" y="0"/>
              <a:ext cx="11342537" cy="4473034"/>
              <a:chOff x="0" y="0"/>
              <a:chExt cx="10266680" cy="4048760"/>
            </a:xfrm>
          </p:grpSpPr>
          <p:sp>
            <p:nvSpPr>
              <p:cNvPr name="Freeform 24" id="24"/>
              <p:cNvSpPr/>
              <p:nvPr/>
            </p:nvSpPr>
            <p:spPr>
              <a:xfrm flipH="false" flipV="false" rot="0">
                <a:off x="0" y="0"/>
                <a:ext cx="10266680" cy="4048760"/>
              </a:xfrm>
              <a:custGeom>
                <a:avLst/>
                <a:gdLst/>
                <a:ahLst/>
                <a:cxnLst/>
                <a:rect r="r" b="b" t="t" l="l"/>
                <a:pathLst>
                  <a:path h="4048760" w="10266680">
                    <a:moveTo>
                      <a:pt x="0" y="242951"/>
                    </a:moveTo>
                    <a:cubicBezTo>
                      <a:pt x="0" y="108712"/>
                      <a:pt x="108712" y="0"/>
                      <a:pt x="242951" y="0"/>
                    </a:cubicBezTo>
                    <a:lnTo>
                      <a:pt x="10023729" y="0"/>
                    </a:lnTo>
                    <a:cubicBezTo>
                      <a:pt x="10157841" y="0"/>
                      <a:pt x="10266680" y="108712"/>
                      <a:pt x="10266680" y="242951"/>
                    </a:cubicBezTo>
                    <a:lnTo>
                      <a:pt x="10266680" y="3805809"/>
                    </a:lnTo>
                    <a:cubicBezTo>
                      <a:pt x="10266680" y="3939921"/>
                      <a:pt x="10157968" y="4048760"/>
                      <a:pt x="10023729" y="4048760"/>
                    </a:cubicBezTo>
                    <a:lnTo>
                      <a:pt x="242951" y="4048760"/>
                    </a:lnTo>
                    <a:cubicBezTo>
                      <a:pt x="108712" y="4048760"/>
                      <a:pt x="0" y="3940048"/>
                      <a:pt x="0" y="3805809"/>
                    </a:cubicBezTo>
                    <a:close/>
                  </a:path>
                </a:pathLst>
              </a:custGeom>
              <a:solidFill>
                <a:srgbClr val="FFFFFF"/>
              </a:solidFill>
              <a:ln w="19050" cap="sq">
                <a:solidFill>
                  <a:srgbClr val="D9D3F0"/>
                </a:solidFill>
                <a:prstDash val="solid"/>
                <a:miter/>
              </a:ln>
            </p:spPr>
          </p:sp>
        </p:grpSp>
        <p:grpSp>
          <p:nvGrpSpPr>
            <p:cNvPr name="Group 25" id="25"/>
            <p:cNvGrpSpPr/>
            <p:nvPr/>
          </p:nvGrpSpPr>
          <p:grpSpPr>
            <a:xfrm rot="0">
              <a:off x="12389239" y="468630"/>
              <a:ext cx="1111243" cy="1111243"/>
              <a:chOff x="0" y="0"/>
              <a:chExt cx="1005840" cy="1005840"/>
            </a:xfrm>
          </p:grpSpPr>
          <p:sp>
            <p:nvSpPr>
              <p:cNvPr name="Freeform 26" id="26"/>
              <p:cNvSpPr/>
              <p:nvPr/>
            </p:nvSpPr>
            <p:spPr>
              <a:xfrm flipH="false" flipV="false" rot="0">
                <a:off x="0" y="0"/>
                <a:ext cx="1005840" cy="1005840"/>
              </a:xfrm>
              <a:custGeom>
                <a:avLst/>
                <a:gdLst/>
                <a:ahLst/>
                <a:cxnLst/>
                <a:rect r="r" b="b" t="t" l="l"/>
                <a:pathLst>
                  <a:path h="1005840" w="1005840">
                    <a:moveTo>
                      <a:pt x="0" y="502920"/>
                    </a:moveTo>
                    <a:cubicBezTo>
                      <a:pt x="0" y="225171"/>
                      <a:pt x="225171" y="0"/>
                      <a:pt x="502920" y="0"/>
                    </a:cubicBezTo>
                    <a:cubicBezTo>
                      <a:pt x="780669" y="0"/>
                      <a:pt x="1005840" y="225171"/>
                      <a:pt x="1005840" y="502920"/>
                    </a:cubicBezTo>
                    <a:cubicBezTo>
                      <a:pt x="1005840" y="780669"/>
                      <a:pt x="780669" y="1005840"/>
                      <a:pt x="502920" y="1005840"/>
                    </a:cubicBezTo>
                    <a:cubicBezTo>
                      <a:pt x="225171" y="1005840"/>
                      <a:pt x="0" y="780669"/>
                      <a:pt x="0" y="502920"/>
                    </a:cubicBezTo>
                    <a:close/>
                  </a:path>
                </a:pathLst>
              </a:custGeom>
              <a:solidFill>
                <a:srgbClr val="704EA6"/>
              </a:solidFill>
            </p:spPr>
          </p:sp>
          <p:sp>
            <p:nvSpPr>
              <p:cNvPr name="TextBox 27" id="27"/>
              <p:cNvSpPr txBox="true"/>
              <p:nvPr/>
            </p:nvSpPr>
            <p:spPr>
              <a:xfrm>
                <a:off x="0" y="-47625"/>
                <a:ext cx="1005840" cy="1053465"/>
              </a:xfrm>
              <a:prstGeom prst="rect">
                <a:avLst/>
              </a:prstGeom>
            </p:spPr>
            <p:txBody>
              <a:bodyPr anchor="ctr" rtlCol="false" tIns="50800" lIns="50800" bIns="50800" rIns="50800"/>
              <a:lstStyle/>
              <a:p>
                <a:pPr algn="ctr">
                  <a:lnSpc>
                    <a:spcPts val="2939"/>
                  </a:lnSpc>
                </a:pPr>
                <a:r>
                  <a:rPr lang="en-US" sz="2449" b="true">
                    <a:solidFill>
                      <a:srgbClr val="FFFFFF"/>
                    </a:solidFill>
                    <a:latin typeface="Calibri (MS) Bold"/>
                    <a:ea typeface="Calibri (MS) Bold"/>
                    <a:cs typeface="Calibri (MS) Bold"/>
                    <a:sym typeface="Calibri (MS) Bold"/>
                  </a:rPr>
                  <a:t>2</a:t>
                </a:r>
              </a:p>
            </p:txBody>
          </p:sp>
        </p:grpSp>
        <p:sp>
          <p:nvSpPr>
            <p:cNvPr name="TextBox 28" id="28"/>
            <p:cNvSpPr txBox="true"/>
            <p:nvPr/>
          </p:nvSpPr>
          <p:spPr>
            <a:xfrm rot="0">
              <a:off x="13854059" y="401378"/>
              <a:ext cx="8990967" cy="540388"/>
            </a:xfrm>
            <a:prstGeom prst="rect">
              <a:avLst/>
            </a:prstGeom>
          </p:spPr>
          <p:txBody>
            <a:bodyPr anchor="t" rtlCol="false" tIns="0" lIns="0" bIns="0" rIns="0">
              <a:spAutoFit/>
            </a:bodyPr>
            <a:lstStyle/>
            <a:p>
              <a:pPr algn="l">
                <a:lnSpc>
                  <a:spcPts val="3070"/>
                </a:lnSpc>
              </a:pPr>
              <a:r>
                <a:rPr lang="en-US" sz="2437" b="true">
                  <a:solidFill>
                    <a:srgbClr val="14142B"/>
                  </a:solidFill>
                  <a:latin typeface="Calibri (MS) Bold"/>
                  <a:ea typeface="Calibri (MS) Bold"/>
                  <a:cs typeface="Calibri (MS) Bold"/>
                  <a:sym typeface="Calibri (MS) Bold"/>
                </a:rPr>
                <a:t>Agentic coding backend</a:t>
              </a:r>
            </a:p>
          </p:txBody>
        </p:sp>
        <p:grpSp>
          <p:nvGrpSpPr>
            <p:cNvPr name="Group 29" id="29"/>
            <p:cNvGrpSpPr/>
            <p:nvPr/>
          </p:nvGrpSpPr>
          <p:grpSpPr>
            <a:xfrm rot="0">
              <a:off x="13843536" y="1215773"/>
              <a:ext cx="3758864" cy="546361"/>
              <a:chOff x="0" y="0"/>
              <a:chExt cx="3402330" cy="494538"/>
            </a:xfrm>
          </p:grpSpPr>
          <p:sp>
            <p:nvSpPr>
              <p:cNvPr name="Freeform 30" id="30"/>
              <p:cNvSpPr/>
              <p:nvPr/>
            </p:nvSpPr>
            <p:spPr>
              <a:xfrm flipH="false" flipV="false" rot="0">
                <a:off x="0" y="0"/>
                <a:ext cx="3402330" cy="494538"/>
              </a:xfrm>
              <a:custGeom>
                <a:avLst/>
                <a:gdLst/>
                <a:ahLst/>
                <a:cxnLst/>
                <a:rect r="r" b="b" t="t" l="l"/>
                <a:pathLst>
                  <a:path h="494538" w="3402330">
                    <a:moveTo>
                      <a:pt x="0" y="247269"/>
                    </a:moveTo>
                    <a:cubicBezTo>
                      <a:pt x="0" y="110744"/>
                      <a:pt x="110744" y="0"/>
                      <a:pt x="247269" y="0"/>
                    </a:cubicBezTo>
                    <a:lnTo>
                      <a:pt x="3155061" y="0"/>
                    </a:lnTo>
                    <a:cubicBezTo>
                      <a:pt x="3291586" y="0"/>
                      <a:pt x="3402330" y="110744"/>
                      <a:pt x="3402330" y="247269"/>
                    </a:cubicBezTo>
                    <a:cubicBezTo>
                      <a:pt x="3402330" y="383794"/>
                      <a:pt x="3291586" y="494538"/>
                      <a:pt x="3155061" y="494538"/>
                    </a:cubicBezTo>
                    <a:lnTo>
                      <a:pt x="247269" y="494538"/>
                    </a:lnTo>
                    <a:cubicBezTo>
                      <a:pt x="110744" y="494538"/>
                      <a:pt x="0" y="383794"/>
                      <a:pt x="0" y="247269"/>
                    </a:cubicBezTo>
                    <a:close/>
                  </a:path>
                </a:pathLst>
              </a:custGeom>
              <a:solidFill>
                <a:srgbClr val="EDE9FB"/>
              </a:solidFill>
              <a:ln w="14288" cap="sq">
                <a:solidFill>
                  <a:srgbClr val="D9D3F0"/>
                </a:solidFill>
                <a:prstDash val="solid"/>
                <a:miter/>
              </a:ln>
            </p:spPr>
          </p:sp>
        </p:grpSp>
        <p:grpSp>
          <p:nvGrpSpPr>
            <p:cNvPr name="Group 31" id="31"/>
            <p:cNvGrpSpPr/>
            <p:nvPr/>
          </p:nvGrpSpPr>
          <p:grpSpPr>
            <a:xfrm rot="0">
              <a:off x="13854059" y="1226296"/>
              <a:ext cx="3737818" cy="525315"/>
              <a:chOff x="0" y="0"/>
              <a:chExt cx="3383280" cy="475488"/>
            </a:xfrm>
          </p:grpSpPr>
          <p:sp>
            <p:nvSpPr>
              <p:cNvPr name="Freeform 32" id="32"/>
              <p:cNvSpPr/>
              <p:nvPr/>
            </p:nvSpPr>
            <p:spPr>
              <a:xfrm flipH="false" flipV="false" rot="0">
                <a:off x="0" y="0"/>
                <a:ext cx="3383280" cy="475488"/>
              </a:xfrm>
              <a:custGeom>
                <a:avLst/>
                <a:gdLst/>
                <a:ahLst/>
                <a:cxnLst/>
                <a:rect r="r" b="b" t="t" l="l"/>
                <a:pathLst>
                  <a:path h="475488" w="3383280">
                    <a:moveTo>
                      <a:pt x="0" y="0"/>
                    </a:moveTo>
                    <a:lnTo>
                      <a:pt x="3383280" y="0"/>
                    </a:lnTo>
                    <a:lnTo>
                      <a:pt x="3383280" y="475488"/>
                    </a:lnTo>
                    <a:lnTo>
                      <a:pt x="0" y="475488"/>
                    </a:lnTo>
                    <a:close/>
                  </a:path>
                </a:pathLst>
              </a:custGeom>
              <a:blipFill>
                <a:blip r:embed="rId3">
                  <a:alphaModFix amt="0"/>
                </a:blip>
                <a:stretch>
                  <a:fillRect l="0" t="-88643" r="0" b="-88643"/>
                </a:stretch>
              </a:blipFill>
            </p:spPr>
          </p:sp>
          <p:sp>
            <p:nvSpPr>
              <p:cNvPr name="TextBox 33" id="33"/>
              <p:cNvSpPr txBox="true"/>
              <p:nvPr/>
            </p:nvSpPr>
            <p:spPr>
              <a:xfrm>
                <a:off x="0" y="-28575"/>
                <a:ext cx="3383280" cy="504063"/>
              </a:xfrm>
              <a:prstGeom prst="rect">
                <a:avLst/>
              </a:prstGeom>
            </p:spPr>
            <p:txBody>
              <a:bodyPr anchor="ctr" rtlCol="false" tIns="0" lIns="0" bIns="0" rIns="0"/>
              <a:lstStyle/>
              <a:p>
                <a:pPr algn="ctr">
                  <a:lnSpc>
                    <a:spcPts val="1770"/>
                  </a:lnSpc>
                </a:pPr>
                <a:r>
                  <a:rPr lang="en-US" sz="1475" b="true">
                    <a:solidFill>
                      <a:srgbClr val="6D28D9"/>
                    </a:solidFill>
                    <a:latin typeface="Calibri (MS) Bold"/>
                    <a:ea typeface="Calibri (MS) Bold"/>
                    <a:cs typeface="Calibri (MS) Bold"/>
                    <a:sym typeface="Calibri (MS) Bold"/>
                  </a:rPr>
                  <a:t>For: AI coding agents</a:t>
                </a:r>
              </a:p>
            </p:txBody>
          </p:sp>
        </p:grpSp>
        <p:sp>
          <p:nvSpPr>
            <p:cNvPr name="TextBox 34" id="34"/>
            <p:cNvSpPr txBox="true"/>
            <p:nvPr/>
          </p:nvSpPr>
          <p:spPr>
            <a:xfrm rot="0">
              <a:off x="12500363" y="1847726"/>
              <a:ext cx="10183028" cy="476781"/>
            </a:xfrm>
            <a:prstGeom prst="rect">
              <a:avLst/>
            </a:prstGeom>
          </p:spPr>
          <p:txBody>
            <a:bodyPr anchor="t" rtlCol="false" tIns="0" lIns="0" bIns="0" rIns="0">
              <a:spAutoFit/>
            </a:bodyPr>
            <a:lstStyle/>
            <a:p>
              <a:pPr algn="l">
                <a:lnSpc>
                  <a:spcPts val="2793"/>
                </a:lnSpc>
              </a:pPr>
              <a:r>
                <a:rPr lang="en-US" sz="1940">
                  <a:solidFill>
                    <a:srgbClr val="6B6B76"/>
                  </a:solidFill>
                  <a:latin typeface="Calibri (MS)"/>
                  <a:ea typeface="Calibri (MS)"/>
                  <a:cs typeface="Calibri (MS)"/>
                  <a:sym typeface="Calibri (MS)"/>
                </a:rPr>
                <a:t>A fast retrieval step an agent calls before it generates or edits code.</a:t>
              </a:r>
            </a:p>
          </p:txBody>
        </p:sp>
        <p:grpSp>
          <p:nvGrpSpPr>
            <p:cNvPr name="Group 35" id="35"/>
            <p:cNvGrpSpPr/>
            <p:nvPr/>
          </p:nvGrpSpPr>
          <p:grpSpPr>
            <a:xfrm rot="0">
              <a:off x="12500363" y="2842650"/>
              <a:ext cx="10183028" cy="1010221"/>
              <a:chOff x="0" y="0"/>
              <a:chExt cx="9217152" cy="914400"/>
            </a:xfrm>
          </p:grpSpPr>
          <p:sp>
            <p:nvSpPr>
              <p:cNvPr name="Freeform 36" id="36"/>
              <p:cNvSpPr/>
              <p:nvPr/>
            </p:nvSpPr>
            <p:spPr>
              <a:xfrm flipH="false" flipV="false" rot="0">
                <a:off x="0" y="0"/>
                <a:ext cx="9217152" cy="914400"/>
              </a:xfrm>
              <a:custGeom>
                <a:avLst/>
                <a:gdLst/>
                <a:ahLst/>
                <a:cxnLst/>
                <a:rect r="r" b="b" t="t" l="l"/>
                <a:pathLst>
                  <a:path h="914400" w="9217152">
                    <a:moveTo>
                      <a:pt x="0" y="54864"/>
                    </a:moveTo>
                    <a:cubicBezTo>
                      <a:pt x="0" y="24511"/>
                      <a:pt x="24511" y="0"/>
                      <a:pt x="54864" y="0"/>
                    </a:cubicBezTo>
                    <a:lnTo>
                      <a:pt x="9162288" y="0"/>
                    </a:lnTo>
                    <a:cubicBezTo>
                      <a:pt x="9192641" y="0"/>
                      <a:pt x="9217152" y="24511"/>
                      <a:pt x="9217152" y="54864"/>
                    </a:cubicBezTo>
                    <a:lnTo>
                      <a:pt x="9217152" y="859536"/>
                    </a:lnTo>
                    <a:cubicBezTo>
                      <a:pt x="9217152" y="889889"/>
                      <a:pt x="9192641" y="914400"/>
                      <a:pt x="9162288" y="914400"/>
                    </a:cubicBezTo>
                    <a:lnTo>
                      <a:pt x="54864" y="914400"/>
                    </a:lnTo>
                    <a:cubicBezTo>
                      <a:pt x="24511" y="914400"/>
                      <a:pt x="0" y="889889"/>
                      <a:pt x="0" y="859536"/>
                    </a:cubicBezTo>
                    <a:close/>
                  </a:path>
                </a:pathLst>
              </a:custGeom>
              <a:solidFill>
                <a:srgbClr val="F7F5FC"/>
              </a:solidFill>
            </p:spPr>
          </p:sp>
        </p:grpSp>
        <p:sp>
          <p:nvSpPr>
            <p:cNvPr name="TextBox 37" id="37"/>
            <p:cNvSpPr txBox="true"/>
            <p:nvPr/>
          </p:nvSpPr>
          <p:spPr>
            <a:xfrm rot="0">
              <a:off x="12823634" y="2885367"/>
              <a:ext cx="9536487" cy="342900"/>
            </a:xfrm>
            <a:prstGeom prst="rect">
              <a:avLst/>
            </a:prstGeom>
          </p:spPr>
          <p:txBody>
            <a:bodyPr anchor="t" rtlCol="false" tIns="0" lIns="0" bIns="0" rIns="0">
              <a:spAutoFit/>
            </a:bodyPr>
            <a:lstStyle/>
            <a:p>
              <a:pPr algn="l">
                <a:lnSpc>
                  <a:spcPts val="1830"/>
                </a:lnSpc>
              </a:pPr>
              <a:r>
                <a:rPr lang="en-US" sz="1525" b="true">
                  <a:solidFill>
                    <a:srgbClr val="6D28D9"/>
                  </a:solidFill>
                  <a:latin typeface="Calibri (MS) Bold"/>
                  <a:ea typeface="Calibri (MS) Bold"/>
                  <a:cs typeface="Calibri (MS) Bold"/>
                  <a:sym typeface="Calibri (MS) Bold"/>
                </a:rPr>
                <a:t>RETRIEVAL BUDGET</a:t>
              </a:r>
            </a:p>
          </p:txBody>
        </p:sp>
        <p:sp>
          <p:nvSpPr>
            <p:cNvPr name="TextBox 38" id="38"/>
            <p:cNvSpPr txBox="true"/>
            <p:nvPr/>
          </p:nvSpPr>
          <p:spPr>
            <a:xfrm rot="0">
              <a:off x="12823634" y="3298981"/>
              <a:ext cx="9536487" cy="397237"/>
            </a:xfrm>
            <a:prstGeom prst="rect">
              <a:avLst/>
            </a:prstGeom>
          </p:spPr>
          <p:txBody>
            <a:bodyPr anchor="t" rtlCol="false" tIns="0" lIns="0" bIns="0" rIns="0">
              <a:spAutoFit/>
            </a:bodyPr>
            <a:lstStyle/>
            <a:p>
              <a:pPr algn="l">
                <a:lnSpc>
                  <a:spcPts val="2451"/>
                </a:lnSpc>
              </a:pPr>
              <a:r>
                <a:rPr lang="en-US" sz="1857">
                  <a:solidFill>
                    <a:srgbClr val="14142B"/>
                  </a:solidFill>
                  <a:latin typeface="Courier New"/>
                  <a:ea typeface="Courier New"/>
                  <a:cs typeface="Courier New"/>
                  <a:sym typeface="Courier New"/>
                </a:rPr>
                <a:t>one encoder pass per query, no LLM in the loop.</a:t>
              </a:r>
            </a:p>
          </p:txBody>
        </p:sp>
        <p:sp>
          <p:nvSpPr>
            <p:cNvPr name="TextBox 39" id="39"/>
            <p:cNvSpPr txBox="true"/>
            <p:nvPr/>
          </p:nvSpPr>
          <p:spPr>
            <a:xfrm rot="0">
              <a:off x="12500363" y="3814771"/>
              <a:ext cx="10183028" cy="406400"/>
            </a:xfrm>
            <a:prstGeom prst="rect">
              <a:avLst/>
            </a:prstGeom>
          </p:spPr>
          <p:txBody>
            <a:bodyPr anchor="t" rtlCol="false" tIns="0" lIns="0" bIns="0" rIns="0">
              <a:spAutoFit/>
            </a:bodyPr>
            <a:lstStyle/>
            <a:p>
              <a:pPr algn="l">
                <a:lnSpc>
                  <a:spcPts val="2228"/>
                </a:lnSpc>
              </a:pPr>
              <a:r>
                <a:rPr lang="en-US" b="true" sz="1857" i="true">
                  <a:solidFill>
                    <a:srgbClr val="D9A441"/>
                  </a:solidFill>
                  <a:latin typeface="Calibri (MS) Bold Italics"/>
                  <a:ea typeface="Calibri (MS) Bold Italics"/>
                  <a:cs typeface="Calibri (MS) Bold Italics"/>
                  <a:sym typeface="Calibri (MS) Bold Italics"/>
                </a:rPr>
                <a:t>▸ Retrieval faster than generation, by design.</a:t>
              </a:r>
            </a:p>
          </p:txBody>
        </p:sp>
        <p:grpSp>
          <p:nvGrpSpPr>
            <p:cNvPr name="Group 40" id="40"/>
            <p:cNvGrpSpPr/>
            <p:nvPr/>
          </p:nvGrpSpPr>
          <p:grpSpPr>
            <a:xfrm rot="0">
              <a:off x="0" y="5051105"/>
              <a:ext cx="11342537" cy="4473034"/>
              <a:chOff x="0" y="0"/>
              <a:chExt cx="10266680" cy="4048760"/>
            </a:xfrm>
          </p:grpSpPr>
          <p:sp>
            <p:nvSpPr>
              <p:cNvPr name="Freeform 41" id="41"/>
              <p:cNvSpPr/>
              <p:nvPr/>
            </p:nvSpPr>
            <p:spPr>
              <a:xfrm flipH="false" flipV="false" rot="0">
                <a:off x="0" y="0"/>
                <a:ext cx="10266680" cy="4048760"/>
              </a:xfrm>
              <a:custGeom>
                <a:avLst/>
                <a:gdLst/>
                <a:ahLst/>
                <a:cxnLst/>
                <a:rect r="r" b="b" t="t" l="l"/>
                <a:pathLst>
                  <a:path h="4048760" w="10266680">
                    <a:moveTo>
                      <a:pt x="0" y="242951"/>
                    </a:moveTo>
                    <a:cubicBezTo>
                      <a:pt x="0" y="108712"/>
                      <a:pt x="108712" y="0"/>
                      <a:pt x="242951" y="0"/>
                    </a:cubicBezTo>
                    <a:lnTo>
                      <a:pt x="10023729" y="0"/>
                    </a:lnTo>
                    <a:cubicBezTo>
                      <a:pt x="10157841" y="0"/>
                      <a:pt x="10266680" y="108712"/>
                      <a:pt x="10266680" y="242951"/>
                    </a:cubicBezTo>
                    <a:lnTo>
                      <a:pt x="10266680" y="3805809"/>
                    </a:lnTo>
                    <a:cubicBezTo>
                      <a:pt x="10266680" y="3939921"/>
                      <a:pt x="10157968" y="4048760"/>
                      <a:pt x="10023729" y="4048760"/>
                    </a:cubicBezTo>
                    <a:lnTo>
                      <a:pt x="242951" y="4048760"/>
                    </a:lnTo>
                    <a:cubicBezTo>
                      <a:pt x="108712" y="4048760"/>
                      <a:pt x="0" y="3940048"/>
                      <a:pt x="0" y="3805809"/>
                    </a:cubicBezTo>
                    <a:close/>
                  </a:path>
                </a:pathLst>
              </a:custGeom>
              <a:solidFill>
                <a:srgbClr val="FFFFFF"/>
              </a:solidFill>
              <a:ln w="19050" cap="sq">
                <a:solidFill>
                  <a:srgbClr val="D9D3F0"/>
                </a:solidFill>
                <a:prstDash val="solid"/>
                <a:miter/>
              </a:ln>
            </p:spPr>
          </p:sp>
        </p:grpSp>
        <p:grpSp>
          <p:nvGrpSpPr>
            <p:cNvPr name="Group 42" id="42"/>
            <p:cNvGrpSpPr/>
            <p:nvPr/>
          </p:nvGrpSpPr>
          <p:grpSpPr>
            <a:xfrm rot="0">
              <a:off x="468630" y="5519735"/>
              <a:ext cx="1111243" cy="1111243"/>
              <a:chOff x="0" y="0"/>
              <a:chExt cx="1005840" cy="1005840"/>
            </a:xfrm>
          </p:grpSpPr>
          <p:sp>
            <p:nvSpPr>
              <p:cNvPr name="Freeform 43" id="43"/>
              <p:cNvSpPr/>
              <p:nvPr/>
            </p:nvSpPr>
            <p:spPr>
              <a:xfrm flipH="false" flipV="false" rot="0">
                <a:off x="0" y="0"/>
                <a:ext cx="1005840" cy="1005840"/>
              </a:xfrm>
              <a:custGeom>
                <a:avLst/>
                <a:gdLst/>
                <a:ahLst/>
                <a:cxnLst/>
                <a:rect r="r" b="b" t="t" l="l"/>
                <a:pathLst>
                  <a:path h="1005840" w="1005840">
                    <a:moveTo>
                      <a:pt x="0" y="502920"/>
                    </a:moveTo>
                    <a:cubicBezTo>
                      <a:pt x="0" y="225171"/>
                      <a:pt x="225171" y="0"/>
                      <a:pt x="502920" y="0"/>
                    </a:cubicBezTo>
                    <a:cubicBezTo>
                      <a:pt x="780669" y="0"/>
                      <a:pt x="1005840" y="225171"/>
                      <a:pt x="1005840" y="502920"/>
                    </a:cubicBezTo>
                    <a:cubicBezTo>
                      <a:pt x="1005840" y="780669"/>
                      <a:pt x="780669" y="1005840"/>
                      <a:pt x="502920" y="1005840"/>
                    </a:cubicBezTo>
                    <a:cubicBezTo>
                      <a:pt x="225171" y="1005840"/>
                      <a:pt x="0" y="780669"/>
                      <a:pt x="0" y="502920"/>
                    </a:cubicBezTo>
                    <a:close/>
                  </a:path>
                </a:pathLst>
              </a:custGeom>
              <a:solidFill>
                <a:srgbClr val="704EA6"/>
              </a:solidFill>
            </p:spPr>
          </p:sp>
          <p:sp>
            <p:nvSpPr>
              <p:cNvPr name="TextBox 44" id="44"/>
              <p:cNvSpPr txBox="true"/>
              <p:nvPr/>
            </p:nvSpPr>
            <p:spPr>
              <a:xfrm>
                <a:off x="0" y="-47625"/>
                <a:ext cx="1005840" cy="1053465"/>
              </a:xfrm>
              <a:prstGeom prst="rect">
                <a:avLst/>
              </a:prstGeom>
            </p:spPr>
            <p:txBody>
              <a:bodyPr anchor="ctr" rtlCol="false" tIns="50800" lIns="50800" bIns="50800" rIns="50800"/>
              <a:lstStyle/>
              <a:p>
                <a:pPr algn="ctr">
                  <a:lnSpc>
                    <a:spcPts val="2939"/>
                  </a:lnSpc>
                </a:pPr>
                <a:r>
                  <a:rPr lang="en-US" sz="2449" b="true">
                    <a:solidFill>
                      <a:srgbClr val="FFFFFF"/>
                    </a:solidFill>
                    <a:latin typeface="Calibri (MS) Bold"/>
                    <a:ea typeface="Calibri (MS) Bold"/>
                    <a:cs typeface="Calibri (MS) Bold"/>
                    <a:sym typeface="Calibri (MS) Bold"/>
                  </a:rPr>
                  <a:t>3</a:t>
                </a:r>
              </a:p>
            </p:txBody>
          </p:sp>
        </p:grpSp>
        <p:sp>
          <p:nvSpPr>
            <p:cNvPr name="TextBox 45" id="45"/>
            <p:cNvSpPr txBox="true"/>
            <p:nvPr/>
          </p:nvSpPr>
          <p:spPr>
            <a:xfrm rot="0">
              <a:off x="1933451" y="5452483"/>
              <a:ext cx="8990967" cy="540388"/>
            </a:xfrm>
            <a:prstGeom prst="rect">
              <a:avLst/>
            </a:prstGeom>
          </p:spPr>
          <p:txBody>
            <a:bodyPr anchor="t" rtlCol="false" tIns="0" lIns="0" bIns="0" rIns="0">
              <a:spAutoFit/>
            </a:bodyPr>
            <a:lstStyle/>
            <a:p>
              <a:pPr algn="l">
                <a:lnSpc>
                  <a:spcPts val="3070"/>
                </a:lnSpc>
              </a:pPr>
              <a:r>
                <a:rPr lang="en-US" sz="2437" b="true">
                  <a:solidFill>
                    <a:srgbClr val="14142B"/>
                  </a:solidFill>
                  <a:latin typeface="Calibri (MS) Bold"/>
                  <a:ea typeface="Calibri (MS) Bold"/>
                  <a:cs typeface="Calibri (MS) Bold"/>
                  <a:sym typeface="Calibri (MS) Bold"/>
                </a:rPr>
                <a:t>Code review &amp; audit</a:t>
              </a:r>
            </a:p>
          </p:txBody>
        </p:sp>
        <p:grpSp>
          <p:nvGrpSpPr>
            <p:cNvPr name="Group 46" id="46"/>
            <p:cNvGrpSpPr/>
            <p:nvPr/>
          </p:nvGrpSpPr>
          <p:grpSpPr>
            <a:xfrm rot="0">
              <a:off x="1922928" y="6266878"/>
              <a:ext cx="3758864" cy="546361"/>
              <a:chOff x="0" y="0"/>
              <a:chExt cx="3402330" cy="494538"/>
            </a:xfrm>
          </p:grpSpPr>
          <p:sp>
            <p:nvSpPr>
              <p:cNvPr name="Freeform 47" id="47"/>
              <p:cNvSpPr/>
              <p:nvPr/>
            </p:nvSpPr>
            <p:spPr>
              <a:xfrm flipH="false" flipV="false" rot="0">
                <a:off x="0" y="0"/>
                <a:ext cx="3402330" cy="494538"/>
              </a:xfrm>
              <a:custGeom>
                <a:avLst/>
                <a:gdLst/>
                <a:ahLst/>
                <a:cxnLst/>
                <a:rect r="r" b="b" t="t" l="l"/>
                <a:pathLst>
                  <a:path h="494538" w="3402330">
                    <a:moveTo>
                      <a:pt x="0" y="247269"/>
                    </a:moveTo>
                    <a:cubicBezTo>
                      <a:pt x="0" y="110744"/>
                      <a:pt x="110744" y="0"/>
                      <a:pt x="247269" y="0"/>
                    </a:cubicBezTo>
                    <a:lnTo>
                      <a:pt x="3155061" y="0"/>
                    </a:lnTo>
                    <a:cubicBezTo>
                      <a:pt x="3291586" y="0"/>
                      <a:pt x="3402330" y="110744"/>
                      <a:pt x="3402330" y="247269"/>
                    </a:cubicBezTo>
                    <a:cubicBezTo>
                      <a:pt x="3402330" y="383794"/>
                      <a:pt x="3291586" y="494538"/>
                      <a:pt x="3155061" y="494538"/>
                    </a:cubicBezTo>
                    <a:lnTo>
                      <a:pt x="247269" y="494538"/>
                    </a:lnTo>
                    <a:cubicBezTo>
                      <a:pt x="110744" y="494538"/>
                      <a:pt x="0" y="383794"/>
                      <a:pt x="0" y="247269"/>
                    </a:cubicBezTo>
                    <a:close/>
                  </a:path>
                </a:pathLst>
              </a:custGeom>
              <a:solidFill>
                <a:srgbClr val="EDE9FB"/>
              </a:solidFill>
              <a:ln w="14288" cap="sq">
                <a:solidFill>
                  <a:srgbClr val="D9D3F0"/>
                </a:solidFill>
                <a:prstDash val="solid"/>
                <a:miter/>
              </a:ln>
            </p:spPr>
          </p:sp>
        </p:grpSp>
        <p:grpSp>
          <p:nvGrpSpPr>
            <p:cNvPr name="Group 48" id="48"/>
            <p:cNvGrpSpPr/>
            <p:nvPr/>
          </p:nvGrpSpPr>
          <p:grpSpPr>
            <a:xfrm rot="0">
              <a:off x="1933451" y="6277401"/>
              <a:ext cx="3737818" cy="525315"/>
              <a:chOff x="0" y="0"/>
              <a:chExt cx="3383280" cy="475488"/>
            </a:xfrm>
          </p:grpSpPr>
          <p:sp>
            <p:nvSpPr>
              <p:cNvPr name="Freeform 49" id="49"/>
              <p:cNvSpPr/>
              <p:nvPr/>
            </p:nvSpPr>
            <p:spPr>
              <a:xfrm flipH="false" flipV="false" rot="0">
                <a:off x="0" y="0"/>
                <a:ext cx="3383280" cy="475488"/>
              </a:xfrm>
              <a:custGeom>
                <a:avLst/>
                <a:gdLst/>
                <a:ahLst/>
                <a:cxnLst/>
                <a:rect r="r" b="b" t="t" l="l"/>
                <a:pathLst>
                  <a:path h="475488" w="3383280">
                    <a:moveTo>
                      <a:pt x="0" y="0"/>
                    </a:moveTo>
                    <a:lnTo>
                      <a:pt x="3383280" y="0"/>
                    </a:lnTo>
                    <a:lnTo>
                      <a:pt x="3383280" y="475488"/>
                    </a:lnTo>
                    <a:lnTo>
                      <a:pt x="0" y="475488"/>
                    </a:lnTo>
                    <a:close/>
                  </a:path>
                </a:pathLst>
              </a:custGeom>
              <a:blipFill>
                <a:blip r:embed="rId3">
                  <a:alphaModFix amt="0"/>
                </a:blip>
                <a:stretch>
                  <a:fillRect l="0" t="-88643" r="0" b="-88643"/>
                </a:stretch>
              </a:blipFill>
            </p:spPr>
          </p:sp>
          <p:sp>
            <p:nvSpPr>
              <p:cNvPr name="TextBox 50" id="50"/>
              <p:cNvSpPr txBox="true"/>
              <p:nvPr/>
            </p:nvSpPr>
            <p:spPr>
              <a:xfrm>
                <a:off x="0" y="-28575"/>
                <a:ext cx="3383280" cy="504063"/>
              </a:xfrm>
              <a:prstGeom prst="rect">
                <a:avLst/>
              </a:prstGeom>
            </p:spPr>
            <p:txBody>
              <a:bodyPr anchor="ctr" rtlCol="false" tIns="0" lIns="0" bIns="0" rIns="0"/>
              <a:lstStyle/>
              <a:p>
                <a:pPr algn="ctr">
                  <a:lnSpc>
                    <a:spcPts val="1770"/>
                  </a:lnSpc>
                </a:pPr>
                <a:r>
                  <a:rPr lang="en-US" sz="1475" b="true">
                    <a:solidFill>
                      <a:srgbClr val="6D28D9"/>
                    </a:solidFill>
                    <a:latin typeface="Calibri (MS) Bold"/>
                    <a:ea typeface="Calibri (MS) Bold"/>
                    <a:cs typeface="Calibri (MS) Bold"/>
                    <a:sym typeface="Calibri (MS) Bold"/>
                  </a:rPr>
                  <a:t>For: reviewers / security</a:t>
                </a:r>
              </a:p>
            </p:txBody>
          </p:sp>
        </p:grpSp>
        <p:sp>
          <p:nvSpPr>
            <p:cNvPr name="TextBox 51" id="51"/>
            <p:cNvSpPr txBox="true"/>
            <p:nvPr/>
          </p:nvSpPr>
          <p:spPr>
            <a:xfrm rot="0">
              <a:off x="579755" y="6898831"/>
              <a:ext cx="10183028" cy="476781"/>
            </a:xfrm>
            <a:prstGeom prst="rect">
              <a:avLst/>
            </a:prstGeom>
          </p:spPr>
          <p:txBody>
            <a:bodyPr anchor="t" rtlCol="false" tIns="0" lIns="0" bIns="0" rIns="0">
              <a:spAutoFit/>
            </a:bodyPr>
            <a:lstStyle/>
            <a:p>
              <a:pPr algn="l">
                <a:lnSpc>
                  <a:spcPts val="2793"/>
                </a:lnSpc>
              </a:pPr>
              <a:r>
                <a:rPr lang="en-US" sz="1940">
                  <a:solidFill>
                    <a:srgbClr val="6B6B76"/>
                  </a:solidFill>
                  <a:latin typeface="Calibri (MS)"/>
                  <a:ea typeface="Calibri (MS)"/>
                  <a:cs typeface="Calibri (MS)"/>
                  <a:sym typeface="Calibri (MS)"/>
                </a:rPr>
                <a:t>Locate every place a pattern or behavior appears — not just a grep match.</a:t>
              </a:r>
            </a:p>
          </p:txBody>
        </p:sp>
        <p:grpSp>
          <p:nvGrpSpPr>
            <p:cNvPr name="Group 52" id="52"/>
            <p:cNvGrpSpPr/>
            <p:nvPr/>
          </p:nvGrpSpPr>
          <p:grpSpPr>
            <a:xfrm rot="0">
              <a:off x="579755" y="7893755"/>
              <a:ext cx="10183028" cy="1010221"/>
              <a:chOff x="0" y="0"/>
              <a:chExt cx="9217152" cy="914400"/>
            </a:xfrm>
          </p:grpSpPr>
          <p:sp>
            <p:nvSpPr>
              <p:cNvPr name="Freeform 53" id="53"/>
              <p:cNvSpPr/>
              <p:nvPr/>
            </p:nvSpPr>
            <p:spPr>
              <a:xfrm flipH="false" flipV="false" rot="0">
                <a:off x="0" y="0"/>
                <a:ext cx="9217152" cy="914400"/>
              </a:xfrm>
              <a:custGeom>
                <a:avLst/>
                <a:gdLst/>
                <a:ahLst/>
                <a:cxnLst/>
                <a:rect r="r" b="b" t="t" l="l"/>
                <a:pathLst>
                  <a:path h="914400" w="9217152">
                    <a:moveTo>
                      <a:pt x="0" y="54864"/>
                    </a:moveTo>
                    <a:cubicBezTo>
                      <a:pt x="0" y="24511"/>
                      <a:pt x="24511" y="0"/>
                      <a:pt x="54864" y="0"/>
                    </a:cubicBezTo>
                    <a:lnTo>
                      <a:pt x="9162288" y="0"/>
                    </a:lnTo>
                    <a:cubicBezTo>
                      <a:pt x="9192641" y="0"/>
                      <a:pt x="9217152" y="24511"/>
                      <a:pt x="9217152" y="54864"/>
                    </a:cubicBezTo>
                    <a:lnTo>
                      <a:pt x="9217152" y="859536"/>
                    </a:lnTo>
                    <a:cubicBezTo>
                      <a:pt x="9217152" y="889889"/>
                      <a:pt x="9192641" y="914400"/>
                      <a:pt x="9162288" y="914400"/>
                    </a:cubicBezTo>
                    <a:lnTo>
                      <a:pt x="54864" y="914400"/>
                    </a:lnTo>
                    <a:cubicBezTo>
                      <a:pt x="24511" y="914400"/>
                      <a:pt x="0" y="889889"/>
                      <a:pt x="0" y="859536"/>
                    </a:cubicBezTo>
                    <a:close/>
                  </a:path>
                </a:pathLst>
              </a:custGeom>
              <a:solidFill>
                <a:srgbClr val="F7F5FC"/>
              </a:solidFill>
            </p:spPr>
          </p:sp>
        </p:grpSp>
        <p:sp>
          <p:nvSpPr>
            <p:cNvPr name="TextBox 54" id="54"/>
            <p:cNvSpPr txBox="true"/>
            <p:nvPr/>
          </p:nvSpPr>
          <p:spPr>
            <a:xfrm rot="0">
              <a:off x="903025" y="7936473"/>
              <a:ext cx="9536487" cy="342900"/>
            </a:xfrm>
            <a:prstGeom prst="rect">
              <a:avLst/>
            </a:prstGeom>
          </p:spPr>
          <p:txBody>
            <a:bodyPr anchor="t" rtlCol="false" tIns="0" lIns="0" bIns="0" rIns="0">
              <a:spAutoFit/>
            </a:bodyPr>
            <a:lstStyle/>
            <a:p>
              <a:pPr algn="l">
                <a:lnSpc>
                  <a:spcPts val="1830"/>
                </a:lnSpc>
              </a:pPr>
              <a:r>
                <a:rPr lang="en-US" sz="1525" b="true">
                  <a:solidFill>
                    <a:srgbClr val="6D28D9"/>
                  </a:solidFill>
                  <a:latin typeface="Calibri (MS) Bold"/>
                  <a:ea typeface="Calibri (MS) Bold"/>
                  <a:cs typeface="Calibri (MS) Bold"/>
                  <a:sym typeface="Calibri (MS) Bold"/>
                </a:rPr>
                <a:t>EXAMPLE QUERY</a:t>
              </a:r>
            </a:p>
          </p:txBody>
        </p:sp>
        <p:sp>
          <p:nvSpPr>
            <p:cNvPr name="TextBox 55" id="55"/>
            <p:cNvSpPr txBox="true"/>
            <p:nvPr/>
          </p:nvSpPr>
          <p:spPr>
            <a:xfrm rot="0">
              <a:off x="903025" y="8350086"/>
              <a:ext cx="9536487" cy="397237"/>
            </a:xfrm>
            <a:prstGeom prst="rect">
              <a:avLst/>
            </a:prstGeom>
          </p:spPr>
          <p:txBody>
            <a:bodyPr anchor="t" rtlCol="false" tIns="0" lIns="0" bIns="0" rIns="0">
              <a:spAutoFit/>
            </a:bodyPr>
            <a:lstStyle/>
            <a:p>
              <a:pPr algn="l">
                <a:lnSpc>
                  <a:spcPts val="2451"/>
                </a:lnSpc>
              </a:pPr>
              <a:r>
                <a:rPr lang="en-US" sz="1857">
                  <a:solidFill>
                    <a:srgbClr val="14142B"/>
                  </a:solidFill>
                  <a:latin typeface="Courier New"/>
                  <a:ea typeface="Courier New"/>
                  <a:cs typeface="Courier New"/>
                  <a:sym typeface="Courier New"/>
                </a:rPr>
                <a:t>“all endpoints that write user email unmasked”</a:t>
              </a:r>
            </a:p>
          </p:txBody>
        </p:sp>
        <p:sp>
          <p:nvSpPr>
            <p:cNvPr name="TextBox 56" id="56"/>
            <p:cNvSpPr txBox="true"/>
            <p:nvPr/>
          </p:nvSpPr>
          <p:spPr>
            <a:xfrm rot="0">
              <a:off x="579755" y="8865876"/>
              <a:ext cx="10183028" cy="406400"/>
            </a:xfrm>
            <a:prstGeom prst="rect">
              <a:avLst/>
            </a:prstGeom>
          </p:spPr>
          <p:txBody>
            <a:bodyPr anchor="t" rtlCol="false" tIns="0" lIns="0" bIns="0" rIns="0">
              <a:spAutoFit/>
            </a:bodyPr>
            <a:lstStyle/>
            <a:p>
              <a:pPr algn="l">
                <a:lnSpc>
                  <a:spcPts val="2228"/>
                </a:lnSpc>
              </a:pPr>
              <a:r>
                <a:rPr lang="en-US" b="true" sz="1857" i="true">
                  <a:solidFill>
                    <a:srgbClr val="D9A441"/>
                  </a:solidFill>
                  <a:latin typeface="Calibri (MS) Bold Italics"/>
                  <a:ea typeface="Calibri (MS) Bold Italics"/>
                  <a:cs typeface="Calibri (MS) Bold Italics"/>
                  <a:sym typeface="Calibri (MS) Bold Italics"/>
                </a:rPr>
                <a:t>▸ Finds behavioral clones grep misses.</a:t>
              </a:r>
            </a:p>
          </p:txBody>
        </p:sp>
        <p:grpSp>
          <p:nvGrpSpPr>
            <p:cNvPr name="Group 57" id="57"/>
            <p:cNvGrpSpPr/>
            <p:nvPr/>
          </p:nvGrpSpPr>
          <p:grpSpPr>
            <a:xfrm rot="0">
              <a:off x="11920608" y="5051105"/>
              <a:ext cx="11342537" cy="4473034"/>
              <a:chOff x="0" y="0"/>
              <a:chExt cx="10266680" cy="4048760"/>
            </a:xfrm>
          </p:grpSpPr>
          <p:sp>
            <p:nvSpPr>
              <p:cNvPr name="Freeform 58" id="58"/>
              <p:cNvSpPr/>
              <p:nvPr/>
            </p:nvSpPr>
            <p:spPr>
              <a:xfrm flipH="false" flipV="false" rot="0">
                <a:off x="0" y="0"/>
                <a:ext cx="10266680" cy="4048760"/>
              </a:xfrm>
              <a:custGeom>
                <a:avLst/>
                <a:gdLst/>
                <a:ahLst/>
                <a:cxnLst/>
                <a:rect r="r" b="b" t="t" l="l"/>
                <a:pathLst>
                  <a:path h="4048760" w="10266680">
                    <a:moveTo>
                      <a:pt x="0" y="242951"/>
                    </a:moveTo>
                    <a:cubicBezTo>
                      <a:pt x="0" y="108712"/>
                      <a:pt x="108712" y="0"/>
                      <a:pt x="242951" y="0"/>
                    </a:cubicBezTo>
                    <a:lnTo>
                      <a:pt x="10023729" y="0"/>
                    </a:lnTo>
                    <a:cubicBezTo>
                      <a:pt x="10157841" y="0"/>
                      <a:pt x="10266680" y="108712"/>
                      <a:pt x="10266680" y="242951"/>
                    </a:cubicBezTo>
                    <a:lnTo>
                      <a:pt x="10266680" y="3805809"/>
                    </a:lnTo>
                    <a:cubicBezTo>
                      <a:pt x="10266680" y="3939921"/>
                      <a:pt x="10157968" y="4048760"/>
                      <a:pt x="10023729" y="4048760"/>
                    </a:cubicBezTo>
                    <a:lnTo>
                      <a:pt x="242951" y="4048760"/>
                    </a:lnTo>
                    <a:cubicBezTo>
                      <a:pt x="108712" y="4048760"/>
                      <a:pt x="0" y="3940048"/>
                      <a:pt x="0" y="3805809"/>
                    </a:cubicBezTo>
                    <a:close/>
                  </a:path>
                </a:pathLst>
              </a:custGeom>
              <a:solidFill>
                <a:srgbClr val="FFFFFF"/>
              </a:solidFill>
              <a:ln w="19050" cap="sq">
                <a:solidFill>
                  <a:srgbClr val="D9D3F0"/>
                </a:solidFill>
                <a:prstDash val="solid"/>
                <a:miter/>
              </a:ln>
            </p:spPr>
          </p:sp>
        </p:grpSp>
        <p:grpSp>
          <p:nvGrpSpPr>
            <p:cNvPr name="Group 59" id="59"/>
            <p:cNvGrpSpPr/>
            <p:nvPr/>
          </p:nvGrpSpPr>
          <p:grpSpPr>
            <a:xfrm rot="0">
              <a:off x="12389239" y="5519735"/>
              <a:ext cx="1111243" cy="1111243"/>
              <a:chOff x="0" y="0"/>
              <a:chExt cx="1005840" cy="1005840"/>
            </a:xfrm>
          </p:grpSpPr>
          <p:sp>
            <p:nvSpPr>
              <p:cNvPr name="Freeform 60" id="60"/>
              <p:cNvSpPr/>
              <p:nvPr/>
            </p:nvSpPr>
            <p:spPr>
              <a:xfrm flipH="false" flipV="false" rot="0">
                <a:off x="0" y="0"/>
                <a:ext cx="1005840" cy="1005840"/>
              </a:xfrm>
              <a:custGeom>
                <a:avLst/>
                <a:gdLst/>
                <a:ahLst/>
                <a:cxnLst/>
                <a:rect r="r" b="b" t="t" l="l"/>
                <a:pathLst>
                  <a:path h="1005840" w="1005840">
                    <a:moveTo>
                      <a:pt x="0" y="502920"/>
                    </a:moveTo>
                    <a:cubicBezTo>
                      <a:pt x="0" y="225171"/>
                      <a:pt x="225171" y="0"/>
                      <a:pt x="502920" y="0"/>
                    </a:cubicBezTo>
                    <a:cubicBezTo>
                      <a:pt x="780669" y="0"/>
                      <a:pt x="1005840" y="225171"/>
                      <a:pt x="1005840" y="502920"/>
                    </a:cubicBezTo>
                    <a:cubicBezTo>
                      <a:pt x="1005840" y="780669"/>
                      <a:pt x="780669" y="1005840"/>
                      <a:pt x="502920" y="1005840"/>
                    </a:cubicBezTo>
                    <a:cubicBezTo>
                      <a:pt x="225171" y="1005840"/>
                      <a:pt x="0" y="780669"/>
                      <a:pt x="0" y="502920"/>
                    </a:cubicBezTo>
                    <a:close/>
                  </a:path>
                </a:pathLst>
              </a:custGeom>
              <a:solidFill>
                <a:srgbClr val="704EA6"/>
              </a:solidFill>
            </p:spPr>
          </p:sp>
          <p:sp>
            <p:nvSpPr>
              <p:cNvPr name="TextBox 61" id="61"/>
              <p:cNvSpPr txBox="true"/>
              <p:nvPr/>
            </p:nvSpPr>
            <p:spPr>
              <a:xfrm>
                <a:off x="0" y="-47625"/>
                <a:ext cx="1005840" cy="1053465"/>
              </a:xfrm>
              <a:prstGeom prst="rect">
                <a:avLst/>
              </a:prstGeom>
            </p:spPr>
            <p:txBody>
              <a:bodyPr anchor="ctr" rtlCol="false" tIns="50800" lIns="50800" bIns="50800" rIns="50800"/>
              <a:lstStyle/>
              <a:p>
                <a:pPr algn="ctr">
                  <a:lnSpc>
                    <a:spcPts val="2939"/>
                  </a:lnSpc>
                </a:pPr>
                <a:r>
                  <a:rPr lang="en-US" sz="2449" b="true">
                    <a:solidFill>
                      <a:srgbClr val="FFFFFF"/>
                    </a:solidFill>
                    <a:latin typeface="Calibri (MS) Bold"/>
                    <a:ea typeface="Calibri (MS) Bold"/>
                    <a:cs typeface="Calibri (MS) Bold"/>
                    <a:sym typeface="Calibri (MS) Bold"/>
                  </a:rPr>
                  <a:t>4</a:t>
                </a:r>
              </a:p>
            </p:txBody>
          </p:sp>
        </p:grpSp>
        <p:sp>
          <p:nvSpPr>
            <p:cNvPr name="TextBox 62" id="62"/>
            <p:cNvSpPr txBox="true"/>
            <p:nvPr/>
          </p:nvSpPr>
          <p:spPr>
            <a:xfrm rot="0">
              <a:off x="13854059" y="5452483"/>
              <a:ext cx="8990967" cy="540388"/>
            </a:xfrm>
            <a:prstGeom prst="rect">
              <a:avLst/>
            </a:prstGeom>
          </p:spPr>
          <p:txBody>
            <a:bodyPr anchor="t" rtlCol="false" tIns="0" lIns="0" bIns="0" rIns="0">
              <a:spAutoFit/>
            </a:bodyPr>
            <a:lstStyle/>
            <a:p>
              <a:pPr algn="l">
                <a:lnSpc>
                  <a:spcPts val="3070"/>
                </a:lnSpc>
              </a:pPr>
              <a:r>
                <a:rPr lang="en-US" sz="2437" b="true">
                  <a:solidFill>
                    <a:srgbClr val="14142B"/>
                  </a:solidFill>
                  <a:latin typeface="Calibri (MS) Bold"/>
                  <a:ea typeface="Calibri (MS) Bold"/>
                  <a:cs typeface="Calibri (MS) Bold"/>
                  <a:sym typeface="Calibri (MS) Bold"/>
                </a:rPr>
                <a:t>Legacy modernization</a:t>
              </a:r>
            </a:p>
          </p:txBody>
        </p:sp>
        <p:grpSp>
          <p:nvGrpSpPr>
            <p:cNvPr name="Group 63" id="63"/>
            <p:cNvGrpSpPr/>
            <p:nvPr/>
          </p:nvGrpSpPr>
          <p:grpSpPr>
            <a:xfrm rot="0">
              <a:off x="13843536" y="6266878"/>
              <a:ext cx="3758864" cy="546361"/>
              <a:chOff x="0" y="0"/>
              <a:chExt cx="3402330" cy="494538"/>
            </a:xfrm>
          </p:grpSpPr>
          <p:sp>
            <p:nvSpPr>
              <p:cNvPr name="Freeform 64" id="64"/>
              <p:cNvSpPr/>
              <p:nvPr/>
            </p:nvSpPr>
            <p:spPr>
              <a:xfrm flipH="false" flipV="false" rot="0">
                <a:off x="0" y="0"/>
                <a:ext cx="3402330" cy="494538"/>
              </a:xfrm>
              <a:custGeom>
                <a:avLst/>
                <a:gdLst/>
                <a:ahLst/>
                <a:cxnLst/>
                <a:rect r="r" b="b" t="t" l="l"/>
                <a:pathLst>
                  <a:path h="494538" w="3402330">
                    <a:moveTo>
                      <a:pt x="0" y="247269"/>
                    </a:moveTo>
                    <a:cubicBezTo>
                      <a:pt x="0" y="110744"/>
                      <a:pt x="110744" y="0"/>
                      <a:pt x="247269" y="0"/>
                    </a:cubicBezTo>
                    <a:lnTo>
                      <a:pt x="3155061" y="0"/>
                    </a:lnTo>
                    <a:cubicBezTo>
                      <a:pt x="3291586" y="0"/>
                      <a:pt x="3402330" y="110744"/>
                      <a:pt x="3402330" y="247269"/>
                    </a:cubicBezTo>
                    <a:cubicBezTo>
                      <a:pt x="3402330" y="383794"/>
                      <a:pt x="3291586" y="494538"/>
                      <a:pt x="3155061" y="494538"/>
                    </a:cubicBezTo>
                    <a:lnTo>
                      <a:pt x="247269" y="494538"/>
                    </a:lnTo>
                    <a:cubicBezTo>
                      <a:pt x="110744" y="494538"/>
                      <a:pt x="0" y="383794"/>
                      <a:pt x="0" y="247269"/>
                    </a:cubicBezTo>
                    <a:close/>
                  </a:path>
                </a:pathLst>
              </a:custGeom>
              <a:solidFill>
                <a:srgbClr val="EDE9FB"/>
              </a:solidFill>
              <a:ln w="14288" cap="sq">
                <a:solidFill>
                  <a:srgbClr val="D9D3F0"/>
                </a:solidFill>
                <a:prstDash val="solid"/>
                <a:miter/>
              </a:ln>
            </p:spPr>
          </p:sp>
        </p:grpSp>
        <p:grpSp>
          <p:nvGrpSpPr>
            <p:cNvPr name="Group 65" id="65"/>
            <p:cNvGrpSpPr/>
            <p:nvPr/>
          </p:nvGrpSpPr>
          <p:grpSpPr>
            <a:xfrm rot="0">
              <a:off x="13854059" y="6277401"/>
              <a:ext cx="3737818" cy="525315"/>
              <a:chOff x="0" y="0"/>
              <a:chExt cx="3383280" cy="475488"/>
            </a:xfrm>
          </p:grpSpPr>
          <p:sp>
            <p:nvSpPr>
              <p:cNvPr name="Freeform 66" id="66"/>
              <p:cNvSpPr/>
              <p:nvPr/>
            </p:nvSpPr>
            <p:spPr>
              <a:xfrm flipH="false" flipV="false" rot="0">
                <a:off x="0" y="0"/>
                <a:ext cx="3383280" cy="475488"/>
              </a:xfrm>
              <a:custGeom>
                <a:avLst/>
                <a:gdLst/>
                <a:ahLst/>
                <a:cxnLst/>
                <a:rect r="r" b="b" t="t" l="l"/>
                <a:pathLst>
                  <a:path h="475488" w="3383280">
                    <a:moveTo>
                      <a:pt x="0" y="0"/>
                    </a:moveTo>
                    <a:lnTo>
                      <a:pt x="3383280" y="0"/>
                    </a:lnTo>
                    <a:lnTo>
                      <a:pt x="3383280" y="475488"/>
                    </a:lnTo>
                    <a:lnTo>
                      <a:pt x="0" y="475488"/>
                    </a:lnTo>
                    <a:close/>
                  </a:path>
                </a:pathLst>
              </a:custGeom>
              <a:blipFill>
                <a:blip r:embed="rId3">
                  <a:alphaModFix amt="0"/>
                </a:blip>
                <a:stretch>
                  <a:fillRect l="0" t="-88643" r="0" b="-88643"/>
                </a:stretch>
              </a:blipFill>
            </p:spPr>
          </p:sp>
          <p:sp>
            <p:nvSpPr>
              <p:cNvPr name="TextBox 67" id="67"/>
              <p:cNvSpPr txBox="true"/>
              <p:nvPr/>
            </p:nvSpPr>
            <p:spPr>
              <a:xfrm>
                <a:off x="0" y="-28575"/>
                <a:ext cx="3383280" cy="504063"/>
              </a:xfrm>
              <a:prstGeom prst="rect">
                <a:avLst/>
              </a:prstGeom>
            </p:spPr>
            <p:txBody>
              <a:bodyPr anchor="ctr" rtlCol="false" tIns="0" lIns="0" bIns="0" rIns="0"/>
              <a:lstStyle/>
              <a:p>
                <a:pPr algn="ctr">
                  <a:lnSpc>
                    <a:spcPts val="1770"/>
                  </a:lnSpc>
                </a:pPr>
                <a:r>
                  <a:rPr lang="en-US" sz="1475" b="true">
                    <a:solidFill>
                      <a:srgbClr val="6D28D9"/>
                    </a:solidFill>
                    <a:latin typeface="Calibri (MS) Bold"/>
                    <a:ea typeface="Calibri (MS) Bold"/>
                    <a:cs typeface="Calibri (MS) Bold"/>
                    <a:sym typeface="Calibri (MS) Bold"/>
                  </a:rPr>
                  <a:t>For: platform teams (P1)</a:t>
                </a:r>
              </a:p>
            </p:txBody>
          </p:sp>
        </p:grpSp>
        <p:sp>
          <p:nvSpPr>
            <p:cNvPr name="TextBox 68" id="68"/>
            <p:cNvSpPr txBox="true"/>
            <p:nvPr/>
          </p:nvSpPr>
          <p:spPr>
            <a:xfrm rot="0">
              <a:off x="12500363" y="6898831"/>
              <a:ext cx="10183028" cy="946681"/>
            </a:xfrm>
            <a:prstGeom prst="rect">
              <a:avLst/>
            </a:prstGeom>
          </p:spPr>
          <p:txBody>
            <a:bodyPr anchor="t" rtlCol="false" tIns="0" lIns="0" bIns="0" rIns="0">
              <a:spAutoFit/>
            </a:bodyPr>
            <a:lstStyle/>
            <a:p>
              <a:pPr algn="l">
                <a:lnSpc>
                  <a:spcPts val="2793"/>
                </a:lnSpc>
              </a:pPr>
              <a:r>
                <a:rPr lang="en-US" sz="1940">
                  <a:solidFill>
                    <a:srgbClr val="6B6B76"/>
                  </a:solidFill>
                  <a:latin typeface="Calibri (MS)"/>
                  <a:ea typeface="Calibri (MS)"/>
                  <a:cs typeface="Calibri (MS)"/>
                  <a:sym typeface="Calibri (MS)"/>
                </a:rPr>
                <a:t>Search &amp; compare behavior across many historical versions of the same code.</a:t>
              </a:r>
            </a:p>
          </p:txBody>
        </p:sp>
        <p:grpSp>
          <p:nvGrpSpPr>
            <p:cNvPr name="Group 69" id="69"/>
            <p:cNvGrpSpPr/>
            <p:nvPr/>
          </p:nvGrpSpPr>
          <p:grpSpPr>
            <a:xfrm rot="0">
              <a:off x="12500363" y="7893755"/>
              <a:ext cx="10183028" cy="1010221"/>
              <a:chOff x="0" y="0"/>
              <a:chExt cx="9217152" cy="914400"/>
            </a:xfrm>
          </p:grpSpPr>
          <p:sp>
            <p:nvSpPr>
              <p:cNvPr name="Freeform 70" id="70"/>
              <p:cNvSpPr/>
              <p:nvPr/>
            </p:nvSpPr>
            <p:spPr>
              <a:xfrm flipH="false" flipV="false" rot="0">
                <a:off x="0" y="0"/>
                <a:ext cx="9217152" cy="914400"/>
              </a:xfrm>
              <a:custGeom>
                <a:avLst/>
                <a:gdLst/>
                <a:ahLst/>
                <a:cxnLst/>
                <a:rect r="r" b="b" t="t" l="l"/>
                <a:pathLst>
                  <a:path h="914400" w="9217152">
                    <a:moveTo>
                      <a:pt x="0" y="54864"/>
                    </a:moveTo>
                    <a:cubicBezTo>
                      <a:pt x="0" y="24511"/>
                      <a:pt x="24511" y="0"/>
                      <a:pt x="54864" y="0"/>
                    </a:cubicBezTo>
                    <a:lnTo>
                      <a:pt x="9162288" y="0"/>
                    </a:lnTo>
                    <a:cubicBezTo>
                      <a:pt x="9192641" y="0"/>
                      <a:pt x="9217152" y="24511"/>
                      <a:pt x="9217152" y="54864"/>
                    </a:cubicBezTo>
                    <a:lnTo>
                      <a:pt x="9217152" y="859536"/>
                    </a:lnTo>
                    <a:cubicBezTo>
                      <a:pt x="9217152" y="889889"/>
                      <a:pt x="9192641" y="914400"/>
                      <a:pt x="9162288" y="914400"/>
                    </a:cubicBezTo>
                    <a:lnTo>
                      <a:pt x="54864" y="914400"/>
                    </a:lnTo>
                    <a:cubicBezTo>
                      <a:pt x="24511" y="914400"/>
                      <a:pt x="0" y="889889"/>
                      <a:pt x="0" y="859536"/>
                    </a:cubicBezTo>
                    <a:close/>
                  </a:path>
                </a:pathLst>
              </a:custGeom>
              <a:solidFill>
                <a:srgbClr val="F7F5FC"/>
              </a:solidFill>
            </p:spPr>
          </p:sp>
        </p:grpSp>
        <p:sp>
          <p:nvSpPr>
            <p:cNvPr name="TextBox 71" id="71"/>
            <p:cNvSpPr txBox="true"/>
            <p:nvPr/>
          </p:nvSpPr>
          <p:spPr>
            <a:xfrm rot="0">
              <a:off x="12823634" y="7936473"/>
              <a:ext cx="9536487" cy="342900"/>
            </a:xfrm>
            <a:prstGeom prst="rect">
              <a:avLst/>
            </a:prstGeom>
          </p:spPr>
          <p:txBody>
            <a:bodyPr anchor="t" rtlCol="false" tIns="0" lIns="0" bIns="0" rIns="0">
              <a:spAutoFit/>
            </a:bodyPr>
            <a:lstStyle/>
            <a:p>
              <a:pPr algn="l">
                <a:lnSpc>
                  <a:spcPts val="1830"/>
                </a:lnSpc>
              </a:pPr>
              <a:r>
                <a:rPr lang="en-US" sz="1525" b="true">
                  <a:solidFill>
                    <a:srgbClr val="6D28D9"/>
                  </a:solidFill>
                  <a:latin typeface="Calibri (MS) Bold"/>
                  <a:ea typeface="Calibri (MS) Bold"/>
                  <a:cs typeface="Calibri (MS) Bold"/>
                  <a:sym typeface="Calibri (MS) Bold"/>
                </a:rPr>
                <a:t>EXAMPLE QUERY</a:t>
              </a:r>
            </a:p>
          </p:txBody>
        </p:sp>
        <p:sp>
          <p:nvSpPr>
            <p:cNvPr name="TextBox 72" id="72"/>
            <p:cNvSpPr txBox="true"/>
            <p:nvPr/>
          </p:nvSpPr>
          <p:spPr>
            <a:xfrm rot="0">
              <a:off x="12823634" y="8350086"/>
              <a:ext cx="9536487" cy="397237"/>
            </a:xfrm>
            <a:prstGeom prst="rect">
              <a:avLst/>
            </a:prstGeom>
          </p:spPr>
          <p:txBody>
            <a:bodyPr anchor="t" rtlCol="false" tIns="0" lIns="0" bIns="0" rIns="0">
              <a:spAutoFit/>
            </a:bodyPr>
            <a:lstStyle/>
            <a:p>
              <a:pPr algn="l">
                <a:lnSpc>
                  <a:spcPts val="2451"/>
                </a:lnSpc>
              </a:pPr>
              <a:r>
                <a:rPr lang="en-US" sz="1857">
                  <a:solidFill>
                    <a:srgbClr val="14142B"/>
                  </a:solidFill>
                  <a:latin typeface="Courier New"/>
                  <a:ea typeface="Courier New"/>
                  <a:cs typeface="Courier New"/>
                  <a:sym typeface="Courier New"/>
                </a:rPr>
                <a:t>“auth check pre-v3.2 vs post-v3.2”</a:t>
              </a:r>
            </a:p>
          </p:txBody>
        </p:sp>
        <p:sp>
          <p:nvSpPr>
            <p:cNvPr name="TextBox 73" id="73"/>
            <p:cNvSpPr txBox="true"/>
            <p:nvPr/>
          </p:nvSpPr>
          <p:spPr>
            <a:xfrm rot="0">
              <a:off x="12500363" y="8865876"/>
              <a:ext cx="10183028" cy="406400"/>
            </a:xfrm>
            <a:prstGeom prst="rect">
              <a:avLst/>
            </a:prstGeom>
          </p:spPr>
          <p:txBody>
            <a:bodyPr anchor="t" rtlCol="false" tIns="0" lIns="0" bIns="0" rIns="0">
              <a:spAutoFit/>
            </a:bodyPr>
            <a:lstStyle/>
            <a:p>
              <a:pPr algn="l">
                <a:lnSpc>
                  <a:spcPts val="2228"/>
                </a:lnSpc>
              </a:pPr>
              <a:r>
                <a:rPr lang="en-US" b="true" sz="1857" i="true">
                  <a:solidFill>
                    <a:srgbClr val="D9A441"/>
                  </a:solidFill>
                  <a:latin typeface="Calibri (MS) Bold Italics"/>
                  <a:ea typeface="Calibri (MS) Bold Italics"/>
                  <a:cs typeface="Calibri (MS) Bold Italics"/>
                  <a:sym typeface="Calibri (MS) Bold Italics"/>
                </a:rPr>
                <a:t>▸ Cross-version rebuilds cheap by design.</a:t>
              </a:r>
            </a:p>
          </p:txBody>
        </p:sp>
      </p:gr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028700" y="0"/>
            <a:ext cx="15773400" cy="1988344"/>
            <a:chOff x="0" y="0"/>
            <a:chExt cx="21031200" cy="2651125"/>
          </a:xfrm>
        </p:grpSpPr>
        <p:sp>
          <p:nvSpPr>
            <p:cNvPr name="Freeform 3" id="3"/>
            <p:cNvSpPr/>
            <p:nvPr/>
          </p:nvSpPr>
          <p:spPr>
            <a:xfrm flipH="false" flipV="false" rot="0">
              <a:off x="0" y="0"/>
              <a:ext cx="21031200" cy="2651126"/>
            </a:xfrm>
            <a:custGeom>
              <a:avLst/>
              <a:gdLst/>
              <a:ahLst/>
              <a:cxnLst/>
              <a:rect r="r" b="b" t="t" l="l"/>
              <a:pathLst>
                <a:path h="2651126" w="21031200">
                  <a:moveTo>
                    <a:pt x="0" y="0"/>
                  </a:moveTo>
                  <a:lnTo>
                    <a:pt x="21031200" y="0"/>
                  </a:lnTo>
                  <a:lnTo>
                    <a:pt x="21031200" y="2651126"/>
                  </a:lnTo>
                  <a:lnTo>
                    <a:pt x="0" y="2651126"/>
                  </a:lnTo>
                  <a:close/>
                </a:path>
              </a:pathLst>
            </a:custGeom>
            <a:blipFill>
              <a:blip r:embed="rId3">
                <a:alphaModFix amt="0"/>
              </a:blip>
              <a:stretch>
                <a:fillRect l="0" t="-104573" r="0" b="-104573"/>
              </a:stretch>
            </a:blipFill>
          </p:spPr>
        </p:sp>
        <p:sp>
          <p:nvSpPr>
            <p:cNvPr name="TextBox 4" id="4"/>
            <p:cNvSpPr txBox="true"/>
            <p:nvPr/>
          </p:nvSpPr>
          <p:spPr>
            <a:xfrm>
              <a:off x="0" y="-66675"/>
              <a:ext cx="21031200" cy="2717800"/>
            </a:xfrm>
            <a:prstGeom prst="rect">
              <a:avLst/>
            </a:prstGeom>
          </p:spPr>
          <p:txBody>
            <a:bodyPr anchor="ctr" rtlCol="false" tIns="0" lIns="0" bIns="0" rIns="0"/>
            <a:lstStyle/>
            <a:p>
              <a:pPr algn="l">
                <a:lnSpc>
                  <a:spcPts val="7128"/>
                </a:lnSpc>
              </a:pPr>
              <a:r>
                <a:rPr lang="en-US" sz="6600" b="true">
                  <a:solidFill>
                    <a:srgbClr val="704EA6"/>
                  </a:solidFill>
                  <a:latin typeface="Calibri (MS) Bold"/>
                  <a:ea typeface="Calibri (MS) Bold"/>
                  <a:cs typeface="Calibri (MS) Bold"/>
                  <a:sym typeface="Calibri (MS) Bold"/>
                </a:rPr>
                <a:t>Innovation highlights, results and limitations</a:t>
              </a:r>
            </a:p>
          </p:txBody>
        </p:sp>
      </p:grpSp>
      <p:grpSp>
        <p:nvGrpSpPr>
          <p:cNvPr name="Group 5" id="5"/>
          <p:cNvGrpSpPr/>
          <p:nvPr/>
        </p:nvGrpSpPr>
        <p:grpSpPr>
          <a:xfrm rot="0">
            <a:off x="332584" y="2412659"/>
            <a:ext cx="17615267" cy="7470422"/>
            <a:chOff x="0" y="0"/>
            <a:chExt cx="23487023" cy="9960563"/>
          </a:xfrm>
        </p:grpSpPr>
        <p:grpSp>
          <p:nvGrpSpPr>
            <p:cNvPr name="Group 6" id="6"/>
            <p:cNvGrpSpPr/>
            <p:nvPr/>
          </p:nvGrpSpPr>
          <p:grpSpPr>
            <a:xfrm rot="0">
              <a:off x="0" y="0"/>
              <a:ext cx="10438047" cy="9960563"/>
              <a:chOff x="0" y="0"/>
              <a:chExt cx="9034017" cy="8620760"/>
            </a:xfrm>
          </p:grpSpPr>
          <p:sp>
            <p:nvSpPr>
              <p:cNvPr name="Freeform 7" id="7"/>
              <p:cNvSpPr/>
              <p:nvPr/>
            </p:nvSpPr>
            <p:spPr>
              <a:xfrm flipH="false" flipV="false" rot="0">
                <a:off x="0" y="0"/>
                <a:ext cx="9034018" cy="8620760"/>
              </a:xfrm>
              <a:custGeom>
                <a:avLst/>
                <a:gdLst/>
                <a:ahLst/>
                <a:cxnLst/>
                <a:rect r="r" b="b" t="t" l="l"/>
                <a:pathLst>
                  <a:path h="8620760" w="9034018">
                    <a:moveTo>
                      <a:pt x="0" y="301752"/>
                    </a:moveTo>
                    <a:cubicBezTo>
                      <a:pt x="0" y="135128"/>
                      <a:pt x="130530" y="0"/>
                      <a:pt x="291483" y="0"/>
                    </a:cubicBezTo>
                    <a:lnTo>
                      <a:pt x="8742534" y="0"/>
                    </a:lnTo>
                    <a:cubicBezTo>
                      <a:pt x="8903488" y="0"/>
                      <a:pt x="9034018" y="135128"/>
                      <a:pt x="9034018" y="301752"/>
                    </a:cubicBezTo>
                    <a:lnTo>
                      <a:pt x="9034018" y="8319008"/>
                    </a:lnTo>
                    <a:cubicBezTo>
                      <a:pt x="9034018" y="8485632"/>
                      <a:pt x="8903488" y="8620760"/>
                      <a:pt x="8742534" y="8620760"/>
                    </a:cubicBezTo>
                    <a:lnTo>
                      <a:pt x="291483" y="8620760"/>
                    </a:lnTo>
                    <a:cubicBezTo>
                      <a:pt x="130530" y="8620760"/>
                      <a:pt x="0" y="8485632"/>
                      <a:pt x="0" y="8319008"/>
                    </a:cubicBezTo>
                    <a:close/>
                  </a:path>
                </a:pathLst>
              </a:custGeom>
              <a:solidFill>
                <a:srgbClr val="FFFFFF"/>
              </a:solidFill>
              <a:ln w="19050" cap="sq">
                <a:solidFill>
                  <a:srgbClr val="D9D3F0"/>
                </a:solidFill>
                <a:prstDash val="solid"/>
                <a:miter/>
              </a:ln>
            </p:spPr>
          </p:sp>
        </p:grpSp>
        <p:sp>
          <p:nvSpPr>
            <p:cNvPr name="TextBox 8" id="8"/>
            <p:cNvSpPr txBox="true"/>
            <p:nvPr/>
          </p:nvSpPr>
          <p:spPr>
            <a:xfrm rot="0">
              <a:off x="585687" y="337868"/>
              <a:ext cx="9266672" cy="604346"/>
            </a:xfrm>
            <a:prstGeom prst="rect">
              <a:avLst/>
            </a:prstGeom>
          </p:spPr>
          <p:txBody>
            <a:bodyPr anchor="t" rtlCol="false" tIns="0" lIns="0" bIns="0" rIns="0">
              <a:spAutoFit/>
            </a:bodyPr>
            <a:lstStyle/>
            <a:p>
              <a:pPr algn="l">
                <a:lnSpc>
                  <a:spcPts val="3280"/>
                </a:lnSpc>
              </a:pPr>
              <a:r>
                <a:rPr lang="en-US" sz="2734" b="true">
                  <a:solidFill>
                    <a:srgbClr val="6D28D9"/>
                  </a:solidFill>
                  <a:latin typeface="Calibri (MS) Bold"/>
                  <a:ea typeface="Calibri (MS) Bold"/>
                  <a:cs typeface="Calibri (MS) Bold"/>
                  <a:sym typeface="Calibri (MS) Bold"/>
                </a:rPr>
                <a:t>Innovation highlights</a:t>
              </a:r>
            </a:p>
          </p:txBody>
        </p:sp>
        <p:sp>
          <p:nvSpPr>
            <p:cNvPr name="TextBox 9" id="9"/>
            <p:cNvSpPr txBox="true"/>
            <p:nvPr/>
          </p:nvSpPr>
          <p:spPr>
            <a:xfrm rot="0">
              <a:off x="585687" y="971776"/>
              <a:ext cx="9266672" cy="927672"/>
            </a:xfrm>
            <a:prstGeom prst="rect">
              <a:avLst/>
            </a:prstGeom>
          </p:spPr>
          <p:txBody>
            <a:bodyPr anchor="t" rtlCol="false" tIns="0" lIns="0" bIns="0" rIns="0">
              <a:spAutoFit/>
            </a:bodyPr>
            <a:lstStyle/>
            <a:p>
              <a:pPr algn="l">
                <a:lnSpc>
                  <a:spcPts val="2693"/>
                </a:lnSpc>
              </a:pPr>
              <a:r>
                <a:rPr lang="en-US" sz="2040" i="true">
                  <a:solidFill>
                    <a:srgbClr val="6B6B76"/>
                  </a:solidFill>
                  <a:latin typeface="Calibri (MS) Italics"/>
                  <a:ea typeface="Calibri (MS) Italics"/>
                  <a:cs typeface="Calibri (MS) Italics"/>
                  <a:sym typeface="Calibri (MS) Italics"/>
                </a:rPr>
                <a:t>Built and rigorously measured — kept only where the number agreed (see results →)</a:t>
              </a:r>
            </a:p>
          </p:txBody>
        </p:sp>
        <p:sp>
          <p:nvSpPr>
            <p:cNvPr name="TextBox 10" id="10"/>
            <p:cNvSpPr txBox="true"/>
            <p:nvPr/>
          </p:nvSpPr>
          <p:spPr>
            <a:xfrm rot="0">
              <a:off x="585687" y="1734545"/>
              <a:ext cx="9266672" cy="4844856"/>
            </a:xfrm>
            <a:prstGeom prst="rect">
              <a:avLst/>
            </a:prstGeom>
          </p:spPr>
          <p:txBody>
            <a:bodyPr anchor="t" rtlCol="false" tIns="0" lIns="0" bIns="0" rIns="0">
              <a:spAutoFit/>
            </a:bodyPr>
            <a:lstStyle/>
            <a:p>
              <a:pPr algn="l">
                <a:lnSpc>
                  <a:spcPts val="2859"/>
                </a:lnSpc>
              </a:pPr>
              <a:r>
                <a:rPr lang="en-US" sz="2127">
                  <a:solidFill>
                    <a:srgbClr val="33333D"/>
                  </a:solidFill>
                  <a:latin typeface="Calibri (MS)"/>
                  <a:ea typeface="Calibri (MS)"/>
                  <a:cs typeface="Calibri (MS)"/>
                  <a:sym typeface="Calibri (MS)"/>
                </a:rPr>
                <a:t>—  Query→code compilation (code-flavored HyDE), LLM-free at eval time</a:t>
              </a:r>
            </a:p>
            <a:p>
              <a:pPr algn="l">
                <a:lnSpc>
                  <a:spcPts val="2859"/>
                </a:lnSpc>
              </a:pPr>
              <a:r>
                <a:rPr lang="en-US" sz="2127">
                  <a:solidFill>
                    <a:srgbClr val="33333D"/>
                  </a:solidFill>
                  <a:latin typeface="Calibri (MS)"/>
                  <a:ea typeface="Calibri (MS)"/>
                  <a:cs typeface="Calibri (MS)"/>
                  <a:sym typeface="Calibri (MS)"/>
                </a:rPr>
                <a:t>—  Multi-view snippet embedding: raw + AST-normalized + identifier bag</a:t>
              </a:r>
            </a:p>
            <a:p>
              <a:pPr algn="l">
                <a:lnSpc>
                  <a:spcPts val="2859"/>
                </a:lnSpc>
              </a:pPr>
              <a:r>
                <a:rPr lang="en-US" sz="2127">
                  <a:solidFill>
                    <a:srgbClr val="33333D"/>
                  </a:solidFill>
                  <a:latin typeface="Calibri (MS)"/>
                  <a:ea typeface="Calibri (MS)"/>
                  <a:cs typeface="Calibri (MS)"/>
                  <a:sym typeface="Calibri (MS)"/>
                </a:rPr>
                <a:t>—  Keyword front-loading: salient signals survive a 256-token tokenizer cap</a:t>
              </a:r>
            </a:p>
            <a:p>
              <a:pPr algn="l">
                <a:lnSpc>
                  <a:spcPts val="2859"/>
                </a:lnSpc>
              </a:pPr>
              <a:r>
                <a:rPr lang="en-US" sz="2127">
                  <a:solidFill>
                    <a:srgbClr val="33333D"/>
                  </a:solidFill>
                  <a:latin typeface="Calibri (MS)"/>
                  <a:ea typeface="Calibri (MS)"/>
                  <a:cs typeface="Calibri (MS)"/>
                  <a:sym typeface="Calibri (MS)"/>
                </a:rPr>
                <a:t>—  Stable-core + version-delta representation for cross-version retrieval</a:t>
              </a:r>
            </a:p>
            <a:p>
              <a:pPr algn="l">
                <a:lnSpc>
                  <a:spcPts val="2859"/>
                </a:lnSpc>
              </a:pPr>
              <a:r>
                <a:rPr lang="en-US" sz="2127">
                  <a:solidFill>
                    <a:srgbClr val="33333D"/>
                  </a:solidFill>
                  <a:latin typeface="Calibri (MS)"/>
                  <a:ea typeface="Calibri (MS)"/>
                  <a:cs typeface="Calibri (MS)"/>
                  <a:sym typeface="Calibri (MS)"/>
                </a:rPr>
                <a:t>—  Content-addressed versioned index — rebuilds only what changed</a:t>
              </a:r>
            </a:p>
          </p:txBody>
        </p:sp>
        <p:grpSp>
          <p:nvGrpSpPr>
            <p:cNvPr name="Group 11" id="11"/>
            <p:cNvGrpSpPr/>
            <p:nvPr/>
          </p:nvGrpSpPr>
          <p:grpSpPr>
            <a:xfrm rot="0">
              <a:off x="259108" y="6670701"/>
              <a:ext cx="9919830" cy="3169537"/>
              <a:chOff x="0" y="0"/>
              <a:chExt cx="8585506" cy="2743200"/>
            </a:xfrm>
          </p:grpSpPr>
          <p:sp>
            <p:nvSpPr>
              <p:cNvPr name="Freeform 12" id="12"/>
              <p:cNvSpPr/>
              <p:nvPr/>
            </p:nvSpPr>
            <p:spPr>
              <a:xfrm flipH="false" flipV="false" rot="0">
                <a:off x="0" y="0"/>
                <a:ext cx="8585506" cy="2743200"/>
              </a:xfrm>
              <a:custGeom>
                <a:avLst/>
                <a:gdLst/>
                <a:ahLst/>
                <a:cxnLst/>
                <a:rect r="r" b="b" t="t" l="l"/>
                <a:pathLst>
                  <a:path h="2743200" w="8585506">
                    <a:moveTo>
                      <a:pt x="0" y="164592"/>
                    </a:moveTo>
                    <a:cubicBezTo>
                      <a:pt x="0" y="73660"/>
                      <a:pt x="71153" y="0"/>
                      <a:pt x="158991" y="0"/>
                    </a:cubicBezTo>
                    <a:lnTo>
                      <a:pt x="8426515" y="0"/>
                    </a:lnTo>
                    <a:cubicBezTo>
                      <a:pt x="8514352" y="0"/>
                      <a:pt x="8585506" y="73660"/>
                      <a:pt x="8585506" y="164592"/>
                    </a:cubicBezTo>
                    <a:lnTo>
                      <a:pt x="8585506" y="2578608"/>
                    </a:lnTo>
                    <a:cubicBezTo>
                      <a:pt x="8585506" y="2669540"/>
                      <a:pt x="8514352" y="2743200"/>
                      <a:pt x="8426515" y="2743200"/>
                    </a:cubicBezTo>
                    <a:lnTo>
                      <a:pt x="158991" y="2743200"/>
                    </a:lnTo>
                    <a:cubicBezTo>
                      <a:pt x="71153" y="2743200"/>
                      <a:pt x="0" y="2669540"/>
                      <a:pt x="0" y="2578608"/>
                    </a:cubicBezTo>
                    <a:close/>
                  </a:path>
                </a:pathLst>
              </a:custGeom>
              <a:solidFill>
                <a:srgbClr val="EDE9FB"/>
              </a:solidFill>
            </p:spPr>
          </p:sp>
        </p:grpSp>
        <p:sp>
          <p:nvSpPr>
            <p:cNvPr name="TextBox 13" id="13"/>
            <p:cNvSpPr txBox="true"/>
            <p:nvPr/>
          </p:nvSpPr>
          <p:spPr>
            <a:xfrm rot="0">
              <a:off x="585687" y="6843904"/>
              <a:ext cx="9266672" cy="389869"/>
            </a:xfrm>
            <a:prstGeom prst="rect">
              <a:avLst/>
            </a:prstGeom>
          </p:spPr>
          <p:txBody>
            <a:bodyPr anchor="t" rtlCol="false" tIns="0" lIns="0" bIns="0" rIns="0">
              <a:spAutoFit/>
            </a:bodyPr>
            <a:lstStyle/>
            <a:p>
              <a:pPr algn="l">
                <a:lnSpc>
                  <a:spcPts val="2137"/>
                </a:lnSpc>
              </a:pPr>
              <a:r>
                <a:rPr lang="en-US" sz="1780" b="true">
                  <a:solidFill>
                    <a:srgbClr val="6D28D9"/>
                  </a:solidFill>
                  <a:latin typeface="Calibri (MS) Bold"/>
                  <a:ea typeface="Calibri (MS) Bold"/>
                  <a:cs typeface="Calibri (MS) Bold"/>
                  <a:sym typeface="Calibri (MS) Bold"/>
                </a:rPr>
                <a:t>THE DISCIPLINE THAT PRODUCED THAT NUMBER</a:t>
              </a:r>
            </a:p>
          </p:txBody>
        </p:sp>
        <p:grpSp>
          <p:nvGrpSpPr>
            <p:cNvPr name="Group 14" id="14"/>
            <p:cNvGrpSpPr/>
            <p:nvPr/>
          </p:nvGrpSpPr>
          <p:grpSpPr>
            <a:xfrm rot="0">
              <a:off x="612335" y="7543498"/>
              <a:ext cx="2110288" cy="2142372"/>
              <a:chOff x="0" y="0"/>
              <a:chExt cx="1826432" cy="1854200"/>
            </a:xfrm>
          </p:grpSpPr>
          <p:sp>
            <p:nvSpPr>
              <p:cNvPr name="Freeform 15" id="15"/>
              <p:cNvSpPr/>
              <p:nvPr/>
            </p:nvSpPr>
            <p:spPr>
              <a:xfrm flipH="false" flipV="false" rot="0">
                <a:off x="0" y="0"/>
                <a:ext cx="1826432" cy="1854200"/>
              </a:xfrm>
              <a:custGeom>
                <a:avLst/>
                <a:gdLst/>
                <a:ahLst/>
                <a:cxnLst/>
                <a:rect r="r" b="b" t="t" l="l"/>
                <a:pathLst>
                  <a:path h="1854200" w="1826432">
                    <a:moveTo>
                      <a:pt x="0" y="111252"/>
                    </a:moveTo>
                    <a:cubicBezTo>
                      <a:pt x="0" y="49784"/>
                      <a:pt x="48090" y="0"/>
                      <a:pt x="107466" y="0"/>
                    </a:cubicBezTo>
                    <a:lnTo>
                      <a:pt x="1718966" y="0"/>
                    </a:lnTo>
                    <a:cubicBezTo>
                      <a:pt x="1778342" y="0"/>
                      <a:pt x="1826432" y="49784"/>
                      <a:pt x="1826432" y="111252"/>
                    </a:cubicBezTo>
                    <a:lnTo>
                      <a:pt x="1826432" y="1742948"/>
                    </a:lnTo>
                    <a:cubicBezTo>
                      <a:pt x="1826432" y="1804416"/>
                      <a:pt x="1778342" y="1854200"/>
                      <a:pt x="1718966" y="1854200"/>
                    </a:cubicBezTo>
                    <a:lnTo>
                      <a:pt x="107466" y="1854200"/>
                    </a:lnTo>
                    <a:cubicBezTo>
                      <a:pt x="48090" y="1854200"/>
                      <a:pt x="0" y="1804416"/>
                      <a:pt x="0" y="1742948"/>
                    </a:cubicBezTo>
                    <a:close/>
                  </a:path>
                </a:pathLst>
              </a:custGeom>
              <a:solidFill>
                <a:srgbClr val="FFFFFF"/>
              </a:solidFill>
              <a:ln w="19050" cap="sq">
                <a:solidFill>
                  <a:srgbClr val="D9D3F0"/>
                </a:solidFill>
                <a:prstDash val="solid"/>
                <a:miter/>
              </a:ln>
            </p:spPr>
          </p:sp>
        </p:grpSp>
        <p:grpSp>
          <p:nvGrpSpPr>
            <p:cNvPr name="Group 16" id="16"/>
            <p:cNvGrpSpPr/>
            <p:nvPr/>
          </p:nvGrpSpPr>
          <p:grpSpPr>
            <a:xfrm rot="0">
              <a:off x="728565" y="7769474"/>
              <a:ext cx="1877828" cy="1690420"/>
              <a:chOff x="0" y="0"/>
              <a:chExt cx="1625240" cy="1463040"/>
            </a:xfrm>
          </p:grpSpPr>
          <p:sp>
            <p:nvSpPr>
              <p:cNvPr name="Freeform 17" id="17"/>
              <p:cNvSpPr/>
              <p:nvPr/>
            </p:nvSpPr>
            <p:spPr>
              <a:xfrm flipH="false" flipV="false" rot="0">
                <a:off x="0" y="0"/>
                <a:ext cx="1625240" cy="1463040"/>
              </a:xfrm>
              <a:custGeom>
                <a:avLst/>
                <a:gdLst/>
                <a:ahLst/>
                <a:cxnLst/>
                <a:rect r="r" b="b" t="t" l="l"/>
                <a:pathLst>
                  <a:path h="1463040" w="1625240">
                    <a:moveTo>
                      <a:pt x="0" y="0"/>
                    </a:moveTo>
                    <a:lnTo>
                      <a:pt x="1625240" y="0"/>
                    </a:lnTo>
                    <a:lnTo>
                      <a:pt x="1625240" y="1463040"/>
                    </a:lnTo>
                    <a:lnTo>
                      <a:pt x="0" y="1463040"/>
                    </a:lnTo>
                    <a:close/>
                  </a:path>
                </a:pathLst>
              </a:custGeom>
              <a:blipFill>
                <a:blip r:embed="rId3">
                  <a:alphaModFix amt="0"/>
                </a:blip>
                <a:stretch>
                  <a:fillRect l="-63737" t="0" r="-67260" b="0"/>
                </a:stretch>
              </a:blipFill>
            </p:spPr>
          </p:sp>
          <p:sp>
            <p:nvSpPr>
              <p:cNvPr name="TextBox 18" id="18"/>
              <p:cNvSpPr txBox="true"/>
              <p:nvPr/>
            </p:nvSpPr>
            <p:spPr>
              <a:xfrm>
                <a:off x="0" y="-47625"/>
                <a:ext cx="1625240" cy="1510665"/>
              </a:xfrm>
              <a:prstGeom prst="rect">
                <a:avLst/>
              </a:prstGeom>
            </p:spPr>
            <p:txBody>
              <a:bodyPr anchor="ctr" rtlCol="false" tIns="0" lIns="0" bIns="0" rIns="0"/>
              <a:lstStyle/>
              <a:p>
                <a:pPr algn="ctr">
                  <a:lnSpc>
                    <a:spcPts val="2267"/>
                  </a:lnSpc>
                </a:pPr>
                <a:r>
                  <a:rPr lang="en-US" sz="1799" b="true">
                    <a:solidFill>
                      <a:srgbClr val="6D28D9"/>
                    </a:solidFill>
                    <a:latin typeface="Calibri (MS) Bold"/>
                    <a:ea typeface="Calibri (MS) Bold"/>
                    <a:cs typeface="Calibri (MS) Bold"/>
                    <a:sym typeface="Calibri (MS) Bold"/>
                  </a:rPr>
                  <a:t>Propose</a:t>
                </a:r>
              </a:p>
              <a:p>
                <a:pPr algn="ctr">
                  <a:lnSpc>
                    <a:spcPts val="1979"/>
                  </a:lnSpc>
                </a:pPr>
                <a:r>
                  <a:rPr lang="en-US" sz="1499">
                    <a:solidFill>
                      <a:srgbClr val="6B6B76"/>
                    </a:solidFill>
                    <a:latin typeface="Calibri (MS)"/>
                    <a:ea typeface="Calibri (MS)"/>
                    <a:cs typeface="Calibri (MS)"/>
                    <a:sym typeface="Calibri (MS)"/>
                  </a:rPr>
                  <a:t>one config</a:t>
                </a:r>
              </a:p>
            </p:txBody>
          </p:sp>
        </p:grpSp>
        <p:grpSp>
          <p:nvGrpSpPr>
            <p:cNvPr name="Group 19" id="19"/>
            <p:cNvGrpSpPr/>
            <p:nvPr/>
          </p:nvGrpSpPr>
          <p:grpSpPr>
            <a:xfrm rot="0">
              <a:off x="2641135" y="8318860"/>
              <a:ext cx="373481" cy="633907"/>
              <a:chOff x="0" y="0"/>
              <a:chExt cx="323244" cy="548640"/>
            </a:xfrm>
          </p:grpSpPr>
          <p:sp>
            <p:nvSpPr>
              <p:cNvPr name="Freeform 20" id="20"/>
              <p:cNvSpPr/>
              <p:nvPr/>
            </p:nvSpPr>
            <p:spPr>
              <a:xfrm flipH="false" flipV="false" rot="0">
                <a:off x="0" y="0"/>
                <a:ext cx="323244" cy="548640"/>
              </a:xfrm>
              <a:custGeom>
                <a:avLst/>
                <a:gdLst/>
                <a:ahLst/>
                <a:cxnLst/>
                <a:rect r="r" b="b" t="t" l="l"/>
                <a:pathLst>
                  <a:path h="548640" w="323244">
                    <a:moveTo>
                      <a:pt x="0" y="0"/>
                    </a:moveTo>
                    <a:lnTo>
                      <a:pt x="323244" y="0"/>
                    </a:lnTo>
                    <a:lnTo>
                      <a:pt x="323244" y="548640"/>
                    </a:lnTo>
                    <a:lnTo>
                      <a:pt x="0" y="548640"/>
                    </a:lnTo>
                    <a:close/>
                  </a:path>
                </a:pathLst>
              </a:custGeom>
              <a:blipFill>
                <a:blip r:embed="rId3">
                  <a:alphaModFix amt="0"/>
                </a:blip>
                <a:stretch>
                  <a:fillRect l="-172507" t="0" r="-163029" b="0"/>
                </a:stretch>
              </a:blipFill>
            </p:spPr>
          </p:sp>
          <p:sp>
            <p:nvSpPr>
              <p:cNvPr name="TextBox 21" id="21"/>
              <p:cNvSpPr txBox="true"/>
              <p:nvPr/>
            </p:nvSpPr>
            <p:spPr>
              <a:xfrm>
                <a:off x="0" y="-47625"/>
                <a:ext cx="323244" cy="596265"/>
              </a:xfrm>
              <a:prstGeom prst="rect">
                <a:avLst/>
              </a:prstGeom>
            </p:spPr>
            <p:txBody>
              <a:bodyPr anchor="ctr" rtlCol="false" tIns="0" lIns="0" bIns="0" rIns="0"/>
              <a:lstStyle/>
              <a:p>
                <a:pPr algn="ctr">
                  <a:lnSpc>
                    <a:spcPts val="2699"/>
                  </a:lnSpc>
                </a:pPr>
                <a:r>
                  <a:rPr lang="en-US" sz="2249" b="true">
                    <a:solidFill>
                      <a:srgbClr val="6B6B76"/>
                    </a:solidFill>
                    <a:latin typeface="Calibri (MS) Bold"/>
                    <a:ea typeface="Calibri (MS) Bold"/>
                    <a:cs typeface="Calibri (MS) Bold"/>
                    <a:sym typeface="Calibri (MS) Bold"/>
                  </a:rPr>
                  <a:t>›</a:t>
                </a:r>
              </a:p>
            </p:txBody>
          </p:sp>
        </p:grpSp>
        <p:grpSp>
          <p:nvGrpSpPr>
            <p:cNvPr name="Group 22" id="22"/>
            <p:cNvGrpSpPr/>
            <p:nvPr/>
          </p:nvGrpSpPr>
          <p:grpSpPr>
            <a:xfrm rot="0">
              <a:off x="2980031" y="7543498"/>
              <a:ext cx="2110288" cy="2142372"/>
              <a:chOff x="0" y="0"/>
              <a:chExt cx="1826432" cy="1854200"/>
            </a:xfrm>
          </p:grpSpPr>
          <p:sp>
            <p:nvSpPr>
              <p:cNvPr name="Freeform 23" id="23"/>
              <p:cNvSpPr/>
              <p:nvPr/>
            </p:nvSpPr>
            <p:spPr>
              <a:xfrm flipH="false" flipV="false" rot="0">
                <a:off x="0" y="0"/>
                <a:ext cx="1826432" cy="1854200"/>
              </a:xfrm>
              <a:custGeom>
                <a:avLst/>
                <a:gdLst/>
                <a:ahLst/>
                <a:cxnLst/>
                <a:rect r="r" b="b" t="t" l="l"/>
                <a:pathLst>
                  <a:path h="1854200" w="1826432">
                    <a:moveTo>
                      <a:pt x="0" y="111252"/>
                    </a:moveTo>
                    <a:cubicBezTo>
                      <a:pt x="0" y="49784"/>
                      <a:pt x="48090" y="0"/>
                      <a:pt x="107466" y="0"/>
                    </a:cubicBezTo>
                    <a:lnTo>
                      <a:pt x="1718966" y="0"/>
                    </a:lnTo>
                    <a:cubicBezTo>
                      <a:pt x="1778342" y="0"/>
                      <a:pt x="1826432" y="49784"/>
                      <a:pt x="1826432" y="111252"/>
                    </a:cubicBezTo>
                    <a:lnTo>
                      <a:pt x="1826432" y="1742948"/>
                    </a:lnTo>
                    <a:cubicBezTo>
                      <a:pt x="1826432" y="1804416"/>
                      <a:pt x="1778342" y="1854200"/>
                      <a:pt x="1718966" y="1854200"/>
                    </a:cubicBezTo>
                    <a:lnTo>
                      <a:pt x="107466" y="1854200"/>
                    </a:lnTo>
                    <a:cubicBezTo>
                      <a:pt x="48090" y="1854200"/>
                      <a:pt x="0" y="1804416"/>
                      <a:pt x="0" y="1742948"/>
                    </a:cubicBezTo>
                    <a:close/>
                  </a:path>
                </a:pathLst>
              </a:custGeom>
              <a:solidFill>
                <a:srgbClr val="FFFFFF"/>
              </a:solidFill>
              <a:ln w="19050" cap="sq">
                <a:solidFill>
                  <a:srgbClr val="D9D3F0"/>
                </a:solidFill>
                <a:prstDash val="solid"/>
                <a:miter/>
              </a:ln>
            </p:spPr>
          </p:sp>
        </p:grpSp>
        <p:grpSp>
          <p:nvGrpSpPr>
            <p:cNvPr name="Group 24" id="24"/>
            <p:cNvGrpSpPr/>
            <p:nvPr/>
          </p:nvGrpSpPr>
          <p:grpSpPr>
            <a:xfrm rot="0">
              <a:off x="3096261" y="7769474"/>
              <a:ext cx="1877828" cy="1690420"/>
              <a:chOff x="0" y="0"/>
              <a:chExt cx="1625240" cy="1463040"/>
            </a:xfrm>
          </p:grpSpPr>
          <p:sp>
            <p:nvSpPr>
              <p:cNvPr name="Freeform 25" id="25"/>
              <p:cNvSpPr/>
              <p:nvPr/>
            </p:nvSpPr>
            <p:spPr>
              <a:xfrm flipH="false" flipV="false" rot="0">
                <a:off x="0" y="0"/>
                <a:ext cx="1625240" cy="1463040"/>
              </a:xfrm>
              <a:custGeom>
                <a:avLst/>
                <a:gdLst/>
                <a:ahLst/>
                <a:cxnLst/>
                <a:rect r="r" b="b" t="t" l="l"/>
                <a:pathLst>
                  <a:path h="1463040" w="1625240">
                    <a:moveTo>
                      <a:pt x="0" y="0"/>
                    </a:moveTo>
                    <a:lnTo>
                      <a:pt x="1625240" y="0"/>
                    </a:lnTo>
                    <a:lnTo>
                      <a:pt x="1625240" y="1463040"/>
                    </a:lnTo>
                    <a:lnTo>
                      <a:pt x="0" y="1463040"/>
                    </a:lnTo>
                    <a:close/>
                  </a:path>
                </a:pathLst>
              </a:custGeom>
              <a:blipFill>
                <a:blip r:embed="rId3">
                  <a:alphaModFix amt="0"/>
                </a:blip>
                <a:stretch>
                  <a:fillRect l="-63737" t="0" r="-67260" b="0"/>
                </a:stretch>
              </a:blipFill>
            </p:spPr>
          </p:sp>
          <p:sp>
            <p:nvSpPr>
              <p:cNvPr name="TextBox 26" id="26"/>
              <p:cNvSpPr txBox="true"/>
              <p:nvPr/>
            </p:nvSpPr>
            <p:spPr>
              <a:xfrm>
                <a:off x="0" y="-47625"/>
                <a:ext cx="1625240" cy="1510665"/>
              </a:xfrm>
              <a:prstGeom prst="rect">
                <a:avLst/>
              </a:prstGeom>
            </p:spPr>
            <p:txBody>
              <a:bodyPr anchor="ctr" rtlCol="false" tIns="0" lIns="0" bIns="0" rIns="0"/>
              <a:lstStyle/>
              <a:p>
                <a:pPr algn="ctr">
                  <a:lnSpc>
                    <a:spcPts val="2267"/>
                  </a:lnSpc>
                </a:pPr>
                <a:r>
                  <a:rPr lang="en-US" sz="1799" b="true">
                    <a:solidFill>
                      <a:srgbClr val="6D28D9"/>
                    </a:solidFill>
                    <a:latin typeface="Calibri (MS) Bold"/>
                    <a:ea typeface="Calibri (MS) Bold"/>
                    <a:cs typeface="Calibri (MS) Bold"/>
                    <a:sym typeface="Calibri (MS) Bold"/>
                  </a:rPr>
                  <a:t>Measure</a:t>
                </a:r>
              </a:p>
              <a:p>
                <a:pPr algn="ctr">
                  <a:lnSpc>
                    <a:spcPts val="1979"/>
                  </a:lnSpc>
                </a:pPr>
                <a:r>
                  <a:rPr lang="en-US" sz="1499">
                    <a:solidFill>
                      <a:srgbClr val="6B6B76"/>
                    </a:solidFill>
                    <a:latin typeface="Calibri (MS)"/>
                    <a:ea typeface="Calibri (MS)"/>
                    <a:cs typeface="Calibri (MS)"/>
                    <a:sym typeface="Calibri (MS)"/>
                  </a:rPr>
                  <a:t>NDCG@10 on real split</a:t>
                </a:r>
              </a:p>
            </p:txBody>
          </p:sp>
        </p:grpSp>
        <p:grpSp>
          <p:nvGrpSpPr>
            <p:cNvPr name="Group 27" id="27"/>
            <p:cNvGrpSpPr/>
            <p:nvPr/>
          </p:nvGrpSpPr>
          <p:grpSpPr>
            <a:xfrm rot="0">
              <a:off x="5008831" y="8318860"/>
              <a:ext cx="373481" cy="633907"/>
              <a:chOff x="0" y="0"/>
              <a:chExt cx="323244" cy="548640"/>
            </a:xfrm>
          </p:grpSpPr>
          <p:sp>
            <p:nvSpPr>
              <p:cNvPr name="Freeform 28" id="28"/>
              <p:cNvSpPr/>
              <p:nvPr/>
            </p:nvSpPr>
            <p:spPr>
              <a:xfrm flipH="false" flipV="false" rot="0">
                <a:off x="0" y="0"/>
                <a:ext cx="323244" cy="548640"/>
              </a:xfrm>
              <a:custGeom>
                <a:avLst/>
                <a:gdLst/>
                <a:ahLst/>
                <a:cxnLst/>
                <a:rect r="r" b="b" t="t" l="l"/>
                <a:pathLst>
                  <a:path h="548640" w="323244">
                    <a:moveTo>
                      <a:pt x="0" y="0"/>
                    </a:moveTo>
                    <a:lnTo>
                      <a:pt x="323244" y="0"/>
                    </a:lnTo>
                    <a:lnTo>
                      <a:pt x="323244" y="548640"/>
                    </a:lnTo>
                    <a:lnTo>
                      <a:pt x="0" y="548640"/>
                    </a:lnTo>
                    <a:close/>
                  </a:path>
                </a:pathLst>
              </a:custGeom>
              <a:blipFill>
                <a:blip r:embed="rId3">
                  <a:alphaModFix amt="0"/>
                </a:blip>
                <a:stretch>
                  <a:fillRect l="-172507" t="0" r="-163029" b="0"/>
                </a:stretch>
              </a:blipFill>
            </p:spPr>
          </p:sp>
          <p:sp>
            <p:nvSpPr>
              <p:cNvPr name="TextBox 29" id="29"/>
              <p:cNvSpPr txBox="true"/>
              <p:nvPr/>
            </p:nvSpPr>
            <p:spPr>
              <a:xfrm>
                <a:off x="0" y="-47625"/>
                <a:ext cx="323244" cy="596265"/>
              </a:xfrm>
              <a:prstGeom prst="rect">
                <a:avLst/>
              </a:prstGeom>
            </p:spPr>
            <p:txBody>
              <a:bodyPr anchor="ctr" rtlCol="false" tIns="0" lIns="0" bIns="0" rIns="0"/>
              <a:lstStyle/>
              <a:p>
                <a:pPr algn="ctr">
                  <a:lnSpc>
                    <a:spcPts val="2699"/>
                  </a:lnSpc>
                </a:pPr>
                <a:r>
                  <a:rPr lang="en-US" sz="2249" b="true">
                    <a:solidFill>
                      <a:srgbClr val="6B6B76"/>
                    </a:solidFill>
                    <a:latin typeface="Calibri (MS) Bold"/>
                    <a:ea typeface="Calibri (MS) Bold"/>
                    <a:cs typeface="Calibri (MS) Bold"/>
                    <a:sym typeface="Calibri (MS) Bold"/>
                  </a:rPr>
                  <a:t>›</a:t>
                </a:r>
              </a:p>
            </p:txBody>
          </p:sp>
        </p:grpSp>
        <p:grpSp>
          <p:nvGrpSpPr>
            <p:cNvPr name="Group 30" id="30"/>
            <p:cNvGrpSpPr/>
            <p:nvPr/>
          </p:nvGrpSpPr>
          <p:grpSpPr>
            <a:xfrm rot="0">
              <a:off x="5347727" y="7543498"/>
              <a:ext cx="2110288" cy="2142372"/>
              <a:chOff x="0" y="0"/>
              <a:chExt cx="1826432" cy="1854200"/>
            </a:xfrm>
          </p:grpSpPr>
          <p:sp>
            <p:nvSpPr>
              <p:cNvPr name="Freeform 31" id="31"/>
              <p:cNvSpPr/>
              <p:nvPr/>
            </p:nvSpPr>
            <p:spPr>
              <a:xfrm flipH="false" flipV="false" rot="0">
                <a:off x="0" y="0"/>
                <a:ext cx="1826432" cy="1854200"/>
              </a:xfrm>
              <a:custGeom>
                <a:avLst/>
                <a:gdLst/>
                <a:ahLst/>
                <a:cxnLst/>
                <a:rect r="r" b="b" t="t" l="l"/>
                <a:pathLst>
                  <a:path h="1854200" w="1826432">
                    <a:moveTo>
                      <a:pt x="0" y="111252"/>
                    </a:moveTo>
                    <a:cubicBezTo>
                      <a:pt x="0" y="49784"/>
                      <a:pt x="48090" y="0"/>
                      <a:pt x="107466" y="0"/>
                    </a:cubicBezTo>
                    <a:lnTo>
                      <a:pt x="1718966" y="0"/>
                    </a:lnTo>
                    <a:cubicBezTo>
                      <a:pt x="1778342" y="0"/>
                      <a:pt x="1826432" y="49784"/>
                      <a:pt x="1826432" y="111252"/>
                    </a:cubicBezTo>
                    <a:lnTo>
                      <a:pt x="1826432" y="1742948"/>
                    </a:lnTo>
                    <a:cubicBezTo>
                      <a:pt x="1826432" y="1804416"/>
                      <a:pt x="1778342" y="1854200"/>
                      <a:pt x="1718966" y="1854200"/>
                    </a:cubicBezTo>
                    <a:lnTo>
                      <a:pt x="107466" y="1854200"/>
                    </a:lnTo>
                    <a:cubicBezTo>
                      <a:pt x="48090" y="1854200"/>
                      <a:pt x="0" y="1804416"/>
                      <a:pt x="0" y="1742948"/>
                    </a:cubicBezTo>
                    <a:close/>
                  </a:path>
                </a:pathLst>
              </a:custGeom>
              <a:solidFill>
                <a:srgbClr val="FFFFFF"/>
              </a:solidFill>
              <a:ln w="19050" cap="sq">
                <a:solidFill>
                  <a:srgbClr val="D9D3F0"/>
                </a:solidFill>
                <a:prstDash val="solid"/>
                <a:miter/>
              </a:ln>
            </p:spPr>
          </p:sp>
        </p:grpSp>
        <p:grpSp>
          <p:nvGrpSpPr>
            <p:cNvPr name="Group 32" id="32"/>
            <p:cNvGrpSpPr/>
            <p:nvPr/>
          </p:nvGrpSpPr>
          <p:grpSpPr>
            <a:xfrm rot="0">
              <a:off x="5463957" y="7769474"/>
              <a:ext cx="1877828" cy="1690420"/>
              <a:chOff x="0" y="0"/>
              <a:chExt cx="1625240" cy="1463040"/>
            </a:xfrm>
          </p:grpSpPr>
          <p:sp>
            <p:nvSpPr>
              <p:cNvPr name="Freeform 33" id="33"/>
              <p:cNvSpPr/>
              <p:nvPr/>
            </p:nvSpPr>
            <p:spPr>
              <a:xfrm flipH="false" flipV="false" rot="0">
                <a:off x="0" y="0"/>
                <a:ext cx="1625240" cy="1463040"/>
              </a:xfrm>
              <a:custGeom>
                <a:avLst/>
                <a:gdLst/>
                <a:ahLst/>
                <a:cxnLst/>
                <a:rect r="r" b="b" t="t" l="l"/>
                <a:pathLst>
                  <a:path h="1463040" w="1625240">
                    <a:moveTo>
                      <a:pt x="0" y="0"/>
                    </a:moveTo>
                    <a:lnTo>
                      <a:pt x="1625240" y="0"/>
                    </a:lnTo>
                    <a:lnTo>
                      <a:pt x="1625240" y="1463040"/>
                    </a:lnTo>
                    <a:lnTo>
                      <a:pt x="0" y="1463040"/>
                    </a:lnTo>
                    <a:close/>
                  </a:path>
                </a:pathLst>
              </a:custGeom>
              <a:blipFill>
                <a:blip r:embed="rId3">
                  <a:alphaModFix amt="0"/>
                </a:blip>
                <a:stretch>
                  <a:fillRect l="-63737" t="0" r="-67260" b="0"/>
                </a:stretch>
              </a:blipFill>
            </p:spPr>
          </p:sp>
          <p:sp>
            <p:nvSpPr>
              <p:cNvPr name="TextBox 34" id="34"/>
              <p:cNvSpPr txBox="true"/>
              <p:nvPr/>
            </p:nvSpPr>
            <p:spPr>
              <a:xfrm>
                <a:off x="0" y="-47625"/>
                <a:ext cx="1625240" cy="1510665"/>
              </a:xfrm>
              <a:prstGeom prst="rect">
                <a:avLst/>
              </a:prstGeom>
            </p:spPr>
            <p:txBody>
              <a:bodyPr anchor="ctr" rtlCol="false" tIns="0" lIns="0" bIns="0" rIns="0"/>
              <a:lstStyle/>
              <a:p>
                <a:pPr algn="ctr">
                  <a:lnSpc>
                    <a:spcPts val="2267"/>
                  </a:lnSpc>
                </a:pPr>
                <a:r>
                  <a:rPr lang="en-US" sz="1799" b="true">
                    <a:solidFill>
                      <a:srgbClr val="6D28D9"/>
                    </a:solidFill>
                    <a:latin typeface="Calibri (MS) Bold"/>
                    <a:ea typeface="Calibri (MS) Bold"/>
                    <a:cs typeface="Calibri (MS) Bold"/>
                    <a:sym typeface="Calibri (MS) Bold"/>
                  </a:rPr>
                  <a:t>Compare</a:t>
                </a:r>
              </a:p>
              <a:p>
                <a:pPr algn="ctr">
                  <a:lnSpc>
                    <a:spcPts val="1979"/>
                  </a:lnSpc>
                </a:pPr>
                <a:r>
                  <a:rPr lang="en-US" sz="1499">
                    <a:solidFill>
                      <a:srgbClr val="6B6B76"/>
                    </a:solidFill>
                    <a:latin typeface="Calibri (MS)"/>
                    <a:ea typeface="Calibri (MS)"/>
                    <a:cs typeface="Calibri (MS)"/>
                    <a:sym typeface="Calibri (MS)"/>
                  </a:rPr>
                  <a:t>vs live baseline</a:t>
                </a:r>
              </a:p>
            </p:txBody>
          </p:sp>
        </p:grpSp>
        <p:grpSp>
          <p:nvGrpSpPr>
            <p:cNvPr name="Group 35" id="35"/>
            <p:cNvGrpSpPr/>
            <p:nvPr/>
          </p:nvGrpSpPr>
          <p:grpSpPr>
            <a:xfrm rot="0">
              <a:off x="7376527" y="8318860"/>
              <a:ext cx="373481" cy="633907"/>
              <a:chOff x="0" y="0"/>
              <a:chExt cx="323244" cy="548640"/>
            </a:xfrm>
          </p:grpSpPr>
          <p:sp>
            <p:nvSpPr>
              <p:cNvPr name="Freeform 36" id="36"/>
              <p:cNvSpPr/>
              <p:nvPr/>
            </p:nvSpPr>
            <p:spPr>
              <a:xfrm flipH="false" flipV="false" rot="0">
                <a:off x="0" y="0"/>
                <a:ext cx="323244" cy="548640"/>
              </a:xfrm>
              <a:custGeom>
                <a:avLst/>
                <a:gdLst/>
                <a:ahLst/>
                <a:cxnLst/>
                <a:rect r="r" b="b" t="t" l="l"/>
                <a:pathLst>
                  <a:path h="548640" w="323244">
                    <a:moveTo>
                      <a:pt x="0" y="0"/>
                    </a:moveTo>
                    <a:lnTo>
                      <a:pt x="323244" y="0"/>
                    </a:lnTo>
                    <a:lnTo>
                      <a:pt x="323244" y="548640"/>
                    </a:lnTo>
                    <a:lnTo>
                      <a:pt x="0" y="548640"/>
                    </a:lnTo>
                    <a:close/>
                  </a:path>
                </a:pathLst>
              </a:custGeom>
              <a:blipFill>
                <a:blip r:embed="rId3">
                  <a:alphaModFix amt="0"/>
                </a:blip>
                <a:stretch>
                  <a:fillRect l="-172507" t="0" r="-163029" b="0"/>
                </a:stretch>
              </a:blipFill>
            </p:spPr>
          </p:sp>
          <p:sp>
            <p:nvSpPr>
              <p:cNvPr name="TextBox 37" id="37"/>
              <p:cNvSpPr txBox="true"/>
              <p:nvPr/>
            </p:nvSpPr>
            <p:spPr>
              <a:xfrm>
                <a:off x="0" y="-47625"/>
                <a:ext cx="323244" cy="596265"/>
              </a:xfrm>
              <a:prstGeom prst="rect">
                <a:avLst/>
              </a:prstGeom>
            </p:spPr>
            <p:txBody>
              <a:bodyPr anchor="ctr" rtlCol="false" tIns="0" lIns="0" bIns="0" rIns="0"/>
              <a:lstStyle/>
              <a:p>
                <a:pPr algn="ctr">
                  <a:lnSpc>
                    <a:spcPts val="2699"/>
                  </a:lnSpc>
                </a:pPr>
                <a:r>
                  <a:rPr lang="en-US" sz="2249" b="true">
                    <a:solidFill>
                      <a:srgbClr val="6B6B76"/>
                    </a:solidFill>
                    <a:latin typeface="Calibri (MS) Bold"/>
                    <a:ea typeface="Calibri (MS) Bold"/>
                    <a:cs typeface="Calibri (MS) Bold"/>
                    <a:sym typeface="Calibri (MS) Bold"/>
                  </a:rPr>
                  <a:t>›</a:t>
                </a:r>
              </a:p>
            </p:txBody>
          </p:sp>
        </p:grpSp>
        <p:grpSp>
          <p:nvGrpSpPr>
            <p:cNvPr name="Group 38" id="38"/>
            <p:cNvGrpSpPr/>
            <p:nvPr/>
          </p:nvGrpSpPr>
          <p:grpSpPr>
            <a:xfrm rot="0">
              <a:off x="7715423" y="7543498"/>
              <a:ext cx="2110288" cy="2142372"/>
              <a:chOff x="0" y="0"/>
              <a:chExt cx="1826432" cy="1854200"/>
            </a:xfrm>
          </p:grpSpPr>
          <p:sp>
            <p:nvSpPr>
              <p:cNvPr name="Freeform 39" id="39"/>
              <p:cNvSpPr/>
              <p:nvPr/>
            </p:nvSpPr>
            <p:spPr>
              <a:xfrm flipH="false" flipV="false" rot="0">
                <a:off x="0" y="0"/>
                <a:ext cx="1826432" cy="1854200"/>
              </a:xfrm>
              <a:custGeom>
                <a:avLst/>
                <a:gdLst/>
                <a:ahLst/>
                <a:cxnLst/>
                <a:rect r="r" b="b" t="t" l="l"/>
                <a:pathLst>
                  <a:path h="1854200" w="1826432">
                    <a:moveTo>
                      <a:pt x="0" y="111252"/>
                    </a:moveTo>
                    <a:cubicBezTo>
                      <a:pt x="0" y="49784"/>
                      <a:pt x="48090" y="0"/>
                      <a:pt x="107466" y="0"/>
                    </a:cubicBezTo>
                    <a:lnTo>
                      <a:pt x="1718966" y="0"/>
                    </a:lnTo>
                    <a:cubicBezTo>
                      <a:pt x="1778342" y="0"/>
                      <a:pt x="1826432" y="49784"/>
                      <a:pt x="1826432" y="111252"/>
                    </a:cubicBezTo>
                    <a:lnTo>
                      <a:pt x="1826432" y="1742948"/>
                    </a:lnTo>
                    <a:cubicBezTo>
                      <a:pt x="1826432" y="1804416"/>
                      <a:pt x="1778342" y="1854200"/>
                      <a:pt x="1718966" y="1854200"/>
                    </a:cubicBezTo>
                    <a:lnTo>
                      <a:pt x="107466" y="1854200"/>
                    </a:lnTo>
                    <a:cubicBezTo>
                      <a:pt x="48090" y="1854200"/>
                      <a:pt x="0" y="1804416"/>
                      <a:pt x="0" y="1742948"/>
                    </a:cubicBezTo>
                    <a:close/>
                  </a:path>
                </a:pathLst>
              </a:custGeom>
              <a:solidFill>
                <a:srgbClr val="D9A441"/>
              </a:solidFill>
              <a:ln w="19050" cap="sq">
                <a:solidFill>
                  <a:srgbClr val="D9A441"/>
                </a:solidFill>
                <a:prstDash val="solid"/>
                <a:miter/>
              </a:ln>
            </p:spPr>
          </p:sp>
        </p:grpSp>
        <p:grpSp>
          <p:nvGrpSpPr>
            <p:cNvPr name="Group 40" id="40"/>
            <p:cNvGrpSpPr/>
            <p:nvPr/>
          </p:nvGrpSpPr>
          <p:grpSpPr>
            <a:xfrm rot="0">
              <a:off x="7831653" y="7769474"/>
              <a:ext cx="1877828" cy="1690420"/>
              <a:chOff x="0" y="0"/>
              <a:chExt cx="1625240" cy="1463040"/>
            </a:xfrm>
          </p:grpSpPr>
          <p:sp>
            <p:nvSpPr>
              <p:cNvPr name="Freeform 41" id="41"/>
              <p:cNvSpPr/>
              <p:nvPr/>
            </p:nvSpPr>
            <p:spPr>
              <a:xfrm flipH="false" flipV="false" rot="0">
                <a:off x="0" y="0"/>
                <a:ext cx="1625240" cy="1463040"/>
              </a:xfrm>
              <a:custGeom>
                <a:avLst/>
                <a:gdLst/>
                <a:ahLst/>
                <a:cxnLst/>
                <a:rect r="r" b="b" t="t" l="l"/>
                <a:pathLst>
                  <a:path h="1463040" w="1625240">
                    <a:moveTo>
                      <a:pt x="0" y="0"/>
                    </a:moveTo>
                    <a:lnTo>
                      <a:pt x="1625240" y="0"/>
                    </a:lnTo>
                    <a:lnTo>
                      <a:pt x="1625240" y="1463040"/>
                    </a:lnTo>
                    <a:lnTo>
                      <a:pt x="0" y="1463040"/>
                    </a:lnTo>
                    <a:close/>
                  </a:path>
                </a:pathLst>
              </a:custGeom>
              <a:blipFill>
                <a:blip r:embed="rId3">
                  <a:alphaModFix amt="0"/>
                </a:blip>
                <a:stretch>
                  <a:fillRect l="-63737" t="0" r="-67260" b="0"/>
                </a:stretch>
              </a:blipFill>
            </p:spPr>
          </p:sp>
          <p:sp>
            <p:nvSpPr>
              <p:cNvPr name="TextBox 42" id="42"/>
              <p:cNvSpPr txBox="true"/>
              <p:nvPr/>
            </p:nvSpPr>
            <p:spPr>
              <a:xfrm>
                <a:off x="0" y="-47625"/>
                <a:ext cx="1625240" cy="1510665"/>
              </a:xfrm>
              <a:prstGeom prst="rect">
                <a:avLst/>
              </a:prstGeom>
            </p:spPr>
            <p:txBody>
              <a:bodyPr anchor="ctr" rtlCol="false" tIns="0" lIns="0" bIns="0" rIns="0"/>
              <a:lstStyle/>
              <a:p>
                <a:pPr algn="ctr">
                  <a:lnSpc>
                    <a:spcPts val="2267"/>
                  </a:lnSpc>
                </a:pPr>
                <a:r>
                  <a:rPr lang="en-US" sz="1799" b="true">
                    <a:solidFill>
                      <a:srgbClr val="14142B"/>
                    </a:solidFill>
                    <a:latin typeface="Calibri (MS) Bold"/>
                    <a:ea typeface="Calibri (MS) Bold"/>
                    <a:cs typeface="Calibri (MS) Bold"/>
                    <a:sym typeface="Calibri (MS) Bold"/>
                  </a:rPr>
                  <a:t>Keep or drop</a:t>
                </a:r>
              </a:p>
              <a:p>
                <a:pPr algn="ctr">
                  <a:lnSpc>
                    <a:spcPts val="1979"/>
                  </a:lnSpc>
                </a:pPr>
                <a:r>
                  <a:rPr lang="en-US" sz="1499">
                    <a:solidFill>
                      <a:srgbClr val="33333D"/>
                    </a:solidFill>
                    <a:latin typeface="Calibri (MS)"/>
                    <a:ea typeface="Calibri (MS)"/>
                    <a:cs typeface="Calibri (MS)"/>
                    <a:sym typeface="Calibri (MS)"/>
                  </a:rPr>
                  <a:t>no drift, ever</a:t>
                </a:r>
              </a:p>
            </p:txBody>
          </p:sp>
        </p:grpSp>
        <p:sp>
          <p:nvSpPr>
            <p:cNvPr name="TextBox 43" id="43"/>
            <p:cNvSpPr txBox="true"/>
            <p:nvPr/>
          </p:nvSpPr>
          <p:spPr>
            <a:xfrm rot="0">
              <a:off x="11138263" y="-32951"/>
              <a:ext cx="12348759" cy="490593"/>
            </a:xfrm>
            <a:prstGeom prst="rect">
              <a:avLst/>
            </a:prstGeom>
          </p:spPr>
          <p:txBody>
            <a:bodyPr anchor="t" rtlCol="false" tIns="0" lIns="0" bIns="0" rIns="0">
              <a:spAutoFit/>
            </a:bodyPr>
            <a:lstStyle/>
            <a:p>
              <a:pPr algn="l">
                <a:lnSpc>
                  <a:spcPts val="2657"/>
                </a:lnSpc>
              </a:pPr>
              <a:r>
                <a:rPr lang="en-US" sz="2214" b="true">
                  <a:solidFill>
                    <a:srgbClr val="6D28D9"/>
                  </a:solidFill>
                  <a:latin typeface="Calibri (MS) Bold"/>
                  <a:ea typeface="Calibri (MS) Bold"/>
                  <a:cs typeface="Calibri (MS) Bold"/>
                  <a:sym typeface="Calibri (MS) Bold"/>
                </a:rPr>
                <a:t>NDCG@10, real CoIR AppsRetrieval split  ·  10 configs, 1 kept</a:t>
              </a:r>
            </a:p>
          </p:txBody>
        </p:sp>
        <p:sp>
          <p:nvSpPr>
            <p:cNvPr name="TextBox 44" id="44"/>
            <p:cNvSpPr txBox="true"/>
            <p:nvPr/>
          </p:nvSpPr>
          <p:spPr>
            <a:xfrm rot="0">
              <a:off x="11138263" y="652742"/>
              <a:ext cx="12348759" cy="441983"/>
            </a:xfrm>
            <a:prstGeom prst="rect">
              <a:avLst/>
            </a:prstGeom>
          </p:spPr>
          <p:txBody>
            <a:bodyPr anchor="t" rtlCol="false" tIns="0" lIns="0" bIns="0" rIns="0">
              <a:spAutoFit/>
            </a:bodyPr>
            <a:lstStyle/>
            <a:p>
              <a:pPr algn="l">
                <a:lnSpc>
                  <a:spcPts val="2449"/>
                </a:lnSpc>
              </a:pPr>
              <a:r>
                <a:rPr lang="en-US" sz="2040" i="true">
                  <a:solidFill>
                    <a:srgbClr val="6B6B76"/>
                  </a:solidFill>
                  <a:latin typeface="Calibri (MS) Italics"/>
                  <a:ea typeface="Calibri (MS) Italics"/>
                  <a:cs typeface="Calibri (MS) Italics"/>
                  <a:sym typeface="Calibri (MS) Italics"/>
                </a:rPr>
                <a:t>Submitted: e5-base-v2 — MRR@10 0.0986 (baseline 0.0561).</a:t>
              </a:r>
            </a:p>
          </p:txBody>
        </p:sp>
        <p:grpSp>
          <p:nvGrpSpPr>
            <p:cNvPr name="Group 45" id="45"/>
            <p:cNvGrpSpPr/>
            <p:nvPr/>
          </p:nvGrpSpPr>
          <p:grpSpPr>
            <a:xfrm rot="0">
              <a:off x="11820833" y="1409270"/>
              <a:ext cx="10983606" cy="6106641"/>
              <a:chOff x="0" y="0"/>
              <a:chExt cx="9506193" cy="5285232"/>
            </a:xfrm>
          </p:grpSpPr>
          <p:sp>
            <p:nvSpPr>
              <p:cNvPr name="Freeform 46" id="46" descr="ablation_chart.png"/>
              <p:cNvSpPr/>
              <p:nvPr/>
            </p:nvSpPr>
            <p:spPr>
              <a:xfrm flipH="false" flipV="false" rot="0">
                <a:off x="0" y="0"/>
                <a:ext cx="9506206" cy="5285232"/>
              </a:xfrm>
              <a:custGeom>
                <a:avLst/>
                <a:gdLst/>
                <a:ahLst/>
                <a:cxnLst/>
                <a:rect r="r" b="b" t="t" l="l"/>
                <a:pathLst>
                  <a:path h="5285232" w="9506206">
                    <a:moveTo>
                      <a:pt x="0" y="0"/>
                    </a:moveTo>
                    <a:lnTo>
                      <a:pt x="9506206" y="0"/>
                    </a:lnTo>
                    <a:lnTo>
                      <a:pt x="9506206" y="5285232"/>
                    </a:lnTo>
                    <a:lnTo>
                      <a:pt x="0" y="5285232"/>
                    </a:lnTo>
                    <a:lnTo>
                      <a:pt x="0" y="0"/>
                    </a:lnTo>
                    <a:close/>
                  </a:path>
                </a:pathLst>
              </a:custGeom>
              <a:blipFill>
                <a:blip r:embed="rId4"/>
                <a:stretch>
                  <a:fillRect l="-1761" t="0" r="-1761" b="0"/>
                </a:stretch>
              </a:blipFill>
            </p:spPr>
          </p:sp>
        </p:grpSp>
        <p:grpSp>
          <p:nvGrpSpPr>
            <p:cNvPr name="Group 47" id="47"/>
            <p:cNvGrpSpPr/>
            <p:nvPr/>
          </p:nvGrpSpPr>
          <p:grpSpPr>
            <a:xfrm rot="0">
              <a:off x="11138263" y="7727214"/>
              <a:ext cx="12348759" cy="2218676"/>
              <a:chOff x="0" y="0"/>
              <a:chExt cx="10687718" cy="1920240"/>
            </a:xfrm>
          </p:grpSpPr>
          <p:sp>
            <p:nvSpPr>
              <p:cNvPr name="Freeform 48" id="48"/>
              <p:cNvSpPr/>
              <p:nvPr/>
            </p:nvSpPr>
            <p:spPr>
              <a:xfrm flipH="false" flipV="false" rot="0">
                <a:off x="0" y="0"/>
                <a:ext cx="10687718" cy="1920240"/>
              </a:xfrm>
              <a:custGeom>
                <a:avLst/>
                <a:gdLst/>
                <a:ahLst/>
                <a:cxnLst/>
                <a:rect r="r" b="b" t="t" l="l"/>
                <a:pathLst>
                  <a:path h="1920240" w="10687718">
                    <a:moveTo>
                      <a:pt x="0" y="115189"/>
                    </a:moveTo>
                    <a:cubicBezTo>
                      <a:pt x="0" y="51562"/>
                      <a:pt x="49807" y="0"/>
                      <a:pt x="111269" y="0"/>
                    </a:cubicBezTo>
                    <a:lnTo>
                      <a:pt x="10576449" y="0"/>
                    </a:lnTo>
                    <a:cubicBezTo>
                      <a:pt x="10637911" y="0"/>
                      <a:pt x="10687718" y="51562"/>
                      <a:pt x="10687718" y="115189"/>
                    </a:cubicBezTo>
                    <a:lnTo>
                      <a:pt x="10687718" y="1805051"/>
                    </a:lnTo>
                    <a:cubicBezTo>
                      <a:pt x="10687718" y="1868678"/>
                      <a:pt x="10637911" y="1920240"/>
                      <a:pt x="10576449" y="1920240"/>
                    </a:cubicBezTo>
                    <a:lnTo>
                      <a:pt x="111269" y="1920240"/>
                    </a:lnTo>
                    <a:cubicBezTo>
                      <a:pt x="49807" y="1920240"/>
                      <a:pt x="0" y="1868678"/>
                      <a:pt x="0" y="1805051"/>
                    </a:cubicBezTo>
                    <a:close/>
                  </a:path>
                </a:pathLst>
              </a:custGeom>
              <a:solidFill>
                <a:srgbClr val="EDE9FB"/>
              </a:solidFill>
            </p:spPr>
          </p:sp>
        </p:grpSp>
        <p:sp>
          <p:nvSpPr>
            <p:cNvPr name="TextBox 49" id="49"/>
            <p:cNvSpPr txBox="true"/>
            <p:nvPr/>
          </p:nvSpPr>
          <p:spPr>
            <a:xfrm rot="0">
              <a:off x="11648543" y="7839105"/>
              <a:ext cx="11328201" cy="539203"/>
            </a:xfrm>
            <a:prstGeom prst="rect">
              <a:avLst/>
            </a:prstGeom>
          </p:spPr>
          <p:txBody>
            <a:bodyPr anchor="t" rtlCol="false" tIns="0" lIns="0" bIns="0" rIns="0">
              <a:spAutoFit/>
            </a:bodyPr>
            <a:lstStyle/>
            <a:p>
              <a:pPr algn="l">
                <a:lnSpc>
                  <a:spcPts val="2865"/>
                </a:lnSpc>
              </a:pPr>
              <a:r>
                <a:rPr lang="en-US" sz="2387" b="true">
                  <a:solidFill>
                    <a:srgbClr val="14142B"/>
                  </a:solidFill>
                  <a:latin typeface="Calibri (MS) Bold"/>
                  <a:ea typeface="Calibri (MS) Bold"/>
                  <a:cs typeface="Calibri (MS) Bold"/>
                  <a:sym typeface="Calibri (MS) Bold"/>
                </a:rPr>
                <a:t>Limitations — stated up front</a:t>
              </a:r>
            </a:p>
          </p:txBody>
        </p:sp>
        <p:sp>
          <p:nvSpPr>
            <p:cNvPr name="TextBox 50" id="50"/>
            <p:cNvSpPr txBox="true"/>
            <p:nvPr/>
          </p:nvSpPr>
          <p:spPr>
            <a:xfrm rot="0">
              <a:off x="11648543" y="8482538"/>
              <a:ext cx="11328201" cy="1316708"/>
            </a:xfrm>
            <a:prstGeom prst="rect">
              <a:avLst/>
            </a:prstGeom>
          </p:spPr>
          <p:txBody>
            <a:bodyPr anchor="t" rtlCol="false" tIns="0" lIns="0" bIns="0" rIns="0">
              <a:spAutoFit/>
            </a:bodyPr>
            <a:lstStyle/>
            <a:p>
              <a:pPr algn="l">
                <a:lnSpc>
                  <a:spcPts val="2571"/>
                </a:lnSpc>
              </a:pPr>
              <a:r>
                <a:rPr lang="en-US" sz="2040">
                  <a:solidFill>
                    <a:srgbClr val="33333D"/>
                  </a:solidFill>
                  <a:latin typeface="Calibri (MS)"/>
                  <a:ea typeface="Calibri (MS)"/>
                  <a:cs typeface="Calibri (MS)"/>
                  <a:sym typeface="Calibri (MS)"/>
                </a:rPr>
                <a:t>—  CPU-only by design; larger models (e.g. e5-large, ~3× CPU) untested</a:t>
              </a:r>
            </a:p>
            <a:p>
              <a:pPr algn="l">
                <a:lnSpc>
                  <a:spcPts val="2571"/>
                </a:lnSpc>
              </a:pPr>
              <a:r>
                <a:rPr lang="en-US" sz="2040">
                  <a:solidFill>
                    <a:srgbClr val="33333D"/>
                  </a:solidFill>
                  <a:latin typeface="Calibri (MS)"/>
                  <a:ea typeface="Calibri (MS)"/>
                  <a:cs typeface="Calibri (MS)"/>
                  <a:sym typeface="Calibri (MS)"/>
                </a:rPr>
                <a:t>—  HyDE, multi-view, front-load not yet re-measured on top of e5</a:t>
              </a:r>
            </a:p>
            <a:p>
              <a:pPr algn="l">
                <a:lnSpc>
                  <a:spcPts val="2571"/>
                </a:lnSpc>
              </a:pPr>
              <a:r>
                <a:rPr lang="en-US" sz="2040">
                  <a:solidFill>
                    <a:srgbClr val="33333D"/>
                  </a:solidFill>
                  <a:latin typeface="Calibri (MS)"/>
                  <a:ea typeface="Calibri (MS)"/>
                  <a:cs typeface="Calibri (MS)"/>
                  <a:sym typeface="Calibri (MS)"/>
                </a:rPr>
                <a:t>—  Version-delta ties naive retrieval, even on e5: no cross-version gain yet</a:t>
              </a:r>
            </a:p>
          </p:txBody>
        </p:sp>
      </p:gr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257300" y="547688"/>
            <a:ext cx="15773400" cy="1988344"/>
            <a:chOff x="0" y="0"/>
            <a:chExt cx="21031200" cy="2651125"/>
          </a:xfrm>
        </p:grpSpPr>
        <p:sp>
          <p:nvSpPr>
            <p:cNvPr name="Freeform 3" id="3"/>
            <p:cNvSpPr/>
            <p:nvPr/>
          </p:nvSpPr>
          <p:spPr>
            <a:xfrm flipH="false" flipV="false" rot="0">
              <a:off x="0" y="0"/>
              <a:ext cx="21031200" cy="2651126"/>
            </a:xfrm>
            <a:custGeom>
              <a:avLst/>
              <a:gdLst/>
              <a:ahLst/>
              <a:cxnLst/>
              <a:rect r="r" b="b" t="t" l="l"/>
              <a:pathLst>
                <a:path h="2651126" w="21031200">
                  <a:moveTo>
                    <a:pt x="0" y="0"/>
                  </a:moveTo>
                  <a:lnTo>
                    <a:pt x="21031200" y="0"/>
                  </a:lnTo>
                  <a:lnTo>
                    <a:pt x="21031200" y="2651126"/>
                  </a:lnTo>
                  <a:lnTo>
                    <a:pt x="0" y="2651126"/>
                  </a:lnTo>
                  <a:close/>
                </a:path>
              </a:pathLst>
            </a:custGeom>
            <a:blipFill>
              <a:blip r:embed="rId3">
                <a:alphaModFix amt="0"/>
              </a:blip>
              <a:stretch>
                <a:fillRect l="0" t="-104573" r="0" b="-104573"/>
              </a:stretch>
            </a:blipFill>
          </p:spPr>
        </p:sp>
        <p:sp>
          <p:nvSpPr>
            <p:cNvPr name="TextBox 4" id="4"/>
            <p:cNvSpPr txBox="true"/>
            <p:nvPr/>
          </p:nvSpPr>
          <p:spPr>
            <a:xfrm>
              <a:off x="0" y="-66675"/>
              <a:ext cx="21031200" cy="2717800"/>
            </a:xfrm>
            <a:prstGeom prst="rect">
              <a:avLst/>
            </a:prstGeom>
          </p:spPr>
          <p:txBody>
            <a:bodyPr anchor="ctr" rtlCol="false" tIns="0" lIns="0" bIns="0" rIns="0"/>
            <a:lstStyle/>
            <a:p>
              <a:pPr algn="l">
                <a:lnSpc>
                  <a:spcPts val="7128"/>
                </a:lnSpc>
              </a:pPr>
              <a:r>
                <a:rPr lang="en-US" sz="6600" b="true">
                  <a:solidFill>
                    <a:srgbClr val="704EA6"/>
                  </a:solidFill>
                  <a:latin typeface="Calibri (MS) Bold"/>
                  <a:ea typeface="Calibri (MS) Bold"/>
                  <a:cs typeface="Calibri (MS) Bold"/>
                  <a:sym typeface="Calibri (MS) Bold"/>
                </a:rPr>
                <a:t>What’s next</a:t>
              </a:r>
            </a:p>
          </p:txBody>
        </p:sp>
      </p:grpSp>
      <p:grpSp>
        <p:nvGrpSpPr>
          <p:cNvPr name="Group 5" id="5"/>
          <p:cNvGrpSpPr/>
          <p:nvPr/>
        </p:nvGrpSpPr>
        <p:grpSpPr>
          <a:xfrm rot="0">
            <a:off x="387887" y="2536031"/>
            <a:ext cx="17343341" cy="7015742"/>
            <a:chOff x="0" y="0"/>
            <a:chExt cx="23124454" cy="9354323"/>
          </a:xfrm>
        </p:grpSpPr>
        <p:grpSp>
          <p:nvGrpSpPr>
            <p:cNvPr name="Group 6" id="6"/>
            <p:cNvGrpSpPr/>
            <p:nvPr/>
          </p:nvGrpSpPr>
          <p:grpSpPr>
            <a:xfrm rot="0">
              <a:off x="20908" y="0"/>
              <a:ext cx="23082638" cy="2007186"/>
              <a:chOff x="0" y="0"/>
              <a:chExt cx="21031200" cy="1828800"/>
            </a:xfrm>
          </p:grpSpPr>
          <p:sp>
            <p:nvSpPr>
              <p:cNvPr name="Freeform 7" id="7"/>
              <p:cNvSpPr/>
              <p:nvPr/>
            </p:nvSpPr>
            <p:spPr>
              <a:xfrm flipH="false" flipV="false" rot="0">
                <a:off x="0" y="0"/>
                <a:ext cx="21031200" cy="1828800"/>
              </a:xfrm>
              <a:custGeom>
                <a:avLst/>
                <a:gdLst/>
                <a:ahLst/>
                <a:cxnLst/>
                <a:rect r="r" b="b" t="t" l="l"/>
                <a:pathLst>
                  <a:path h="1828800" w="21031200">
                    <a:moveTo>
                      <a:pt x="0" y="146304"/>
                    </a:moveTo>
                    <a:cubicBezTo>
                      <a:pt x="0" y="65532"/>
                      <a:pt x="65532" y="0"/>
                      <a:pt x="146304" y="0"/>
                    </a:cubicBezTo>
                    <a:lnTo>
                      <a:pt x="20884896" y="0"/>
                    </a:lnTo>
                    <a:cubicBezTo>
                      <a:pt x="20965668" y="0"/>
                      <a:pt x="21031200" y="65532"/>
                      <a:pt x="21031200" y="146304"/>
                    </a:cubicBezTo>
                    <a:lnTo>
                      <a:pt x="21031200" y="1682496"/>
                    </a:lnTo>
                    <a:cubicBezTo>
                      <a:pt x="21031200" y="1763268"/>
                      <a:pt x="20965668" y="1828800"/>
                      <a:pt x="20884896" y="1828800"/>
                    </a:cubicBezTo>
                    <a:lnTo>
                      <a:pt x="146304" y="1828800"/>
                    </a:lnTo>
                    <a:cubicBezTo>
                      <a:pt x="65532" y="1828800"/>
                      <a:pt x="0" y="1763268"/>
                      <a:pt x="0" y="1682496"/>
                    </a:cubicBezTo>
                    <a:close/>
                  </a:path>
                </a:pathLst>
              </a:custGeom>
              <a:solidFill>
                <a:srgbClr val="EDE9FB"/>
              </a:solidFill>
            </p:spPr>
          </p:sp>
        </p:grpSp>
        <p:sp>
          <p:nvSpPr>
            <p:cNvPr name="TextBox 8" id="8"/>
            <p:cNvSpPr txBox="true"/>
            <p:nvPr/>
          </p:nvSpPr>
          <p:spPr>
            <a:xfrm rot="0">
              <a:off x="623064" y="153094"/>
              <a:ext cx="21878326" cy="441325"/>
            </a:xfrm>
            <a:prstGeom prst="rect">
              <a:avLst/>
            </a:prstGeom>
          </p:spPr>
          <p:txBody>
            <a:bodyPr anchor="t" rtlCol="false" tIns="0" lIns="0" bIns="0" rIns="0">
              <a:spAutoFit/>
            </a:bodyPr>
            <a:lstStyle/>
            <a:p>
              <a:pPr algn="l">
                <a:lnSpc>
                  <a:spcPts val="2380"/>
                </a:lnSpc>
              </a:pPr>
              <a:r>
                <a:rPr lang="en-US" sz="1983" b="true">
                  <a:solidFill>
                    <a:srgbClr val="6D28D9"/>
                  </a:solidFill>
                  <a:latin typeface="Calibri (MS) Bold"/>
                  <a:ea typeface="Calibri (MS) Bold"/>
                  <a:cs typeface="Calibri (MS) Bold"/>
                  <a:sym typeface="Calibri (MS) Bold"/>
                </a:rPr>
                <a:t>WHAT THE ABLATION TAUGHT US</a:t>
              </a:r>
            </a:p>
          </p:txBody>
        </p:sp>
        <p:sp>
          <p:nvSpPr>
            <p:cNvPr name="TextBox 9" id="9"/>
            <p:cNvSpPr txBox="true"/>
            <p:nvPr/>
          </p:nvSpPr>
          <p:spPr>
            <a:xfrm rot="0">
              <a:off x="623064" y="617812"/>
              <a:ext cx="21878326" cy="1080930"/>
            </a:xfrm>
            <a:prstGeom prst="rect">
              <a:avLst/>
            </a:prstGeom>
          </p:spPr>
          <p:txBody>
            <a:bodyPr anchor="t" rtlCol="false" tIns="0" lIns="0" bIns="0" rIns="0">
              <a:spAutoFit/>
            </a:bodyPr>
            <a:lstStyle/>
            <a:p>
              <a:pPr algn="l">
                <a:lnSpc>
                  <a:spcPts val="3211"/>
                </a:lnSpc>
              </a:pPr>
              <a:r>
                <a:rPr lang="en-US" sz="2230">
                  <a:solidFill>
                    <a:srgbClr val="33333D"/>
                  </a:solidFill>
                  <a:latin typeface="Calibri (MS)"/>
                  <a:ea typeface="Calibri (MS)"/>
                  <a:cs typeface="Calibri (MS)"/>
                  <a:sym typeface="Calibri (MS)"/>
                </a:rPr>
                <a:t>Ten configs on the real split. The winner, e5-base-v2, is the same size as mpnet but trained for query→passage retrieval: +73.9% over baseline, +33.7% over mpnet. Every code-specialized swap (CodeSearchNet, UniXcoder) lost — the roadmap follows that evidence.</a:t>
              </a:r>
            </a:p>
          </p:txBody>
        </p:sp>
        <p:sp>
          <p:nvSpPr>
            <p:cNvPr name="AutoShape 10" id="10"/>
            <p:cNvSpPr/>
            <p:nvPr/>
          </p:nvSpPr>
          <p:spPr>
            <a:xfrm>
              <a:off x="3573912" y="3176642"/>
              <a:ext cx="15976643" cy="69712"/>
            </a:xfrm>
            <a:prstGeom prst="line">
              <a:avLst/>
            </a:prstGeom>
            <a:ln cap="rnd" w="41816">
              <a:solidFill>
                <a:srgbClr val="D9D3F0"/>
              </a:solidFill>
              <a:prstDash val="solid"/>
              <a:headEnd type="none" len="sm" w="sm"/>
              <a:tailEnd type="none" len="sm" w="sm"/>
            </a:ln>
          </p:spPr>
        </p:sp>
        <p:grpSp>
          <p:nvGrpSpPr>
            <p:cNvPr name="Group 11" id="11"/>
            <p:cNvGrpSpPr/>
            <p:nvPr/>
          </p:nvGrpSpPr>
          <p:grpSpPr>
            <a:xfrm rot="0">
              <a:off x="2203723" y="2508982"/>
              <a:ext cx="1405030" cy="1405030"/>
              <a:chOff x="0" y="0"/>
              <a:chExt cx="1280160" cy="1280160"/>
            </a:xfrm>
          </p:grpSpPr>
          <p:sp>
            <p:nvSpPr>
              <p:cNvPr name="Freeform 12" id="12"/>
              <p:cNvSpPr/>
              <p:nvPr/>
            </p:nvSpPr>
            <p:spPr>
              <a:xfrm flipH="false" flipV="false" rot="0">
                <a:off x="0" y="0"/>
                <a:ext cx="1280160" cy="1280160"/>
              </a:xfrm>
              <a:custGeom>
                <a:avLst/>
                <a:gdLst/>
                <a:ahLst/>
                <a:cxnLst/>
                <a:rect r="r" b="b" t="t" l="l"/>
                <a:pathLst>
                  <a:path h="1280160" w="1280160">
                    <a:moveTo>
                      <a:pt x="0" y="640080"/>
                    </a:moveTo>
                    <a:cubicBezTo>
                      <a:pt x="0" y="286512"/>
                      <a:pt x="286512" y="0"/>
                      <a:pt x="640080" y="0"/>
                    </a:cubicBezTo>
                    <a:cubicBezTo>
                      <a:pt x="993648" y="0"/>
                      <a:pt x="1280160" y="286512"/>
                      <a:pt x="1280160" y="640080"/>
                    </a:cubicBezTo>
                    <a:cubicBezTo>
                      <a:pt x="1280160" y="993648"/>
                      <a:pt x="993648" y="1280160"/>
                      <a:pt x="640080" y="1280160"/>
                    </a:cubicBezTo>
                    <a:cubicBezTo>
                      <a:pt x="286512" y="1280160"/>
                      <a:pt x="0" y="993648"/>
                      <a:pt x="0" y="640080"/>
                    </a:cubicBezTo>
                    <a:close/>
                  </a:path>
                </a:pathLst>
              </a:custGeom>
              <a:solidFill>
                <a:srgbClr val="704EA6"/>
              </a:solidFill>
            </p:spPr>
          </p:sp>
          <p:sp>
            <p:nvSpPr>
              <p:cNvPr name="TextBox 13" id="13"/>
              <p:cNvSpPr txBox="true"/>
              <p:nvPr/>
            </p:nvSpPr>
            <p:spPr>
              <a:xfrm>
                <a:off x="0" y="-66675"/>
                <a:ext cx="1280160" cy="1346835"/>
              </a:xfrm>
              <a:prstGeom prst="rect">
                <a:avLst/>
              </a:prstGeom>
            </p:spPr>
            <p:txBody>
              <a:bodyPr anchor="ctr" rtlCol="false" tIns="50800" lIns="50800" bIns="50800" rIns="50800"/>
              <a:lstStyle/>
              <a:p>
                <a:pPr algn="ctr">
                  <a:lnSpc>
                    <a:spcPts val="3719"/>
                  </a:lnSpc>
                </a:pPr>
                <a:r>
                  <a:rPr lang="en-US" sz="3099" b="true">
                    <a:solidFill>
                      <a:srgbClr val="FFFFFF"/>
                    </a:solidFill>
                    <a:latin typeface="Calibri (MS) Bold"/>
                    <a:ea typeface="Calibri (MS) Bold"/>
                    <a:cs typeface="Calibri (MS) Bold"/>
                    <a:sym typeface="Calibri (MS) Bold"/>
                  </a:rPr>
                  <a:t>1</a:t>
                </a:r>
              </a:p>
            </p:txBody>
          </p:sp>
        </p:grpSp>
        <p:sp>
          <p:nvSpPr>
            <p:cNvPr name="TextBox 14" id="14"/>
            <p:cNvSpPr txBox="true"/>
            <p:nvPr/>
          </p:nvSpPr>
          <p:spPr>
            <a:xfrm rot="0">
              <a:off x="221627" y="4430443"/>
              <a:ext cx="5369222" cy="616239"/>
            </a:xfrm>
            <a:prstGeom prst="rect">
              <a:avLst/>
            </a:prstGeom>
          </p:spPr>
          <p:txBody>
            <a:bodyPr anchor="t" rtlCol="false" tIns="0" lIns="0" bIns="0" rIns="0">
              <a:spAutoFit/>
            </a:bodyPr>
            <a:lstStyle/>
            <a:p>
              <a:pPr algn="ctr">
                <a:lnSpc>
                  <a:spcPts val="3487"/>
                </a:lnSpc>
              </a:pPr>
              <a:r>
                <a:rPr lang="en-US" sz="2642" b="true">
                  <a:solidFill>
                    <a:srgbClr val="14142B"/>
                  </a:solidFill>
                  <a:latin typeface="Calibri (MS) Bold"/>
                  <a:ea typeface="Calibri (MS) Bold"/>
                  <a:cs typeface="Calibri (MS) Bold"/>
                  <a:sym typeface="Calibri (MS) Bold"/>
                </a:rPr>
                <a:t>Re-test on e5</a:t>
              </a:r>
            </a:p>
          </p:txBody>
        </p:sp>
        <p:grpSp>
          <p:nvGrpSpPr>
            <p:cNvPr name="Group 15" id="15"/>
            <p:cNvGrpSpPr/>
            <p:nvPr/>
          </p:nvGrpSpPr>
          <p:grpSpPr>
            <a:xfrm rot="0">
              <a:off x="2203723" y="5359186"/>
              <a:ext cx="1405030" cy="481725"/>
              <a:chOff x="0" y="0"/>
              <a:chExt cx="1280160" cy="438912"/>
            </a:xfrm>
          </p:grpSpPr>
          <p:sp>
            <p:nvSpPr>
              <p:cNvPr name="Freeform 16" id="16"/>
              <p:cNvSpPr/>
              <p:nvPr/>
            </p:nvSpPr>
            <p:spPr>
              <a:xfrm flipH="false" flipV="false" rot="0">
                <a:off x="0" y="0"/>
                <a:ext cx="1280160" cy="438785"/>
              </a:xfrm>
              <a:custGeom>
                <a:avLst/>
                <a:gdLst/>
                <a:ahLst/>
                <a:cxnLst/>
                <a:rect r="r" b="b" t="t" l="l"/>
                <a:pathLst>
                  <a:path h="438785" w="1280160">
                    <a:moveTo>
                      <a:pt x="0" y="175514"/>
                    </a:moveTo>
                    <a:cubicBezTo>
                      <a:pt x="0" y="78613"/>
                      <a:pt x="78613" y="0"/>
                      <a:pt x="175514" y="0"/>
                    </a:cubicBezTo>
                    <a:lnTo>
                      <a:pt x="1104646" y="0"/>
                    </a:lnTo>
                    <a:cubicBezTo>
                      <a:pt x="1201547" y="0"/>
                      <a:pt x="1280160" y="78613"/>
                      <a:pt x="1280160" y="175514"/>
                    </a:cubicBezTo>
                    <a:lnTo>
                      <a:pt x="1280160" y="263271"/>
                    </a:lnTo>
                    <a:cubicBezTo>
                      <a:pt x="1280160" y="360172"/>
                      <a:pt x="1201547" y="438785"/>
                      <a:pt x="1104646" y="438785"/>
                    </a:cubicBezTo>
                    <a:lnTo>
                      <a:pt x="175514" y="438785"/>
                    </a:lnTo>
                    <a:cubicBezTo>
                      <a:pt x="78613" y="438912"/>
                      <a:pt x="0" y="360299"/>
                      <a:pt x="0" y="263398"/>
                    </a:cubicBezTo>
                    <a:close/>
                  </a:path>
                </a:pathLst>
              </a:custGeom>
              <a:solidFill>
                <a:srgbClr val="6D28D9"/>
              </a:solidFill>
            </p:spPr>
          </p:sp>
        </p:grpSp>
        <p:grpSp>
          <p:nvGrpSpPr>
            <p:cNvPr name="Group 17" id="17"/>
            <p:cNvGrpSpPr/>
            <p:nvPr/>
          </p:nvGrpSpPr>
          <p:grpSpPr>
            <a:xfrm rot="0">
              <a:off x="2203723" y="5359186"/>
              <a:ext cx="1405030" cy="481725"/>
              <a:chOff x="0" y="0"/>
              <a:chExt cx="1280160" cy="438912"/>
            </a:xfrm>
          </p:grpSpPr>
          <p:sp>
            <p:nvSpPr>
              <p:cNvPr name="Freeform 18" id="18"/>
              <p:cNvSpPr/>
              <p:nvPr/>
            </p:nvSpPr>
            <p:spPr>
              <a:xfrm flipH="false" flipV="false" rot="0">
                <a:off x="0" y="0"/>
                <a:ext cx="1280160" cy="438912"/>
              </a:xfrm>
              <a:custGeom>
                <a:avLst/>
                <a:gdLst/>
                <a:ahLst/>
                <a:cxnLst/>
                <a:rect r="r" b="b" t="t" l="l"/>
                <a:pathLst>
                  <a:path h="438912" w="1280160">
                    <a:moveTo>
                      <a:pt x="0" y="0"/>
                    </a:moveTo>
                    <a:lnTo>
                      <a:pt x="1280160" y="0"/>
                    </a:lnTo>
                    <a:lnTo>
                      <a:pt x="1280160" y="438912"/>
                    </a:lnTo>
                    <a:lnTo>
                      <a:pt x="0" y="438912"/>
                    </a:lnTo>
                    <a:close/>
                  </a:path>
                </a:pathLst>
              </a:custGeom>
              <a:blipFill>
                <a:blip r:embed="rId3">
                  <a:alphaModFix amt="0"/>
                </a:blip>
                <a:stretch>
                  <a:fillRect l="0" t="-6831" r="0" b="-6831"/>
                </a:stretch>
              </a:blipFill>
            </p:spPr>
          </p:sp>
          <p:sp>
            <p:nvSpPr>
              <p:cNvPr name="TextBox 19" id="19"/>
              <p:cNvSpPr txBox="true"/>
              <p:nvPr/>
            </p:nvSpPr>
            <p:spPr>
              <a:xfrm>
                <a:off x="0" y="-28575"/>
                <a:ext cx="1280160" cy="467487"/>
              </a:xfrm>
              <a:prstGeom prst="rect">
                <a:avLst/>
              </a:prstGeom>
            </p:spPr>
            <p:txBody>
              <a:bodyPr anchor="ctr" rtlCol="false" tIns="0" lIns="0" bIns="0" rIns="0"/>
              <a:lstStyle/>
              <a:p>
                <a:pPr algn="ctr">
                  <a:lnSpc>
                    <a:spcPts val="1919"/>
                  </a:lnSpc>
                </a:pPr>
                <a:r>
                  <a:rPr lang="en-US" sz="1599" b="true">
                    <a:solidFill>
                      <a:srgbClr val="FFFFFF"/>
                    </a:solidFill>
                    <a:latin typeface="Calibri (MS) Bold"/>
                    <a:ea typeface="Calibri (MS) Bold"/>
                    <a:cs typeface="Calibri (MS) Bold"/>
                    <a:sym typeface="Calibri (MS) Bold"/>
                  </a:rPr>
                  <a:t>HIGH</a:t>
                </a:r>
              </a:p>
            </p:txBody>
          </p:sp>
        </p:grpSp>
        <p:sp>
          <p:nvSpPr>
            <p:cNvPr name="TextBox 20" id="20"/>
            <p:cNvSpPr txBox="true"/>
            <p:nvPr/>
          </p:nvSpPr>
          <p:spPr>
            <a:xfrm rot="0">
              <a:off x="221627" y="5916783"/>
              <a:ext cx="5369222" cy="1595850"/>
            </a:xfrm>
            <a:prstGeom prst="rect">
              <a:avLst/>
            </a:prstGeom>
          </p:spPr>
          <p:txBody>
            <a:bodyPr anchor="t" rtlCol="false" tIns="0" lIns="0" bIns="0" rIns="0">
              <a:spAutoFit/>
            </a:bodyPr>
            <a:lstStyle/>
            <a:p>
              <a:pPr algn="ctr">
                <a:lnSpc>
                  <a:spcPts val="3222"/>
                </a:lnSpc>
              </a:pPr>
              <a:r>
                <a:rPr lang="en-US" sz="2148">
                  <a:solidFill>
                    <a:srgbClr val="6B6B76"/>
                  </a:solidFill>
                  <a:latin typeface="Calibri (MS)"/>
                  <a:ea typeface="Calibri (MS)"/>
                  <a:cs typeface="Calibri (MS)"/>
                  <a:sym typeface="Calibri (MS)"/>
                </a:rPr>
                <a:t>HyDE, multi-view and front-loading lost on MiniLM; the stronger e5 encoder may use them differently.</a:t>
              </a:r>
            </a:p>
          </p:txBody>
        </p:sp>
        <p:grpSp>
          <p:nvGrpSpPr>
            <p:cNvPr name="Group 21" id="21"/>
            <p:cNvGrpSpPr/>
            <p:nvPr/>
          </p:nvGrpSpPr>
          <p:grpSpPr>
            <a:xfrm rot="0">
              <a:off x="7974382" y="2508982"/>
              <a:ext cx="1405030" cy="1405030"/>
              <a:chOff x="0" y="0"/>
              <a:chExt cx="1280160" cy="1280160"/>
            </a:xfrm>
          </p:grpSpPr>
          <p:sp>
            <p:nvSpPr>
              <p:cNvPr name="Freeform 22" id="22"/>
              <p:cNvSpPr/>
              <p:nvPr/>
            </p:nvSpPr>
            <p:spPr>
              <a:xfrm flipH="false" flipV="false" rot="0">
                <a:off x="0" y="0"/>
                <a:ext cx="1280160" cy="1280160"/>
              </a:xfrm>
              <a:custGeom>
                <a:avLst/>
                <a:gdLst/>
                <a:ahLst/>
                <a:cxnLst/>
                <a:rect r="r" b="b" t="t" l="l"/>
                <a:pathLst>
                  <a:path h="1280160" w="1280160">
                    <a:moveTo>
                      <a:pt x="0" y="640080"/>
                    </a:moveTo>
                    <a:cubicBezTo>
                      <a:pt x="0" y="286512"/>
                      <a:pt x="286512" y="0"/>
                      <a:pt x="640080" y="0"/>
                    </a:cubicBezTo>
                    <a:cubicBezTo>
                      <a:pt x="993648" y="0"/>
                      <a:pt x="1280160" y="286512"/>
                      <a:pt x="1280160" y="640080"/>
                    </a:cubicBezTo>
                    <a:cubicBezTo>
                      <a:pt x="1280160" y="993648"/>
                      <a:pt x="993648" y="1280160"/>
                      <a:pt x="640080" y="1280160"/>
                    </a:cubicBezTo>
                    <a:cubicBezTo>
                      <a:pt x="286512" y="1280160"/>
                      <a:pt x="0" y="993648"/>
                      <a:pt x="0" y="640080"/>
                    </a:cubicBezTo>
                    <a:close/>
                  </a:path>
                </a:pathLst>
              </a:custGeom>
              <a:solidFill>
                <a:srgbClr val="704EA6"/>
              </a:solidFill>
            </p:spPr>
          </p:sp>
          <p:sp>
            <p:nvSpPr>
              <p:cNvPr name="TextBox 23" id="23"/>
              <p:cNvSpPr txBox="true"/>
              <p:nvPr/>
            </p:nvSpPr>
            <p:spPr>
              <a:xfrm>
                <a:off x="0" y="-66675"/>
                <a:ext cx="1280160" cy="1346835"/>
              </a:xfrm>
              <a:prstGeom prst="rect">
                <a:avLst/>
              </a:prstGeom>
            </p:spPr>
            <p:txBody>
              <a:bodyPr anchor="ctr" rtlCol="false" tIns="50800" lIns="50800" bIns="50800" rIns="50800"/>
              <a:lstStyle/>
              <a:p>
                <a:pPr algn="ctr">
                  <a:lnSpc>
                    <a:spcPts val="3719"/>
                  </a:lnSpc>
                </a:pPr>
                <a:r>
                  <a:rPr lang="en-US" sz="3099" b="true">
                    <a:solidFill>
                      <a:srgbClr val="FFFFFF"/>
                    </a:solidFill>
                    <a:latin typeface="Calibri (MS) Bold"/>
                    <a:ea typeface="Calibri (MS) Bold"/>
                    <a:cs typeface="Calibri (MS) Bold"/>
                    <a:sym typeface="Calibri (MS) Bold"/>
                  </a:rPr>
                  <a:t>2</a:t>
                </a:r>
              </a:p>
            </p:txBody>
          </p:sp>
        </p:grpSp>
        <p:sp>
          <p:nvSpPr>
            <p:cNvPr name="TextBox 24" id="24"/>
            <p:cNvSpPr txBox="true"/>
            <p:nvPr/>
          </p:nvSpPr>
          <p:spPr>
            <a:xfrm rot="0">
              <a:off x="5992286" y="4430443"/>
              <a:ext cx="5369222" cy="616239"/>
            </a:xfrm>
            <a:prstGeom prst="rect">
              <a:avLst/>
            </a:prstGeom>
          </p:spPr>
          <p:txBody>
            <a:bodyPr anchor="t" rtlCol="false" tIns="0" lIns="0" bIns="0" rIns="0">
              <a:spAutoFit/>
            </a:bodyPr>
            <a:lstStyle/>
            <a:p>
              <a:pPr algn="ctr">
                <a:lnSpc>
                  <a:spcPts val="3487"/>
                </a:lnSpc>
              </a:pPr>
              <a:r>
                <a:rPr lang="en-US" sz="2642" b="true">
                  <a:solidFill>
                    <a:srgbClr val="14142B"/>
                  </a:solidFill>
                  <a:latin typeface="Calibri (MS) Bold"/>
                  <a:ea typeface="Calibri (MS) Bold"/>
                  <a:cs typeface="Calibri (MS) Bold"/>
                  <a:sym typeface="Calibri (MS) Bold"/>
                </a:rPr>
                <a:t>Scale the winner</a:t>
              </a:r>
            </a:p>
          </p:txBody>
        </p:sp>
        <p:grpSp>
          <p:nvGrpSpPr>
            <p:cNvPr name="Group 25" id="25"/>
            <p:cNvGrpSpPr/>
            <p:nvPr/>
          </p:nvGrpSpPr>
          <p:grpSpPr>
            <a:xfrm rot="0">
              <a:off x="7974382" y="5359186"/>
              <a:ext cx="1405030" cy="481725"/>
              <a:chOff x="0" y="0"/>
              <a:chExt cx="1280160" cy="438912"/>
            </a:xfrm>
          </p:grpSpPr>
          <p:sp>
            <p:nvSpPr>
              <p:cNvPr name="Freeform 26" id="26"/>
              <p:cNvSpPr/>
              <p:nvPr/>
            </p:nvSpPr>
            <p:spPr>
              <a:xfrm flipH="false" flipV="false" rot="0">
                <a:off x="0" y="0"/>
                <a:ext cx="1280160" cy="438785"/>
              </a:xfrm>
              <a:custGeom>
                <a:avLst/>
                <a:gdLst/>
                <a:ahLst/>
                <a:cxnLst/>
                <a:rect r="r" b="b" t="t" l="l"/>
                <a:pathLst>
                  <a:path h="438785" w="1280160">
                    <a:moveTo>
                      <a:pt x="0" y="175514"/>
                    </a:moveTo>
                    <a:cubicBezTo>
                      <a:pt x="0" y="78613"/>
                      <a:pt x="78613" y="0"/>
                      <a:pt x="175514" y="0"/>
                    </a:cubicBezTo>
                    <a:lnTo>
                      <a:pt x="1104646" y="0"/>
                    </a:lnTo>
                    <a:cubicBezTo>
                      <a:pt x="1201547" y="0"/>
                      <a:pt x="1280160" y="78613"/>
                      <a:pt x="1280160" y="175514"/>
                    </a:cubicBezTo>
                    <a:lnTo>
                      <a:pt x="1280160" y="263271"/>
                    </a:lnTo>
                    <a:cubicBezTo>
                      <a:pt x="1280160" y="360172"/>
                      <a:pt x="1201547" y="438785"/>
                      <a:pt x="1104646" y="438785"/>
                    </a:cubicBezTo>
                    <a:lnTo>
                      <a:pt x="175514" y="438785"/>
                    </a:lnTo>
                    <a:cubicBezTo>
                      <a:pt x="78613" y="438912"/>
                      <a:pt x="0" y="360299"/>
                      <a:pt x="0" y="263398"/>
                    </a:cubicBezTo>
                    <a:close/>
                  </a:path>
                </a:pathLst>
              </a:custGeom>
              <a:solidFill>
                <a:srgbClr val="704EA6"/>
              </a:solidFill>
            </p:spPr>
          </p:sp>
        </p:grpSp>
        <p:grpSp>
          <p:nvGrpSpPr>
            <p:cNvPr name="Group 27" id="27"/>
            <p:cNvGrpSpPr/>
            <p:nvPr/>
          </p:nvGrpSpPr>
          <p:grpSpPr>
            <a:xfrm rot="0">
              <a:off x="7974382" y="5359186"/>
              <a:ext cx="1405030" cy="481725"/>
              <a:chOff x="0" y="0"/>
              <a:chExt cx="1280160" cy="438912"/>
            </a:xfrm>
          </p:grpSpPr>
          <p:sp>
            <p:nvSpPr>
              <p:cNvPr name="Freeform 28" id="28"/>
              <p:cNvSpPr/>
              <p:nvPr/>
            </p:nvSpPr>
            <p:spPr>
              <a:xfrm flipH="false" flipV="false" rot="0">
                <a:off x="0" y="0"/>
                <a:ext cx="1280160" cy="438912"/>
              </a:xfrm>
              <a:custGeom>
                <a:avLst/>
                <a:gdLst/>
                <a:ahLst/>
                <a:cxnLst/>
                <a:rect r="r" b="b" t="t" l="l"/>
                <a:pathLst>
                  <a:path h="438912" w="1280160">
                    <a:moveTo>
                      <a:pt x="0" y="0"/>
                    </a:moveTo>
                    <a:lnTo>
                      <a:pt x="1280160" y="0"/>
                    </a:lnTo>
                    <a:lnTo>
                      <a:pt x="1280160" y="438912"/>
                    </a:lnTo>
                    <a:lnTo>
                      <a:pt x="0" y="438912"/>
                    </a:lnTo>
                    <a:close/>
                  </a:path>
                </a:pathLst>
              </a:custGeom>
              <a:blipFill>
                <a:blip r:embed="rId3">
                  <a:alphaModFix amt="0"/>
                </a:blip>
                <a:stretch>
                  <a:fillRect l="0" t="-6831" r="0" b="-6831"/>
                </a:stretch>
              </a:blipFill>
            </p:spPr>
          </p:sp>
          <p:sp>
            <p:nvSpPr>
              <p:cNvPr name="TextBox 29" id="29"/>
              <p:cNvSpPr txBox="true"/>
              <p:nvPr/>
            </p:nvSpPr>
            <p:spPr>
              <a:xfrm>
                <a:off x="0" y="-28575"/>
                <a:ext cx="1280160" cy="467487"/>
              </a:xfrm>
              <a:prstGeom prst="rect">
                <a:avLst/>
              </a:prstGeom>
            </p:spPr>
            <p:txBody>
              <a:bodyPr anchor="ctr" rtlCol="false" tIns="0" lIns="0" bIns="0" rIns="0"/>
              <a:lstStyle/>
              <a:p>
                <a:pPr algn="ctr">
                  <a:lnSpc>
                    <a:spcPts val="1919"/>
                  </a:lnSpc>
                </a:pPr>
                <a:r>
                  <a:rPr lang="en-US" sz="1599" b="true">
                    <a:solidFill>
                      <a:srgbClr val="FFFFFF"/>
                    </a:solidFill>
                    <a:latin typeface="Calibri (MS) Bold"/>
                    <a:ea typeface="Calibri (MS) Bold"/>
                    <a:cs typeface="Calibri (MS) Bold"/>
                    <a:sym typeface="Calibri (MS) Bold"/>
                  </a:rPr>
                  <a:t>MED</a:t>
                </a:r>
              </a:p>
            </p:txBody>
          </p:sp>
        </p:grpSp>
        <p:sp>
          <p:nvSpPr>
            <p:cNvPr name="TextBox 30" id="30"/>
            <p:cNvSpPr txBox="true"/>
            <p:nvPr/>
          </p:nvSpPr>
          <p:spPr>
            <a:xfrm rot="0">
              <a:off x="5992286" y="5916783"/>
              <a:ext cx="5369222" cy="1062450"/>
            </a:xfrm>
            <a:prstGeom prst="rect">
              <a:avLst/>
            </a:prstGeom>
          </p:spPr>
          <p:txBody>
            <a:bodyPr anchor="t" rtlCol="false" tIns="0" lIns="0" bIns="0" rIns="0">
              <a:spAutoFit/>
            </a:bodyPr>
            <a:lstStyle/>
            <a:p>
              <a:pPr algn="ctr">
                <a:lnSpc>
                  <a:spcPts val="3222"/>
                </a:lnSpc>
              </a:pPr>
              <a:r>
                <a:rPr lang="en-US" sz="2148">
                  <a:solidFill>
                    <a:srgbClr val="6B6B76"/>
                  </a:solidFill>
                  <a:latin typeface="Calibri (MS)"/>
                  <a:ea typeface="Calibri (MS)"/>
                  <a:cs typeface="Calibri (MS)"/>
                  <a:sym typeface="Calibri (MS)"/>
                </a:rPr>
                <a:t>e5-large-v2 is the natural next test, at roughly 3× the CPU time.</a:t>
              </a:r>
            </a:p>
          </p:txBody>
        </p:sp>
        <p:grpSp>
          <p:nvGrpSpPr>
            <p:cNvPr name="Group 31" id="31"/>
            <p:cNvGrpSpPr/>
            <p:nvPr/>
          </p:nvGrpSpPr>
          <p:grpSpPr>
            <a:xfrm rot="0">
              <a:off x="13745042" y="2508982"/>
              <a:ext cx="1405030" cy="1405030"/>
              <a:chOff x="0" y="0"/>
              <a:chExt cx="1280160" cy="1280160"/>
            </a:xfrm>
          </p:grpSpPr>
          <p:sp>
            <p:nvSpPr>
              <p:cNvPr name="Freeform 32" id="32"/>
              <p:cNvSpPr/>
              <p:nvPr/>
            </p:nvSpPr>
            <p:spPr>
              <a:xfrm flipH="false" flipV="false" rot="0">
                <a:off x="0" y="0"/>
                <a:ext cx="1280160" cy="1280160"/>
              </a:xfrm>
              <a:custGeom>
                <a:avLst/>
                <a:gdLst/>
                <a:ahLst/>
                <a:cxnLst/>
                <a:rect r="r" b="b" t="t" l="l"/>
                <a:pathLst>
                  <a:path h="1280160" w="1280160">
                    <a:moveTo>
                      <a:pt x="0" y="640080"/>
                    </a:moveTo>
                    <a:cubicBezTo>
                      <a:pt x="0" y="286512"/>
                      <a:pt x="286512" y="0"/>
                      <a:pt x="640080" y="0"/>
                    </a:cubicBezTo>
                    <a:cubicBezTo>
                      <a:pt x="993648" y="0"/>
                      <a:pt x="1280160" y="286512"/>
                      <a:pt x="1280160" y="640080"/>
                    </a:cubicBezTo>
                    <a:cubicBezTo>
                      <a:pt x="1280160" y="993648"/>
                      <a:pt x="993648" y="1280160"/>
                      <a:pt x="640080" y="1280160"/>
                    </a:cubicBezTo>
                    <a:cubicBezTo>
                      <a:pt x="286512" y="1280160"/>
                      <a:pt x="0" y="993648"/>
                      <a:pt x="0" y="640080"/>
                    </a:cubicBezTo>
                    <a:close/>
                  </a:path>
                </a:pathLst>
              </a:custGeom>
              <a:solidFill>
                <a:srgbClr val="704EA6"/>
              </a:solidFill>
            </p:spPr>
          </p:sp>
          <p:sp>
            <p:nvSpPr>
              <p:cNvPr name="TextBox 33" id="33"/>
              <p:cNvSpPr txBox="true"/>
              <p:nvPr/>
            </p:nvSpPr>
            <p:spPr>
              <a:xfrm>
                <a:off x="0" y="-66675"/>
                <a:ext cx="1280160" cy="1346835"/>
              </a:xfrm>
              <a:prstGeom prst="rect">
                <a:avLst/>
              </a:prstGeom>
            </p:spPr>
            <p:txBody>
              <a:bodyPr anchor="ctr" rtlCol="false" tIns="50800" lIns="50800" bIns="50800" rIns="50800"/>
              <a:lstStyle/>
              <a:p>
                <a:pPr algn="ctr">
                  <a:lnSpc>
                    <a:spcPts val="3719"/>
                  </a:lnSpc>
                </a:pPr>
                <a:r>
                  <a:rPr lang="en-US" sz="3099" b="true">
                    <a:solidFill>
                      <a:srgbClr val="FFFFFF"/>
                    </a:solidFill>
                    <a:latin typeface="Calibri (MS) Bold"/>
                    <a:ea typeface="Calibri (MS) Bold"/>
                    <a:cs typeface="Calibri (MS) Bold"/>
                    <a:sym typeface="Calibri (MS) Bold"/>
                  </a:rPr>
                  <a:t>3</a:t>
                </a:r>
              </a:p>
            </p:txBody>
          </p:sp>
        </p:grpSp>
        <p:sp>
          <p:nvSpPr>
            <p:cNvPr name="TextBox 34" id="34"/>
            <p:cNvSpPr txBox="true"/>
            <p:nvPr/>
          </p:nvSpPr>
          <p:spPr>
            <a:xfrm rot="0">
              <a:off x="11762946" y="4430443"/>
              <a:ext cx="5369222" cy="616239"/>
            </a:xfrm>
            <a:prstGeom prst="rect">
              <a:avLst/>
            </a:prstGeom>
          </p:spPr>
          <p:txBody>
            <a:bodyPr anchor="t" rtlCol="false" tIns="0" lIns="0" bIns="0" rIns="0">
              <a:spAutoFit/>
            </a:bodyPr>
            <a:lstStyle/>
            <a:p>
              <a:pPr algn="ctr">
                <a:lnSpc>
                  <a:spcPts val="3487"/>
                </a:lnSpc>
              </a:pPr>
              <a:r>
                <a:rPr lang="en-US" sz="2642" b="true">
                  <a:solidFill>
                    <a:srgbClr val="14142B"/>
                  </a:solidFill>
                  <a:latin typeface="Calibri (MS) Bold"/>
                  <a:ea typeface="Calibri (MS) Bold"/>
                  <a:cs typeface="Calibri (MS) Bold"/>
                  <a:sym typeface="Calibri (MS) Bold"/>
                </a:rPr>
                <a:t>Cross-version gain</a:t>
              </a:r>
            </a:p>
          </p:txBody>
        </p:sp>
        <p:grpSp>
          <p:nvGrpSpPr>
            <p:cNvPr name="Group 35" id="35"/>
            <p:cNvGrpSpPr/>
            <p:nvPr/>
          </p:nvGrpSpPr>
          <p:grpSpPr>
            <a:xfrm rot="0">
              <a:off x="13745042" y="5359186"/>
              <a:ext cx="1405030" cy="481725"/>
              <a:chOff x="0" y="0"/>
              <a:chExt cx="1280160" cy="438912"/>
            </a:xfrm>
          </p:grpSpPr>
          <p:sp>
            <p:nvSpPr>
              <p:cNvPr name="Freeform 36" id="36"/>
              <p:cNvSpPr/>
              <p:nvPr/>
            </p:nvSpPr>
            <p:spPr>
              <a:xfrm flipH="false" flipV="false" rot="0">
                <a:off x="0" y="0"/>
                <a:ext cx="1280160" cy="438785"/>
              </a:xfrm>
              <a:custGeom>
                <a:avLst/>
                <a:gdLst/>
                <a:ahLst/>
                <a:cxnLst/>
                <a:rect r="r" b="b" t="t" l="l"/>
                <a:pathLst>
                  <a:path h="438785" w="1280160">
                    <a:moveTo>
                      <a:pt x="0" y="175514"/>
                    </a:moveTo>
                    <a:cubicBezTo>
                      <a:pt x="0" y="78613"/>
                      <a:pt x="78613" y="0"/>
                      <a:pt x="175514" y="0"/>
                    </a:cubicBezTo>
                    <a:lnTo>
                      <a:pt x="1104646" y="0"/>
                    </a:lnTo>
                    <a:cubicBezTo>
                      <a:pt x="1201547" y="0"/>
                      <a:pt x="1280160" y="78613"/>
                      <a:pt x="1280160" y="175514"/>
                    </a:cubicBezTo>
                    <a:lnTo>
                      <a:pt x="1280160" y="263271"/>
                    </a:lnTo>
                    <a:cubicBezTo>
                      <a:pt x="1280160" y="360172"/>
                      <a:pt x="1201547" y="438785"/>
                      <a:pt x="1104646" y="438785"/>
                    </a:cubicBezTo>
                    <a:lnTo>
                      <a:pt x="175514" y="438785"/>
                    </a:lnTo>
                    <a:cubicBezTo>
                      <a:pt x="78613" y="438912"/>
                      <a:pt x="0" y="360299"/>
                      <a:pt x="0" y="263398"/>
                    </a:cubicBezTo>
                    <a:close/>
                  </a:path>
                </a:pathLst>
              </a:custGeom>
              <a:solidFill>
                <a:srgbClr val="704EA6"/>
              </a:solidFill>
            </p:spPr>
          </p:sp>
        </p:grpSp>
        <p:grpSp>
          <p:nvGrpSpPr>
            <p:cNvPr name="Group 37" id="37"/>
            <p:cNvGrpSpPr/>
            <p:nvPr/>
          </p:nvGrpSpPr>
          <p:grpSpPr>
            <a:xfrm rot="0">
              <a:off x="13745042" y="5359186"/>
              <a:ext cx="1405030" cy="481725"/>
              <a:chOff x="0" y="0"/>
              <a:chExt cx="1280160" cy="438912"/>
            </a:xfrm>
          </p:grpSpPr>
          <p:sp>
            <p:nvSpPr>
              <p:cNvPr name="Freeform 38" id="38"/>
              <p:cNvSpPr/>
              <p:nvPr/>
            </p:nvSpPr>
            <p:spPr>
              <a:xfrm flipH="false" flipV="false" rot="0">
                <a:off x="0" y="0"/>
                <a:ext cx="1280160" cy="438912"/>
              </a:xfrm>
              <a:custGeom>
                <a:avLst/>
                <a:gdLst/>
                <a:ahLst/>
                <a:cxnLst/>
                <a:rect r="r" b="b" t="t" l="l"/>
                <a:pathLst>
                  <a:path h="438912" w="1280160">
                    <a:moveTo>
                      <a:pt x="0" y="0"/>
                    </a:moveTo>
                    <a:lnTo>
                      <a:pt x="1280160" y="0"/>
                    </a:lnTo>
                    <a:lnTo>
                      <a:pt x="1280160" y="438912"/>
                    </a:lnTo>
                    <a:lnTo>
                      <a:pt x="0" y="438912"/>
                    </a:lnTo>
                    <a:close/>
                  </a:path>
                </a:pathLst>
              </a:custGeom>
              <a:blipFill>
                <a:blip r:embed="rId3">
                  <a:alphaModFix amt="0"/>
                </a:blip>
                <a:stretch>
                  <a:fillRect l="0" t="-6831" r="0" b="-6831"/>
                </a:stretch>
              </a:blipFill>
            </p:spPr>
          </p:sp>
          <p:sp>
            <p:nvSpPr>
              <p:cNvPr name="TextBox 39" id="39"/>
              <p:cNvSpPr txBox="true"/>
              <p:nvPr/>
            </p:nvSpPr>
            <p:spPr>
              <a:xfrm>
                <a:off x="0" y="-28575"/>
                <a:ext cx="1280160" cy="467487"/>
              </a:xfrm>
              <a:prstGeom prst="rect">
                <a:avLst/>
              </a:prstGeom>
            </p:spPr>
            <p:txBody>
              <a:bodyPr anchor="ctr" rtlCol="false" tIns="0" lIns="0" bIns="0" rIns="0"/>
              <a:lstStyle/>
              <a:p>
                <a:pPr algn="ctr">
                  <a:lnSpc>
                    <a:spcPts val="1919"/>
                  </a:lnSpc>
                </a:pPr>
                <a:r>
                  <a:rPr lang="en-US" sz="1599" b="true">
                    <a:solidFill>
                      <a:srgbClr val="FFFFFF"/>
                    </a:solidFill>
                    <a:latin typeface="Calibri (MS) Bold"/>
                    <a:ea typeface="Calibri (MS) Bold"/>
                    <a:cs typeface="Calibri (MS) Bold"/>
                    <a:sym typeface="Calibri (MS) Bold"/>
                  </a:rPr>
                  <a:t>MED</a:t>
                </a:r>
              </a:p>
            </p:txBody>
          </p:sp>
        </p:grpSp>
        <p:sp>
          <p:nvSpPr>
            <p:cNvPr name="TextBox 40" id="40"/>
            <p:cNvSpPr txBox="true"/>
            <p:nvPr/>
          </p:nvSpPr>
          <p:spPr>
            <a:xfrm rot="0">
              <a:off x="11762946" y="5916783"/>
              <a:ext cx="5369222" cy="1595850"/>
            </a:xfrm>
            <a:prstGeom prst="rect">
              <a:avLst/>
            </a:prstGeom>
          </p:spPr>
          <p:txBody>
            <a:bodyPr anchor="t" rtlCol="false" tIns="0" lIns="0" bIns="0" rIns="0">
              <a:spAutoFit/>
            </a:bodyPr>
            <a:lstStyle/>
            <a:p>
              <a:pPr algn="ctr">
                <a:lnSpc>
                  <a:spcPts val="3222"/>
                </a:lnSpc>
              </a:pPr>
              <a:r>
                <a:rPr lang="en-US" sz="2148">
                  <a:solidFill>
                    <a:srgbClr val="6B6B76"/>
                  </a:solidFill>
                  <a:latin typeface="Calibri (MS)"/>
                  <a:ea typeface="Calibri (MS)"/>
                  <a:cs typeface="Calibri (MS)"/>
                  <a:sym typeface="Calibri (MS)"/>
                </a:rPr>
                <a:t>Version-delta ties naive retrieval so far, even on e5. Make it win, then test on real multi-version repos.</a:t>
              </a:r>
            </a:p>
          </p:txBody>
        </p:sp>
        <p:grpSp>
          <p:nvGrpSpPr>
            <p:cNvPr name="Group 41" id="41"/>
            <p:cNvGrpSpPr/>
            <p:nvPr/>
          </p:nvGrpSpPr>
          <p:grpSpPr>
            <a:xfrm rot="0">
              <a:off x="19515701" y="2508982"/>
              <a:ext cx="1405030" cy="1405030"/>
              <a:chOff x="0" y="0"/>
              <a:chExt cx="1280160" cy="1280160"/>
            </a:xfrm>
          </p:grpSpPr>
          <p:sp>
            <p:nvSpPr>
              <p:cNvPr name="Freeform 42" id="42"/>
              <p:cNvSpPr/>
              <p:nvPr/>
            </p:nvSpPr>
            <p:spPr>
              <a:xfrm flipH="false" flipV="false" rot="0">
                <a:off x="0" y="0"/>
                <a:ext cx="1280160" cy="1280160"/>
              </a:xfrm>
              <a:custGeom>
                <a:avLst/>
                <a:gdLst/>
                <a:ahLst/>
                <a:cxnLst/>
                <a:rect r="r" b="b" t="t" l="l"/>
                <a:pathLst>
                  <a:path h="1280160" w="1280160">
                    <a:moveTo>
                      <a:pt x="0" y="640080"/>
                    </a:moveTo>
                    <a:cubicBezTo>
                      <a:pt x="0" y="286512"/>
                      <a:pt x="286512" y="0"/>
                      <a:pt x="640080" y="0"/>
                    </a:cubicBezTo>
                    <a:cubicBezTo>
                      <a:pt x="993648" y="0"/>
                      <a:pt x="1280160" y="286512"/>
                      <a:pt x="1280160" y="640080"/>
                    </a:cubicBezTo>
                    <a:cubicBezTo>
                      <a:pt x="1280160" y="993648"/>
                      <a:pt x="993648" y="1280160"/>
                      <a:pt x="640080" y="1280160"/>
                    </a:cubicBezTo>
                    <a:cubicBezTo>
                      <a:pt x="286512" y="1280160"/>
                      <a:pt x="0" y="993648"/>
                      <a:pt x="0" y="640080"/>
                    </a:cubicBezTo>
                    <a:close/>
                  </a:path>
                </a:pathLst>
              </a:custGeom>
              <a:solidFill>
                <a:srgbClr val="704EA6"/>
              </a:solidFill>
            </p:spPr>
          </p:sp>
          <p:sp>
            <p:nvSpPr>
              <p:cNvPr name="TextBox 43" id="43"/>
              <p:cNvSpPr txBox="true"/>
              <p:nvPr/>
            </p:nvSpPr>
            <p:spPr>
              <a:xfrm>
                <a:off x="0" y="-66675"/>
                <a:ext cx="1280160" cy="1346835"/>
              </a:xfrm>
              <a:prstGeom prst="rect">
                <a:avLst/>
              </a:prstGeom>
            </p:spPr>
            <p:txBody>
              <a:bodyPr anchor="ctr" rtlCol="false" tIns="50800" lIns="50800" bIns="50800" rIns="50800"/>
              <a:lstStyle/>
              <a:p>
                <a:pPr algn="ctr">
                  <a:lnSpc>
                    <a:spcPts val="3719"/>
                  </a:lnSpc>
                </a:pPr>
                <a:r>
                  <a:rPr lang="en-US" sz="3099" b="true">
                    <a:solidFill>
                      <a:srgbClr val="FFFFFF"/>
                    </a:solidFill>
                    <a:latin typeface="Calibri (MS) Bold"/>
                    <a:ea typeface="Calibri (MS) Bold"/>
                    <a:cs typeface="Calibri (MS) Bold"/>
                    <a:sym typeface="Calibri (MS) Bold"/>
                  </a:rPr>
                  <a:t>4</a:t>
                </a:r>
              </a:p>
            </p:txBody>
          </p:sp>
        </p:grpSp>
        <p:sp>
          <p:nvSpPr>
            <p:cNvPr name="TextBox 44" id="44"/>
            <p:cNvSpPr txBox="true"/>
            <p:nvPr/>
          </p:nvSpPr>
          <p:spPr>
            <a:xfrm rot="0">
              <a:off x="17533605" y="4430443"/>
              <a:ext cx="5369222" cy="616239"/>
            </a:xfrm>
            <a:prstGeom prst="rect">
              <a:avLst/>
            </a:prstGeom>
          </p:spPr>
          <p:txBody>
            <a:bodyPr anchor="t" rtlCol="false" tIns="0" lIns="0" bIns="0" rIns="0">
              <a:spAutoFit/>
            </a:bodyPr>
            <a:lstStyle/>
            <a:p>
              <a:pPr algn="ctr">
                <a:lnSpc>
                  <a:spcPts val="3487"/>
                </a:lnSpc>
              </a:pPr>
              <a:r>
                <a:rPr lang="en-US" sz="2642" b="true">
                  <a:solidFill>
                    <a:srgbClr val="14142B"/>
                  </a:solidFill>
                  <a:latin typeface="Calibri (MS) Bold"/>
                  <a:ea typeface="Calibri (MS) Bold"/>
                  <a:cs typeface="Calibri (MS) Bold"/>
                  <a:sym typeface="Calibri (MS) Bold"/>
                </a:rPr>
                <a:t>Publish the findings</a:t>
              </a:r>
            </a:p>
          </p:txBody>
        </p:sp>
        <p:grpSp>
          <p:nvGrpSpPr>
            <p:cNvPr name="Group 45" id="45"/>
            <p:cNvGrpSpPr/>
            <p:nvPr/>
          </p:nvGrpSpPr>
          <p:grpSpPr>
            <a:xfrm rot="0">
              <a:off x="19515701" y="5359186"/>
              <a:ext cx="1405030" cy="481725"/>
              <a:chOff x="0" y="0"/>
              <a:chExt cx="1280160" cy="438912"/>
            </a:xfrm>
          </p:grpSpPr>
          <p:sp>
            <p:nvSpPr>
              <p:cNvPr name="Freeform 46" id="46"/>
              <p:cNvSpPr/>
              <p:nvPr/>
            </p:nvSpPr>
            <p:spPr>
              <a:xfrm flipH="false" flipV="false" rot="0">
                <a:off x="0" y="0"/>
                <a:ext cx="1280160" cy="438785"/>
              </a:xfrm>
              <a:custGeom>
                <a:avLst/>
                <a:gdLst/>
                <a:ahLst/>
                <a:cxnLst/>
                <a:rect r="r" b="b" t="t" l="l"/>
                <a:pathLst>
                  <a:path h="438785" w="1280160">
                    <a:moveTo>
                      <a:pt x="0" y="175514"/>
                    </a:moveTo>
                    <a:cubicBezTo>
                      <a:pt x="0" y="78613"/>
                      <a:pt x="78613" y="0"/>
                      <a:pt x="175514" y="0"/>
                    </a:cubicBezTo>
                    <a:lnTo>
                      <a:pt x="1104646" y="0"/>
                    </a:lnTo>
                    <a:cubicBezTo>
                      <a:pt x="1201547" y="0"/>
                      <a:pt x="1280160" y="78613"/>
                      <a:pt x="1280160" y="175514"/>
                    </a:cubicBezTo>
                    <a:lnTo>
                      <a:pt x="1280160" y="263271"/>
                    </a:lnTo>
                    <a:cubicBezTo>
                      <a:pt x="1280160" y="360172"/>
                      <a:pt x="1201547" y="438785"/>
                      <a:pt x="1104646" y="438785"/>
                    </a:cubicBezTo>
                    <a:lnTo>
                      <a:pt x="175514" y="438785"/>
                    </a:lnTo>
                    <a:cubicBezTo>
                      <a:pt x="78613" y="438912"/>
                      <a:pt x="0" y="360299"/>
                      <a:pt x="0" y="263398"/>
                    </a:cubicBezTo>
                    <a:close/>
                  </a:path>
                </a:pathLst>
              </a:custGeom>
              <a:solidFill>
                <a:srgbClr val="D9A441"/>
              </a:solidFill>
            </p:spPr>
          </p:sp>
        </p:grpSp>
        <p:grpSp>
          <p:nvGrpSpPr>
            <p:cNvPr name="Group 47" id="47"/>
            <p:cNvGrpSpPr/>
            <p:nvPr/>
          </p:nvGrpSpPr>
          <p:grpSpPr>
            <a:xfrm rot="0">
              <a:off x="19515701" y="5359186"/>
              <a:ext cx="1405030" cy="481725"/>
              <a:chOff x="0" y="0"/>
              <a:chExt cx="1280160" cy="438912"/>
            </a:xfrm>
          </p:grpSpPr>
          <p:sp>
            <p:nvSpPr>
              <p:cNvPr name="Freeform 48" id="48"/>
              <p:cNvSpPr/>
              <p:nvPr/>
            </p:nvSpPr>
            <p:spPr>
              <a:xfrm flipH="false" flipV="false" rot="0">
                <a:off x="0" y="0"/>
                <a:ext cx="1280160" cy="438912"/>
              </a:xfrm>
              <a:custGeom>
                <a:avLst/>
                <a:gdLst/>
                <a:ahLst/>
                <a:cxnLst/>
                <a:rect r="r" b="b" t="t" l="l"/>
                <a:pathLst>
                  <a:path h="438912" w="1280160">
                    <a:moveTo>
                      <a:pt x="0" y="0"/>
                    </a:moveTo>
                    <a:lnTo>
                      <a:pt x="1280160" y="0"/>
                    </a:lnTo>
                    <a:lnTo>
                      <a:pt x="1280160" y="438912"/>
                    </a:lnTo>
                    <a:lnTo>
                      <a:pt x="0" y="438912"/>
                    </a:lnTo>
                    <a:close/>
                  </a:path>
                </a:pathLst>
              </a:custGeom>
              <a:blipFill>
                <a:blip r:embed="rId3">
                  <a:alphaModFix amt="0"/>
                </a:blip>
                <a:stretch>
                  <a:fillRect l="0" t="-6831" r="0" b="-6831"/>
                </a:stretch>
              </a:blipFill>
            </p:spPr>
          </p:sp>
          <p:sp>
            <p:nvSpPr>
              <p:cNvPr name="TextBox 49" id="49"/>
              <p:cNvSpPr txBox="true"/>
              <p:nvPr/>
            </p:nvSpPr>
            <p:spPr>
              <a:xfrm>
                <a:off x="0" y="-28575"/>
                <a:ext cx="1280160" cy="467487"/>
              </a:xfrm>
              <a:prstGeom prst="rect">
                <a:avLst/>
              </a:prstGeom>
            </p:spPr>
            <p:txBody>
              <a:bodyPr anchor="ctr" rtlCol="false" tIns="0" lIns="0" bIns="0" rIns="0"/>
              <a:lstStyle/>
              <a:p>
                <a:pPr algn="ctr">
                  <a:lnSpc>
                    <a:spcPts val="1919"/>
                  </a:lnSpc>
                </a:pPr>
                <a:r>
                  <a:rPr lang="en-US" sz="1599" b="true">
                    <a:solidFill>
                      <a:srgbClr val="FFFFFF"/>
                    </a:solidFill>
                    <a:latin typeface="Calibri (MS) Bold"/>
                    <a:ea typeface="Calibri (MS) Bold"/>
                    <a:cs typeface="Calibri (MS) Bold"/>
                    <a:sym typeface="Calibri (MS) Bold"/>
                  </a:rPr>
                  <a:t>LONG</a:t>
                </a:r>
              </a:p>
            </p:txBody>
          </p:sp>
        </p:grpSp>
        <p:sp>
          <p:nvSpPr>
            <p:cNvPr name="TextBox 50" id="50"/>
            <p:cNvSpPr txBox="true"/>
            <p:nvPr/>
          </p:nvSpPr>
          <p:spPr>
            <a:xfrm rot="0">
              <a:off x="17533605" y="5916783"/>
              <a:ext cx="5369222" cy="1595850"/>
            </a:xfrm>
            <a:prstGeom prst="rect">
              <a:avLst/>
            </a:prstGeom>
          </p:spPr>
          <p:txBody>
            <a:bodyPr anchor="t" rtlCol="false" tIns="0" lIns="0" bIns="0" rIns="0">
              <a:spAutoFit/>
            </a:bodyPr>
            <a:lstStyle/>
            <a:p>
              <a:pPr algn="ctr">
                <a:lnSpc>
                  <a:spcPts val="3222"/>
                </a:lnSpc>
              </a:pPr>
              <a:r>
                <a:rPr lang="en-US" sz="2148">
                  <a:solidFill>
                    <a:srgbClr val="6B6B76"/>
                  </a:solidFill>
                  <a:latin typeface="Calibri (MS)"/>
                  <a:ea typeface="Calibri (MS)"/>
                  <a:cs typeface="Calibri (MS)"/>
                  <a:sym typeface="Calibri (MS)"/>
                </a:rPr>
                <a:t>Cross-version code retrieval is under-explored; write up these ablation findings as a short paper.</a:t>
              </a:r>
            </a:p>
          </p:txBody>
        </p:sp>
        <p:grpSp>
          <p:nvGrpSpPr>
            <p:cNvPr name="Group 51" id="51"/>
            <p:cNvGrpSpPr/>
            <p:nvPr/>
          </p:nvGrpSpPr>
          <p:grpSpPr>
            <a:xfrm rot="0">
              <a:off x="0" y="8308913"/>
              <a:ext cx="23124454" cy="1045409"/>
              <a:chOff x="0" y="0"/>
              <a:chExt cx="21069300" cy="952500"/>
            </a:xfrm>
          </p:grpSpPr>
          <p:sp>
            <p:nvSpPr>
              <p:cNvPr name="Freeform 52" id="52"/>
              <p:cNvSpPr/>
              <p:nvPr/>
            </p:nvSpPr>
            <p:spPr>
              <a:xfrm flipH="false" flipV="false" rot="0">
                <a:off x="0" y="0"/>
                <a:ext cx="21069300" cy="952500"/>
              </a:xfrm>
              <a:custGeom>
                <a:avLst/>
                <a:gdLst/>
                <a:ahLst/>
                <a:cxnLst/>
                <a:rect r="r" b="b" t="t" l="l"/>
                <a:pathLst>
                  <a:path h="952500" w="21069300">
                    <a:moveTo>
                      <a:pt x="0" y="76200"/>
                    </a:moveTo>
                    <a:cubicBezTo>
                      <a:pt x="0" y="34163"/>
                      <a:pt x="34163" y="0"/>
                      <a:pt x="76200" y="0"/>
                    </a:cubicBezTo>
                    <a:lnTo>
                      <a:pt x="20993100" y="0"/>
                    </a:lnTo>
                    <a:cubicBezTo>
                      <a:pt x="21035138" y="0"/>
                      <a:pt x="21069300" y="34163"/>
                      <a:pt x="21069300" y="76200"/>
                    </a:cubicBezTo>
                    <a:lnTo>
                      <a:pt x="21069300" y="876300"/>
                    </a:lnTo>
                    <a:cubicBezTo>
                      <a:pt x="21069300" y="918337"/>
                      <a:pt x="21035138" y="952500"/>
                      <a:pt x="20993100" y="952500"/>
                    </a:cubicBezTo>
                    <a:lnTo>
                      <a:pt x="76200" y="952500"/>
                    </a:lnTo>
                    <a:cubicBezTo>
                      <a:pt x="34163" y="952500"/>
                      <a:pt x="0" y="918337"/>
                      <a:pt x="0" y="876300"/>
                    </a:cubicBezTo>
                    <a:close/>
                  </a:path>
                </a:pathLst>
              </a:custGeom>
              <a:solidFill>
                <a:srgbClr val="FFFFFF"/>
              </a:solidFill>
              <a:ln w="28575" cap="sq">
                <a:solidFill>
                  <a:srgbClr val="6D28D9"/>
                </a:solidFill>
                <a:prstDash val="solid"/>
                <a:miter/>
              </a:ln>
            </p:spPr>
          </p:sp>
        </p:grpSp>
        <p:grpSp>
          <p:nvGrpSpPr>
            <p:cNvPr name="Group 53" id="53"/>
            <p:cNvGrpSpPr/>
            <p:nvPr/>
          </p:nvGrpSpPr>
          <p:grpSpPr>
            <a:xfrm rot="0">
              <a:off x="623064" y="8329821"/>
              <a:ext cx="21878326" cy="1003593"/>
              <a:chOff x="0" y="0"/>
              <a:chExt cx="19933920" cy="914400"/>
            </a:xfrm>
          </p:grpSpPr>
          <p:sp>
            <p:nvSpPr>
              <p:cNvPr name="Freeform 54" id="54"/>
              <p:cNvSpPr/>
              <p:nvPr/>
            </p:nvSpPr>
            <p:spPr>
              <a:xfrm flipH="false" flipV="false" rot="0">
                <a:off x="0" y="0"/>
                <a:ext cx="19933920" cy="914400"/>
              </a:xfrm>
              <a:custGeom>
                <a:avLst/>
                <a:gdLst/>
                <a:ahLst/>
                <a:cxnLst/>
                <a:rect r="r" b="b" t="t" l="l"/>
                <a:pathLst>
                  <a:path h="914400" w="19933920">
                    <a:moveTo>
                      <a:pt x="0" y="0"/>
                    </a:moveTo>
                    <a:lnTo>
                      <a:pt x="19933920" y="0"/>
                    </a:lnTo>
                    <a:lnTo>
                      <a:pt x="19933920" y="914400"/>
                    </a:lnTo>
                    <a:lnTo>
                      <a:pt x="0" y="914400"/>
                    </a:lnTo>
                    <a:close/>
                  </a:path>
                </a:pathLst>
              </a:custGeom>
              <a:blipFill>
                <a:blip r:embed="rId3">
                  <a:alphaModFix amt="0"/>
                </a:blip>
                <a:stretch>
                  <a:fillRect l="0" t="-374773" r="0" b="-374773"/>
                </a:stretch>
              </a:blipFill>
            </p:spPr>
          </p:sp>
          <p:sp>
            <p:nvSpPr>
              <p:cNvPr name="TextBox 55" id="55"/>
              <p:cNvSpPr txBox="true"/>
              <p:nvPr/>
            </p:nvSpPr>
            <p:spPr>
              <a:xfrm>
                <a:off x="0" y="-47625"/>
                <a:ext cx="19933920" cy="962025"/>
              </a:xfrm>
              <a:prstGeom prst="rect">
                <a:avLst/>
              </a:prstGeom>
            </p:spPr>
            <p:txBody>
              <a:bodyPr anchor="ctr" rtlCol="false" tIns="0" lIns="0" bIns="0" rIns="0"/>
              <a:lstStyle/>
              <a:p>
                <a:pPr algn="ctr">
                  <a:lnSpc>
                    <a:spcPts val="2550"/>
                  </a:lnSpc>
                </a:pPr>
                <a:r>
                  <a:rPr lang="en-US" b="true" sz="2125" i="true">
                    <a:solidFill>
                      <a:srgbClr val="6D28D9"/>
                    </a:solidFill>
                    <a:latin typeface="Calibri (MS) Bold Italics"/>
                    <a:ea typeface="Calibri (MS) Bold Italics"/>
                    <a:cs typeface="Calibri (MS) Bold Italics"/>
                    <a:sym typeface="Calibri (MS) Bold Italics"/>
                  </a:rPr>
                  <a:t>Every step above is measured the same way as everything before it — one change, one number, keep or revert.</a:t>
                </a:r>
              </a:p>
            </p:txBody>
          </p:sp>
        </p:grpSp>
      </p:gr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186390" y="204788"/>
            <a:ext cx="15773400" cy="1988344"/>
            <a:chOff x="0" y="0"/>
            <a:chExt cx="21031200" cy="2651125"/>
          </a:xfrm>
        </p:grpSpPr>
        <p:sp>
          <p:nvSpPr>
            <p:cNvPr name="Freeform 3" id="3"/>
            <p:cNvSpPr/>
            <p:nvPr/>
          </p:nvSpPr>
          <p:spPr>
            <a:xfrm flipH="false" flipV="false" rot="0">
              <a:off x="0" y="0"/>
              <a:ext cx="21031200" cy="2651126"/>
            </a:xfrm>
            <a:custGeom>
              <a:avLst/>
              <a:gdLst/>
              <a:ahLst/>
              <a:cxnLst/>
              <a:rect r="r" b="b" t="t" l="l"/>
              <a:pathLst>
                <a:path h="2651126" w="21031200">
                  <a:moveTo>
                    <a:pt x="0" y="0"/>
                  </a:moveTo>
                  <a:lnTo>
                    <a:pt x="21031200" y="0"/>
                  </a:lnTo>
                  <a:lnTo>
                    <a:pt x="21031200" y="2651126"/>
                  </a:lnTo>
                  <a:lnTo>
                    <a:pt x="0" y="2651126"/>
                  </a:lnTo>
                  <a:close/>
                </a:path>
              </a:pathLst>
            </a:custGeom>
            <a:blipFill>
              <a:blip r:embed="rId3">
                <a:alphaModFix amt="0"/>
              </a:blip>
              <a:stretch>
                <a:fillRect l="0" t="-104573" r="0" b="-104573"/>
              </a:stretch>
            </a:blipFill>
          </p:spPr>
        </p:sp>
        <p:sp>
          <p:nvSpPr>
            <p:cNvPr name="TextBox 4" id="4"/>
            <p:cNvSpPr txBox="true"/>
            <p:nvPr/>
          </p:nvSpPr>
          <p:spPr>
            <a:xfrm>
              <a:off x="0" y="-66675"/>
              <a:ext cx="21031200" cy="2717800"/>
            </a:xfrm>
            <a:prstGeom prst="rect">
              <a:avLst/>
            </a:prstGeom>
          </p:spPr>
          <p:txBody>
            <a:bodyPr anchor="ctr" rtlCol="false" tIns="0" lIns="0" bIns="0" rIns="0"/>
            <a:lstStyle/>
            <a:p>
              <a:pPr algn="l">
                <a:lnSpc>
                  <a:spcPts val="7128"/>
                </a:lnSpc>
              </a:pPr>
              <a:r>
                <a:rPr lang="en-US" sz="6600" b="true">
                  <a:solidFill>
                    <a:srgbClr val="704EA6"/>
                  </a:solidFill>
                  <a:latin typeface="Calibri (MS) Bold"/>
                  <a:ea typeface="Calibri (MS) Bold"/>
                  <a:cs typeface="Calibri (MS) Bold"/>
                  <a:sym typeface="Calibri (MS) Bold"/>
                </a:rPr>
                <a:t>Brownie points slide( differentiation)</a:t>
              </a:r>
            </a:p>
          </p:txBody>
        </p:sp>
      </p:grpSp>
      <p:grpSp>
        <p:nvGrpSpPr>
          <p:cNvPr name="Group 5" id="5"/>
          <p:cNvGrpSpPr/>
          <p:nvPr/>
        </p:nvGrpSpPr>
        <p:grpSpPr>
          <a:xfrm rot="0">
            <a:off x="369590" y="2438171"/>
            <a:ext cx="17382471" cy="7536795"/>
            <a:chOff x="0" y="0"/>
            <a:chExt cx="23176628" cy="10049060"/>
          </a:xfrm>
        </p:grpSpPr>
        <p:grpSp>
          <p:nvGrpSpPr>
            <p:cNvPr name="Group 6" id="6"/>
            <p:cNvGrpSpPr/>
            <p:nvPr/>
          </p:nvGrpSpPr>
          <p:grpSpPr>
            <a:xfrm rot="0">
              <a:off x="0" y="0"/>
              <a:ext cx="11300354" cy="3484845"/>
              <a:chOff x="0" y="0"/>
              <a:chExt cx="9719060" cy="2997200"/>
            </a:xfrm>
          </p:grpSpPr>
          <p:sp>
            <p:nvSpPr>
              <p:cNvPr name="Freeform 7" id="7"/>
              <p:cNvSpPr/>
              <p:nvPr/>
            </p:nvSpPr>
            <p:spPr>
              <a:xfrm flipH="false" flipV="false" rot="0">
                <a:off x="0" y="0"/>
                <a:ext cx="9719059" cy="2997200"/>
              </a:xfrm>
              <a:custGeom>
                <a:avLst/>
                <a:gdLst/>
                <a:ahLst/>
                <a:cxnLst/>
                <a:rect r="r" b="b" t="t" l="l"/>
                <a:pathLst>
                  <a:path h="2997200" w="9719059">
                    <a:moveTo>
                      <a:pt x="0" y="179832"/>
                    </a:moveTo>
                    <a:cubicBezTo>
                      <a:pt x="0" y="80518"/>
                      <a:pt x="76223" y="0"/>
                      <a:pt x="170240" y="0"/>
                    </a:cubicBezTo>
                    <a:lnTo>
                      <a:pt x="9548820" y="0"/>
                    </a:lnTo>
                    <a:cubicBezTo>
                      <a:pt x="9642837" y="0"/>
                      <a:pt x="9719059" y="80518"/>
                      <a:pt x="9719059" y="179832"/>
                    </a:cubicBezTo>
                    <a:lnTo>
                      <a:pt x="9719059" y="2817368"/>
                    </a:lnTo>
                    <a:cubicBezTo>
                      <a:pt x="9719059" y="2916682"/>
                      <a:pt x="9642837" y="2997200"/>
                      <a:pt x="9548820" y="2997200"/>
                    </a:cubicBezTo>
                    <a:lnTo>
                      <a:pt x="170240" y="2997200"/>
                    </a:lnTo>
                    <a:cubicBezTo>
                      <a:pt x="76223" y="2997200"/>
                      <a:pt x="0" y="2916682"/>
                      <a:pt x="0" y="2817368"/>
                    </a:cubicBezTo>
                    <a:close/>
                  </a:path>
                </a:pathLst>
              </a:custGeom>
              <a:solidFill>
                <a:srgbClr val="EDE9FB"/>
              </a:solidFill>
              <a:ln w="19050" cap="sq">
                <a:solidFill>
                  <a:srgbClr val="D9D3F0"/>
                </a:solidFill>
                <a:prstDash val="solid"/>
                <a:miter/>
              </a:ln>
            </p:spPr>
          </p:sp>
        </p:grpSp>
        <p:grpSp>
          <p:nvGrpSpPr>
            <p:cNvPr name="Group 8" id="8"/>
            <p:cNvGrpSpPr/>
            <p:nvPr/>
          </p:nvGrpSpPr>
          <p:grpSpPr>
            <a:xfrm rot="0">
              <a:off x="517211" y="440036"/>
              <a:ext cx="1006464" cy="1138186"/>
              <a:chOff x="0" y="0"/>
              <a:chExt cx="865626" cy="978916"/>
            </a:xfrm>
          </p:grpSpPr>
          <p:sp>
            <p:nvSpPr>
              <p:cNvPr name="Freeform 9" id="9"/>
              <p:cNvSpPr/>
              <p:nvPr/>
            </p:nvSpPr>
            <p:spPr>
              <a:xfrm flipH="false" flipV="false" rot="0">
                <a:off x="0" y="0"/>
                <a:ext cx="865626" cy="978917"/>
              </a:xfrm>
              <a:custGeom>
                <a:avLst/>
                <a:gdLst/>
                <a:ahLst/>
                <a:cxnLst/>
                <a:rect r="r" b="b" t="t" l="l"/>
                <a:pathLst>
                  <a:path h="978917" w="865626">
                    <a:moveTo>
                      <a:pt x="0" y="489458"/>
                    </a:moveTo>
                    <a:cubicBezTo>
                      <a:pt x="0" y="219169"/>
                      <a:pt x="193804" y="0"/>
                      <a:pt x="432813" y="0"/>
                    </a:cubicBezTo>
                    <a:cubicBezTo>
                      <a:pt x="671822" y="0"/>
                      <a:pt x="865626" y="219169"/>
                      <a:pt x="865626" y="489458"/>
                    </a:cubicBezTo>
                    <a:cubicBezTo>
                      <a:pt x="865626" y="759748"/>
                      <a:pt x="671822" y="978917"/>
                      <a:pt x="432813" y="978917"/>
                    </a:cubicBezTo>
                    <a:cubicBezTo>
                      <a:pt x="193804" y="978917"/>
                      <a:pt x="0" y="759748"/>
                      <a:pt x="0" y="489458"/>
                    </a:cubicBezTo>
                    <a:close/>
                  </a:path>
                </a:pathLst>
              </a:custGeom>
              <a:solidFill>
                <a:srgbClr val="D9A441"/>
              </a:solidFill>
            </p:spPr>
          </p:sp>
          <p:sp>
            <p:nvSpPr>
              <p:cNvPr name="TextBox 10" id="10"/>
              <p:cNvSpPr txBox="true"/>
              <p:nvPr/>
            </p:nvSpPr>
            <p:spPr>
              <a:xfrm>
                <a:off x="0" y="-66675"/>
                <a:ext cx="865626" cy="1045591"/>
              </a:xfrm>
              <a:prstGeom prst="rect">
                <a:avLst/>
              </a:prstGeom>
            </p:spPr>
            <p:txBody>
              <a:bodyPr anchor="ctr" rtlCol="false" tIns="50800" lIns="50800" bIns="50800" rIns="50800"/>
              <a:lstStyle/>
              <a:p>
                <a:pPr algn="ctr">
                  <a:lnSpc>
                    <a:spcPts val="3959"/>
                  </a:lnSpc>
                </a:pPr>
                <a:r>
                  <a:rPr lang="en-US" sz="3299" b="true">
                    <a:solidFill>
                      <a:srgbClr val="FFFFFF"/>
                    </a:solidFill>
                    <a:latin typeface="Calibri (MS) Bold"/>
                    <a:ea typeface="Calibri (MS) Bold"/>
                    <a:cs typeface="Calibri (MS) Bold"/>
                    <a:sym typeface="Calibri (MS) Bold"/>
                  </a:rPr>
                  <a:t>✓</a:t>
                </a:r>
              </a:p>
            </p:txBody>
          </p:sp>
        </p:grpSp>
        <p:sp>
          <p:nvSpPr>
            <p:cNvPr name="TextBox 11" id="11"/>
            <p:cNvSpPr txBox="true"/>
            <p:nvPr/>
          </p:nvSpPr>
          <p:spPr>
            <a:xfrm rot="0">
              <a:off x="1825614" y="406362"/>
              <a:ext cx="9058176" cy="624620"/>
            </a:xfrm>
            <a:prstGeom prst="rect">
              <a:avLst/>
            </a:prstGeom>
          </p:spPr>
          <p:txBody>
            <a:bodyPr anchor="t" rtlCol="false" tIns="0" lIns="0" bIns="0" rIns="0">
              <a:spAutoFit/>
            </a:bodyPr>
            <a:lstStyle/>
            <a:p>
              <a:pPr algn="l">
                <a:lnSpc>
                  <a:spcPts val="3406"/>
                </a:lnSpc>
              </a:pPr>
              <a:r>
                <a:rPr lang="en-US" sz="2703" b="true">
                  <a:solidFill>
                    <a:srgbClr val="14142B"/>
                  </a:solidFill>
                  <a:latin typeface="Calibri (MS) Bold"/>
                  <a:ea typeface="Calibri (MS) Bold"/>
                  <a:cs typeface="Calibri (MS) Bold"/>
                  <a:sym typeface="Calibri (MS) Bold"/>
                </a:rPr>
                <a:t>Verified, not assumed</a:t>
              </a:r>
            </a:p>
          </p:txBody>
        </p:sp>
        <p:sp>
          <p:nvSpPr>
            <p:cNvPr name="TextBox 12" id="12"/>
            <p:cNvSpPr txBox="true"/>
            <p:nvPr/>
          </p:nvSpPr>
          <p:spPr>
            <a:xfrm rot="0">
              <a:off x="577598" y="1427009"/>
              <a:ext cx="10145157" cy="499698"/>
            </a:xfrm>
            <a:prstGeom prst="rect">
              <a:avLst/>
            </a:prstGeom>
          </p:spPr>
          <p:txBody>
            <a:bodyPr anchor="t" rtlCol="false" tIns="0" lIns="0" bIns="0" rIns="0">
              <a:spAutoFit/>
            </a:bodyPr>
            <a:lstStyle/>
            <a:p>
              <a:pPr algn="l">
                <a:lnSpc>
                  <a:spcPts val="2888"/>
                </a:lnSpc>
              </a:pPr>
              <a:r>
                <a:rPr lang="en-US" sz="2092">
                  <a:solidFill>
                    <a:srgbClr val="6B6B76"/>
                  </a:solidFill>
                  <a:latin typeface="Calibri (MS)"/>
                  <a:ea typeface="Calibri (MS)"/>
                  <a:cs typeface="Calibri (MS)"/>
                  <a:sym typeface="Calibri (MS)"/>
                </a:rPr>
                <a:t>Proven end-to-end, and checked against a published number.</a:t>
              </a:r>
            </a:p>
          </p:txBody>
        </p:sp>
        <p:grpSp>
          <p:nvGrpSpPr>
            <p:cNvPr name="Group 13" id="13"/>
            <p:cNvGrpSpPr/>
            <p:nvPr/>
          </p:nvGrpSpPr>
          <p:grpSpPr>
            <a:xfrm rot="0">
              <a:off x="577598" y="2024163"/>
              <a:ext cx="10145157" cy="1190754"/>
              <a:chOff x="0" y="0"/>
              <a:chExt cx="8725514" cy="1024128"/>
            </a:xfrm>
          </p:grpSpPr>
          <p:sp>
            <p:nvSpPr>
              <p:cNvPr name="Freeform 14" id="14"/>
              <p:cNvSpPr/>
              <p:nvPr/>
            </p:nvSpPr>
            <p:spPr>
              <a:xfrm flipH="false" flipV="false" rot="0">
                <a:off x="0" y="0"/>
                <a:ext cx="8725514" cy="1024128"/>
              </a:xfrm>
              <a:custGeom>
                <a:avLst/>
                <a:gdLst/>
                <a:ahLst/>
                <a:cxnLst/>
                <a:rect r="r" b="b" t="t" l="l"/>
                <a:pathLst>
                  <a:path h="1024128" w="8725514">
                    <a:moveTo>
                      <a:pt x="0" y="61468"/>
                    </a:moveTo>
                    <a:cubicBezTo>
                      <a:pt x="0" y="27559"/>
                      <a:pt x="26089" y="0"/>
                      <a:pt x="58189" y="0"/>
                    </a:cubicBezTo>
                    <a:lnTo>
                      <a:pt x="8667324" y="0"/>
                    </a:lnTo>
                    <a:cubicBezTo>
                      <a:pt x="8699424" y="0"/>
                      <a:pt x="8725514" y="27559"/>
                      <a:pt x="8725514" y="61468"/>
                    </a:cubicBezTo>
                    <a:lnTo>
                      <a:pt x="8725514" y="962660"/>
                    </a:lnTo>
                    <a:cubicBezTo>
                      <a:pt x="8725514" y="996569"/>
                      <a:pt x="8699424" y="1024128"/>
                      <a:pt x="8667324" y="1024128"/>
                    </a:cubicBezTo>
                    <a:lnTo>
                      <a:pt x="58189" y="1024128"/>
                    </a:lnTo>
                    <a:cubicBezTo>
                      <a:pt x="26089" y="1024128"/>
                      <a:pt x="0" y="996569"/>
                      <a:pt x="0" y="962660"/>
                    </a:cubicBezTo>
                    <a:close/>
                  </a:path>
                </a:pathLst>
              </a:custGeom>
              <a:solidFill>
                <a:srgbClr val="F7F5FC"/>
              </a:solidFill>
            </p:spPr>
          </p:sp>
        </p:grpSp>
        <p:sp>
          <p:nvSpPr>
            <p:cNvPr name="TextBox 15" id="15"/>
            <p:cNvSpPr txBox="true"/>
            <p:nvPr/>
          </p:nvSpPr>
          <p:spPr>
            <a:xfrm rot="0">
              <a:off x="899667" y="2080642"/>
              <a:ext cx="9501020" cy="353433"/>
            </a:xfrm>
            <a:prstGeom prst="rect">
              <a:avLst/>
            </a:prstGeom>
          </p:spPr>
          <p:txBody>
            <a:bodyPr anchor="t" rtlCol="false" tIns="0" lIns="0" bIns="0" rIns="0">
              <a:spAutoFit/>
            </a:bodyPr>
            <a:lstStyle/>
            <a:p>
              <a:pPr algn="l">
                <a:lnSpc>
                  <a:spcPts val="1988"/>
                </a:lnSpc>
              </a:pPr>
              <a:r>
                <a:rPr lang="en-US" sz="1656" b="true">
                  <a:solidFill>
                    <a:srgbClr val="6D28D9"/>
                  </a:solidFill>
                  <a:latin typeface="Calibri (MS) Bold"/>
                  <a:ea typeface="Calibri (MS) Bold"/>
                  <a:cs typeface="Calibri (MS) Bold"/>
                  <a:sym typeface="Calibri (MS) Bold"/>
                </a:rPr>
                <a:t>EVIDENCE</a:t>
              </a:r>
            </a:p>
          </p:txBody>
        </p:sp>
        <p:sp>
          <p:nvSpPr>
            <p:cNvPr name="TextBox 16" id="16"/>
            <p:cNvSpPr txBox="true"/>
            <p:nvPr/>
          </p:nvSpPr>
          <p:spPr>
            <a:xfrm rot="0">
              <a:off x="899667" y="2373233"/>
              <a:ext cx="9501020" cy="903703"/>
            </a:xfrm>
            <a:prstGeom prst="rect">
              <a:avLst/>
            </a:prstGeom>
          </p:spPr>
          <p:txBody>
            <a:bodyPr anchor="t" rtlCol="false" tIns="0" lIns="0" bIns="0" rIns="0">
              <a:spAutoFit/>
            </a:bodyPr>
            <a:lstStyle/>
            <a:p>
              <a:pPr algn="l">
                <a:lnSpc>
                  <a:spcPts val="2647"/>
                </a:lnSpc>
              </a:pPr>
              <a:r>
                <a:rPr lang="en-US" sz="1918">
                  <a:solidFill>
                    <a:srgbClr val="14142B"/>
                  </a:solidFill>
                  <a:latin typeface="Calibri (MS)"/>
                  <a:ea typeface="Calibri (MS)"/>
                  <a:cs typeface="Calibri (MS)"/>
                  <a:sym typeface="Calibri (MS)"/>
                </a:rPr>
                <a:t>Our e5-base-v2 run (0.1151) matches the published CoIR score for that model (11.5); 6 tests lock the file shape.</a:t>
              </a:r>
            </a:p>
          </p:txBody>
        </p:sp>
        <p:grpSp>
          <p:nvGrpSpPr>
            <p:cNvPr name="Group 17" id="17"/>
            <p:cNvGrpSpPr/>
            <p:nvPr/>
          </p:nvGrpSpPr>
          <p:grpSpPr>
            <a:xfrm rot="0">
              <a:off x="11876275" y="0"/>
              <a:ext cx="11300354" cy="3484845"/>
              <a:chOff x="0" y="0"/>
              <a:chExt cx="9719060" cy="2997200"/>
            </a:xfrm>
          </p:grpSpPr>
          <p:sp>
            <p:nvSpPr>
              <p:cNvPr name="Freeform 18" id="18"/>
              <p:cNvSpPr/>
              <p:nvPr/>
            </p:nvSpPr>
            <p:spPr>
              <a:xfrm flipH="false" flipV="false" rot="0">
                <a:off x="0" y="0"/>
                <a:ext cx="9719059" cy="2997200"/>
              </a:xfrm>
              <a:custGeom>
                <a:avLst/>
                <a:gdLst/>
                <a:ahLst/>
                <a:cxnLst/>
                <a:rect r="r" b="b" t="t" l="l"/>
                <a:pathLst>
                  <a:path h="2997200" w="9719059">
                    <a:moveTo>
                      <a:pt x="0" y="179832"/>
                    </a:moveTo>
                    <a:cubicBezTo>
                      <a:pt x="0" y="80518"/>
                      <a:pt x="76223" y="0"/>
                      <a:pt x="170240" y="0"/>
                    </a:cubicBezTo>
                    <a:lnTo>
                      <a:pt x="9548820" y="0"/>
                    </a:lnTo>
                    <a:cubicBezTo>
                      <a:pt x="9642837" y="0"/>
                      <a:pt x="9719059" y="80518"/>
                      <a:pt x="9719059" y="179832"/>
                    </a:cubicBezTo>
                    <a:lnTo>
                      <a:pt x="9719059" y="2817368"/>
                    </a:lnTo>
                    <a:cubicBezTo>
                      <a:pt x="9719059" y="2916682"/>
                      <a:pt x="9642837" y="2997200"/>
                      <a:pt x="9548820" y="2997200"/>
                    </a:cubicBezTo>
                    <a:lnTo>
                      <a:pt x="170240" y="2997200"/>
                    </a:lnTo>
                    <a:cubicBezTo>
                      <a:pt x="76223" y="2997200"/>
                      <a:pt x="0" y="2916682"/>
                      <a:pt x="0" y="2817368"/>
                    </a:cubicBezTo>
                    <a:close/>
                  </a:path>
                </a:pathLst>
              </a:custGeom>
              <a:solidFill>
                <a:srgbClr val="FFFFFF"/>
              </a:solidFill>
              <a:ln w="19050" cap="sq">
                <a:solidFill>
                  <a:srgbClr val="D9D3F0"/>
                </a:solidFill>
                <a:prstDash val="solid"/>
                <a:miter/>
              </a:ln>
            </p:spPr>
          </p:sp>
        </p:grpSp>
        <p:grpSp>
          <p:nvGrpSpPr>
            <p:cNvPr name="Group 19" id="19"/>
            <p:cNvGrpSpPr/>
            <p:nvPr/>
          </p:nvGrpSpPr>
          <p:grpSpPr>
            <a:xfrm rot="0">
              <a:off x="12393485" y="440036"/>
              <a:ext cx="1006464" cy="1138186"/>
              <a:chOff x="0" y="0"/>
              <a:chExt cx="865626" cy="978916"/>
            </a:xfrm>
          </p:grpSpPr>
          <p:sp>
            <p:nvSpPr>
              <p:cNvPr name="Freeform 20" id="20"/>
              <p:cNvSpPr/>
              <p:nvPr/>
            </p:nvSpPr>
            <p:spPr>
              <a:xfrm flipH="false" flipV="false" rot="0">
                <a:off x="0" y="0"/>
                <a:ext cx="865626" cy="978917"/>
              </a:xfrm>
              <a:custGeom>
                <a:avLst/>
                <a:gdLst/>
                <a:ahLst/>
                <a:cxnLst/>
                <a:rect r="r" b="b" t="t" l="l"/>
                <a:pathLst>
                  <a:path h="978917" w="865626">
                    <a:moveTo>
                      <a:pt x="0" y="489458"/>
                    </a:moveTo>
                    <a:cubicBezTo>
                      <a:pt x="0" y="219169"/>
                      <a:pt x="193804" y="0"/>
                      <a:pt x="432813" y="0"/>
                    </a:cubicBezTo>
                    <a:cubicBezTo>
                      <a:pt x="671822" y="0"/>
                      <a:pt x="865626" y="219169"/>
                      <a:pt x="865626" y="489458"/>
                    </a:cubicBezTo>
                    <a:cubicBezTo>
                      <a:pt x="865626" y="759748"/>
                      <a:pt x="671822" y="978917"/>
                      <a:pt x="432813" y="978917"/>
                    </a:cubicBezTo>
                    <a:cubicBezTo>
                      <a:pt x="193804" y="978917"/>
                      <a:pt x="0" y="759748"/>
                      <a:pt x="0" y="489458"/>
                    </a:cubicBezTo>
                    <a:close/>
                  </a:path>
                </a:pathLst>
              </a:custGeom>
              <a:solidFill>
                <a:srgbClr val="D9A441"/>
              </a:solidFill>
            </p:spPr>
          </p:sp>
          <p:sp>
            <p:nvSpPr>
              <p:cNvPr name="TextBox 21" id="21"/>
              <p:cNvSpPr txBox="true"/>
              <p:nvPr/>
            </p:nvSpPr>
            <p:spPr>
              <a:xfrm>
                <a:off x="0" y="-66675"/>
                <a:ext cx="865626" cy="1045591"/>
              </a:xfrm>
              <a:prstGeom prst="rect">
                <a:avLst/>
              </a:prstGeom>
            </p:spPr>
            <p:txBody>
              <a:bodyPr anchor="ctr" rtlCol="false" tIns="50800" lIns="50800" bIns="50800" rIns="50800"/>
              <a:lstStyle/>
              <a:p>
                <a:pPr algn="ctr">
                  <a:lnSpc>
                    <a:spcPts val="3959"/>
                  </a:lnSpc>
                </a:pPr>
                <a:r>
                  <a:rPr lang="en-US" sz="3299" b="true">
                    <a:solidFill>
                      <a:srgbClr val="FFFFFF"/>
                    </a:solidFill>
                    <a:latin typeface="Calibri (MS) Bold"/>
                    <a:ea typeface="Calibri (MS) Bold"/>
                    <a:cs typeface="Calibri (MS) Bold"/>
                    <a:sym typeface="Calibri (MS) Bold"/>
                  </a:rPr>
                  <a:t>✓</a:t>
                </a:r>
              </a:p>
            </p:txBody>
          </p:sp>
        </p:grpSp>
        <p:sp>
          <p:nvSpPr>
            <p:cNvPr name="TextBox 22" id="22"/>
            <p:cNvSpPr txBox="true"/>
            <p:nvPr/>
          </p:nvSpPr>
          <p:spPr>
            <a:xfrm rot="0">
              <a:off x="13701888" y="406362"/>
              <a:ext cx="9058176" cy="624620"/>
            </a:xfrm>
            <a:prstGeom prst="rect">
              <a:avLst/>
            </a:prstGeom>
          </p:spPr>
          <p:txBody>
            <a:bodyPr anchor="t" rtlCol="false" tIns="0" lIns="0" bIns="0" rIns="0">
              <a:spAutoFit/>
            </a:bodyPr>
            <a:lstStyle/>
            <a:p>
              <a:pPr algn="l">
                <a:lnSpc>
                  <a:spcPts val="3406"/>
                </a:lnSpc>
              </a:pPr>
              <a:r>
                <a:rPr lang="en-US" sz="2703" b="true">
                  <a:solidFill>
                    <a:srgbClr val="14142B"/>
                  </a:solidFill>
                  <a:latin typeface="Calibri (MS) Bold"/>
                  <a:ea typeface="Calibri (MS) Bold"/>
                  <a:cs typeface="Calibri (MS) Bold"/>
                  <a:sym typeface="Calibri (MS) Bold"/>
                </a:rPr>
                <a:t>Discipline over guesswork</a:t>
              </a:r>
            </a:p>
          </p:txBody>
        </p:sp>
        <p:sp>
          <p:nvSpPr>
            <p:cNvPr name="TextBox 23" id="23"/>
            <p:cNvSpPr txBox="true"/>
            <p:nvPr/>
          </p:nvSpPr>
          <p:spPr>
            <a:xfrm rot="0">
              <a:off x="12453873" y="1427009"/>
              <a:ext cx="10145157" cy="986985"/>
            </a:xfrm>
            <a:prstGeom prst="rect">
              <a:avLst/>
            </a:prstGeom>
          </p:spPr>
          <p:txBody>
            <a:bodyPr anchor="t" rtlCol="false" tIns="0" lIns="0" bIns="0" rIns="0">
              <a:spAutoFit/>
            </a:bodyPr>
            <a:lstStyle/>
            <a:p>
              <a:pPr algn="l">
                <a:lnSpc>
                  <a:spcPts val="2888"/>
                </a:lnSpc>
              </a:pPr>
              <a:r>
                <a:rPr lang="en-US" sz="2092">
                  <a:solidFill>
                    <a:srgbClr val="6B6B76"/>
                  </a:solidFill>
                  <a:latin typeface="Calibri (MS)"/>
                  <a:ea typeface="Calibri (MS)"/>
                  <a:cs typeface="Calibri (MS)"/>
                  <a:sym typeface="Calibri (MS)"/>
                </a:rPr>
                <a:t>Every feature logged config → NDCG@10 → kept/dropped, every time.</a:t>
              </a:r>
            </a:p>
          </p:txBody>
        </p:sp>
        <p:grpSp>
          <p:nvGrpSpPr>
            <p:cNvPr name="Group 24" id="24"/>
            <p:cNvGrpSpPr/>
            <p:nvPr/>
          </p:nvGrpSpPr>
          <p:grpSpPr>
            <a:xfrm rot="0">
              <a:off x="12453873" y="2024163"/>
              <a:ext cx="10145157" cy="1190754"/>
              <a:chOff x="0" y="0"/>
              <a:chExt cx="8725514" cy="1024128"/>
            </a:xfrm>
          </p:grpSpPr>
          <p:sp>
            <p:nvSpPr>
              <p:cNvPr name="Freeform 25" id="25"/>
              <p:cNvSpPr/>
              <p:nvPr/>
            </p:nvSpPr>
            <p:spPr>
              <a:xfrm flipH="false" flipV="false" rot="0">
                <a:off x="0" y="0"/>
                <a:ext cx="8725514" cy="1024128"/>
              </a:xfrm>
              <a:custGeom>
                <a:avLst/>
                <a:gdLst/>
                <a:ahLst/>
                <a:cxnLst/>
                <a:rect r="r" b="b" t="t" l="l"/>
                <a:pathLst>
                  <a:path h="1024128" w="8725514">
                    <a:moveTo>
                      <a:pt x="0" y="61468"/>
                    </a:moveTo>
                    <a:cubicBezTo>
                      <a:pt x="0" y="27559"/>
                      <a:pt x="26089" y="0"/>
                      <a:pt x="58189" y="0"/>
                    </a:cubicBezTo>
                    <a:lnTo>
                      <a:pt x="8667324" y="0"/>
                    </a:lnTo>
                    <a:cubicBezTo>
                      <a:pt x="8699424" y="0"/>
                      <a:pt x="8725514" y="27559"/>
                      <a:pt x="8725514" y="61468"/>
                    </a:cubicBezTo>
                    <a:lnTo>
                      <a:pt x="8725514" y="962660"/>
                    </a:lnTo>
                    <a:cubicBezTo>
                      <a:pt x="8725514" y="996569"/>
                      <a:pt x="8699424" y="1024128"/>
                      <a:pt x="8667324" y="1024128"/>
                    </a:cubicBezTo>
                    <a:lnTo>
                      <a:pt x="58189" y="1024128"/>
                    </a:lnTo>
                    <a:cubicBezTo>
                      <a:pt x="26089" y="1024128"/>
                      <a:pt x="0" y="996569"/>
                      <a:pt x="0" y="962660"/>
                    </a:cubicBezTo>
                    <a:close/>
                  </a:path>
                </a:pathLst>
              </a:custGeom>
              <a:solidFill>
                <a:srgbClr val="F7F5FC"/>
              </a:solidFill>
            </p:spPr>
          </p:sp>
        </p:grpSp>
        <p:sp>
          <p:nvSpPr>
            <p:cNvPr name="TextBox 26" id="26"/>
            <p:cNvSpPr txBox="true"/>
            <p:nvPr/>
          </p:nvSpPr>
          <p:spPr>
            <a:xfrm rot="0">
              <a:off x="12775942" y="2080642"/>
              <a:ext cx="9501020" cy="353433"/>
            </a:xfrm>
            <a:prstGeom prst="rect">
              <a:avLst/>
            </a:prstGeom>
          </p:spPr>
          <p:txBody>
            <a:bodyPr anchor="t" rtlCol="false" tIns="0" lIns="0" bIns="0" rIns="0">
              <a:spAutoFit/>
            </a:bodyPr>
            <a:lstStyle/>
            <a:p>
              <a:pPr algn="l">
                <a:lnSpc>
                  <a:spcPts val="1988"/>
                </a:lnSpc>
              </a:pPr>
              <a:r>
                <a:rPr lang="en-US" sz="1656" b="true">
                  <a:solidFill>
                    <a:srgbClr val="6D28D9"/>
                  </a:solidFill>
                  <a:latin typeface="Calibri (MS) Bold"/>
                  <a:ea typeface="Calibri (MS) Bold"/>
                  <a:cs typeface="Calibri (MS) Bold"/>
                  <a:sym typeface="Calibri (MS) Bold"/>
                </a:rPr>
                <a:t>EVIDENCE</a:t>
              </a:r>
            </a:p>
          </p:txBody>
        </p:sp>
        <p:sp>
          <p:nvSpPr>
            <p:cNvPr name="TextBox 27" id="27"/>
            <p:cNvSpPr txBox="true"/>
            <p:nvPr/>
          </p:nvSpPr>
          <p:spPr>
            <a:xfrm rot="0">
              <a:off x="12775942" y="2373233"/>
              <a:ext cx="9501020" cy="903703"/>
            </a:xfrm>
            <a:prstGeom prst="rect">
              <a:avLst/>
            </a:prstGeom>
          </p:spPr>
          <p:txBody>
            <a:bodyPr anchor="t" rtlCol="false" tIns="0" lIns="0" bIns="0" rIns="0">
              <a:spAutoFit/>
            </a:bodyPr>
            <a:lstStyle/>
            <a:p>
              <a:pPr algn="l">
                <a:lnSpc>
                  <a:spcPts val="2647"/>
                </a:lnSpc>
              </a:pPr>
              <a:r>
                <a:rPr lang="en-US" sz="1918">
                  <a:solidFill>
                    <a:srgbClr val="14142B"/>
                  </a:solidFill>
                  <a:latin typeface="Calibri (MS)"/>
                  <a:ea typeface="Calibri (MS)"/>
                  <a:cs typeface="Calibri (MS)"/>
                  <a:sym typeface="Calibri (MS)"/>
                </a:rPr>
                <a:t>docs/ablation_log.md — 10 real experiments, 8 dropped, 1 kept (+73.9%); every row reproducible from the repo.</a:t>
              </a:r>
            </a:p>
          </p:txBody>
        </p:sp>
        <p:grpSp>
          <p:nvGrpSpPr>
            <p:cNvPr name="Group 28" id="28"/>
            <p:cNvGrpSpPr/>
            <p:nvPr/>
          </p:nvGrpSpPr>
          <p:grpSpPr>
            <a:xfrm rot="0">
              <a:off x="0" y="4093216"/>
              <a:ext cx="11300354" cy="3484845"/>
              <a:chOff x="0" y="0"/>
              <a:chExt cx="9719060" cy="2997200"/>
            </a:xfrm>
          </p:grpSpPr>
          <p:sp>
            <p:nvSpPr>
              <p:cNvPr name="Freeform 29" id="29"/>
              <p:cNvSpPr/>
              <p:nvPr/>
            </p:nvSpPr>
            <p:spPr>
              <a:xfrm flipH="false" flipV="false" rot="0">
                <a:off x="0" y="0"/>
                <a:ext cx="9719059" cy="2997200"/>
              </a:xfrm>
              <a:custGeom>
                <a:avLst/>
                <a:gdLst/>
                <a:ahLst/>
                <a:cxnLst/>
                <a:rect r="r" b="b" t="t" l="l"/>
                <a:pathLst>
                  <a:path h="2997200" w="9719059">
                    <a:moveTo>
                      <a:pt x="0" y="179832"/>
                    </a:moveTo>
                    <a:cubicBezTo>
                      <a:pt x="0" y="80518"/>
                      <a:pt x="76223" y="0"/>
                      <a:pt x="170240" y="0"/>
                    </a:cubicBezTo>
                    <a:lnTo>
                      <a:pt x="9548820" y="0"/>
                    </a:lnTo>
                    <a:cubicBezTo>
                      <a:pt x="9642837" y="0"/>
                      <a:pt x="9719059" y="80518"/>
                      <a:pt x="9719059" y="179832"/>
                    </a:cubicBezTo>
                    <a:lnTo>
                      <a:pt x="9719059" y="2817368"/>
                    </a:lnTo>
                    <a:cubicBezTo>
                      <a:pt x="9719059" y="2916682"/>
                      <a:pt x="9642837" y="2997200"/>
                      <a:pt x="9548820" y="2997200"/>
                    </a:cubicBezTo>
                    <a:lnTo>
                      <a:pt x="170240" y="2997200"/>
                    </a:lnTo>
                    <a:cubicBezTo>
                      <a:pt x="76223" y="2997200"/>
                      <a:pt x="0" y="2916682"/>
                      <a:pt x="0" y="2817368"/>
                    </a:cubicBezTo>
                    <a:close/>
                  </a:path>
                </a:pathLst>
              </a:custGeom>
              <a:solidFill>
                <a:srgbClr val="FFFFFF"/>
              </a:solidFill>
              <a:ln w="19050" cap="sq">
                <a:solidFill>
                  <a:srgbClr val="D9D3F0"/>
                </a:solidFill>
                <a:prstDash val="solid"/>
                <a:miter/>
              </a:ln>
            </p:spPr>
          </p:sp>
        </p:grpSp>
        <p:grpSp>
          <p:nvGrpSpPr>
            <p:cNvPr name="Group 30" id="30"/>
            <p:cNvGrpSpPr/>
            <p:nvPr/>
          </p:nvGrpSpPr>
          <p:grpSpPr>
            <a:xfrm rot="0">
              <a:off x="517211" y="4533252"/>
              <a:ext cx="1006464" cy="1138186"/>
              <a:chOff x="0" y="0"/>
              <a:chExt cx="865626" cy="978916"/>
            </a:xfrm>
          </p:grpSpPr>
          <p:sp>
            <p:nvSpPr>
              <p:cNvPr name="Freeform 31" id="31"/>
              <p:cNvSpPr/>
              <p:nvPr/>
            </p:nvSpPr>
            <p:spPr>
              <a:xfrm flipH="false" flipV="false" rot="0">
                <a:off x="0" y="0"/>
                <a:ext cx="865626" cy="978917"/>
              </a:xfrm>
              <a:custGeom>
                <a:avLst/>
                <a:gdLst/>
                <a:ahLst/>
                <a:cxnLst/>
                <a:rect r="r" b="b" t="t" l="l"/>
                <a:pathLst>
                  <a:path h="978917" w="865626">
                    <a:moveTo>
                      <a:pt x="0" y="489458"/>
                    </a:moveTo>
                    <a:cubicBezTo>
                      <a:pt x="0" y="219169"/>
                      <a:pt x="193804" y="0"/>
                      <a:pt x="432813" y="0"/>
                    </a:cubicBezTo>
                    <a:cubicBezTo>
                      <a:pt x="671822" y="0"/>
                      <a:pt x="865626" y="219169"/>
                      <a:pt x="865626" y="489458"/>
                    </a:cubicBezTo>
                    <a:cubicBezTo>
                      <a:pt x="865626" y="759748"/>
                      <a:pt x="671822" y="978917"/>
                      <a:pt x="432813" y="978917"/>
                    </a:cubicBezTo>
                    <a:cubicBezTo>
                      <a:pt x="193804" y="978917"/>
                      <a:pt x="0" y="759748"/>
                      <a:pt x="0" y="489458"/>
                    </a:cubicBezTo>
                    <a:close/>
                  </a:path>
                </a:pathLst>
              </a:custGeom>
              <a:solidFill>
                <a:srgbClr val="D9A441"/>
              </a:solidFill>
            </p:spPr>
          </p:sp>
          <p:sp>
            <p:nvSpPr>
              <p:cNvPr name="TextBox 32" id="32"/>
              <p:cNvSpPr txBox="true"/>
              <p:nvPr/>
            </p:nvSpPr>
            <p:spPr>
              <a:xfrm>
                <a:off x="0" y="-66675"/>
                <a:ext cx="865626" cy="1045591"/>
              </a:xfrm>
              <a:prstGeom prst="rect">
                <a:avLst/>
              </a:prstGeom>
            </p:spPr>
            <p:txBody>
              <a:bodyPr anchor="ctr" rtlCol="false" tIns="50800" lIns="50800" bIns="50800" rIns="50800"/>
              <a:lstStyle/>
              <a:p>
                <a:pPr algn="ctr">
                  <a:lnSpc>
                    <a:spcPts val="3959"/>
                  </a:lnSpc>
                </a:pPr>
                <a:r>
                  <a:rPr lang="en-US" sz="3299" b="true">
                    <a:solidFill>
                      <a:srgbClr val="FFFFFF"/>
                    </a:solidFill>
                    <a:latin typeface="Calibri (MS) Bold"/>
                    <a:ea typeface="Calibri (MS) Bold"/>
                    <a:cs typeface="Calibri (MS) Bold"/>
                    <a:sym typeface="Calibri (MS) Bold"/>
                  </a:rPr>
                  <a:t>✓</a:t>
                </a:r>
              </a:p>
            </p:txBody>
          </p:sp>
        </p:grpSp>
        <p:sp>
          <p:nvSpPr>
            <p:cNvPr name="TextBox 33" id="33"/>
            <p:cNvSpPr txBox="true"/>
            <p:nvPr/>
          </p:nvSpPr>
          <p:spPr>
            <a:xfrm rot="0">
              <a:off x="1825614" y="4499579"/>
              <a:ext cx="9058176" cy="624620"/>
            </a:xfrm>
            <a:prstGeom prst="rect">
              <a:avLst/>
            </a:prstGeom>
          </p:spPr>
          <p:txBody>
            <a:bodyPr anchor="t" rtlCol="false" tIns="0" lIns="0" bIns="0" rIns="0">
              <a:spAutoFit/>
            </a:bodyPr>
            <a:lstStyle/>
            <a:p>
              <a:pPr algn="l">
                <a:lnSpc>
                  <a:spcPts val="3406"/>
                </a:lnSpc>
              </a:pPr>
              <a:r>
                <a:rPr lang="en-US" sz="2703" b="true">
                  <a:solidFill>
                    <a:srgbClr val="14142B"/>
                  </a:solidFill>
                  <a:latin typeface="Calibri (MS) Bold"/>
                  <a:ea typeface="Calibri (MS) Bold"/>
                  <a:cs typeface="Calibri (MS) Bold"/>
                  <a:sym typeface="Calibri (MS) Bold"/>
                </a:rPr>
                <a:t>Versioned from day one</a:t>
              </a:r>
            </a:p>
          </p:txBody>
        </p:sp>
        <p:sp>
          <p:nvSpPr>
            <p:cNvPr name="TextBox 34" id="34"/>
            <p:cNvSpPr txBox="true"/>
            <p:nvPr/>
          </p:nvSpPr>
          <p:spPr>
            <a:xfrm rot="0">
              <a:off x="577598" y="5520225"/>
              <a:ext cx="10145157" cy="499698"/>
            </a:xfrm>
            <a:prstGeom prst="rect">
              <a:avLst/>
            </a:prstGeom>
          </p:spPr>
          <p:txBody>
            <a:bodyPr anchor="t" rtlCol="false" tIns="0" lIns="0" bIns="0" rIns="0">
              <a:spAutoFit/>
            </a:bodyPr>
            <a:lstStyle/>
            <a:p>
              <a:pPr algn="l">
                <a:lnSpc>
                  <a:spcPts val="2888"/>
                </a:lnSpc>
              </a:pPr>
              <a:r>
                <a:rPr lang="en-US" sz="2092">
                  <a:solidFill>
                    <a:srgbClr val="6B6B76"/>
                  </a:solidFill>
                  <a:latin typeface="Calibri (MS)"/>
                  <a:ea typeface="Calibri (MS)"/>
                  <a:cs typeface="Calibri (MS)"/>
                  <a:sym typeface="Calibri (MS)"/>
                </a:rPr>
                <a:t>Content-addressed index; cross-version retrieval never bolted on.</a:t>
              </a:r>
            </a:p>
          </p:txBody>
        </p:sp>
        <p:grpSp>
          <p:nvGrpSpPr>
            <p:cNvPr name="Group 35" id="35"/>
            <p:cNvGrpSpPr/>
            <p:nvPr/>
          </p:nvGrpSpPr>
          <p:grpSpPr>
            <a:xfrm rot="0">
              <a:off x="577598" y="6117380"/>
              <a:ext cx="10145157" cy="1190754"/>
              <a:chOff x="0" y="0"/>
              <a:chExt cx="8725514" cy="1024128"/>
            </a:xfrm>
          </p:grpSpPr>
          <p:sp>
            <p:nvSpPr>
              <p:cNvPr name="Freeform 36" id="36"/>
              <p:cNvSpPr/>
              <p:nvPr/>
            </p:nvSpPr>
            <p:spPr>
              <a:xfrm flipH="false" flipV="false" rot="0">
                <a:off x="0" y="0"/>
                <a:ext cx="8725514" cy="1024128"/>
              </a:xfrm>
              <a:custGeom>
                <a:avLst/>
                <a:gdLst/>
                <a:ahLst/>
                <a:cxnLst/>
                <a:rect r="r" b="b" t="t" l="l"/>
                <a:pathLst>
                  <a:path h="1024128" w="8725514">
                    <a:moveTo>
                      <a:pt x="0" y="61468"/>
                    </a:moveTo>
                    <a:cubicBezTo>
                      <a:pt x="0" y="27559"/>
                      <a:pt x="26089" y="0"/>
                      <a:pt x="58189" y="0"/>
                    </a:cubicBezTo>
                    <a:lnTo>
                      <a:pt x="8667324" y="0"/>
                    </a:lnTo>
                    <a:cubicBezTo>
                      <a:pt x="8699424" y="0"/>
                      <a:pt x="8725514" y="27559"/>
                      <a:pt x="8725514" y="61468"/>
                    </a:cubicBezTo>
                    <a:lnTo>
                      <a:pt x="8725514" y="962660"/>
                    </a:lnTo>
                    <a:cubicBezTo>
                      <a:pt x="8725514" y="996569"/>
                      <a:pt x="8699424" y="1024128"/>
                      <a:pt x="8667324" y="1024128"/>
                    </a:cubicBezTo>
                    <a:lnTo>
                      <a:pt x="58189" y="1024128"/>
                    </a:lnTo>
                    <a:cubicBezTo>
                      <a:pt x="26089" y="1024128"/>
                      <a:pt x="0" y="996569"/>
                      <a:pt x="0" y="962660"/>
                    </a:cubicBezTo>
                    <a:close/>
                  </a:path>
                </a:pathLst>
              </a:custGeom>
              <a:solidFill>
                <a:srgbClr val="F7F5FC"/>
              </a:solidFill>
            </p:spPr>
          </p:sp>
        </p:grpSp>
        <p:sp>
          <p:nvSpPr>
            <p:cNvPr name="TextBox 37" id="37"/>
            <p:cNvSpPr txBox="true"/>
            <p:nvPr/>
          </p:nvSpPr>
          <p:spPr>
            <a:xfrm rot="0">
              <a:off x="899667" y="6173859"/>
              <a:ext cx="9501020" cy="353433"/>
            </a:xfrm>
            <a:prstGeom prst="rect">
              <a:avLst/>
            </a:prstGeom>
          </p:spPr>
          <p:txBody>
            <a:bodyPr anchor="t" rtlCol="false" tIns="0" lIns="0" bIns="0" rIns="0">
              <a:spAutoFit/>
            </a:bodyPr>
            <a:lstStyle/>
            <a:p>
              <a:pPr algn="l">
                <a:lnSpc>
                  <a:spcPts val="1988"/>
                </a:lnSpc>
              </a:pPr>
              <a:r>
                <a:rPr lang="en-US" sz="1656" b="true">
                  <a:solidFill>
                    <a:srgbClr val="6D28D9"/>
                  </a:solidFill>
                  <a:latin typeface="Calibri (MS) Bold"/>
                  <a:ea typeface="Calibri (MS) Bold"/>
                  <a:cs typeface="Calibri (MS) Bold"/>
                  <a:sym typeface="Calibri (MS) Bold"/>
                </a:rPr>
                <a:t>EVIDENCE</a:t>
              </a:r>
            </a:p>
          </p:txBody>
        </p:sp>
        <p:sp>
          <p:nvSpPr>
            <p:cNvPr name="TextBox 38" id="38"/>
            <p:cNvSpPr txBox="true"/>
            <p:nvPr/>
          </p:nvSpPr>
          <p:spPr>
            <a:xfrm rot="0">
              <a:off x="899667" y="6466449"/>
              <a:ext cx="9501020" cy="903703"/>
            </a:xfrm>
            <a:prstGeom prst="rect">
              <a:avLst/>
            </a:prstGeom>
          </p:spPr>
          <p:txBody>
            <a:bodyPr anchor="t" rtlCol="false" tIns="0" lIns="0" bIns="0" rIns="0">
              <a:spAutoFit/>
            </a:bodyPr>
            <a:lstStyle/>
            <a:p>
              <a:pPr algn="l">
                <a:lnSpc>
                  <a:spcPts val="2647"/>
                </a:lnSpc>
              </a:pPr>
              <a:r>
                <a:rPr lang="en-US" sz="1918">
                  <a:solidFill>
                    <a:srgbClr val="14142B"/>
                  </a:solidFill>
                  <a:latin typeface="Calibri (MS)"/>
                  <a:ea typeface="Calibri (MS)"/>
                  <a:cs typeface="Calibri (MS)"/>
                  <a:sym typeface="Calibri (MS)"/>
                </a:rPr>
                <a:t>prism/index/versioned.py — a new version re-encodes only the snippets that changed (1 of 18 in the demo).</a:t>
              </a:r>
            </a:p>
          </p:txBody>
        </p:sp>
        <p:grpSp>
          <p:nvGrpSpPr>
            <p:cNvPr name="Group 39" id="39"/>
            <p:cNvGrpSpPr/>
            <p:nvPr/>
          </p:nvGrpSpPr>
          <p:grpSpPr>
            <a:xfrm rot="0">
              <a:off x="11876275" y="4093216"/>
              <a:ext cx="11300354" cy="3484845"/>
              <a:chOff x="0" y="0"/>
              <a:chExt cx="9719060" cy="2997200"/>
            </a:xfrm>
          </p:grpSpPr>
          <p:sp>
            <p:nvSpPr>
              <p:cNvPr name="Freeform 40" id="40"/>
              <p:cNvSpPr/>
              <p:nvPr/>
            </p:nvSpPr>
            <p:spPr>
              <a:xfrm flipH="false" flipV="false" rot="0">
                <a:off x="0" y="0"/>
                <a:ext cx="9719059" cy="2997200"/>
              </a:xfrm>
              <a:custGeom>
                <a:avLst/>
                <a:gdLst/>
                <a:ahLst/>
                <a:cxnLst/>
                <a:rect r="r" b="b" t="t" l="l"/>
                <a:pathLst>
                  <a:path h="2997200" w="9719059">
                    <a:moveTo>
                      <a:pt x="0" y="179832"/>
                    </a:moveTo>
                    <a:cubicBezTo>
                      <a:pt x="0" y="80518"/>
                      <a:pt x="76223" y="0"/>
                      <a:pt x="170240" y="0"/>
                    </a:cubicBezTo>
                    <a:lnTo>
                      <a:pt x="9548820" y="0"/>
                    </a:lnTo>
                    <a:cubicBezTo>
                      <a:pt x="9642837" y="0"/>
                      <a:pt x="9719059" y="80518"/>
                      <a:pt x="9719059" y="179832"/>
                    </a:cubicBezTo>
                    <a:lnTo>
                      <a:pt x="9719059" y="2817368"/>
                    </a:lnTo>
                    <a:cubicBezTo>
                      <a:pt x="9719059" y="2916682"/>
                      <a:pt x="9642837" y="2997200"/>
                      <a:pt x="9548820" y="2997200"/>
                    </a:cubicBezTo>
                    <a:lnTo>
                      <a:pt x="170240" y="2997200"/>
                    </a:lnTo>
                    <a:cubicBezTo>
                      <a:pt x="76223" y="2997200"/>
                      <a:pt x="0" y="2916682"/>
                      <a:pt x="0" y="2817368"/>
                    </a:cubicBezTo>
                    <a:close/>
                  </a:path>
                </a:pathLst>
              </a:custGeom>
              <a:solidFill>
                <a:srgbClr val="EDE9FB"/>
              </a:solidFill>
              <a:ln w="19050" cap="sq">
                <a:solidFill>
                  <a:srgbClr val="D9D3F0"/>
                </a:solidFill>
                <a:prstDash val="solid"/>
                <a:miter/>
              </a:ln>
            </p:spPr>
          </p:sp>
        </p:grpSp>
        <p:grpSp>
          <p:nvGrpSpPr>
            <p:cNvPr name="Group 41" id="41"/>
            <p:cNvGrpSpPr/>
            <p:nvPr/>
          </p:nvGrpSpPr>
          <p:grpSpPr>
            <a:xfrm rot="0">
              <a:off x="12393485" y="4533252"/>
              <a:ext cx="1006464" cy="1138186"/>
              <a:chOff x="0" y="0"/>
              <a:chExt cx="865626" cy="978916"/>
            </a:xfrm>
          </p:grpSpPr>
          <p:sp>
            <p:nvSpPr>
              <p:cNvPr name="Freeform 42" id="42"/>
              <p:cNvSpPr/>
              <p:nvPr/>
            </p:nvSpPr>
            <p:spPr>
              <a:xfrm flipH="false" flipV="false" rot="0">
                <a:off x="0" y="0"/>
                <a:ext cx="865626" cy="978917"/>
              </a:xfrm>
              <a:custGeom>
                <a:avLst/>
                <a:gdLst/>
                <a:ahLst/>
                <a:cxnLst/>
                <a:rect r="r" b="b" t="t" l="l"/>
                <a:pathLst>
                  <a:path h="978917" w="865626">
                    <a:moveTo>
                      <a:pt x="0" y="489458"/>
                    </a:moveTo>
                    <a:cubicBezTo>
                      <a:pt x="0" y="219169"/>
                      <a:pt x="193804" y="0"/>
                      <a:pt x="432813" y="0"/>
                    </a:cubicBezTo>
                    <a:cubicBezTo>
                      <a:pt x="671822" y="0"/>
                      <a:pt x="865626" y="219169"/>
                      <a:pt x="865626" y="489458"/>
                    </a:cubicBezTo>
                    <a:cubicBezTo>
                      <a:pt x="865626" y="759748"/>
                      <a:pt x="671822" y="978917"/>
                      <a:pt x="432813" y="978917"/>
                    </a:cubicBezTo>
                    <a:cubicBezTo>
                      <a:pt x="193804" y="978917"/>
                      <a:pt x="0" y="759748"/>
                      <a:pt x="0" y="489458"/>
                    </a:cubicBezTo>
                    <a:close/>
                  </a:path>
                </a:pathLst>
              </a:custGeom>
              <a:solidFill>
                <a:srgbClr val="D9A441"/>
              </a:solidFill>
            </p:spPr>
          </p:sp>
          <p:sp>
            <p:nvSpPr>
              <p:cNvPr name="TextBox 43" id="43"/>
              <p:cNvSpPr txBox="true"/>
              <p:nvPr/>
            </p:nvSpPr>
            <p:spPr>
              <a:xfrm>
                <a:off x="0" y="-66675"/>
                <a:ext cx="865626" cy="1045591"/>
              </a:xfrm>
              <a:prstGeom prst="rect">
                <a:avLst/>
              </a:prstGeom>
            </p:spPr>
            <p:txBody>
              <a:bodyPr anchor="ctr" rtlCol="false" tIns="50800" lIns="50800" bIns="50800" rIns="50800"/>
              <a:lstStyle/>
              <a:p>
                <a:pPr algn="ctr">
                  <a:lnSpc>
                    <a:spcPts val="3959"/>
                  </a:lnSpc>
                </a:pPr>
                <a:r>
                  <a:rPr lang="en-US" sz="3299" b="true">
                    <a:solidFill>
                      <a:srgbClr val="FFFFFF"/>
                    </a:solidFill>
                    <a:latin typeface="Calibri (MS) Bold"/>
                    <a:ea typeface="Calibri (MS) Bold"/>
                    <a:cs typeface="Calibri (MS) Bold"/>
                    <a:sym typeface="Calibri (MS) Bold"/>
                  </a:rPr>
                  <a:t>✓</a:t>
                </a:r>
              </a:p>
            </p:txBody>
          </p:sp>
        </p:grpSp>
        <p:sp>
          <p:nvSpPr>
            <p:cNvPr name="TextBox 44" id="44"/>
            <p:cNvSpPr txBox="true"/>
            <p:nvPr/>
          </p:nvSpPr>
          <p:spPr>
            <a:xfrm rot="0">
              <a:off x="13701888" y="4499579"/>
              <a:ext cx="9058176" cy="624620"/>
            </a:xfrm>
            <a:prstGeom prst="rect">
              <a:avLst/>
            </a:prstGeom>
          </p:spPr>
          <p:txBody>
            <a:bodyPr anchor="t" rtlCol="false" tIns="0" lIns="0" bIns="0" rIns="0">
              <a:spAutoFit/>
            </a:bodyPr>
            <a:lstStyle/>
            <a:p>
              <a:pPr algn="l">
                <a:lnSpc>
                  <a:spcPts val="3406"/>
                </a:lnSpc>
              </a:pPr>
              <a:r>
                <a:rPr lang="en-US" sz="2703" b="true">
                  <a:solidFill>
                    <a:srgbClr val="14142B"/>
                  </a:solidFill>
                  <a:latin typeface="Calibri (MS) Bold"/>
                  <a:ea typeface="Calibri (MS) Bold"/>
                  <a:cs typeface="Calibri (MS) Bold"/>
                  <a:sym typeface="Calibri (MS) Bold"/>
                </a:rPr>
                <a:t>Honest about limits</a:t>
              </a:r>
            </a:p>
          </p:txBody>
        </p:sp>
        <p:sp>
          <p:nvSpPr>
            <p:cNvPr name="TextBox 45" id="45"/>
            <p:cNvSpPr txBox="true"/>
            <p:nvPr/>
          </p:nvSpPr>
          <p:spPr>
            <a:xfrm rot="0">
              <a:off x="12453873" y="5520225"/>
              <a:ext cx="10145157" cy="499698"/>
            </a:xfrm>
            <a:prstGeom prst="rect">
              <a:avLst/>
            </a:prstGeom>
          </p:spPr>
          <p:txBody>
            <a:bodyPr anchor="t" rtlCol="false" tIns="0" lIns="0" bIns="0" rIns="0">
              <a:spAutoFit/>
            </a:bodyPr>
            <a:lstStyle/>
            <a:p>
              <a:pPr algn="l">
                <a:lnSpc>
                  <a:spcPts val="2888"/>
                </a:lnSpc>
              </a:pPr>
              <a:r>
                <a:rPr lang="en-US" sz="2092">
                  <a:solidFill>
                    <a:srgbClr val="6B6B76"/>
                  </a:solidFill>
                  <a:latin typeface="Calibri (MS)"/>
                  <a:ea typeface="Calibri (MS)"/>
                  <a:cs typeface="Calibri (MS)"/>
                  <a:sym typeface="Calibri (MS)"/>
                </a:rPr>
                <a:t>Limitations reported next to results — credibility over overselling.</a:t>
              </a:r>
            </a:p>
          </p:txBody>
        </p:sp>
        <p:grpSp>
          <p:nvGrpSpPr>
            <p:cNvPr name="Group 46" id="46"/>
            <p:cNvGrpSpPr/>
            <p:nvPr/>
          </p:nvGrpSpPr>
          <p:grpSpPr>
            <a:xfrm rot="0">
              <a:off x="12453873" y="6117380"/>
              <a:ext cx="10145157" cy="1190754"/>
              <a:chOff x="0" y="0"/>
              <a:chExt cx="8725514" cy="1024128"/>
            </a:xfrm>
          </p:grpSpPr>
          <p:sp>
            <p:nvSpPr>
              <p:cNvPr name="Freeform 47" id="47"/>
              <p:cNvSpPr/>
              <p:nvPr/>
            </p:nvSpPr>
            <p:spPr>
              <a:xfrm flipH="false" flipV="false" rot="0">
                <a:off x="0" y="0"/>
                <a:ext cx="8725514" cy="1024128"/>
              </a:xfrm>
              <a:custGeom>
                <a:avLst/>
                <a:gdLst/>
                <a:ahLst/>
                <a:cxnLst/>
                <a:rect r="r" b="b" t="t" l="l"/>
                <a:pathLst>
                  <a:path h="1024128" w="8725514">
                    <a:moveTo>
                      <a:pt x="0" y="61468"/>
                    </a:moveTo>
                    <a:cubicBezTo>
                      <a:pt x="0" y="27559"/>
                      <a:pt x="26089" y="0"/>
                      <a:pt x="58189" y="0"/>
                    </a:cubicBezTo>
                    <a:lnTo>
                      <a:pt x="8667324" y="0"/>
                    </a:lnTo>
                    <a:cubicBezTo>
                      <a:pt x="8699424" y="0"/>
                      <a:pt x="8725514" y="27559"/>
                      <a:pt x="8725514" y="61468"/>
                    </a:cubicBezTo>
                    <a:lnTo>
                      <a:pt x="8725514" y="962660"/>
                    </a:lnTo>
                    <a:cubicBezTo>
                      <a:pt x="8725514" y="996569"/>
                      <a:pt x="8699424" y="1024128"/>
                      <a:pt x="8667324" y="1024128"/>
                    </a:cubicBezTo>
                    <a:lnTo>
                      <a:pt x="58189" y="1024128"/>
                    </a:lnTo>
                    <a:cubicBezTo>
                      <a:pt x="26089" y="1024128"/>
                      <a:pt x="0" y="996569"/>
                      <a:pt x="0" y="962660"/>
                    </a:cubicBezTo>
                    <a:close/>
                  </a:path>
                </a:pathLst>
              </a:custGeom>
              <a:solidFill>
                <a:srgbClr val="F7F5FC"/>
              </a:solidFill>
            </p:spPr>
          </p:sp>
        </p:grpSp>
        <p:sp>
          <p:nvSpPr>
            <p:cNvPr name="TextBox 48" id="48"/>
            <p:cNvSpPr txBox="true"/>
            <p:nvPr/>
          </p:nvSpPr>
          <p:spPr>
            <a:xfrm rot="0">
              <a:off x="12775942" y="6173859"/>
              <a:ext cx="9501020" cy="353433"/>
            </a:xfrm>
            <a:prstGeom prst="rect">
              <a:avLst/>
            </a:prstGeom>
          </p:spPr>
          <p:txBody>
            <a:bodyPr anchor="t" rtlCol="false" tIns="0" lIns="0" bIns="0" rIns="0">
              <a:spAutoFit/>
            </a:bodyPr>
            <a:lstStyle/>
            <a:p>
              <a:pPr algn="l">
                <a:lnSpc>
                  <a:spcPts val="1988"/>
                </a:lnSpc>
              </a:pPr>
              <a:r>
                <a:rPr lang="en-US" sz="1656" b="true">
                  <a:solidFill>
                    <a:srgbClr val="6D28D9"/>
                  </a:solidFill>
                  <a:latin typeface="Calibri (MS) Bold"/>
                  <a:ea typeface="Calibri (MS) Bold"/>
                  <a:cs typeface="Calibri (MS) Bold"/>
                  <a:sym typeface="Calibri (MS) Bold"/>
                </a:rPr>
                <a:t>EVIDENCE</a:t>
              </a:r>
            </a:p>
          </p:txBody>
        </p:sp>
        <p:sp>
          <p:nvSpPr>
            <p:cNvPr name="TextBox 49" id="49"/>
            <p:cNvSpPr txBox="true"/>
            <p:nvPr/>
          </p:nvSpPr>
          <p:spPr>
            <a:xfrm rot="0">
              <a:off x="12775942" y="6466449"/>
              <a:ext cx="9501020" cy="903703"/>
            </a:xfrm>
            <a:prstGeom prst="rect">
              <a:avLst/>
            </a:prstGeom>
          </p:spPr>
          <p:txBody>
            <a:bodyPr anchor="t" rtlCol="false" tIns="0" lIns="0" bIns="0" rIns="0">
              <a:spAutoFit/>
            </a:bodyPr>
            <a:lstStyle/>
            <a:p>
              <a:pPr algn="l">
                <a:lnSpc>
                  <a:spcPts val="2647"/>
                </a:lnSpc>
              </a:pPr>
              <a:r>
                <a:rPr lang="en-US" sz="1918">
                  <a:solidFill>
                    <a:srgbClr val="14142B"/>
                  </a:solidFill>
                  <a:latin typeface="Calibri (MS)"/>
                  <a:ea typeface="Calibri (MS)"/>
                  <a:cs typeface="Calibri (MS)"/>
                  <a:sym typeface="Calibri (MS)"/>
                </a:rPr>
                <a:t>docs/ablation_log.md — every failure named up front; a code-model swap losing 50% is documented, not hidden.</a:t>
              </a:r>
            </a:p>
          </p:txBody>
        </p:sp>
        <p:grpSp>
          <p:nvGrpSpPr>
            <p:cNvPr name="Group 50" id="50"/>
            <p:cNvGrpSpPr/>
            <p:nvPr/>
          </p:nvGrpSpPr>
          <p:grpSpPr>
            <a:xfrm rot="0">
              <a:off x="13979" y="7882247"/>
              <a:ext cx="23148671" cy="2020029"/>
              <a:chOff x="0" y="0"/>
              <a:chExt cx="19909406" cy="1737360"/>
            </a:xfrm>
          </p:grpSpPr>
          <p:sp>
            <p:nvSpPr>
              <p:cNvPr name="Freeform 51" id="51"/>
              <p:cNvSpPr/>
              <p:nvPr/>
            </p:nvSpPr>
            <p:spPr>
              <a:xfrm flipH="false" flipV="false" rot="0">
                <a:off x="0" y="0"/>
                <a:ext cx="19909406" cy="1737360"/>
              </a:xfrm>
              <a:custGeom>
                <a:avLst/>
                <a:gdLst/>
                <a:ahLst/>
                <a:cxnLst/>
                <a:rect r="r" b="b" t="t" l="l"/>
                <a:pathLst>
                  <a:path h="1737360" w="19909406">
                    <a:moveTo>
                      <a:pt x="0" y="138938"/>
                    </a:moveTo>
                    <a:cubicBezTo>
                      <a:pt x="0" y="62230"/>
                      <a:pt x="58911" y="0"/>
                      <a:pt x="131527" y="0"/>
                    </a:cubicBezTo>
                    <a:lnTo>
                      <a:pt x="19777880" y="0"/>
                    </a:lnTo>
                    <a:cubicBezTo>
                      <a:pt x="19850495" y="0"/>
                      <a:pt x="19909406" y="62230"/>
                      <a:pt x="19909406" y="138938"/>
                    </a:cubicBezTo>
                    <a:lnTo>
                      <a:pt x="19909406" y="1598422"/>
                    </a:lnTo>
                    <a:cubicBezTo>
                      <a:pt x="19909406" y="1675130"/>
                      <a:pt x="19850495" y="1737360"/>
                      <a:pt x="19777880" y="1737360"/>
                    </a:cubicBezTo>
                    <a:lnTo>
                      <a:pt x="131527" y="1737360"/>
                    </a:lnTo>
                    <a:cubicBezTo>
                      <a:pt x="58911" y="1737360"/>
                      <a:pt x="0" y="1675130"/>
                      <a:pt x="0" y="1598422"/>
                    </a:cubicBezTo>
                    <a:close/>
                  </a:path>
                </a:pathLst>
              </a:custGeom>
              <a:solidFill>
                <a:srgbClr val="704EA6"/>
              </a:solidFill>
            </p:spPr>
          </p:sp>
        </p:grpSp>
        <p:sp>
          <p:nvSpPr>
            <p:cNvPr name="TextBox 52" id="52"/>
            <p:cNvSpPr txBox="true"/>
            <p:nvPr/>
          </p:nvSpPr>
          <p:spPr>
            <a:xfrm rot="0">
              <a:off x="617857" y="8056782"/>
              <a:ext cx="21940914" cy="436790"/>
            </a:xfrm>
            <a:prstGeom prst="rect">
              <a:avLst/>
            </a:prstGeom>
          </p:spPr>
          <p:txBody>
            <a:bodyPr anchor="t" rtlCol="false" tIns="0" lIns="0" bIns="0" rIns="0">
              <a:spAutoFit/>
            </a:bodyPr>
            <a:lstStyle/>
            <a:p>
              <a:pPr algn="l">
                <a:lnSpc>
                  <a:spcPts val="2406"/>
                </a:lnSpc>
              </a:pPr>
              <a:r>
                <a:rPr lang="en-US" sz="2005" b="true">
                  <a:solidFill>
                    <a:srgbClr val="E3DAF7"/>
                  </a:solidFill>
                  <a:latin typeface="Calibri (MS) Bold"/>
                  <a:ea typeface="Calibri (MS) Bold"/>
                  <a:cs typeface="Calibri (MS) Bold"/>
                  <a:sym typeface="Calibri (MS) Bold"/>
                </a:rPr>
                <a:t>BY THE NUMBERS</a:t>
              </a:r>
            </a:p>
          </p:txBody>
        </p:sp>
        <p:grpSp>
          <p:nvGrpSpPr>
            <p:cNvPr name="Group 53" id="53"/>
            <p:cNvGrpSpPr/>
            <p:nvPr/>
          </p:nvGrpSpPr>
          <p:grpSpPr>
            <a:xfrm rot="0">
              <a:off x="617857" y="8605205"/>
              <a:ext cx="4066114" cy="1443855"/>
              <a:chOff x="0" y="0"/>
              <a:chExt cx="3497130" cy="1241812"/>
            </a:xfrm>
          </p:grpSpPr>
          <p:sp>
            <p:nvSpPr>
              <p:cNvPr name="Freeform 54" id="54"/>
              <p:cNvSpPr/>
              <p:nvPr/>
            </p:nvSpPr>
            <p:spPr>
              <a:xfrm flipH="false" flipV="false" rot="0">
                <a:off x="0" y="0"/>
                <a:ext cx="3497130" cy="1241812"/>
              </a:xfrm>
              <a:custGeom>
                <a:avLst/>
                <a:gdLst/>
                <a:ahLst/>
                <a:cxnLst/>
                <a:rect r="r" b="b" t="t" l="l"/>
                <a:pathLst>
                  <a:path h="1241812" w="3497130">
                    <a:moveTo>
                      <a:pt x="0" y="0"/>
                    </a:moveTo>
                    <a:lnTo>
                      <a:pt x="3497130" y="0"/>
                    </a:lnTo>
                    <a:lnTo>
                      <a:pt x="3497130" y="1241812"/>
                    </a:lnTo>
                    <a:lnTo>
                      <a:pt x="0" y="1241812"/>
                    </a:lnTo>
                    <a:close/>
                  </a:path>
                </a:pathLst>
              </a:custGeom>
              <a:blipFill>
                <a:blip r:embed="rId3">
                  <a:alphaModFix amt="0"/>
                </a:blip>
                <a:stretch>
                  <a:fillRect l="0" t="-13784" r="-5634" b="-2145"/>
                </a:stretch>
              </a:blipFill>
            </p:spPr>
          </p:sp>
          <p:sp>
            <p:nvSpPr>
              <p:cNvPr name="TextBox 55" id="55"/>
              <p:cNvSpPr txBox="true"/>
              <p:nvPr/>
            </p:nvSpPr>
            <p:spPr>
              <a:xfrm>
                <a:off x="0" y="-85725"/>
                <a:ext cx="3497130" cy="1327537"/>
              </a:xfrm>
              <a:prstGeom prst="rect">
                <a:avLst/>
              </a:prstGeom>
            </p:spPr>
            <p:txBody>
              <a:bodyPr anchor="ctr" rtlCol="false" tIns="0" lIns="0" bIns="0" rIns="0"/>
              <a:lstStyle/>
              <a:p>
                <a:pPr algn="ctr">
                  <a:lnSpc>
                    <a:spcPts val="4319"/>
                  </a:lnSpc>
                </a:pPr>
                <a:r>
                  <a:rPr lang="en-US" sz="3599" b="true">
                    <a:solidFill>
                      <a:srgbClr val="FFFFFF"/>
                    </a:solidFill>
                    <a:latin typeface="Calibri (MS) Bold"/>
                    <a:ea typeface="Calibri (MS) Bold"/>
                    <a:cs typeface="Calibri (MS) Bold"/>
                    <a:sym typeface="Calibri (MS) Bold"/>
                  </a:rPr>
                  <a:t>10</a:t>
                </a:r>
              </a:p>
              <a:p>
                <a:pPr algn="ctr">
                  <a:lnSpc>
                    <a:spcPts val="2069"/>
                  </a:lnSpc>
                </a:pPr>
                <a:r>
                  <a:rPr lang="en-US" sz="1724">
                    <a:solidFill>
                      <a:srgbClr val="E3DAF7"/>
                    </a:solidFill>
                    <a:latin typeface="Calibri (MS)"/>
                    <a:ea typeface="Calibri (MS)"/>
                    <a:cs typeface="Calibri (MS)"/>
                    <a:sym typeface="Calibri (MS)"/>
                  </a:rPr>
                  <a:t>real experiments</a:t>
                </a:r>
              </a:p>
            </p:txBody>
          </p:sp>
        </p:grpSp>
        <p:grpSp>
          <p:nvGrpSpPr>
            <p:cNvPr name="Group 56" id="56"/>
            <p:cNvGrpSpPr/>
            <p:nvPr/>
          </p:nvGrpSpPr>
          <p:grpSpPr>
            <a:xfrm rot="0">
              <a:off x="5086557" y="8605205"/>
              <a:ext cx="4066114" cy="1443855"/>
              <a:chOff x="0" y="0"/>
              <a:chExt cx="3497130" cy="1241812"/>
            </a:xfrm>
          </p:grpSpPr>
          <p:sp>
            <p:nvSpPr>
              <p:cNvPr name="Freeform 57" id="57"/>
              <p:cNvSpPr/>
              <p:nvPr/>
            </p:nvSpPr>
            <p:spPr>
              <a:xfrm flipH="false" flipV="false" rot="0">
                <a:off x="0" y="0"/>
                <a:ext cx="3497130" cy="1241812"/>
              </a:xfrm>
              <a:custGeom>
                <a:avLst/>
                <a:gdLst/>
                <a:ahLst/>
                <a:cxnLst/>
                <a:rect r="r" b="b" t="t" l="l"/>
                <a:pathLst>
                  <a:path h="1241812" w="3497130">
                    <a:moveTo>
                      <a:pt x="0" y="0"/>
                    </a:moveTo>
                    <a:lnTo>
                      <a:pt x="3497130" y="0"/>
                    </a:lnTo>
                    <a:lnTo>
                      <a:pt x="3497130" y="1241812"/>
                    </a:lnTo>
                    <a:lnTo>
                      <a:pt x="0" y="1241812"/>
                    </a:lnTo>
                    <a:close/>
                  </a:path>
                </a:pathLst>
              </a:custGeom>
              <a:blipFill>
                <a:blip r:embed="rId3">
                  <a:alphaModFix amt="0"/>
                </a:blip>
                <a:stretch>
                  <a:fillRect l="0" t="-13784" r="-5634" b="-2145"/>
                </a:stretch>
              </a:blipFill>
            </p:spPr>
          </p:sp>
          <p:sp>
            <p:nvSpPr>
              <p:cNvPr name="TextBox 58" id="58"/>
              <p:cNvSpPr txBox="true"/>
              <p:nvPr/>
            </p:nvSpPr>
            <p:spPr>
              <a:xfrm>
                <a:off x="0" y="-85725"/>
                <a:ext cx="3497130" cy="1327537"/>
              </a:xfrm>
              <a:prstGeom prst="rect">
                <a:avLst/>
              </a:prstGeom>
            </p:spPr>
            <p:txBody>
              <a:bodyPr anchor="ctr" rtlCol="false" tIns="0" lIns="0" bIns="0" rIns="0"/>
              <a:lstStyle/>
              <a:p>
                <a:pPr algn="ctr">
                  <a:lnSpc>
                    <a:spcPts val="4319"/>
                  </a:lnSpc>
                </a:pPr>
                <a:r>
                  <a:rPr lang="en-US" sz="3599" b="true">
                    <a:solidFill>
                      <a:srgbClr val="FFFFFF"/>
                    </a:solidFill>
                    <a:latin typeface="Calibri (MS) Bold"/>
                    <a:ea typeface="Calibri (MS) Bold"/>
                    <a:cs typeface="Calibri (MS) Bold"/>
                    <a:sym typeface="Calibri (MS) Bold"/>
                  </a:rPr>
                  <a:t>8</a:t>
                </a:r>
              </a:p>
              <a:p>
                <a:pPr algn="ctr">
                  <a:lnSpc>
                    <a:spcPts val="2069"/>
                  </a:lnSpc>
                </a:pPr>
                <a:r>
                  <a:rPr lang="en-US" sz="1724">
                    <a:solidFill>
                      <a:srgbClr val="E3DAF7"/>
                    </a:solidFill>
                    <a:latin typeface="Calibri (MS)"/>
                    <a:ea typeface="Calibri (MS)"/>
                    <a:cs typeface="Calibri (MS)"/>
                    <a:sym typeface="Calibri (MS)"/>
                  </a:rPr>
                  <a:t>dropped, still in repo</a:t>
                </a:r>
              </a:p>
            </p:txBody>
          </p:sp>
        </p:grpSp>
        <p:grpSp>
          <p:nvGrpSpPr>
            <p:cNvPr name="Group 59" id="59"/>
            <p:cNvGrpSpPr/>
            <p:nvPr/>
          </p:nvGrpSpPr>
          <p:grpSpPr>
            <a:xfrm rot="0">
              <a:off x="9555257" y="8605205"/>
              <a:ext cx="4066114" cy="1443855"/>
              <a:chOff x="0" y="0"/>
              <a:chExt cx="3497130" cy="1241812"/>
            </a:xfrm>
          </p:grpSpPr>
          <p:sp>
            <p:nvSpPr>
              <p:cNvPr name="Freeform 60" id="60"/>
              <p:cNvSpPr/>
              <p:nvPr/>
            </p:nvSpPr>
            <p:spPr>
              <a:xfrm flipH="false" flipV="false" rot="0">
                <a:off x="0" y="0"/>
                <a:ext cx="3497130" cy="1241812"/>
              </a:xfrm>
              <a:custGeom>
                <a:avLst/>
                <a:gdLst/>
                <a:ahLst/>
                <a:cxnLst/>
                <a:rect r="r" b="b" t="t" l="l"/>
                <a:pathLst>
                  <a:path h="1241812" w="3497130">
                    <a:moveTo>
                      <a:pt x="0" y="0"/>
                    </a:moveTo>
                    <a:lnTo>
                      <a:pt x="3497130" y="0"/>
                    </a:lnTo>
                    <a:lnTo>
                      <a:pt x="3497130" y="1241812"/>
                    </a:lnTo>
                    <a:lnTo>
                      <a:pt x="0" y="1241812"/>
                    </a:lnTo>
                    <a:close/>
                  </a:path>
                </a:pathLst>
              </a:custGeom>
              <a:blipFill>
                <a:blip r:embed="rId3">
                  <a:alphaModFix amt="0"/>
                </a:blip>
                <a:stretch>
                  <a:fillRect l="0" t="-13784" r="-5634" b="-2145"/>
                </a:stretch>
              </a:blipFill>
            </p:spPr>
          </p:sp>
          <p:sp>
            <p:nvSpPr>
              <p:cNvPr name="TextBox 61" id="61"/>
              <p:cNvSpPr txBox="true"/>
              <p:nvPr/>
            </p:nvSpPr>
            <p:spPr>
              <a:xfrm>
                <a:off x="0" y="-85725"/>
                <a:ext cx="3497130" cy="1327537"/>
              </a:xfrm>
              <a:prstGeom prst="rect">
                <a:avLst/>
              </a:prstGeom>
            </p:spPr>
            <p:txBody>
              <a:bodyPr anchor="ctr" rtlCol="false" tIns="0" lIns="0" bIns="0" rIns="0"/>
              <a:lstStyle/>
              <a:p>
                <a:pPr algn="ctr">
                  <a:lnSpc>
                    <a:spcPts val="4319"/>
                  </a:lnSpc>
                </a:pPr>
                <a:r>
                  <a:rPr lang="en-US" sz="3599" b="true">
                    <a:solidFill>
                      <a:srgbClr val="FFFFFF"/>
                    </a:solidFill>
                    <a:latin typeface="Calibri (MS) Bold"/>
                    <a:ea typeface="Calibri (MS) Bold"/>
                    <a:cs typeface="Calibri (MS) Bold"/>
                    <a:sym typeface="Calibri (MS) Bold"/>
                  </a:rPr>
                  <a:t>78</a:t>
                </a:r>
              </a:p>
              <a:p>
                <a:pPr algn="ctr">
                  <a:lnSpc>
                    <a:spcPts val="2069"/>
                  </a:lnSpc>
                </a:pPr>
                <a:r>
                  <a:rPr lang="en-US" sz="1724">
                    <a:solidFill>
                      <a:srgbClr val="E3DAF7"/>
                    </a:solidFill>
                    <a:latin typeface="Calibri (MS)"/>
                    <a:ea typeface="Calibri (MS)"/>
                    <a:cs typeface="Calibri (MS)"/>
                    <a:sym typeface="Calibri (MS)"/>
                  </a:rPr>
                  <a:t>offline tests</a:t>
                </a:r>
              </a:p>
            </p:txBody>
          </p:sp>
        </p:grpSp>
        <p:grpSp>
          <p:nvGrpSpPr>
            <p:cNvPr name="Group 62" id="62"/>
            <p:cNvGrpSpPr/>
            <p:nvPr/>
          </p:nvGrpSpPr>
          <p:grpSpPr>
            <a:xfrm rot="0">
              <a:off x="14023957" y="8605205"/>
              <a:ext cx="4066114" cy="1443855"/>
              <a:chOff x="0" y="0"/>
              <a:chExt cx="3497130" cy="1241812"/>
            </a:xfrm>
          </p:grpSpPr>
          <p:sp>
            <p:nvSpPr>
              <p:cNvPr name="Freeform 63" id="63"/>
              <p:cNvSpPr/>
              <p:nvPr/>
            </p:nvSpPr>
            <p:spPr>
              <a:xfrm flipH="false" flipV="false" rot="0">
                <a:off x="0" y="0"/>
                <a:ext cx="3497130" cy="1241812"/>
              </a:xfrm>
              <a:custGeom>
                <a:avLst/>
                <a:gdLst/>
                <a:ahLst/>
                <a:cxnLst/>
                <a:rect r="r" b="b" t="t" l="l"/>
                <a:pathLst>
                  <a:path h="1241812" w="3497130">
                    <a:moveTo>
                      <a:pt x="0" y="0"/>
                    </a:moveTo>
                    <a:lnTo>
                      <a:pt x="3497130" y="0"/>
                    </a:lnTo>
                    <a:lnTo>
                      <a:pt x="3497130" y="1241812"/>
                    </a:lnTo>
                    <a:lnTo>
                      <a:pt x="0" y="1241812"/>
                    </a:lnTo>
                    <a:close/>
                  </a:path>
                </a:pathLst>
              </a:custGeom>
              <a:blipFill>
                <a:blip r:embed="rId3">
                  <a:alphaModFix amt="0"/>
                </a:blip>
                <a:stretch>
                  <a:fillRect l="0" t="-13784" r="-5634" b="-2145"/>
                </a:stretch>
              </a:blipFill>
            </p:spPr>
          </p:sp>
          <p:sp>
            <p:nvSpPr>
              <p:cNvPr name="TextBox 64" id="64"/>
              <p:cNvSpPr txBox="true"/>
              <p:nvPr/>
            </p:nvSpPr>
            <p:spPr>
              <a:xfrm>
                <a:off x="0" y="-85725"/>
                <a:ext cx="3497130" cy="1327537"/>
              </a:xfrm>
              <a:prstGeom prst="rect">
                <a:avLst/>
              </a:prstGeom>
            </p:spPr>
            <p:txBody>
              <a:bodyPr anchor="ctr" rtlCol="false" tIns="0" lIns="0" bIns="0" rIns="0"/>
              <a:lstStyle/>
              <a:p>
                <a:pPr algn="ctr">
                  <a:lnSpc>
                    <a:spcPts val="4319"/>
                  </a:lnSpc>
                </a:pPr>
                <a:r>
                  <a:rPr lang="en-US" sz="3599" b="true">
                    <a:solidFill>
                      <a:srgbClr val="FFFFFF"/>
                    </a:solidFill>
                    <a:latin typeface="Calibri (MS) Bold"/>
                    <a:ea typeface="Calibri (MS) Bold"/>
                    <a:cs typeface="Calibri (MS) Bold"/>
                    <a:sym typeface="Calibri (MS) Bold"/>
                  </a:rPr>
                  <a:t>0</a:t>
                </a:r>
              </a:p>
              <a:p>
                <a:pPr algn="ctr">
                  <a:lnSpc>
                    <a:spcPts val="2069"/>
                  </a:lnSpc>
                </a:pPr>
                <a:r>
                  <a:rPr lang="en-US" sz="1724">
                    <a:solidFill>
                      <a:srgbClr val="E3DAF7"/>
                    </a:solidFill>
                    <a:latin typeface="Calibri (MS)"/>
                    <a:ea typeface="Calibri (MS)"/>
                    <a:cs typeface="Calibri (MS)"/>
                    <a:sym typeface="Calibri (MS)"/>
                  </a:rPr>
                  <a:t>mocks in leaderboard eval</a:t>
                </a:r>
              </a:p>
            </p:txBody>
          </p:sp>
        </p:grpSp>
      </p:grpSp>
      <p:grpSp>
        <p:nvGrpSpPr>
          <p:cNvPr name="Group 65" id="65"/>
          <p:cNvGrpSpPr/>
          <p:nvPr/>
        </p:nvGrpSpPr>
        <p:grpSpPr>
          <a:xfrm rot="0">
            <a:off x="13891521" y="8723179"/>
            <a:ext cx="2923539" cy="1038133"/>
            <a:chOff x="0" y="0"/>
            <a:chExt cx="3497130" cy="1241812"/>
          </a:xfrm>
        </p:grpSpPr>
        <p:sp>
          <p:nvSpPr>
            <p:cNvPr name="Freeform 66" id="66"/>
            <p:cNvSpPr/>
            <p:nvPr/>
          </p:nvSpPr>
          <p:spPr>
            <a:xfrm flipH="false" flipV="false" rot="0">
              <a:off x="0" y="0"/>
              <a:ext cx="3497130" cy="1241812"/>
            </a:xfrm>
            <a:custGeom>
              <a:avLst/>
              <a:gdLst/>
              <a:ahLst/>
              <a:cxnLst/>
              <a:rect r="r" b="b" t="t" l="l"/>
              <a:pathLst>
                <a:path h="1241812" w="3497130">
                  <a:moveTo>
                    <a:pt x="0" y="0"/>
                  </a:moveTo>
                  <a:lnTo>
                    <a:pt x="3497130" y="0"/>
                  </a:lnTo>
                  <a:lnTo>
                    <a:pt x="3497130" y="1241812"/>
                  </a:lnTo>
                  <a:lnTo>
                    <a:pt x="0" y="1241812"/>
                  </a:lnTo>
                  <a:close/>
                </a:path>
              </a:pathLst>
            </a:custGeom>
            <a:blipFill>
              <a:blip r:embed="rId3">
                <a:alphaModFix amt="0"/>
              </a:blip>
              <a:stretch>
                <a:fillRect l="0" t="-13784" r="-5634" b="-2145"/>
              </a:stretch>
            </a:blipFill>
          </p:spPr>
        </p:sp>
        <p:sp>
          <p:nvSpPr>
            <p:cNvPr name="TextBox 67" id="67"/>
            <p:cNvSpPr txBox="true"/>
            <p:nvPr/>
          </p:nvSpPr>
          <p:spPr>
            <a:xfrm>
              <a:off x="0" y="-85725"/>
              <a:ext cx="3497130" cy="1327537"/>
            </a:xfrm>
            <a:prstGeom prst="rect">
              <a:avLst/>
            </a:prstGeom>
          </p:spPr>
          <p:txBody>
            <a:bodyPr anchor="ctr" rtlCol="false" tIns="0" lIns="0" bIns="0" rIns="0"/>
            <a:lstStyle/>
            <a:p>
              <a:pPr algn="ctr">
                <a:lnSpc>
                  <a:spcPts val="4319"/>
                </a:lnSpc>
              </a:pPr>
              <a:r>
                <a:rPr lang="en-US" sz="3599" b="true">
                  <a:solidFill>
                    <a:srgbClr val="FFFFFF"/>
                  </a:solidFill>
                  <a:latin typeface="Calibri (MS) Bold"/>
                  <a:ea typeface="Calibri (MS) Bold"/>
                  <a:cs typeface="Calibri (MS) Bold"/>
                  <a:sym typeface="Calibri (MS) Bold"/>
                </a:rPr>
                <a:t>1</a:t>
              </a:r>
            </a:p>
            <a:p>
              <a:pPr algn="ctr">
                <a:lnSpc>
                  <a:spcPts val="2069"/>
                </a:lnSpc>
              </a:pPr>
              <a:r>
                <a:rPr lang="en-US" sz="1724">
                  <a:solidFill>
                    <a:srgbClr val="E3DAF7"/>
                  </a:solidFill>
                  <a:latin typeface="Calibri (MS)"/>
                  <a:ea typeface="Calibri (MS)"/>
                  <a:cs typeface="Calibri (MS)"/>
                  <a:sym typeface="Calibri (MS)"/>
                </a:rPr>
                <a:t>reproducible docker run</a:t>
              </a:r>
            </a:p>
          </p:txBody>
        </p:sp>
      </p:grpSp>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257300" y="547688"/>
            <a:ext cx="15773400" cy="1988344"/>
            <a:chOff x="0" y="0"/>
            <a:chExt cx="21031200" cy="2651125"/>
          </a:xfrm>
        </p:grpSpPr>
        <p:sp>
          <p:nvSpPr>
            <p:cNvPr name="Freeform 3" id="3"/>
            <p:cNvSpPr/>
            <p:nvPr/>
          </p:nvSpPr>
          <p:spPr>
            <a:xfrm flipH="false" flipV="false" rot="0">
              <a:off x="0" y="0"/>
              <a:ext cx="21031200" cy="2651126"/>
            </a:xfrm>
            <a:custGeom>
              <a:avLst/>
              <a:gdLst/>
              <a:ahLst/>
              <a:cxnLst/>
              <a:rect r="r" b="b" t="t" l="l"/>
              <a:pathLst>
                <a:path h="2651126" w="21031200">
                  <a:moveTo>
                    <a:pt x="0" y="0"/>
                  </a:moveTo>
                  <a:lnTo>
                    <a:pt x="21031200" y="0"/>
                  </a:lnTo>
                  <a:lnTo>
                    <a:pt x="21031200" y="2651126"/>
                  </a:lnTo>
                  <a:lnTo>
                    <a:pt x="0" y="2651126"/>
                  </a:lnTo>
                  <a:close/>
                </a:path>
              </a:pathLst>
            </a:custGeom>
            <a:blipFill>
              <a:blip r:embed="rId3">
                <a:alphaModFix amt="0"/>
              </a:blip>
              <a:stretch>
                <a:fillRect l="0" t="-104573" r="0" b="-104573"/>
              </a:stretch>
            </a:blipFill>
          </p:spPr>
        </p:sp>
        <p:sp>
          <p:nvSpPr>
            <p:cNvPr name="TextBox 4" id="4"/>
            <p:cNvSpPr txBox="true"/>
            <p:nvPr/>
          </p:nvSpPr>
          <p:spPr>
            <a:xfrm>
              <a:off x="0" y="-66675"/>
              <a:ext cx="21031200" cy="2717800"/>
            </a:xfrm>
            <a:prstGeom prst="rect">
              <a:avLst/>
            </a:prstGeom>
          </p:spPr>
          <p:txBody>
            <a:bodyPr anchor="ctr" rtlCol="false" tIns="0" lIns="0" bIns="0" rIns="0"/>
            <a:lstStyle/>
            <a:p>
              <a:pPr algn="l">
                <a:lnSpc>
                  <a:spcPts val="7128"/>
                </a:lnSpc>
              </a:pPr>
              <a:r>
                <a:rPr lang="en-US" sz="6600" b="true">
                  <a:solidFill>
                    <a:srgbClr val="704EA6"/>
                  </a:solidFill>
                  <a:latin typeface="Calibri (MS) Bold"/>
                  <a:ea typeface="Calibri (MS) Bold"/>
                  <a:cs typeface="Calibri (MS) Bold"/>
                  <a:sym typeface="Calibri (MS) Bold"/>
                </a:rPr>
                <a:t>Checklist- Updated on Public GitHub</a:t>
              </a:r>
            </a:p>
          </p:txBody>
        </p:sp>
      </p:grpSp>
      <p:grpSp>
        <p:nvGrpSpPr>
          <p:cNvPr name="Group 5" id="5"/>
          <p:cNvGrpSpPr/>
          <p:nvPr/>
        </p:nvGrpSpPr>
        <p:grpSpPr>
          <a:xfrm rot="0">
            <a:off x="363374" y="2339662"/>
            <a:ext cx="17561252" cy="7194072"/>
            <a:chOff x="0" y="0"/>
            <a:chExt cx="23415003" cy="9592096"/>
          </a:xfrm>
        </p:grpSpPr>
        <p:grpSp>
          <p:nvGrpSpPr>
            <p:cNvPr name="Group 6" id="6"/>
            <p:cNvGrpSpPr/>
            <p:nvPr/>
          </p:nvGrpSpPr>
          <p:grpSpPr>
            <a:xfrm rot="0">
              <a:off x="0" y="0"/>
              <a:ext cx="15289700" cy="9592096"/>
              <a:chOff x="0" y="0"/>
              <a:chExt cx="13741400" cy="8620760"/>
            </a:xfrm>
          </p:grpSpPr>
          <p:sp>
            <p:nvSpPr>
              <p:cNvPr name="Freeform 7" id="7"/>
              <p:cNvSpPr/>
              <p:nvPr/>
            </p:nvSpPr>
            <p:spPr>
              <a:xfrm flipH="false" flipV="false" rot="0">
                <a:off x="0" y="0"/>
                <a:ext cx="13741400" cy="8620760"/>
              </a:xfrm>
              <a:custGeom>
                <a:avLst/>
                <a:gdLst/>
                <a:ahLst/>
                <a:cxnLst/>
                <a:rect r="r" b="b" t="t" l="l"/>
                <a:pathLst>
                  <a:path h="8620760" w="13741400">
                    <a:moveTo>
                      <a:pt x="0" y="517271"/>
                    </a:moveTo>
                    <a:cubicBezTo>
                      <a:pt x="0" y="231521"/>
                      <a:pt x="231521" y="0"/>
                      <a:pt x="517271" y="0"/>
                    </a:cubicBezTo>
                    <a:lnTo>
                      <a:pt x="13224129" y="0"/>
                    </a:lnTo>
                    <a:cubicBezTo>
                      <a:pt x="13509879" y="0"/>
                      <a:pt x="13741400" y="231521"/>
                      <a:pt x="13741400" y="517271"/>
                    </a:cubicBezTo>
                    <a:lnTo>
                      <a:pt x="13741400" y="8103489"/>
                    </a:lnTo>
                    <a:cubicBezTo>
                      <a:pt x="13741400" y="8389112"/>
                      <a:pt x="13509879" y="8620760"/>
                      <a:pt x="13224129" y="8620760"/>
                    </a:cubicBezTo>
                    <a:lnTo>
                      <a:pt x="517271" y="8620760"/>
                    </a:lnTo>
                    <a:cubicBezTo>
                      <a:pt x="231521" y="8620760"/>
                      <a:pt x="0" y="8389239"/>
                      <a:pt x="0" y="8103489"/>
                    </a:cubicBezTo>
                    <a:close/>
                  </a:path>
                </a:pathLst>
              </a:custGeom>
              <a:solidFill>
                <a:srgbClr val="FFFFFF"/>
              </a:solidFill>
              <a:ln w="19050" cap="sq">
                <a:solidFill>
                  <a:srgbClr val="D9D3F0"/>
                </a:solidFill>
                <a:prstDash val="solid"/>
                <a:miter/>
              </a:ln>
            </p:spPr>
          </p:sp>
        </p:grpSp>
        <p:sp>
          <p:nvSpPr>
            <p:cNvPr name="TextBox 8" id="8"/>
            <p:cNvSpPr txBox="true"/>
            <p:nvPr/>
          </p:nvSpPr>
          <p:spPr>
            <a:xfrm rot="0">
              <a:off x="624588" y="373478"/>
              <a:ext cx="14040523" cy="429161"/>
            </a:xfrm>
            <a:prstGeom prst="rect">
              <a:avLst/>
            </a:prstGeom>
          </p:spPr>
          <p:txBody>
            <a:bodyPr anchor="t" rtlCol="false" tIns="0" lIns="0" bIns="0" rIns="0">
              <a:spAutoFit/>
            </a:bodyPr>
            <a:lstStyle/>
            <a:p>
              <a:pPr algn="l">
                <a:lnSpc>
                  <a:spcPts val="2336"/>
                </a:lnSpc>
              </a:pPr>
              <a:r>
                <a:rPr lang="en-US" sz="1947" b="true">
                  <a:solidFill>
                    <a:srgbClr val="6D28D9"/>
                  </a:solidFill>
                  <a:latin typeface="Calibri (MS) Bold"/>
                  <a:ea typeface="Calibri (MS) Bold"/>
                  <a:cs typeface="Calibri (MS) Bold"/>
                  <a:sym typeface="Calibri (MS) Bold"/>
                </a:rPr>
                <a:t>SUBMISSION CHECKLIST</a:t>
              </a:r>
            </a:p>
          </p:txBody>
        </p:sp>
        <p:grpSp>
          <p:nvGrpSpPr>
            <p:cNvPr name="Group 9" id="9"/>
            <p:cNvGrpSpPr/>
            <p:nvPr/>
          </p:nvGrpSpPr>
          <p:grpSpPr>
            <a:xfrm rot="0">
              <a:off x="421103" y="1438532"/>
              <a:ext cx="14447495" cy="1203958"/>
              <a:chOff x="0" y="0"/>
              <a:chExt cx="12984480" cy="1082040"/>
            </a:xfrm>
          </p:grpSpPr>
          <p:sp>
            <p:nvSpPr>
              <p:cNvPr name="Freeform 10" id="10"/>
              <p:cNvSpPr/>
              <p:nvPr/>
            </p:nvSpPr>
            <p:spPr>
              <a:xfrm flipH="false" flipV="false" rot="0">
                <a:off x="0" y="0"/>
                <a:ext cx="12984480" cy="1082040"/>
              </a:xfrm>
              <a:custGeom>
                <a:avLst/>
                <a:gdLst/>
                <a:ahLst/>
                <a:cxnLst/>
                <a:rect r="r" b="b" t="t" l="l"/>
                <a:pathLst>
                  <a:path h="1082040" w="12984480">
                    <a:moveTo>
                      <a:pt x="0" y="54102"/>
                    </a:moveTo>
                    <a:cubicBezTo>
                      <a:pt x="0" y="24257"/>
                      <a:pt x="24257" y="0"/>
                      <a:pt x="54102" y="0"/>
                    </a:cubicBezTo>
                    <a:lnTo>
                      <a:pt x="12930378" y="0"/>
                    </a:lnTo>
                    <a:cubicBezTo>
                      <a:pt x="12960223" y="0"/>
                      <a:pt x="12984480" y="24257"/>
                      <a:pt x="12984480" y="54102"/>
                    </a:cubicBezTo>
                    <a:lnTo>
                      <a:pt x="12984480" y="1027938"/>
                    </a:lnTo>
                    <a:cubicBezTo>
                      <a:pt x="12984480" y="1057783"/>
                      <a:pt x="12960223" y="1082040"/>
                      <a:pt x="12930378" y="1082040"/>
                    </a:cubicBezTo>
                    <a:lnTo>
                      <a:pt x="54102" y="1082040"/>
                    </a:lnTo>
                    <a:cubicBezTo>
                      <a:pt x="24257" y="1082040"/>
                      <a:pt x="0" y="1057783"/>
                      <a:pt x="0" y="1027938"/>
                    </a:cubicBezTo>
                    <a:close/>
                  </a:path>
                </a:pathLst>
              </a:custGeom>
              <a:solidFill>
                <a:srgbClr val="EDE9FB"/>
              </a:solidFill>
            </p:spPr>
          </p:sp>
        </p:grpSp>
        <p:grpSp>
          <p:nvGrpSpPr>
            <p:cNvPr name="Group 11" id="11"/>
            <p:cNvGrpSpPr/>
            <p:nvPr/>
          </p:nvGrpSpPr>
          <p:grpSpPr>
            <a:xfrm rot="0">
              <a:off x="705983" y="1613191"/>
              <a:ext cx="854641" cy="854641"/>
              <a:chOff x="0" y="0"/>
              <a:chExt cx="768096" cy="768096"/>
            </a:xfrm>
          </p:grpSpPr>
          <p:sp>
            <p:nvSpPr>
              <p:cNvPr name="Freeform 12" id="12"/>
              <p:cNvSpPr/>
              <p:nvPr/>
            </p:nvSpPr>
            <p:spPr>
              <a:xfrm flipH="false" flipV="false" rot="0">
                <a:off x="0" y="0"/>
                <a:ext cx="768096" cy="768096"/>
              </a:xfrm>
              <a:custGeom>
                <a:avLst/>
                <a:gdLst/>
                <a:ahLst/>
                <a:cxnLst/>
                <a:rect r="r" b="b" t="t" l="l"/>
                <a:pathLst>
                  <a:path h="768096" w="768096">
                    <a:moveTo>
                      <a:pt x="0" y="384048"/>
                    </a:moveTo>
                    <a:cubicBezTo>
                      <a:pt x="0" y="171958"/>
                      <a:pt x="171958" y="0"/>
                      <a:pt x="384048" y="0"/>
                    </a:cubicBezTo>
                    <a:cubicBezTo>
                      <a:pt x="596138" y="0"/>
                      <a:pt x="768096" y="171958"/>
                      <a:pt x="768096" y="384048"/>
                    </a:cubicBezTo>
                    <a:cubicBezTo>
                      <a:pt x="768096" y="596138"/>
                      <a:pt x="596138" y="768096"/>
                      <a:pt x="384048" y="768096"/>
                    </a:cubicBezTo>
                    <a:cubicBezTo>
                      <a:pt x="171958" y="768096"/>
                      <a:pt x="0" y="596138"/>
                      <a:pt x="0" y="384048"/>
                    </a:cubicBezTo>
                    <a:close/>
                  </a:path>
                </a:pathLst>
              </a:custGeom>
              <a:solidFill>
                <a:srgbClr val="D9A441"/>
              </a:solidFill>
            </p:spPr>
          </p:sp>
          <p:sp>
            <p:nvSpPr>
              <p:cNvPr name="TextBox 13" id="13"/>
              <p:cNvSpPr txBox="true"/>
              <p:nvPr/>
            </p:nvSpPr>
            <p:spPr>
              <a:xfrm>
                <a:off x="0" y="-57150"/>
                <a:ext cx="768096" cy="825246"/>
              </a:xfrm>
              <a:prstGeom prst="rect">
                <a:avLst/>
              </a:prstGeom>
            </p:spPr>
            <p:txBody>
              <a:bodyPr anchor="ctr" rtlCol="false" tIns="50800" lIns="50800" bIns="50800" rIns="50800"/>
              <a:lstStyle/>
              <a:p>
                <a:pPr algn="ctr">
                  <a:lnSpc>
                    <a:spcPts val="2819"/>
                  </a:lnSpc>
                </a:pPr>
                <a:r>
                  <a:rPr lang="en-US" sz="2349" b="true">
                    <a:solidFill>
                      <a:srgbClr val="FFFFFF"/>
                    </a:solidFill>
                    <a:latin typeface="Calibri (MS) Bold"/>
                    <a:ea typeface="Calibri (MS) Bold"/>
                    <a:cs typeface="Calibri (MS) Bold"/>
                    <a:sym typeface="Calibri (MS) Bold"/>
                  </a:rPr>
                  <a:t>✓</a:t>
                </a:r>
              </a:p>
            </p:txBody>
          </p:sp>
        </p:grpSp>
        <p:grpSp>
          <p:nvGrpSpPr>
            <p:cNvPr name="Group 14" id="14"/>
            <p:cNvGrpSpPr/>
            <p:nvPr/>
          </p:nvGrpSpPr>
          <p:grpSpPr>
            <a:xfrm rot="0">
              <a:off x="1947246" y="1458816"/>
              <a:ext cx="12921351" cy="1331766"/>
              <a:chOff x="0" y="0"/>
              <a:chExt cx="11612880" cy="1196906"/>
            </a:xfrm>
          </p:grpSpPr>
          <p:sp>
            <p:nvSpPr>
              <p:cNvPr name="Freeform 15" id="15"/>
              <p:cNvSpPr/>
              <p:nvPr/>
            </p:nvSpPr>
            <p:spPr>
              <a:xfrm flipH="false" flipV="false" rot="0">
                <a:off x="0" y="0"/>
                <a:ext cx="11612880" cy="1196906"/>
              </a:xfrm>
              <a:custGeom>
                <a:avLst/>
                <a:gdLst/>
                <a:ahLst/>
                <a:cxnLst/>
                <a:rect r="r" b="b" t="t" l="l"/>
                <a:pathLst>
                  <a:path h="1196906" w="11612880">
                    <a:moveTo>
                      <a:pt x="0" y="0"/>
                    </a:moveTo>
                    <a:lnTo>
                      <a:pt x="11612880" y="0"/>
                    </a:lnTo>
                    <a:lnTo>
                      <a:pt x="11612880" y="1196906"/>
                    </a:lnTo>
                    <a:lnTo>
                      <a:pt x="0" y="1196906"/>
                    </a:lnTo>
                    <a:close/>
                  </a:path>
                </a:pathLst>
              </a:custGeom>
              <a:blipFill>
                <a:blip r:embed="rId3">
                  <a:alphaModFix amt="0"/>
                </a:blip>
                <a:stretch>
                  <a:fillRect l="0" t="-156073" r="0" b="-122029"/>
                </a:stretch>
              </a:blipFill>
            </p:spPr>
          </p:sp>
          <p:sp>
            <p:nvSpPr>
              <p:cNvPr name="TextBox 16" id="16"/>
              <p:cNvSpPr txBox="true"/>
              <p:nvPr/>
            </p:nvSpPr>
            <p:spPr>
              <a:xfrm>
                <a:off x="0" y="-47625"/>
                <a:ext cx="11612880" cy="1244531"/>
              </a:xfrm>
              <a:prstGeom prst="rect">
                <a:avLst/>
              </a:prstGeom>
            </p:spPr>
            <p:txBody>
              <a:bodyPr anchor="ctr" rtlCol="false" tIns="0" lIns="0" bIns="0" rIns="0"/>
              <a:lstStyle/>
              <a:p>
                <a:pPr algn="l">
                  <a:lnSpc>
                    <a:spcPts val="2299"/>
                  </a:lnSpc>
                </a:pPr>
                <a:r>
                  <a:rPr lang="en-US" sz="1825" b="true">
                    <a:solidFill>
                      <a:srgbClr val="14142B"/>
                    </a:solidFill>
                    <a:latin typeface="Calibri (MS) Bold"/>
                    <a:ea typeface="Calibri (MS) Bold"/>
                    <a:cs typeface="Calibri (MS) Bold"/>
                    <a:sym typeface="Calibri (MS) Bold"/>
                  </a:rPr>
                  <a:t>Working prototype code</a:t>
                </a:r>
              </a:p>
              <a:p>
                <a:pPr algn="l">
                  <a:lnSpc>
                    <a:spcPts val="2012"/>
                  </a:lnSpc>
                </a:pPr>
                <a:r>
                  <a:rPr lang="en-US" sz="1524" i="true">
                    <a:solidFill>
                      <a:srgbClr val="6B6B76"/>
                    </a:solidFill>
                    <a:latin typeface="Calibri (MS) Italics"/>
                    <a:ea typeface="Calibri (MS) Italics"/>
                    <a:cs typeface="Calibri (MS) Italics"/>
                    <a:sym typeface="Calibri (MS) Italics"/>
                  </a:rPr>
                  <a:t>Public GitHub repo, tag PRISM_GENAI_HACKATHON_Y2026</a:t>
                </a:r>
              </a:p>
              <a:p>
                <a:pPr algn="l">
                  <a:lnSpc>
                    <a:spcPts val="2012"/>
                  </a:lnSpc>
                </a:pPr>
                <a:r>
                  <a:rPr lang="en-US" sz="1524">
                    <a:solidFill>
                      <a:srgbClr val="6D28D9"/>
                    </a:solidFill>
                    <a:latin typeface="Courier New"/>
                    <a:ea typeface="Courier New"/>
                    <a:cs typeface="Courier New"/>
                    <a:sym typeface="Courier New"/>
                  </a:rPr>
                  <a:t>github.com/Ajha2005/samsung-prism</a:t>
                </a:r>
              </a:p>
            </p:txBody>
          </p:sp>
        </p:grpSp>
        <p:grpSp>
          <p:nvGrpSpPr>
            <p:cNvPr name="Group 17" id="17"/>
            <p:cNvGrpSpPr/>
            <p:nvPr/>
          </p:nvGrpSpPr>
          <p:grpSpPr>
            <a:xfrm rot="0">
              <a:off x="421103" y="2764581"/>
              <a:ext cx="14447495" cy="1203958"/>
              <a:chOff x="0" y="0"/>
              <a:chExt cx="12984480" cy="1082040"/>
            </a:xfrm>
          </p:grpSpPr>
          <p:sp>
            <p:nvSpPr>
              <p:cNvPr name="Freeform 18" id="18"/>
              <p:cNvSpPr/>
              <p:nvPr/>
            </p:nvSpPr>
            <p:spPr>
              <a:xfrm flipH="false" flipV="false" rot="0">
                <a:off x="0" y="0"/>
                <a:ext cx="12984480" cy="1082040"/>
              </a:xfrm>
              <a:custGeom>
                <a:avLst/>
                <a:gdLst/>
                <a:ahLst/>
                <a:cxnLst/>
                <a:rect r="r" b="b" t="t" l="l"/>
                <a:pathLst>
                  <a:path h="1082040" w="12984480">
                    <a:moveTo>
                      <a:pt x="0" y="54102"/>
                    </a:moveTo>
                    <a:cubicBezTo>
                      <a:pt x="0" y="24257"/>
                      <a:pt x="24257" y="0"/>
                      <a:pt x="54102" y="0"/>
                    </a:cubicBezTo>
                    <a:lnTo>
                      <a:pt x="12930378" y="0"/>
                    </a:lnTo>
                    <a:cubicBezTo>
                      <a:pt x="12960223" y="0"/>
                      <a:pt x="12984480" y="24257"/>
                      <a:pt x="12984480" y="54102"/>
                    </a:cubicBezTo>
                    <a:lnTo>
                      <a:pt x="12984480" y="1027938"/>
                    </a:lnTo>
                    <a:cubicBezTo>
                      <a:pt x="12984480" y="1057783"/>
                      <a:pt x="12960223" y="1082040"/>
                      <a:pt x="12930378" y="1082040"/>
                    </a:cubicBezTo>
                    <a:lnTo>
                      <a:pt x="54102" y="1082040"/>
                    </a:lnTo>
                    <a:cubicBezTo>
                      <a:pt x="24257" y="1082040"/>
                      <a:pt x="0" y="1057783"/>
                      <a:pt x="0" y="1027938"/>
                    </a:cubicBezTo>
                    <a:close/>
                  </a:path>
                </a:pathLst>
              </a:custGeom>
              <a:solidFill>
                <a:srgbClr val="EDE9FB"/>
              </a:solidFill>
            </p:spPr>
          </p:sp>
        </p:grpSp>
        <p:grpSp>
          <p:nvGrpSpPr>
            <p:cNvPr name="Group 19" id="19"/>
            <p:cNvGrpSpPr/>
            <p:nvPr/>
          </p:nvGrpSpPr>
          <p:grpSpPr>
            <a:xfrm rot="0">
              <a:off x="705983" y="2939240"/>
              <a:ext cx="854641" cy="854641"/>
              <a:chOff x="0" y="0"/>
              <a:chExt cx="768096" cy="768096"/>
            </a:xfrm>
          </p:grpSpPr>
          <p:sp>
            <p:nvSpPr>
              <p:cNvPr name="Freeform 20" id="20"/>
              <p:cNvSpPr/>
              <p:nvPr/>
            </p:nvSpPr>
            <p:spPr>
              <a:xfrm flipH="false" flipV="false" rot="0">
                <a:off x="0" y="0"/>
                <a:ext cx="768096" cy="768096"/>
              </a:xfrm>
              <a:custGeom>
                <a:avLst/>
                <a:gdLst/>
                <a:ahLst/>
                <a:cxnLst/>
                <a:rect r="r" b="b" t="t" l="l"/>
                <a:pathLst>
                  <a:path h="768096" w="768096">
                    <a:moveTo>
                      <a:pt x="0" y="384048"/>
                    </a:moveTo>
                    <a:cubicBezTo>
                      <a:pt x="0" y="171958"/>
                      <a:pt x="171958" y="0"/>
                      <a:pt x="384048" y="0"/>
                    </a:cubicBezTo>
                    <a:cubicBezTo>
                      <a:pt x="596138" y="0"/>
                      <a:pt x="768096" y="171958"/>
                      <a:pt x="768096" y="384048"/>
                    </a:cubicBezTo>
                    <a:cubicBezTo>
                      <a:pt x="768096" y="596138"/>
                      <a:pt x="596138" y="768096"/>
                      <a:pt x="384048" y="768096"/>
                    </a:cubicBezTo>
                    <a:cubicBezTo>
                      <a:pt x="171958" y="768096"/>
                      <a:pt x="0" y="596138"/>
                      <a:pt x="0" y="384048"/>
                    </a:cubicBezTo>
                    <a:close/>
                  </a:path>
                </a:pathLst>
              </a:custGeom>
              <a:solidFill>
                <a:srgbClr val="D9A441"/>
              </a:solidFill>
            </p:spPr>
          </p:sp>
          <p:sp>
            <p:nvSpPr>
              <p:cNvPr name="TextBox 21" id="21"/>
              <p:cNvSpPr txBox="true"/>
              <p:nvPr/>
            </p:nvSpPr>
            <p:spPr>
              <a:xfrm>
                <a:off x="0" y="-57150"/>
                <a:ext cx="768096" cy="825246"/>
              </a:xfrm>
              <a:prstGeom prst="rect">
                <a:avLst/>
              </a:prstGeom>
            </p:spPr>
            <p:txBody>
              <a:bodyPr anchor="ctr" rtlCol="false" tIns="50800" lIns="50800" bIns="50800" rIns="50800"/>
              <a:lstStyle/>
              <a:p>
                <a:pPr algn="ctr">
                  <a:lnSpc>
                    <a:spcPts val="2819"/>
                  </a:lnSpc>
                </a:pPr>
                <a:r>
                  <a:rPr lang="en-US" sz="2349" b="true">
                    <a:solidFill>
                      <a:srgbClr val="FFFFFF"/>
                    </a:solidFill>
                    <a:latin typeface="Calibri (MS) Bold"/>
                    <a:ea typeface="Calibri (MS) Bold"/>
                    <a:cs typeface="Calibri (MS) Bold"/>
                    <a:sym typeface="Calibri (MS) Bold"/>
                  </a:rPr>
                  <a:t>✓</a:t>
                </a:r>
              </a:p>
            </p:txBody>
          </p:sp>
        </p:grpSp>
        <p:grpSp>
          <p:nvGrpSpPr>
            <p:cNvPr name="Group 22" id="22"/>
            <p:cNvGrpSpPr/>
            <p:nvPr/>
          </p:nvGrpSpPr>
          <p:grpSpPr>
            <a:xfrm rot="0">
              <a:off x="1947246" y="2758864"/>
              <a:ext cx="12921351" cy="1331766"/>
              <a:chOff x="0" y="0"/>
              <a:chExt cx="11612880" cy="1196906"/>
            </a:xfrm>
          </p:grpSpPr>
          <p:sp>
            <p:nvSpPr>
              <p:cNvPr name="Freeform 23" id="23"/>
              <p:cNvSpPr/>
              <p:nvPr/>
            </p:nvSpPr>
            <p:spPr>
              <a:xfrm flipH="false" flipV="false" rot="0">
                <a:off x="0" y="0"/>
                <a:ext cx="11612880" cy="1196906"/>
              </a:xfrm>
              <a:custGeom>
                <a:avLst/>
                <a:gdLst/>
                <a:ahLst/>
                <a:cxnLst/>
                <a:rect r="r" b="b" t="t" l="l"/>
                <a:pathLst>
                  <a:path h="1196906" w="11612880">
                    <a:moveTo>
                      <a:pt x="0" y="0"/>
                    </a:moveTo>
                    <a:lnTo>
                      <a:pt x="11612880" y="0"/>
                    </a:lnTo>
                    <a:lnTo>
                      <a:pt x="11612880" y="1196906"/>
                    </a:lnTo>
                    <a:lnTo>
                      <a:pt x="0" y="1196906"/>
                    </a:lnTo>
                    <a:close/>
                  </a:path>
                </a:pathLst>
              </a:custGeom>
              <a:blipFill>
                <a:blip r:embed="rId3">
                  <a:alphaModFix amt="0"/>
                </a:blip>
                <a:stretch>
                  <a:fillRect l="0" t="-156073" r="0" b="-122029"/>
                </a:stretch>
              </a:blipFill>
            </p:spPr>
          </p:sp>
          <p:sp>
            <p:nvSpPr>
              <p:cNvPr name="TextBox 24" id="24"/>
              <p:cNvSpPr txBox="true"/>
              <p:nvPr/>
            </p:nvSpPr>
            <p:spPr>
              <a:xfrm>
                <a:off x="0" y="-47625"/>
                <a:ext cx="11612880" cy="1244531"/>
              </a:xfrm>
              <a:prstGeom prst="rect">
                <a:avLst/>
              </a:prstGeom>
            </p:spPr>
            <p:txBody>
              <a:bodyPr anchor="ctr" rtlCol="false" tIns="0" lIns="0" bIns="0" rIns="0"/>
              <a:lstStyle/>
              <a:p>
                <a:pPr algn="l">
                  <a:lnSpc>
                    <a:spcPts val="2299"/>
                  </a:lnSpc>
                </a:pPr>
                <a:r>
                  <a:rPr lang="en-US" sz="1825" b="true">
                    <a:solidFill>
                      <a:srgbClr val="14142B"/>
                    </a:solidFill>
                    <a:latin typeface="Calibri (MS) Bold"/>
                    <a:ea typeface="Calibri (MS) Bold"/>
                    <a:cs typeface="Calibri (MS) Bold"/>
                    <a:sym typeface="Calibri (MS) Bold"/>
                  </a:rPr>
                  <a:t>README with reproducible setup</a:t>
                </a:r>
              </a:p>
              <a:p>
                <a:pPr algn="l">
                  <a:lnSpc>
                    <a:spcPts val="2012"/>
                  </a:lnSpc>
                </a:pPr>
                <a:r>
                  <a:rPr lang="en-US" sz="1524" i="true">
                    <a:solidFill>
                      <a:srgbClr val="6B6B76"/>
                    </a:solidFill>
                    <a:latin typeface="Calibri (MS) Italics"/>
                    <a:ea typeface="Calibri (MS) Italics"/>
                    <a:cs typeface="Calibri (MS) Italics"/>
                    <a:sym typeface="Calibri (MS) Italics"/>
                  </a:rPr>
                  <a:t>Docker one-command run + full CLI</a:t>
                </a:r>
              </a:p>
              <a:p>
                <a:pPr algn="l">
                  <a:lnSpc>
                    <a:spcPts val="2012"/>
                  </a:lnSpc>
                </a:pPr>
                <a:r>
                  <a:rPr lang="en-US" sz="1524">
                    <a:solidFill>
                      <a:srgbClr val="6D28D9"/>
                    </a:solidFill>
                    <a:latin typeface="Courier New"/>
                    <a:ea typeface="Courier New"/>
                    <a:cs typeface="Courier New"/>
                    <a:sym typeface="Courier New"/>
                  </a:rPr>
                  <a:t>docker build -t prism-code-search .  →  docker run</a:t>
                </a:r>
              </a:p>
            </p:txBody>
          </p:sp>
        </p:grpSp>
        <p:grpSp>
          <p:nvGrpSpPr>
            <p:cNvPr name="Group 25" id="25"/>
            <p:cNvGrpSpPr/>
            <p:nvPr/>
          </p:nvGrpSpPr>
          <p:grpSpPr>
            <a:xfrm rot="0">
              <a:off x="421103" y="4090631"/>
              <a:ext cx="14447495" cy="1203958"/>
              <a:chOff x="0" y="0"/>
              <a:chExt cx="12984480" cy="1082040"/>
            </a:xfrm>
          </p:grpSpPr>
          <p:sp>
            <p:nvSpPr>
              <p:cNvPr name="Freeform 26" id="26"/>
              <p:cNvSpPr/>
              <p:nvPr/>
            </p:nvSpPr>
            <p:spPr>
              <a:xfrm flipH="false" flipV="false" rot="0">
                <a:off x="0" y="0"/>
                <a:ext cx="12984480" cy="1082040"/>
              </a:xfrm>
              <a:custGeom>
                <a:avLst/>
                <a:gdLst/>
                <a:ahLst/>
                <a:cxnLst/>
                <a:rect r="r" b="b" t="t" l="l"/>
                <a:pathLst>
                  <a:path h="1082040" w="12984480">
                    <a:moveTo>
                      <a:pt x="0" y="54102"/>
                    </a:moveTo>
                    <a:cubicBezTo>
                      <a:pt x="0" y="24257"/>
                      <a:pt x="24257" y="0"/>
                      <a:pt x="54102" y="0"/>
                    </a:cubicBezTo>
                    <a:lnTo>
                      <a:pt x="12930378" y="0"/>
                    </a:lnTo>
                    <a:cubicBezTo>
                      <a:pt x="12960223" y="0"/>
                      <a:pt x="12984480" y="24257"/>
                      <a:pt x="12984480" y="54102"/>
                    </a:cubicBezTo>
                    <a:lnTo>
                      <a:pt x="12984480" y="1027938"/>
                    </a:lnTo>
                    <a:cubicBezTo>
                      <a:pt x="12984480" y="1057783"/>
                      <a:pt x="12960223" y="1082040"/>
                      <a:pt x="12930378" y="1082040"/>
                    </a:cubicBezTo>
                    <a:lnTo>
                      <a:pt x="54102" y="1082040"/>
                    </a:lnTo>
                    <a:cubicBezTo>
                      <a:pt x="24257" y="1082040"/>
                      <a:pt x="0" y="1057783"/>
                      <a:pt x="0" y="1027938"/>
                    </a:cubicBezTo>
                    <a:close/>
                  </a:path>
                </a:pathLst>
              </a:custGeom>
              <a:solidFill>
                <a:srgbClr val="EDE9FB"/>
              </a:solidFill>
            </p:spPr>
          </p:sp>
        </p:grpSp>
        <p:grpSp>
          <p:nvGrpSpPr>
            <p:cNvPr name="Group 27" id="27"/>
            <p:cNvGrpSpPr/>
            <p:nvPr/>
          </p:nvGrpSpPr>
          <p:grpSpPr>
            <a:xfrm rot="0">
              <a:off x="705983" y="4265289"/>
              <a:ext cx="854641" cy="854641"/>
              <a:chOff x="0" y="0"/>
              <a:chExt cx="768096" cy="768096"/>
            </a:xfrm>
          </p:grpSpPr>
          <p:sp>
            <p:nvSpPr>
              <p:cNvPr name="Freeform 28" id="28"/>
              <p:cNvSpPr/>
              <p:nvPr/>
            </p:nvSpPr>
            <p:spPr>
              <a:xfrm flipH="false" flipV="false" rot="0">
                <a:off x="0" y="0"/>
                <a:ext cx="768096" cy="768096"/>
              </a:xfrm>
              <a:custGeom>
                <a:avLst/>
                <a:gdLst/>
                <a:ahLst/>
                <a:cxnLst/>
                <a:rect r="r" b="b" t="t" l="l"/>
                <a:pathLst>
                  <a:path h="768096" w="768096">
                    <a:moveTo>
                      <a:pt x="0" y="384048"/>
                    </a:moveTo>
                    <a:cubicBezTo>
                      <a:pt x="0" y="171958"/>
                      <a:pt x="171958" y="0"/>
                      <a:pt x="384048" y="0"/>
                    </a:cubicBezTo>
                    <a:cubicBezTo>
                      <a:pt x="596138" y="0"/>
                      <a:pt x="768096" y="171958"/>
                      <a:pt x="768096" y="384048"/>
                    </a:cubicBezTo>
                    <a:cubicBezTo>
                      <a:pt x="768096" y="596138"/>
                      <a:pt x="596138" y="768096"/>
                      <a:pt x="384048" y="768096"/>
                    </a:cubicBezTo>
                    <a:cubicBezTo>
                      <a:pt x="171958" y="768096"/>
                      <a:pt x="0" y="596138"/>
                      <a:pt x="0" y="384048"/>
                    </a:cubicBezTo>
                    <a:close/>
                  </a:path>
                </a:pathLst>
              </a:custGeom>
              <a:solidFill>
                <a:srgbClr val="D9A441"/>
              </a:solidFill>
            </p:spPr>
          </p:sp>
          <p:sp>
            <p:nvSpPr>
              <p:cNvPr name="TextBox 29" id="29"/>
              <p:cNvSpPr txBox="true"/>
              <p:nvPr/>
            </p:nvSpPr>
            <p:spPr>
              <a:xfrm>
                <a:off x="0" y="-57150"/>
                <a:ext cx="768096" cy="825246"/>
              </a:xfrm>
              <a:prstGeom prst="rect">
                <a:avLst/>
              </a:prstGeom>
            </p:spPr>
            <p:txBody>
              <a:bodyPr anchor="ctr" rtlCol="false" tIns="50800" lIns="50800" bIns="50800" rIns="50800"/>
              <a:lstStyle/>
              <a:p>
                <a:pPr algn="ctr">
                  <a:lnSpc>
                    <a:spcPts val="2819"/>
                  </a:lnSpc>
                </a:pPr>
                <a:r>
                  <a:rPr lang="en-US" sz="2349" b="true">
                    <a:solidFill>
                      <a:srgbClr val="FFFFFF"/>
                    </a:solidFill>
                    <a:latin typeface="Calibri (MS) Bold"/>
                    <a:ea typeface="Calibri (MS) Bold"/>
                    <a:cs typeface="Calibri (MS) Bold"/>
                    <a:sym typeface="Calibri (MS) Bold"/>
                  </a:rPr>
                  <a:t>✓</a:t>
                </a:r>
              </a:p>
            </p:txBody>
          </p:sp>
        </p:grpSp>
        <p:grpSp>
          <p:nvGrpSpPr>
            <p:cNvPr name="Group 30" id="30"/>
            <p:cNvGrpSpPr/>
            <p:nvPr/>
          </p:nvGrpSpPr>
          <p:grpSpPr>
            <a:xfrm rot="0">
              <a:off x="1947246" y="4108121"/>
              <a:ext cx="12921351" cy="1331766"/>
              <a:chOff x="0" y="0"/>
              <a:chExt cx="11612880" cy="1196906"/>
            </a:xfrm>
          </p:grpSpPr>
          <p:sp>
            <p:nvSpPr>
              <p:cNvPr name="Freeform 31" id="31"/>
              <p:cNvSpPr/>
              <p:nvPr/>
            </p:nvSpPr>
            <p:spPr>
              <a:xfrm flipH="false" flipV="false" rot="0">
                <a:off x="0" y="0"/>
                <a:ext cx="11612880" cy="1196906"/>
              </a:xfrm>
              <a:custGeom>
                <a:avLst/>
                <a:gdLst/>
                <a:ahLst/>
                <a:cxnLst/>
                <a:rect r="r" b="b" t="t" l="l"/>
                <a:pathLst>
                  <a:path h="1196906" w="11612880">
                    <a:moveTo>
                      <a:pt x="0" y="0"/>
                    </a:moveTo>
                    <a:lnTo>
                      <a:pt x="11612880" y="0"/>
                    </a:lnTo>
                    <a:lnTo>
                      <a:pt x="11612880" y="1196906"/>
                    </a:lnTo>
                    <a:lnTo>
                      <a:pt x="0" y="1196906"/>
                    </a:lnTo>
                    <a:close/>
                  </a:path>
                </a:pathLst>
              </a:custGeom>
              <a:blipFill>
                <a:blip r:embed="rId3">
                  <a:alphaModFix amt="0"/>
                </a:blip>
                <a:stretch>
                  <a:fillRect l="0" t="-156073" r="0" b="-122029"/>
                </a:stretch>
              </a:blipFill>
            </p:spPr>
          </p:sp>
          <p:sp>
            <p:nvSpPr>
              <p:cNvPr name="TextBox 32" id="32"/>
              <p:cNvSpPr txBox="true"/>
              <p:nvPr/>
            </p:nvSpPr>
            <p:spPr>
              <a:xfrm>
                <a:off x="0" y="-47625"/>
                <a:ext cx="11612880" cy="1244531"/>
              </a:xfrm>
              <a:prstGeom prst="rect">
                <a:avLst/>
              </a:prstGeom>
            </p:spPr>
            <p:txBody>
              <a:bodyPr anchor="ctr" rtlCol="false" tIns="0" lIns="0" bIns="0" rIns="0"/>
              <a:lstStyle/>
              <a:p>
                <a:pPr algn="l">
                  <a:lnSpc>
                    <a:spcPts val="2299"/>
                  </a:lnSpc>
                </a:pPr>
                <a:r>
                  <a:rPr lang="en-US" sz="1825" b="true">
                    <a:solidFill>
                      <a:srgbClr val="14142B"/>
                    </a:solidFill>
                    <a:latin typeface="Calibri (MS) Bold"/>
                    <a:ea typeface="Calibri (MS) Bold"/>
                    <a:cs typeface="Calibri (MS) Bold"/>
                    <a:sym typeface="Calibri (MS) Bold"/>
                  </a:rPr>
                  <a:t>Demo video (≤ 5 min)</a:t>
                </a:r>
              </a:p>
              <a:p>
                <a:pPr algn="l">
                  <a:lnSpc>
                    <a:spcPts val="2012"/>
                  </a:lnSpc>
                </a:pPr>
                <a:r>
                  <a:rPr lang="en-US" sz="1524" i="true">
                    <a:solidFill>
                      <a:srgbClr val="6B6B76"/>
                    </a:solidFill>
                    <a:latin typeface="Calibri (MS) Italics"/>
                    <a:ea typeface="Calibri (MS) Italics"/>
                    <a:cs typeface="Calibri (MS) Italics"/>
                    <a:sym typeface="Calibri (MS) Italics"/>
                  </a:rPr>
                  <a:t>Recorded and linked in the submission form</a:t>
                </a:r>
              </a:p>
              <a:p>
                <a:pPr algn="l">
                  <a:lnSpc>
                    <a:spcPts val="2012"/>
                  </a:lnSpc>
                </a:pPr>
                <a:r>
                  <a:rPr lang="en-US" sz="1524">
                    <a:solidFill>
                      <a:srgbClr val="6D28D9"/>
                    </a:solidFill>
                    <a:latin typeface="Courier New"/>
                    <a:ea typeface="Courier New"/>
                    <a:cs typeface="Courier New"/>
                    <a:sym typeface="Courier New"/>
                  </a:rPr>
                  <a:t>YouTube / Drive link — see form</a:t>
                </a:r>
              </a:p>
            </p:txBody>
          </p:sp>
        </p:grpSp>
        <p:grpSp>
          <p:nvGrpSpPr>
            <p:cNvPr name="Group 33" id="33"/>
            <p:cNvGrpSpPr/>
            <p:nvPr/>
          </p:nvGrpSpPr>
          <p:grpSpPr>
            <a:xfrm rot="0">
              <a:off x="421103" y="5416680"/>
              <a:ext cx="14447495" cy="1203958"/>
              <a:chOff x="0" y="0"/>
              <a:chExt cx="12984480" cy="1082040"/>
            </a:xfrm>
          </p:grpSpPr>
          <p:sp>
            <p:nvSpPr>
              <p:cNvPr name="Freeform 34" id="34"/>
              <p:cNvSpPr/>
              <p:nvPr/>
            </p:nvSpPr>
            <p:spPr>
              <a:xfrm flipH="false" flipV="false" rot="0">
                <a:off x="0" y="0"/>
                <a:ext cx="12984480" cy="1082040"/>
              </a:xfrm>
              <a:custGeom>
                <a:avLst/>
                <a:gdLst/>
                <a:ahLst/>
                <a:cxnLst/>
                <a:rect r="r" b="b" t="t" l="l"/>
                <a:pathLst>
                  <a:path h="1082040" w="12984480">
                    <a:moveTo>
                      <a:pt x="0" y="54102"/>
                    </a:moveTo>
                    <a:cubicBezTo>
                      <a:pt x="0" y="24257"/>
                      <a:pt x="24257" y="0"/>
                      <a:pt x="54102" y="0"/>
                    </a:cubicBezTo>
                    <a:lnTo>
                      <a:pt x="12930378" y="0"/>
                    </a:lnTo>
                    <a:cubicBezTo>
                      <a:pt x="12960223" y="0"/>
                      <a:pt x="12984480" y="24257"/>
                      <a:pt x="12984480" y="54102"/>
                    </a:cubicBezTo>
                    <a:lnTo>
                      <a:pt x="12984480" y="1027938"/>
                    </a:lnTo>
                    <a:cubicBezTo>
                      <a:pt x="12984480" y="1057783"/>
                      <a:pt x="12960223" y="1082040"/>
                      <a:pt x="12930378" y="1082040"/>
                    </a:cubicBezTo>
                    <a:lnTo>
                      <a:pt x="54102" y="1082040"/>
                    </a:lnTo>
                    <a:cubicBezTo>
                      <a:pt x="24257" y="1082040"/>
                      <a:pt x="0" y="1057783"/>
                      <a:pt x="0" y="1027938"/>
                    </a:cubicBezTo>
                    <a:close/>
                  </a:path>
                </a:pathLst>
              </a:custGeom>
              <a:solidFill>
                <a:srgbClr val="EDE9FB"/>
              </a:solidFill>
            </p:spPr>
          </p:sp>
        </p:grpSp>
        <p:grpSp>
          <p:nvGrpSpPr>
            <p:cNvPr name="Group 35" id="35"/>
            <p:cNvGrpSpPr/>
            <p:nvPr/>
          </p:nvGrpSpPr>
          <p:grpSpPr>
            <a:xfrm rot="0">
              <a:off x="705983" y="5591339"/>
              <a:ext cx="854641" cy="854641"/>
              <a:chOff x="0" y="0"/>
              <a:chExt cx="768096" cy="768096"/>
            </a:xfrm>
          </p:grpSpPr>
          <p:sp>
            <p:nvSpPr>
              <p:cNvPr name="Freeform 36" id="36"/>
              <p:cNvSpPr/>
              <p:nvPr/>
            </p:nvSpPr>
            <p:spPr>
              <a:xfrm flipH="false" flipV="false" rot="0">
                <a:off x="0" y="0"/>
                <a:ext cx="768096" cy="768096"/>
              </a:xfrm>
              <a:custGeom>
                <a:avLst/>
                <a:gdLst/>
                <a:ahLst/>
                <a:cxnLst/>
                <a:rect r="r" b="b" t="t" l="l"/>
                <a:pathLst>
                  <a:path h="768096" w="768096">
                    <a:moveTo>
                      <a:pt x="0" y="384048"/>
                    </a:moveTo>
                    <a:cubicBezTo>
                      <a:pt x="0" y="171958"/>
                      <a:pt x="171958" y="0"/>
                      <a:pt x="384048" y="0"/>
                    </a:cubicBezTo>
                    <a:cubicBezTo>
                      <a:pt x="596138" y="0"/>
                      <a:pt x="768096" y="171958"/>
                      <a:pt x="768096" y="384048"/>
                    </a:cubicBezTo>
                    <a:cubicBezTo>
                      <a:pt x="768096" y="596138"/>
                      <a:pt x="596138" y="768096"/>
                      <a:pt x="384048" y="768096"/>
                    </a:cubicBezTo>
                    <a:cubicBezTo>
                      <a:pt x="171958" y="768096"/>
                      <a:pt x="0" y="596138"/>
                      <a:pt x="0" y="384048"/>
                    </a:cubicBezTo>
                    <a:close/>
                  </a:path>
                </a:pathLst>
              </a:custGeom>
              <a:solidFill>
                <a:srgbClr val="D9A441"/>
              </a:solidFill>
            </p:spPr>
          </p:sp>
          <p:sp>
            <p:nvSpPr>
              <p:cNvPr name="TextBox 37" id="37"/>
              <p:cNvSpPr txBox="true"/>
              <p:nvPr/>
            </p:nvSpPr>
            <p:spPr>
              <a:xfrm>
                <a:off x="0" y="-57150"/>
                <a:ext cx="768096" cy="825246"/>
              </a:xfrm>
              <a:prstGeom prst="rect">
                <a:avLst/>
              </a:prstGeom>
            </p:spPr>
            <p:txBody>
              <a:bodyPr anchor="ctr" rtlCol="false" tIns="50800" lIns="50800" bIns="50800" rIns="50800"/>
              <a:lstStyle/>
              <a:p>
                <a:pPr algn="ctr">
                  <a:lnSpc>
                    <a:spcPts val="2819"/>
                  </a:lnSpc>
                </a:pPr>
                <a:r>
                  <a:rPr lang="en-US" sz="2349" b="true">
                    <a:solidFill>
                      <a:srgbClr val="FFFFFF"/>
                    </a:solidFill>
                    <a:latin typeface="Calibri (MS) Bold"/>
                    <a:ea typeface="Calibri (MS) Bold"/>
                    <a:cs typeface="Calibri (MS) Bold"/>
                    <a:sym typeface="Calibri (MS) Bold"/>
                  </a:rPr>
                  <a:t>✓</a:t>
                </a:r>
              </a:p>
            </p:txBody>
          </p:sp>
        </p:grpSp>
        <p:grpSp>
          <p:nvGrpSpPr>
            <p:cNvPr name="Group 38" id="38"/>
            <p:cNvGrpSpPr/>
            <p:nvPr/>
          </p:nvGrpSpPr>
          <p:grpSpPr>
            <a:xfrm rot="0">
              <a:off x="1947246" y="5473705"/>
              <a:ext cx="12921351" cy="1331766"/>
              <a:chOff x="0" y="0"/>
              <a:chExt cx="11612880" cy="1196906"/>
            </a:xfrm>
          </p:grpSpPr>
          <p:sp>
            <p:nvSpPr>
              <p:cNvPr name="Freeform 39" id="39"/>
              <p:cNvSpPr/>
              <p:nvPr/>
            </p:nvSpPr>
            <p:spPr>
              <a:xfrm flipH="false" flipV="false" rot="0">
                <a:off x="0" y="0"/>
                <a:ext cx="11612880" cy="1196906"/>
              </a:xfrm>
              <a:custGeom>
                <a:avLst/>
                <a:gdLst/>
                <a:ahLst/>
                <a:cxnLst/>
                <a:rect r="r" b="b" t="t" l="l"/>
                <a:pathLst>
                  <a:path h="1196906" w="11612880">
                    <a:moveTo>
                      <a:pt x="0" y="0"/>
                    </a:moveTo>
                    <a:lnTo>
                      <a:pt x="11612880" y="0"/>
                    </a:lnTo>
                    <a:lnTo>
                      <a:pt x="11612880" y="1196906"/>
                    </a:lnTo>
                    <a:lnTo>
                      <a:pt x="0" y="1196906"/>
                    </a:lnTo>
                    <a:close/>
                  </a:path>
                </a:pathLst>
              </a:custGeom>
              <a:blipFill>
                <a:blip r:embed="rId3">
                  <a:alphaModFix amt="0"/>
                </a:blip>
                <a:stretch>
                  <a:fillRect l="0" t="-156073" r="0" b="-122029"/>
                </a:stretch>
              </a:blipFill>
            </p:spPr>
          </p:sp>
          <p:sp>
            <p:nvSpPr>
              <p:cNvPr name="TextBox 40" id="40"/>
              <p:cNvSpPr txBox="true"/>
              <p:nvPr/>
            </p:nvSpPr>
            <p:spPr>
              <a:xfrm>
                <a:off x="0" y="-47625"/>
                <a:ext cx="11612880" cy="1244531"/>
              </a:xfrm>
              <a:prstGeom prst="rect">
                <a:avLst/>
              </a:prstGeom>
            </p:spPr>
            <p:txBody>
              <a:bodyPr anchor="ctr" rtlCol="false" tIns="0" lIns="0" bIns="0" rIns="0"/>
              <a:lstStyle/>
              <a:p>
                <a:pPr algn="l">
                  <a:lnSpc>
                    <a:spcPts val="2299"/>
                  </a:lnSpc>
                </a:pPr>
                <a:r>
                  <a:rPr lang="en-US" sz="1825" b="true">
                    <a:solidFill>
                      <a:srgbClr val="14142B"/>
                    </a:solidFill>
                    <a:latin typeface="Calibri (MS) Bold"/>
                    <a:ea typeface="Calibri (MS) Bold"/>
                    <a:cs typeface="Calibri (MS) Bold"/>
                    <a:sym typeface="Calibri (MS) Bold"/>
                  </a:rPr>
                  <a:t>Presentation file (PPT + PDF)</a:t>
                </a:r>
              </a:p>
              <a:p>
                <a:pPr algn="l">
                  <a:lnSpc>
                    <a:spcPts val="2012"/>
                  </a:lnSpc>
                </a:pPr>
                <a:r>
                  <a:rPr lang="en-US" sz="1524" i="true">
                    <a:solidFill>
                      <a:srgbClr val="6B6B76"/>
                    </a:solidFill>
                    <a:latin typeface="Calibri (MS) Italics"/>
                    <a:ea typeface="Calibri (MS) Italics"/>
                    <a:cs typeface="Calibri (MS) Italics"/>
                    <a:sym typeface="Calibri (MS) Italics"/>
                  </a:rPr>
                  <a:t>This deck — 12 slides, speaker notes on every content slide</a:t>
                </a:r>
              </a:p>
              <a:p>
                <a:pPr algn="l">
                  <a:lnSpc>
                    <a:spcPts val="2012"/>
                  </a:lnSpc>
                </a:pPr>
                <a:r>
                  <a:rPr lang="en-US" sz="1524">
                    <a:solidFill>
                      <a:srgbClr val="6D28D9"/>
                    </a:solidFill>
                    <a:latin typeface="Courier New"/>
                    <a:ea typeface="Courier New"/>
                    <a:cs typeface="Courier New"/>
                    <a:sym typeface="Courier New"/>
                  </a:rPr>
                  <a:t>Thapar_Trace_Submission_ppt.pptx / .pdf</a:t>
                </a:r>
              </a:p>
            </p:txBody>
          </p:sp>
        </p:grpSp>
        <p:grpSp>
          <p:nvGrpSpPr>
            <p:cNvPr name="Group 41" id="41"/>
            <p:cNvGrpSpPr/>
            <p:nvPr/>
          </p:nvGrpSpPr>
          <p:grpSpPr>
            <a:xfrm rot="0">
              <a:off x="421103" y="6742729"/>
              <a:ext cx="14447495" cy="1203958"/>
              <a:chOff x="0" y="0"/>
              <a:chExt cx="12984480" cy="1082040"/>
            </a:xfrm>
          </p:grpSpPr>
          <p:sp>
            <p:nvSpPr>
              <p:cNvPr name="Freeform 42" id="42"/>
              <p:cNvSpPr/>
              <p:nvPr/>
            </p:nvSpPr>
            <p:spPr>
              <a:xfrm flipH="false" flipV="false" rot="0">
                <a:off x="0" y="0"/>
                <a:ext cx="12984480" cy="1082040"/>
              </a:xfrm>
              <a:custGeom>
                <a:avLst/>
                <a:gdLst/>
                <a:ahLst/>
                <a:cxnLst/>
                <a:rect r="r" b="b" t="t" l="l"/>
                <a:pathLst>
                  <a:path h="1082040" w="12984480">
                    <a:moveTo>
                      <a:pt x="0" y="54102"/>
                    </a:moveTo>
                    <a:cubicBezTo>
                      <a:pt x="0" y="24257"/>
                      <a:pt x="24257" y="0"/>
                      <a:pt x="54102" y="0"/>
                    </a:cubicBezTo>
                    <a:lnTo>
                      <a:pt x="12930378" y="0"/>
                    </a:lnTo>
                    <a:cubicBezTo>
                      <a:pt x="12960223" y="0"/>
                      <a:pt x="12984480" y="24257"/>
                      <a:pt x="12984480" y="54102"/>
                    </a:cubicBezTo>
                    <a:lnTo>
                      <a:pt x="12984480" y="1027938"/>
                    </a:lnTo>
                    <a:cubicBezTo>
                      <a:pt x="12984480" y="1057783"/>
                      <a:pt x="12960223" y="1082040"/>
                      <a:pt x="12930378" y="1082040"/>
                    </a:cubicBezTo>
                    <a:lnTo>
                      <a:pt x="54102" y="1082040"/>
                    </a:lnTo>
                    <a:cubicBezTo>
                      <a:pt x="24257" y="1082040"/>
                      <a:pt x="0" y="1057783"/>
                      <a:pt x="0" y="1027938"/>
                    </a:cubicBezTo>
                    <a:close/>
                  </a:path>
                </a:pathLst>
              </a:custGeom>
              <a:solidFill>
                <a:srgbClr val="EDE9FB"/>
              </a:solidFill>
            </p:spPr>
          </p:sp>
        </p:grpSp>
        <p:grpSp>
          <p:nvGrpSpPr>
            <p:cNvPr name="Group 43" id="43"/>
            <p:cNvGrpSpPr/>
            <p:nvPr/>
          </p:nvGrpSpPr>
          <p:grpSpPr>
            <a:xfrm rot="0">
              <a:off x="705983" y="6917388"/>
              <a:ext cx="854641" cy="854641"/>
              <a:chOff x="0" y="0"/>
              <a:chExt cx="768096" cy="768096"/>
            </a:xfrm>
          </p:grpSpPr>
          <p:sp>
            <p:nvSpPr>
              <p:cNvPr name="Freeform 44" id="44"/>
              <p:cNvSpPr/>
              <p:nvPr/>
            </p:nvSpPr>
            <p:spPr>
              <a:xfrm flipH="false" flipV="false" rot="0">
                <a:off x="0" y="0"/>
                <a:ext cx="768096" cy="768096"/>
              </a:xfrm>
              <a:custGeom>
                <a:avLst/>
                <a:gdLst/>
                <a:ahLst/>
                <a:cxnLst/>
                <a:rect r="r" b="b" t="t" l="l"/>
                <a:pathLst>
                  <a:path h="768096" w="768096">
                    <a:moveTo>
                      <a:pt x="0" y="384048"/>
                    </a:moveTo>
                    <a:cubicBezTo>
                      <a:pt x="0" y="171958"/>
                      <a:pt x="171958" y="0"/>
                      <a:pt x="384048" y="0"/>
                    </a:cubicBezTo>
                    <a:cubicBezTo>
                      <a:pt x="596138" y="0"/>
                      <a:pt x="768096" y="171958"/>
                      <a:pt x="768096" y="384048"/>
                    </a:cubicBezTo>
                    <a:cubicBezTo>
                      <a:pt x="768096" y="596138"/>
                      <a:pt x="596138" y="768096"/>
                      <a:pt x="384048" y="768096"/>
                    </a:cubicBezTo>
                    <a:cubicBezTo>
                      <a:pt x="171958" y="768096"/>
                      <a:pt x="0" y="596138"/>
                      <a:pt x="0" y="384048"/>
                    </a:cubicBezTo>
                    <a:close/>
                  </a:path>
                </a:pathLst>
              </a:custGeom>
              <a:solidFill>
                <a:srgbClr val="D9A441"/>
              </a:solidFill>
            </p:spPr>
          </p:sp>
          <p:sp>
            <p:nvSpPr>
              <p:cNvPr name="TextBox 45" id="45"/>
              <p:cNvSpPr txBox="true"/>
              <p:nvPr/>
            </p:nvSpPr>
            <p:spPr>
              <a:xfrm>
                <a:off x="0" y="-57150"/>
                <a:ext cx="768096" cy="825246"/>
              </a:xfrm>
              <a:prstGeom prst="rect">
                <a:avLst/>
              </a:prstGeom>
            </p:spPr>
            <p:txBody>
              <a:bodyPr anchor="ctr" rtlCol="false" tIns="50800" lIns="50800" bIns="50800" rIns="50800"/>
              <a:lstStyle/>
              <a:p>
                <a:pPr algn="ctr">
                  <a:lnSpc>
                    <a:spcPts val="2819"/>
                  </a:lnSpc>
                </a:pPr>
                <a:r>
                  <a:rPr lang="en-US" sz="2349" b="true">
                    <a:solidFill>
                      <a:srgbClr val="FFFFFF"/>
                    </a:solidFill>
                    <a:latin typeface="Calibri (MS) Bold"/>
                    <a:ea typeface="Calibri (MS) Bold"/>
                    <a:cs typeface="Calibri (MS) Bold"/>
                    <a:sym typeface="Calibri (MS) Bold"/>
                  </a:rPr>
                  <a:t>✓</a:t>
                </a:r>
              </a:p>
            </p:txBody>
          </p:sp>
        </p:grpSp>
        <p:grpSp>
          <p:nvGrpSpPr>
            <p:cNvPr name="Group 46" id="46"/>
            <p:cNvGrpSpPr/>
            <p:nvPr/>
          </p:nvGrpSpPr>
          <p:grpSpPr>
            <a:xfrm rot="0">
              <a:off x="1947246" y="6737013"/>
              <a:ext cx="12921351" cy="1331766"/>
              <a:chOff x="0" y="0"/>
              <a:chExt cx="11612880" cy="1196906"/>
            </a:xfrm>
          </p:grpSpPr>
          <p:sp>
            <p:nvSpPr>
              <p:cNvPr name="Freeform 47" id="47"/>
              <p:cNvSpPr/>
              <p:nvPr/>
            </p:nvSpPr>
            <p:spPr>
              <a:xfrm flipH="false" flipV="false" rot="0">
                <a:off x="0" y="0"/>
                <a:ext cx="11612880" cy="1196906"/>
              </a:xfrm>
              <a:custGeom>
                <a:avLst/>
                <a:gdLst/>
                <a:ahLst/>
                <a:cxnLst/>
                <a:rect r="r" b="b" t="t" l="l"/>
                <a:pathLst>
                  <a:path h="1196906" w="11612880">
                    <a:moveTo>
                      <a:pt x="0" y="0"/>
                    </a:moveTo>
                    <a:lnTo>
                      <a:pt x="11612880" y="0"/>
                    </a:lnTo>
                    <a:lnTo>
                      <a:pt x="11612880" y="1196906"/>
                    </a:lnTo>
                    <a:lnTo>
                      <a:pt x="0" y="1196906"/>
                    </a:lnTo>
                    <a:close/>
                  </a:path>
                </a:pathLst>
              </a:custGeom>
              <a:blipFill>
                <a:blip r:embed="rId3">
                  <a:alphaModFix amt="0"/>
                </a:blip>
                <a:stretch>
                  <a:fillRect l="0" t="-156073" r="0" b="-122029"/>
                </a:stretch>
              </a:blipFill>
            </p:spPr>
          </p:sp>
          <p:sp>
            <p:nvSpPr>
              <p:cNvPr name="TextBox 48" id="48"/>
              <p:cNvSpPr txBox="true"/>
              <p:nvPr/>
            </p:nvSpPr>
            <p:spPr>
              <a:xfrm>
                <a:off x="0" y="-47625"/>
                <a:ext cx="11612880" cy="1244531"/>
              </a:xfrm>
              <a:prstGeom prst="rect">
                <a:avLst/>
              </a:prstGeom>
            </p:spPr>
            <p:txBody>
              <a:bodyPr anchor="ctr" rtlCol="false" tIns="0" lIns="0" bIns="0" rIns="0"/>
              <a:lstStyle/>
              <a:p>
                <a:pPr algn="l">
                  <a:lnSpc>
                    <a:spcPts val="2299"/>
                  </a:lnSpc>
                </a:pPr>
                <a:r>
                  <a:rPr lang="en-US" sz="1825" b="true">
                    <a:solidFill>
                      <a:srgbClr val="14142B"/>
                    </a:solidFill>
                    <a:latin typeface="Calibri (MS) Bold"/>
                    <a:ea typeface="Calibri (MS) Bold"/>
                    <a:cs typeface="Calibri (MS) Bold"/>
                    <a:sym typeface="Calibri (MS) Bold"/>
                  </a:rPr>
                  <a:t>Leaderboard results JSON</a:t>
                </a:r>
              </a:p>
              <a:p>
                <a:pPr algn="l">
                  <a:lnSpc>
                    <a:spcPts val="2012"/>
                  </a:lnSpc>
                </a:pPr>
                <a:r>
                  <a:rPr lang="en-US" sz="1524" i="true">
                    <a:solidFill>
                      <a:srgbClr val="6B6B76"/>
                    </a:solidFill>
                    <a:latin typeface="Calibri (MS) Italics"/>
                    <a:ea typeface="Calibri (MS) Italics"/>
                    <a:cs typeface="Calibri (MS) Italics"/>
                    <a:sym typeface="Calibri (MS) Italics"/>
                  </a:rPr>
                  <a:t>Real CoIR AppsRetrieval, produced by mteb.evaluate()</a:t>
                </a:r>
              </a:p>
              <a:p>
                <a:pPr algn="l">
                  <a:lnSpc>
                    <a:spcPts val="2012"/>
                  </a:lnSpc>
                </a:pPr>
                <a:r>
                  <a:rPr lang="en-US" sz="1524">
                    <a:solidFill>
                      <a:srgbClr val="6D28D9"/>
                    </a:solidFill>
                    <a:latin typeface="Courier New"/>
                    <a:ea typeface="Courier New"/>
                    <a:cs typeface="Courier New"/>
                    <a:sym typeface="Courier New"/>
                  </a:rPr>
                  <a:t>results/appsretrieval_results.json  (attached to release)</a:t>
                </a:r>
              </a:p>
            </p:txBody>
          </p:sp>
        </p:grpSp>
        <p:grpSp>
          <p:nvGrpSpPr>
            <p:cNvPr name="Group 49" id="49"/>
            <p:cNvGrpSpPr/>
            <p:nvPr/>
          </p:nvGrpSpPr>
          <p:grpSpPr>
            <a:xfrm rot="0">
              <a:off x="421103" y="8068779"/>
              <a:ext cx="14447495" cy="1203958"/>
              <a:chOff x="0" y="0"/>
              <a:chExt cx="12984480" cy="1082040"/>
            </a:xfrm>
          </p:grpSpPr>
          <p:sp>
            <p:nvSpPr>
              <p:cNvPr name="Freeform 50" id="50"/>
              <p:cNvSpPr/>
              <p:nvPr/>
            </p:nvSpPr>
            <p:spPr>
              <a:xfrm flipH="false" flipV="false" rot="0">
                <a:off x="0" y="0"/>
                <a:ext cx="12984480" cy="1082040"/>
              </a:xfrm>
              <a:custGeom>
                <a:avLst/>
                <a:gdLst/>
                <a:ahLst/>
                <a:cxnLst/>
                <a:rect r="r" b="b" t="t" l="l"/>
                <a:pathLst>
                  <a:path h="1082040" w="12984480">
                    <a:moveTo>
                      <a:pt x="0" y="54102"/>
                    </a:moveTo>
                    <a:cubicBezTo>
                      <a:pt x="0" y="24257"/>
                      <a:pt x="24257" y="0"/>
                      <a:pt x="54102" y="0"/>
                    </a:cubicBezTo>
                    <a:lnTo>
                      <a:pt x="12930378" y="0"/>
                    </a:lnTo>
                    <a:cubicBezTo>
                      <a:pt x="12960223" y="0"/>
                      <a:pt x="12984480" y="24257"/>
                      <a:pt x="12984480" y="54102"/>
                    </a:cubicBezTo>
                    <a:lnTo>
                      <a:pt x="12984480" y="1027938"/>
                    </a:lnTo>
                    <a:cubicBezTo>
                      <a:pt x="12984480" y="1057783"/>
                      <a:pt x="12960223" y="1082040"/>
                      <a:pt x="12930378" y="1082040"/>
                    </a:cubicBezTo>
                    <a:lnTo>
                      <a:pt x="54102" y="1082040"/>
                    </a:lnTo>
                    <a:cubicBezTo>
                      <a:pt x="24257" y="1082040"/>
                      <a:pt x="0" y="1057783"/>
                      <a:pt x="0" y="1027938"/>
                    </a:cubicBezTo>
                    <a:close/>
                  </a:path>
                </a:pathLst>
              </a:custGeom>
              <a:solidFill>
                <a:srgbClr val="EDE9FB"/>
              </a:solidFill>
            </p:spPr>
          </p:sp>
        </p:grpSp>
        <p:grpSp>
          <p:nvGrpSpPr>
            <p:cNvPr name="Group 51" id="51"/>
            <p:cNvGrpSpPr/>
            <p:nvPr/>
          </p:nvGrpSpPr>
          <p:grpSpPr>
            <a:xfrm rot="0">
              <a:off x="705983" y="8243438"/>
              <a:ext cx="854641" cy="854641"/>
              <a:chOff x="0" y="0"/>
              <a:chExt cx="768096" cy="768096"/>
            </a:xfrm>
          </p:grpSpPr>
          <p:sp>
            <p:nvSpPr>
              <p:cNvPr name="Freeform 52" id="52"/>
              <p:cNvSpPr/>
              <p:nvPr/>
            </p:nvSpPr>
            <p:spPr>
              <a:xfrm flipH="false" flipV="false" rot="0">
                <a:off x="0" y="0"/>
                <a:ext cx="768096" cy="768096"/>
              </a:xfrm>
              <a:custGeom>
                <a:avLst/>
                <a:gdLst/>
                <a:ahLst/>
                <a:cxnLst/>
                <a:rect r="r" b="b" t="t" l="l"/>
                <a:pathLst>
                  <a:path h="768096" w="768096">
                    <a:moveTo>
                      <a:pt x="0" y="384048"/>
                    </a:moveTo>
                    <a:cubicBezTo>
                      <a:pt x="0" y="171958"/>
                      <a:pt x="171958" y="0"/>
                      <a:pt x="384048" y="0"/>
                    </a:cubicBezTo>
                    <a:cubicBezTo>
                      <a:pt x="596138" y="0"/>
                      <a:pt x="768096" y="171958"/>
                      <a:pt x="768096" y="384048"/>
                    </a:cubicBezTo>
                    <a:cubicBezTo>
                      <a:pt x="768096" y="596138"/>
                      <a:pt x="596138" y="768096"/>
                      <a:pt x="384048" y="768096"/>
                    </a:cubicBezTo>
                    <a:cubicBezTo>
                      <a:pt x="171958" y="768096"/>
                      <a:pt x="0" y="596138"/>
                      <a:pt x="0" y="384048"/>
                    </a:cubicBezTo>
                    <a:close/>
                  </a:path>
                </a:pathLst>
              </a:custGeom>
              <a:solidFill>
                <a:srgbClr val="D9A441"/>
              </a:solidFill>
            </p:spPr>
          </p:sp>
          <p:sp>
            <p:nvSpPr>
              <p:cNvPr name="TextBox 53" id="53"/>
              <p:cNvSpPr txBox="true"/>
              <p:nvPr/>
            </p:nvSpPr>
            <p:spPr>
              <a:xfrm>
                <a:off x="0" y="-57150"/>
                <a:ext cx="768096" cy="825246"/>
              </a:xfrm>
              <a:prstGeom prst="rect">
                <a:avLst/>
              </a:prstGeom>
            </p:spPr>
            <p:txBody>
              <a:bodyPr anchor="ctr" rtlCol="false" tIns="50800" lIns="50800" bIns="50800" rIns="50800"/>
              <a:lstStyle/>
              <a:p>
                <a:pPr algn="ctr">
                  <a:lnSpc>
                    <a:spcPts val="2819"/>
                  </a:lnSpc>
                </a:pPr>
                <a:r>
                  <a:rPr lang="en-US" sz="2349" b="true">
                    <a:solidFill>
                      <a:srgbClr val="FFFFFF"/>
                    </a:solidFill>
                    <a:latin typeface="Calibri (MS) Bold"/>
                    <a:ea typeface="Calibri (MS) Bold"/>
                    <a:cs typeface="Calibri (MS) Bold"/>
                    <a:sym typeface="Calibri (MS) Bold"/>
                  </a:rPr>
                  <a:t>✓</a:t>
                </a:r>
              </a:p>
            </p:txBody>
          </p:sp>
        </p:grpSp>
        <p:grpSp>
          <p:nvGrpSpPr>
            <p:cNvPr name="Group 54" id="54"/>
            <p:cNvGrpSpPr/>
            <p:nvPr/>
          </p:nvGrpSpPr>
          <p:grpSpPr>
            <a:xfrm rot="0">
              <a:off x="1947246" y="7974949"/>
              <a:ext cx="12921351" cy="1331766"/>
              <a:chOff x="0" y="0"/>
              <a:chExt cx="11612880" cy="1196906"/>
            </a:xfrm>
          </p:grpSpPr>
          <p:sp>
            <p:nvSpPr>
              <p:cNvPr name="Freeform 55" id="55"/>
              <p:cNvSpPr/>
              <p:nvPr/>
            </p:nvSpPr>
            <p:spPr>
              <a:xfrm flipH="false" flipV="false" rot="0">
                <a:off x="0" y="0"/>
                <a:ext cx="11612880" cy="1196906"/>
              </a:xfrm>
              <a:custGeom>
                <a:avLst/>
                <a:gdLst/>
                <a:ahLst/>
                <a:cxnLst/>
                <a:rect r="r" b="b" t="t" l="l"/>
                <a:pathLst>
                  <a:path h="1196906" w="11612880">
                    <a:moveTo>
                      <a:pt x="0" y="0"/>
                    </a:moveTo>
                    <a:lnTo>
                      <a:pt x="11612880" y="0"/>
                    </a:lnTo>
                    <a:lnTo>
                      <a:pt x="11612880" y="1196906"/>
                    </a:lnTo>
                    <a:lnTo>
                      <a:pt x="0" y="1196906"/>
                    </a:lnTo>
                    <a:close/>
                  </a:path>
                </a:pathLst>
              </a:custGeom>
              <a:blipFill>
                <a:blip r:embed="rId3">
                  <a:alphaModFix amt="0"/>
                </a:blip>
                <a:stretch>
                  <a:fillRect l="0" t="-156073" r="0" b="-122029"/>
                </a:stretch>
              </a:blipFill>
            </p:spPr>
          </p:sp>
          <p:sp>
            <p:nvSpPr>
              <p:cNvPr name="TextBox 56" id="56"/>
              <p:cNvSpPr txBox="true"/>
              <p:nvPr/>
            </p:nvSpPr>
            <p:spPr>
              <a:xfrm>
                <a:off x="0" y="-47625"/>
                <a:ext cx="11612880" cy="1244531"/>
              </a:xfrm>
              <a:prstGeom prst="rect">
                <a:avLst/>
              </a:prstGeom>
            </p:spPr>
            <p:txBody>
              <a:bodyPr anchor="ctr" rtlCol="false" tIns="0" lIns="0" bIns="0" rIns="0"/>
              <a:lstStyle/>
              <a:p>
                <a:pPr algn="l">
                  <a:lnSpc>
                    <a:spcPts val="2299"/>
                  </a:lnSpc>
                </a:pPr>
                <a:r>
                  <a:rPr lang="en-US" sz="1825" b="true">
                    <a:solidFill>
                      <a:srgbClr val="14142B"/>
                    </a:solidFill>
                    <a:latin typeface="Calibri (MS) Bold"/>
                    <a:ea typeface="Calibri (MS) Bold"/>
                    <a:cs typeface="Calibri (MS) Bold"/>
                    <a:sym typeface="Calibri (MS) Bold"/>
                  </a:rPr>
                  <a:t>Ablation record</a:t>
                </a:r>
              </a:p>
              <a:p>
                <a:pPr algn="l">
                  <a:lnSpc>
                    <a:spcPts val="2012"/>
                  </a:lnSpc>
                </a:pPr>
                <a:r>
                  <a:rPr lang="en-US" sz="1524" i="true">
                    <a:solidFill>
                      <a:srgbClr val="6B6B76"/>
                    </a:solidFill>
                    <a:latin typeface="Calibri (MS) Italics"/>
                    <a:ea typeface="Calibri (MS) Italics"/>
                    <a:cs typeface="Calibri (MS) Italics"/>
                    <a:sym typeface="Calibri (MS) Italics"/>
                  </a:rPr>
                  <a:t>10 configs measured, 8 dropped, e5-base kept (+73.9%)</a:t>
                </a:r>
              </a:p>
              <a:p>
                <a:pPr algn="l">
                  <a:lnSpc>
                    <a:spcPts val="2012"/>
                  </a:lnSpc>
                </a:pPr>
                <a:r>
                  <a:rPr lang="en-US" sz="1524">
                    <a:solidFill>
                      <a:srgbClr val="6D28D9"/>
                    </a:solidFill>
                    <a:latin typeface="Courier New"/>
                    <a:ea typeface="Courier New"/>
                    <a:cs typeface="Courier New"/>
                    <a:sym typeface="Courier New"/>
                  </a:rPr>
                  <a:t>docs/ablation_log.md</a:t>
                </a:r>
              </a:p>
            </p:txBody>
          </p:sp>
        </p:grpSp>
        <p:grpSp>
          <p:nvGrpSpPr>
            <p:cNvPr name="Group 57" id="57"/>
            <p:cNvGrpSpPr/>
            <p:nvPr/>
          </p:nvGrpSpPr>
          <p:grpSpPr>
            <a:xfrm rot="0">
              <a:off x="15784284" y="14131"/>
              <a:ext cx="7630719" cy="9563835"/>
              <a:chOff x="0" y="0"/>
              <a:chExt cx="6858000" cy="8595360"/>
            </a:xfrm>
          </p:grpSpPr>
          <p:sp>
            <p:nvSpPr>
              <p:cNvPr name="Freeform 58" id="58"/>
              <p:cNvSpPr/>
              <p:nvPr/>
            </p:nvSpPr>
            <p:spPr>
              <a:xfrm flipH="false" flipV="false" rot="0">
                <a:off x="0" y="0"/>
                <a:ext cx="6858000" cy="8595360"/>
              </a:xfrm>
              <a:custGeom>
                <a:avLst/>
                <a:gdLst/>
                <a:ahLst/>
                <a:cxnLst/>
                <a:rect r="r" b="b" t="t" l="l"/>
                <a:pathLst>
                  <a:path h="8595360" w="6858000">
                    <a:moveTo>
                      <a:pt x="0" y="411480"/>
                    </a:moveTo>
                    <a:cubicBezTo>
                      <a:pt x="0" y="184277"/>
                      <a:pt x="184277" y="0"/>
                      <a:pt x="411480" y="0"/>
                    </a:cubicBezTo>
                    <a:lnTo>
                      <a:pt x="6446520" y="0"/>
                    </a:lnTo>
                    <a:cubicBezTo>
                      <a:pt x="6673723" y="0"/>
                      <a:pt x="6858000" y="184277"/>
                      <a:pt x="6858000" y="411480"/>
                    </a:cubicBezTo>
                    <a:lnTo>
                      <a:pt x="6858000" y="8183880"/>
                    </a:lnTo>
                    <a:cubicBezTo>
                      <a:pt x="6858000" y="8411083"/>
                      <a:pt x="6673723" y="8595360"/>
                      <a:pt x="6446520" y="8595360"/>
                    </a:cubicBezTo>
                    <a:lnTo>
                      <a:pt x="411480" y="8595360"/>
                    </a:lnTo>
                    <a:cubicBezTo>
                      <a:pt x="184277" y="8595360"/>
                      <a:pt x="0" y="8411083"/>
                      <a:pt x="0" y="8183880"/>
                    </a:cubicBezTo>
                    <a:close/>
                  </a:path>
                </a:pathLst>
              </a:custGeom>
              <a:solidFill>
                <a:srgbClr val="704EA6"/>
              </a:solidFill>
            </p:spPr>
          </p:sp>
        </p:grpSp>
        <p:sp>
          <p:nvSpPr>
            <p:cNvPr name="TextBox 59" id="59"/>
            <p:cNvSpPr txBox="true"/>
            <p:nvPr/>
          </p:nvSpPr>
          <p:spPr>
            <a:xfrm rot="0">
              <a:off x="16292998" y="383003"/>
              <a:ext cx="6613290" cy="405505"/>
            </a:xfrm>
            <a:prstGeom prst="rect">
              <a:avLst/>
            </a:prstGeom>
          </p:spPr>
          <p:txBody>
            <a:bodyPr anchor="t" rtlCol="false" tIns="0" lIns="0" bIns="0" rIns="0">
              <a:spAutoFit/>
            </a:bodyPr>
            <a:lstStyle/>
            <a:p>
              <a:pPr algn="l">
                <a:lnSpc>
                  <a:spcPts val="2236"/>
                </a:lnSpc>
              </a:pPr>
              <a:r>
                <a:rPr lang="en-US" sz="1863" b="true">
                  <a:solidFill>
                    <a:srgbClr val="E3DAF7"/>
                  </a:solidFill>
                  <a:latin typeface="Calibri (MS) Bold"/>
                  <a:ea typeface="Calibri (MS) Bold"/>
                  <a:cs typeface="Calibri (MS) Bold"/>
                  <a:sym typeface="Calibri (MS) Bold"/>
                </a:rPr>
                <a:t>SUBMISSION AT A GLANCE</a:t>
              </a:r>
            </a:p>
          </p:txBody>
        </p:sp>
        <p:sp>
          <p:nvSpPr>
            <p:cNvPr name="TextBox 60" id="60"/>
            <p:cNvSpPr txBox="true"/>
            <p:nvPr/>
          </p:nvSpPr>
          <p:spPr>
            <a:xfrm rot="0">
              <a:off x="16292998" y="1111221"/>
              <a:ext cx="6613290" cy="1603619"/>
            </a:xfrm>
            <a:prstGeom prst="rect">
              <a:avLst/>
            </a:prstGeom>
          </p:spPr>
          <p:txBody>
            <a:bodyPr anchor="t" rtlCol="false" tIns="0" lIns="0" bIns="0" rIns="0">
              <a:spAutoFit/>
            </a:bodyPr>
            <a:lstStyle/>
            <a:p>
              <a:pPr algn="l">
                <a:lnSpc>
                  <a:spcPts val="6542"/>
                </a:lnSpc>
              </a:pPr>
              <a:r>
                <a:rPr lang="en-US" sz="5452" b="true">
                  <a:solidFill>
                    <a:srgbClr val="FFFFFF"/>
                  </a:solidFill>
                  <a:latin typeface="Calibri (MS) Bold"/>
                  <a:ea typeface="Calibri (MS) Bold"/>
                  <a:cs typeface="Calibri (MS) Bold"/>
                  <a:sym typeface="Calibri (MS) Bold"/>
                </a:rPr>
                <a:t>0.1151</a:t>
              </a:r>
            </a:p>
            <a:p>
              <a:pPr algn="l">
                <a:lnSpc>
                  <a:spcPts val="2349"/>
                </a:lnSpc>
              </a:pPr>
              <a:r>
                <a:rPr lang="en-US" sz="1780" i="true">
                  <a:solidFill>
                    <a:srgbClr val="E3DAF7"/>
                  </a:solidFill>
                  <a:latin typeface="Calibri (MS) Italics"/>
                  <a:ea typeface="Calibri (MS) Italics"/>
                  <a:cs typeface="Calibri (MS) Italics"/>
                  <a:sym typeface="Calibri (MS) Italics"/>
                </a:rPr>
                <a:t>NDCG@10 · CoIR AppsRetrieval · MTEB</a:t>
              </a:r>
            </a:p>
          </p:txBody>
        </p:sp>
        <p:sp>
          <p:nvSpPr>
            <p:cNvPr name="TextBox 61" id="61"/>
            <p:cNvSpPr txBox="true"/>
            <p:nvPr/>
          </p:nvSpPr>
          <p:spPr>
            <a:xfrm rot="0">
              <a:off x="16292998" y="3546558"/>
              <a:ext cx="6613290" cy="353587"/>
            </a:xfrm>
            <a:prstGeom prst="rect">
              <a:avLst/>
            </a:prstGeom>
          </p:spPr>
          <p:txBody>
            <a:bodyPr anchor="t" rtlCol="false" tIns="0" lIns="0" bIns="0" rIns="0">
              <a:spAutoFit/>
            </a:bodyPr>
            <a:lstStyle/>
            <a:p>
              <a:pPr algn="l">
                <a:lnSpc>
                  <a:spcPts val="1936"/>
                </a:lnSpc>
              </a:pPr>
              <a:r>
                <a:rPr lang="en-US" sz="1613" b="true">
                  <a:solidFill>
                    <a:srgbClr val="E3DAF7"/>
                  </a:solidFill>
                  <a:latin typeface="Calibri (MS) Bold"/>
                  <a:ea typeface="Calibri (MS) Bold"/>
                  <a:cs typeface="Calibri (MS) Bold"/>
                  <a:sym typeface="Calibri (MS) Bold"/>
                </a:rPr>
                <a:t>VERIFIED</a:t>
              </a:r>
            </a:p>
          </p:txBody>
        </p:sp>
        <p:grpSp>
          <p:nvGrpSpPr>
            <p:cNvPr name="Group 62" id="62"/>
            <p:cNvGrpSpPr/>
            <p:nvPr/>
          </p:nvGrpSpPr>
          <p:grpSpPr>
            <a:xfrm rot="0">
              <a:off x="16292998" y="4185591"/>
              <a:ext cx="6613290" cy="966558"/>
              <a:chOff x="0" y="0"/>
              <a:chExt cx="5943600" cy="868680"/>
            </a:xfrm>
          </p:grpSpPr>
          <p:sp>
            <p:nvSpPr>
              <p:cNvPr name="Freeform 63" id="63"/>
              <p:cNvSpPr/>
              <p:nvPr/>
            </p:nvSpPr>
            <p:spPr>
              <a:xfrm flipH="false" flipV="false" rot="0">
                <a:off x="0" y="0"/>
                <a:ext cx="5943600" cy="868680"/>
              </a:xfrm>
              <a:custGeom>
                <a:avLst/>
                <a:gdLst/>
                <a:ahLst/>
                <a:cxnLst/>
                <a:rect r="r" b="b" t="t" l="l"/>
                <a:pathLst>
                  <a:path h="868680" w="5943600">
                    <a:moveTo>
                      <a:pt x="0" y="34798"/>
                    </a:moveTo>
                    <a:cubicBezTo>
                      <a:pt x="0" y="15494"/>
                      <a:pt x="15494" y="0"/>
                      <a:pt x="34798" y="0"/>
                    </a:cubicBezTo>
                    <a:lnTo>
                      <a:pt x="5908802" y="0"/>
                    </a:lnTo>
                    <a:cubicBezTo>
                      <a:pt x="5928106" y="0"/>
                      <a:pt x="5943600" y="15494"/>
                      <a:pt x="5943600" y="34798"/>
                    </a:cubicBezTo>
                    <a:lnTo>
                      <a:pt x="5943600" y="833882"/>
                    </a:lnTo>
                    <a:cubicBezTo>
                      <a:pt x="5943600" y="853059"/>
                      <a:pt x="5928106" y="868680"/>
                      <a:pt x="5908802" y="868680"/>
                    </a:cubicBezTo>
                    <a:lnTo>
                      <a:pt x="34798" y="868680"/>
                    </a:lnTo>
                    <a:cubicBezTo>
                      <a:pt x="15494" y="868680"/>
                      <a:pt x="0" y="853186"/>
                      <a:pt x="0" y="833882"/>
                    </a:cubicBezTo>
                    <a:close/>
                  </a:path>
                </a:pathLst>
              </a:custGeom>
              <a:solidFill>
                <a:srgbClr val="8C6FC4"/>
              </a:solidFill>
            </p:spPr>
          </p:sp>
        </p:grpSp>
        <p:grpSp>
          <p:nvGrpSpPr>
            <p:cNvPr name="Group 64" id="64"/>
            <p:cNvGrpSpPr/>
            <p:nvPr/>
          </p:nvGrpSpPr>
          <p:grpSpPr>
            <a:xfrm rot="0">
              <a:off x="16292998" y="4185591"/>
              <a:ext cx="2645316" cy="966558"/>
              <a:chOff x="0" y="0"/>
              <a:chExt cx="2377440" cy="868680"/>
            </a:xfrm>
          </p:grpSpPr>
          <p:sp>
            <p:nvSpPr>
              <p:cNvPr name="Freeform 65" id="65"/>
              <p:cNvSpPr/>
              <p:nvPr/>
            </p:nvSpPr>
            <p:spPr>
              <a:xfrm flipH="false" flipV="false" rot="0">
                <a:off x="0" y="0"/>
                <a:ext cx="2377440" cy="868680"/>
              </a:xfrm>
              <a:custGeom>
                <a:avLst/>
                <a:gdLst/>
                <a:ahLst/>
                <a:cxnLst/>
                <a:rect r="r" b="b" t="t" l="l"/>
                <a:pathLst>
                  <a:path h="868680" w="2377440">
                    <a:moveTo>
                      <a:pt x="0" y="0"/>
                    </a:moveTo>
                    <a:lnTo>
                      <a:pt x="2377440" y="0"/>
                    </a:lnTo>
                    <a:lnTo>
                      <a:pt x="2377440" y="868680"/>
                    </a:lnTo>
                    <a:lnTo>
                      <a:pt x="0" y="868680"/>
                    </a:lnTo>
                    <a:close/>
                  </a:path>
                </a:pathLst>
              </a:custGeom>
              <a:blipFill>
                <a:blip r:embed="rId3">
                  <a:alphaModFix amt="0"/>
                </a:blip>
                <a:stretch>
                  <a:fillRect l="0" t="-3327" r="0" b="-3327"/>
                </a:stretch>
              </a:blipFill>
            </p:spPr>
          </p:sp>
          <p:sp>
            <p:nvSpPr>
              <p:cNvPr name="TextBox 66" id="66"/>
              <p:cNvSpPr txBox="true"/>
              <p:nvPr/>
            </p:nvSpPr>
            <p:spPr>
              <a:xfrm>
                <a:off x="0" y="-47625"/>
                <a:ext cx="2377440" cy="916305"/>
              </a:xfrm>
              <a:prstGeom prst="rect">
                <a:avLst/>
              </a:prstGeom>
            </p:spPr>
            <p:txBody>
              <a:bodyPr anchor="ctr" rtlCol="false" tIns="0" lIns="0" bIns="0" rIns="0"/>
              <a:lstStyle/>
              <a:p>
                <a:pPr algn="ctr">
                  <a:lnSpc>
                    <a:spcPts val="3360"/>
                  </a:lnSpc>
                </a:pPr>
                <a:r>
                  <a:rPr lang="en-US" sz="2800" b="true">
                    <a:solidFill>
                      <a:srgbClr val="FFFFFF"/>
                    </a:solidFill>
                    <a:latin typeface="Calibri (MS) Bold"/>
                    <a:ea typeface="Calibri (MS) Bold"/>
                    <a:cs typeface="Calibri (MS) Bold"/>
                    <a:sym typeface="Calibri (MS) Bold"/>
                  </a:rPr>
                  <a:t>10</a:t>
                </a:r>
              </a:p>
            </p:txBody>
          </p:sp>
        </p:grpSp>
        <p:grpSp>
          <p:nvGrpSpPr>
            <p:cNvPr name="Group 67" id="67"/>
            <p:cNvGrpSpPr/>
            <p:nvPr/>
          </p:nvGrpSpPr>
          <p:grpSpPr>
            <a:xfrm rot="0">
              <a:off x="18938314" y="4185591"/>
              <a:ext cx="3967974" cy="966558"/>
              <a:chOff x="0" y="0"/>
              <a:chExt cx="3566160" cy="868680"/>
            </a:xfrm>
          </p:grpSpPr>
          <p:sp>
            <p:nvSpPr>
              <p:cNvPr name="Freeform 68" id="68"/>
              <p:cNvSpPr/>
              <p:nvPr/>
            </p:nvSpPr>
            <p:spPr>
              <a:xfrm flipH="false" flipV="false" rot="0">
                <a:off x="0" y="0"/>
                <a:ext cx="3566160" cy="868680"/>
              </a:xfrm>
              <a:custGeom>
                <a:avLst/>
                <a:gdLst/>
                <a:ahLst/>
                <a:cxnLst/>
                <a:rect r="r" b="b" t="t" l="l"/>
                <a:pathLst>
                  <a:path h="868680" w="3566160">
                    <a:moveTo>
                      <a:pt x="0" y="0"/>
                    </a:moveTo>
                    <a:lnTo>
                      <a:pt x="3566160" y="0"/>
                    </a:lnTo>
                    <a:lnTo>
                      <a:pt x="3566160" y="868680"/>
                    </a:lnTo>
                    <a:lnTo>
                      <a:pt x="0" y="868680"/>
                    </a:lnTo>
                    <a:close/>
                  </a:path>
                </a:pathLst>
              </a:custGeom>
              <a:blipFill>
                <a:blip r:embed="rId3">
                  <a:alphaModFix amt="0"/>
                </a:blip>
                <a:stretch>
                  <a:fillRect l="0" t="-29991" r="0" b="-29991"/>
                </a:stretch>
              </a:blipFill>
            </p:spPr>
          </p:sp>
          <p:sp>
            <p:nvSpPr>
              <p:cNvPr name="TextBox 69" id="69"/>
              <p:cNvSpPr txBox="true"/>
              <p:nvPr/>
            </p:nvSpPr>
            <p:spPr>
              <a:xfrm>
                <a:off x="0" y="-57150"/>
                <a:ext cx="3566160" cy="925830"/>
              </a:xfrm>
              <a:prstGeom prst="rect">
                <a:avLst/>
              </a:prstGeom>
            </p:spPr>
            <p:txBody>
              <a:bodyPr anchor="ctr" rtlCol="false" tIns="0" lIns="0" bIns="0" rIns="0"/>
              <a:lstStyle/>
              <a:p>
                <a:pPr algn="l">
                  <a:lnSpc>
                    <a:spcPts val="2012"/>
                  </a:lnSpc>
                </a:pPr>
                <a:r>
                  <a:rPr lang="en-US" sz="1524">
                    <a:solidFill>
                      <a:srgbClr val="E3DAF7"/>
                    </a:solidFill>
                    <a:latin typeface="Calibri (MS)"/>
                    <a:ea typeface="Calibri (MS)"/>
                    <a:cs typeface="Calibri (MS)"/>
                    <a:sym typeface="Calibri (MS)"/>
                  </a:rPr>
                  <a:t>real ablations</a:t>
                </a:r>
              </a:p>
            </p:txBody>
          </p:sp>
        </p:grpSp>
        <p:grpSp>
          <p:nvGrpSpPr>
            <p:cNvPr name="Group 70" id="70"/>
            <p:cNvGrpSpPr/>
            <p:nvPr/>
          </p:nvGrpSpPr>
          <p:grpSpPr>
            <a:xfrm rot="0">
              <a:off x="16292998" y="5253891"/>
              <a:ext cx="6613290" cy="966558"/>
              <a:chOff x="0" y="0"/>
              <a:chExt cx="5943600" cy="868680"/>
            </a:xfrm>
          </p:grpSpPr>
          <p:sp>
            <p:nvSpPr>
              <p:cNvPr name="Freeform 71" id="71"/>
              <p:cNvSpPr/>
              <p:nvPr/>
            </p:nvSpPr>
            <p:spPr>
              <a:xfrm flipH="false" flipV="false" rot="0">
                <a:off x="0" y="0"/>
                <a:ext cx="5943600" cy="868680"/>
              </a:xfrm>
              <a:custGeom>
                <a:avLst/>
                <a:gdLst/>
                <a:ahLst/>
                <a:cxnLst/>
                <a:rect r="r" b="b" t="t" l="l"/>
                <a:pathLst>
                  <a:path h="868680" w="5943600">
                    <a:moveTo>
                      <a:pt x="0" y="34798"/>
                    </a:moveTo>
                    <a:cubicBezTo>
                      <a:pt x="0" y="15494"/>
                      <a:pt x="15494" y="0"/>
                      <a:pt x="34798" y="0"/>
                    </a:cubicBezTo>
                    <a:lnTo>
                      <a:pt x="5908802" y="0"/>
                    </a:lnTo>
                    <a:cubicBezTo>
                      <a:pt x="5928106" y="0"/>
                      <a:pt x="5943600" y="15494"/>
                      <a:pt x="5943600" y="34798"/>
                    </a:cubicBezTo>
                    <a:lnTo>
                      <a:pt x="5943600" y="833882"/>
                    </a:lnTo>
                    <a:cubicBezTo>
                      <a:pt x="5943600" y="853059"/>
                      <a:pt x="5928106" y="868680"/>
                      <a:pt x="5908802" y="868680"/>
                    </a:cubicBezTo>
                    <a:lnTo>
                      <a:pt x="34798" y="868680"/>
                    </a:lnTo>
                    <a:cubicBezTo>
                      <a:pt x="15494" y="868680"/>
                      <a:pt x="0" y="853186"/>
                      <a:pt x="0" y="833882"/>
                    </a:cubicBezTo>
                    <a:close/>
                  </a:path>
                </a:pathLst>
              </a:custGeom>
              <a:solidFill>
                <a:srgbClr val="8C6FC4"/>
              </a:solidFill>
            </p:spPr>
          </p:sp>
        </p:grpSp>
        <p:grpSp>
          <p:nvGrpSpPr>
            <p:cNvPr name="Group 72" id="72"/>
            <p:cNvGrpSpPr/>
            <p:nvPr/>
          </p:nvGrpSpPr>
          <p:grpSpPr>
            <a:xfrm rot="0">
              <a:off x="16292998" y="5253891"/>
              <a:ext cx="2645316" cy="966558"/>
              <a:chOff x="0" y="0"/>
              <a:chExt cx="2377440" cy="868680"/>
            </a:xfrm>
          </p:grpSpPr>
          <p:sp>
            <p:nvSpPr>
              <p:cNvPr name="Freeform 73" id="73"/>
              <p:cNvSpPr/>
              <p:nvPr/>
            </p:nvSpPr>
            <p:spPr>
              <a:xfrm flipH="false" flipV="false" rot="0">
                <a:off x="0" y="0"/>
                <a:ext cx="2377440" cy="868680"/>
              </a:xfrm>
              <a:custGeom>
                <a:avLst/>
                <a:gdLst/>
                <a:ahLst/>
                <a:cxnLst/>
                <a:rect r="r" b="b" t="t" l="l"/>
                <a:pathLst>
                  <a:path h="868680" w="2377440">
                    <a:moveTo>
                      <a:pt x="0" y="0"/>
                    </a:moveTo>
                    <a:lnTo>
                      <a:pt x="2377440" y="0"/>
                    </a:lnTo>
                    <a:lnTo>
                      <a:pt x="2377440" y="868680"/>
                    </a:lnTo>
                    <a:lnTo>
                      <a:pt x="0" y="868680"/>
                    </a:lnTo>
                    <a:close/>
                  </a:path>
                </a:pathLst>
              </a:custGeom>
              <a:blipFill>
                <a:blip r:embed="rId3">
                  <a:alphaModFix amt="0"/>
                </a:blip>
                <a:stretch>
                  <a:fillRect l="0" t="-3327" r="0" b="-3327"/>
                </a:stretch>
              </a:blipFill>
            </p:spPr>
          </p:sp>
          <p:sp>
            <p:nvSpPr>
              <p:cNvPr name="TextBox 74" id="74"/>
              <p:cNvSpPr txBox="true"/>
              <p:nvPr/>
            </p:nvSpPr>
            <p:spPr>
              <a:xfrm>
                <a:off x="0" y="-47625"/>
                <a:ext cx="2377440" cy="916305"/>
              </a:xfrm>
              <a:prstGeom prst="rect">
                <a:avLst/>
              </a:prstGeom>
            </p:spPr>
            <p:txBody>
              <a:bodyPr anchor="ctr" rtlCol="false" tIns="0" lIns="0" bIns="0" rIns="0"/>
              <a:lstStyle/>
              <a:p>
                <a:pPr algn="ctr">
                  <a:lnSpc>
                    <a:spcPts val="3360"/>
                  </a:lnSpc>
                </a:pPr>
                <a:r>
                  <a:rPr lang="en-US" sz="2800" b="true">
                    <a:solidFill>
                      <a:srgbClr val="FFFFFF"/>
                    </a:solidFill>
                    <a:latin typeface="Calibri (MS) Bold"/>
                    <a:ea typeface="Calibri (MS) Bold"/>
                    <a:cs typeface="Calibri (MS) Bold"/>
                    <a:sym typeface="Calibri (MS) Bold"/>
                  </a:rPr>
                  <a:t>+73.9%</a:t>
                </a:r>
              </a:p>
            </p:txBody>
          </p:sp>
        </p:grpSp>
        <p:grpSp>
          <p:nvGrpSpPr>
            <p:cNvPr name="Group 75" id="75"/>
            <p:cNvGrpSpPr/>
            <p:nvPr/>
          </p:nvGrpSpPr>
          <p:grpSpPr>
            <a:xfrm rot="0">
              <a:off x="18938314" y="5253891"/>
              <a:ext cx="3967974" cy="966558"/>
              <a:chOff x="0" y="0"/>
              <a:chExt cx="3566160" cy="868680"/>
            </a:xfrm>
          </p:grpSpPr>
          <p:sp>
            <p:nvSpPr>
              <p:cNvPr name="Freeform 76" id="76"/>
              <p:cNvSpPr/>
              <p:nvPr/>
            </p:nvSpPr>
            <p:spPr>
              <a:xfrm flipH="false" flipV="false" rot="0">
                <a:off x="0" y="0"/>
                <a:ext cx="3566160" cy="868680"/>
              </a:xfrm>
              <a:custGeom>
                <a:avLst/>
                <a:gdLst/>
                <a:ahLst/>
                <a:cxnLst/>
                <a:rect r="r" b="b" t="t" l="l"/>
                <a:pathLst>
                  <a:path h="868680" w="3566160">
                    <a:moveTo>
                      <a:pt x="0" y="0"/>
                    </a:moveTo>
                    <a:lnTo>
                      <a:pt x="3566160" y="0"/>
                    </a:lnTo>
                    <a:lnTo>
                      <a:pt x="3566160" y="868680"/>
                    </a:lnTo>
                    <a:lnTo>
                      <a:pt x="0" y="868680"/>
                    </a:lnTo>
                    <a:close/>
                  </a:path>
                </a:pathLst>
              </a:custGeom>
              <a:blipFill>
                <a:blip r:embed="rId3">
                  <a:alphaModFix amt="0"/>
                </a:blip>
                <a:stretch>
                  <a:fillRect l="0" t="-29991" r="0" b="-29991"/>
                </a:stretch>
              </a:blipFill>
            </p:spPr>
          </p:sp>
          <p:sp>
            <p:nvSpPr>
              <p:cNvPr name="TextBox 77" id="77"/>
              <p:cNvSpPr txBox="true"/>
              <p:nvPr/>
            </p:nvSpPr>
            <p:spPr>
              <a:xfrm>
                <a:off x="0" y="-57150"/>
                <a:ext cx="3566160" cy="925830"/>
              </a:xfrm>
              <a:prstGeom prst="rect">
                <a:avLst/>
              </a:prstGeom>
            </p:spPr>
            <p:txBody>
              <a:bodyPr anchor="ctr" rtlCol="false" tIns="0" lIns="0" bIns="0" rIns="0"/>
              <a:lstStyle/>
              <a:p>
                <a:pPr algn="l">
                  <a:lnSpc>
                    <a:spcPts val="2012"/>
                  </a:lnSpc>
                </a:pPr>
                <a:r>
                  <a:rPr lang="en-US" sz="1524">
                    <a:solidFill>
                      <a:srgbClr val="E3DAF7"/>
                    </a:solidFill>
                    <a:latin typeface="Calibri (MS)"/>
                    <a:ea typeface="Calibri (MS)"/>
                    <a:cs typeface="Calibri (MS)"/>
                    <a:sym typeface="Calibri (MS)"/>
                  </a:rPr>
                  <a:t>over baseline</a:t>
                </a:r>
              </a:p>
            </p:txBody>
          </p:sp>
        </p:grpSp>
        <p:grpSp>
          <p:nvGrpSpPr>
            <p:cNvPr name="Group 78" id="78"/>
            <p:cNvGrpSpPr/>
            <p:nvPr/>
          </p:nvGrpSpPr>
          <p:grpSpPr>
            <a:xfrm rot="0">
              <a:off x="16292998" y="6322192"/>
              <a:ext cx="6613290" cy="966558"/>
              <a:chOff x="0" y="0"/>
              <a:chExt cx="5943600" cy="868680"/>
            </a:xfrm>
          </p:grpSpPr>
          <p:sp>
            <p:nvSpPr>
              <p:cNvPr name="Freeform 79" id="79"/>
              <p:cNvSpPr/>
              <p:nvPr/>
            </p:nvSpPr>
            <p:spPr>
              <a:xfrm flipH="false" flipV="false" rot="0">
                <a:off x="0" y="0"/>
                <a:ext cx="5943600" cy="868680"/>
              </a:xfrm>
              <a:custGeom>
                <a:avLst/>
                <a:gdLst/>
                <a:ahLst/>
                <a:cxnLst/>
                <a:rect r="r" b="b" t="t" l="l"/>
                <a:pathLst>
                  <a:path h="868680" w="5943600">
                    <a:moveTo>
                      <a:pt x="0" y="34798"/>
                    </a:moveTo>
                    <a:cubicBezTo>
                      <a:pt x="0" y="15494"/>
                      <a:pt x="15494" y="0"/>
                      <a:pt x="34798" y="0"/>
                    </a:cubicBezTo>
                    <a:lnTo>
                      <a:pt x="5908802" y="0"/>
                    </a:lnTo>
                    <a:cubicBezTo>
                      <a:pt x="5928106" y="0"/>
                      <a:pt x="5943600" y="15494"/>
                      <a:pt x="5943600" y="34798"/>
                    </a:cubicBezTo>
                    <a:lnTo>
                      <a:pt x="5943600" y="833882"/>
                    </a:lnTo>
                    <a:cubicBezTo>
                      <a:pt x="5943600" y="853059"/>
                      <a:pt x="5928106" y="868680"/>
                      <a:pt x="5908802" y="868680"/>
                    </a:cubicBezTo>
                    <a:lnTo>
                      <a:pt x="34798" y="868680"/>
                    </a:lnTo>
                    <a:cubicBezTo>
                      <a:pt x="15494" y="868680"/>
                      <a:pt x="0" y="853186"/>
                      <a:pt x="0" y="833882"/>
                    </a:cubicBezTo>
                    <a:close/>
                  </a:path>
                </a:pathLst>
              </a:custGeom>
              <a:solidFill>
                <a:srgbClr val="8C6FC4"/>
              </a:solidFill>
            </p:spPr>
          </p:sp>
        </p:grpSp>
        <p:grpSp>
          <p:nvGrpSpPr>
            <p:cNvPr name="Group 80" id="80"/>
            <p:cNvGrpSpPr/>
            <p:nvPr/>
          </p:nvGrpSpPr>
          <p:grpSpPr>
            <a:xfrm rot="0">
              <a:off x="16292998" y="6322192"/>
              <a:ext cx="2645316" cy="966558"/>
              <a:chOff x="0" y="0"/>
              <a:chExt cx="2377440" cy="868680"/>
            </a:xfrm>
          </p:grpSpPr>
          <p:sp>
            <p:nvSpPr>
              <p:cNvPr name="Freeform 81" id="81"/>
              <p:cNvSpPr/>
              <p:nvPr/>
            </p:nvSpPr>
            <p:spPr>
              <a:xfrm flipH="false" flipV="false" rot="0">
                <a:off x="0" y="0"/>
                <a:ext cx="2377440" cy="868680"/>
              </a:xfrm>
              <a:custGeom>
                <a:avLst/>
                <a:gdLst/>
                <a:ahLst/>
                <a:cxnLst/>
                <a:rect r="r" b="b" t="t" l="l"/>
                <a:pathLst>
                  <a:path h="868680" w="2377440">
                    <a:moveTo>
                      <a:pt x="0" y="0"/>
                    </a:moveTo>
                    <a:lnTo>
                      <a:pt x="2377440" y="0"/>
                    </a:lnTo>
                    <a:lnTo>
                      <a:pt x="2377440" y="868680"/>
                    </a:lnTo>
                    <a:lnTo>
                      <a:pt x="0" y="868680"/>
                    </a:lnTo>
                    <a:close/>
                  </a:path>
                </a:pathLst>
              </a:custGeom>
              <a:blipFill>
                <a:blip r:embed="rId3">
                  <a:alphaModFix amt="0"/>
                </a:blip>
                <a:stretch>
                  <a:fillRect l="0" t="-3327" r="0" b="-3327"/>
                </a:stretch>
              </a:blipFill>
            </p:spPr>
          </p:sp>
          <p:sp>
            <p:nvSpPr>
              <p:cNvPr name="TextBox 82" id="82"/>
              <p:cNvSpPr txBox="true"/>
              <p:nvPr/>
            </p:nvSpPr>
            <p:spPr>
              <a:xfrm>
                <a:off x="0" y="-47625"/>
                <a:ext cx="2377440" cy="916305"/>
              </a:xfrm>
              <a:prstGeom prst="rect">
                <a:avLst/>
              </a:prstGeom>
            </p:spPr>
            <p:txBody>
              <a:bodyPr anchor="ctr" rtlCol="false" tIns="0" lIns="0" bIns="0" rIns="0"/>
              <a:lstStyle/>
              <a:p>
                <a:pPr algn="ctr">
                  <a:lnSpc>
                    <a:spcPts val="3360"/>
                  </a:lnSpc>
                </a:pPr>
                <a:r>
                  <a:rPr lang="en-US" sz="2800" b="true">
                    <a:solidFill>
                      <a:srgbClr val="FFFFFF"/>
                    </a:solidFill>
                    <a:latin typeface="Calibri (MS) Bold"/>
                    <a:ea typeface="Calibri (MS) Bold"/>
                    <a:cs typeface="Calibri (MS) Bold"/>
                    <a:sym typeface="Calibri (MS) Bold"/>
                  </a:rPr>
                  <a:t>78</a:t>
                </a:r>
              </a:p>
            </p:txBody>
          </p:sp>
        </p:grpSp>
        <p:grpSp>
          <p:nvGrpSpPr>
            <p:cNvPr name="Group 83" id="83"/>
            <p:cNvGrpSpPr/>
            <p:nvPr/>
          </p:nvGrpSpPr>
          <p:grpSpPr>
            <a:xfrm rot="0">
              <a:off x="18938314" y="6322192"/>
              <a:ext cx="3967974" cy="966558"/>
              <a:chOff x="0" y="0"/>
              <a:chExt cx="3566160" cy="868680"/>
            </a:xfrm>
          </p:grpSpPr>
          <p:sp>
            <p:nvSpPr>
              <p:cNvPr name="Freeform 84" id="84"/>
              <p:cNvSpPr/>
              <p:nvPr/>
            </p:nvSpPr>
            <p:spPr>
              <a:xfrm flipH="false" flipV="false" rot="0">
                <a:off x="0" y="0"/>
                <a:ext cx="3566160" cy="868680"/>
              </a:xfrm>
              <a:custGeom>
                <a:avLst/>
                <a:gdLst/>
                <a:ahLst/>
                <a:cxnLst/>
                <a:rect r="r" b="b" t="t" l="l"/>
                <a:pathLst>
                  <a:path h="868680" w="3566160">
                    <a:moveTo>
                      <a:pt x="0" y="0"/>
                    </a:moveTo>
                    <a:lnTo>
                      <a:pt x="3566160" y="0"/>
                    </a:lnTo>
                    <a:lnTo>
                      <a:pt x="3566160" y="868680"/>
                    </a:lnTo>
                    <a:lnTo>
                      <a:pt x="0" y="868680"/>
                    </a:lnTo>
                    <a:close/>
                  </a:path>
                </a:pathLst>
              </a:custGeom>
              <a:blipFill>
                <a:blip r:embed="rId3">
                  <a:alphaModFix amt="0"/>
                </a:blip>
                <a:stretch>
                  <a:fillRect l="0" t="-29991" r="0" b="-29991"/>
                </a:stretch>
              </a:blipFill>
            </p:spPr>
          </p:sp>
          <p:sp>
            <p:nvSpPr>
              <p:cNvPr name="TextBox 85" id="85"/>
              <p:cNvSpPr txBox="true"/>
              <p:nvPr/>
            </p:nvSpPr>
            <p:spPr>
              <a:xfrm>
                <a:off x="0" y="-57150"/>
                <a:ext cx="3566160" cy="925830"/>
              </a:xfrm>
              <a:prstGeom prst="rect">
                <a:avLst/>
              </a:prstGeom>
            </p:spPr>
            <p:txBody>
              <a:bodyPr anchor="ctr" rtlCol="false" tIns="0" lIns="0" bIns="0" rIns="0"/>
              <a:lstStyle/>
              <a:p>
                <a:pPr algn="l">
                  <a:lnSpc>
                    <a:spcPts val="2012"/>
                  </a:lnSpc>
                </a:pPr>
                <a:r>
                  <a:rPr lang="en-US" sz="1524">
                    <a:solidFill>
                      <a:srgbClr val="E3DAF7"/>
                    </a:solidFill>
                    <a:latin typeface="Calibri (MS)"/>
                    <a:ea typeface="Calibri (MS)"/>
                    <a:cs typeface="Calibri (MS)"/>
                    <a:sym typeface="Calibri (MS)"/>
                  </a:rPr>
                  <a:t>offline tests</a:t>
                </a:r>
              </a:p>
            </p:txBody>
          </p:sp>
        </p:grpSp>
        <p:grpSp>
          <p:nvGrpSpPr>
            <p:cNvPr name="Group 86" id="86"/>
            <p:cNvGrpSpPr/>
            <p:nvPr/>
          </p:nvGrpSpPr>
          <p:grpSpPr>
            <a:xfrm rot="0">
              <a:off x="16292998" y="7390493"/>
              <a:ext cx="6613290" cy="966558"/>
              <a:chOff x="0" y="0"/>
              <a:chExt cx="5943600" cy="868680"/>
            </a:xfrm>
          </p:grpSpPr>
          <p:sp>
            <p:nvSpPr>
              <p:cNvPr name="Freeform 87" id="87"/>
              <p:cNvSpPr/>
              <p:nvPr/>
            </p:nvSpPr>
            <p:spPr>
              <a:xfrm flipH="false" flipV="false" rot="0">
                <a:off x="0" y="0"/>
                <a:ext cx="5943600" cy="868680"/>
              </a:xfrm>
              <a:custGeom>
                <a:avLst/>
                <a:gdLst/>
                <a:ahLst/>
                <a:cxnLst/>
                <a:rect r="r" b="b" t="t" l="l"/>
                <a:pathLst>
                  <a:path h="868680" w="5943600">
                    <a:moveTo>
                      <a:pt x="0" y="34798"/>
                    </a:moveTo>
                    <a:cubicBezTo>
                      <a:pt x="0" y="15494"/>
                      <a:pt x="15494" y="0"/>
                      <a:pt x="34798" y="0"/>
                    </a:cubicBezTo>
                    <a:lnTo>
                      <a:pt x="5908802" y="0"/>
                    </a:lnTo>
                    <a:cubicBezTo>
                      <a:pt x="5928106" y="0"/>
                      <a:pt x="5943600" y="15494"/>
                      <a:pt x="5943600" y="34798"/>
                    </a:cubicBezTo>
                    <a:lnTo>
                      <a:pt x="5943600" y="833882"/>
                    </a:lnTo>
                    <a:cubicBezTo>
                      <a:pt x="5943600" y="853059"/>
                      <a:pt x="5928106" y="868680"/>
                      <a:pt x="5908802" y="868680"/>
                    </a:cubicBezTo>
                    <a:lnTo>
                      <a:pt x="34798" y="868680"/>
                    </a:lnTo>
                    <a:cubicBezTo>
                      <a:pt x="15494" y="868680"/>
                      <a:pt x="0" y="853186"/>
                      <a:pt x="0" y="833882"/>
                    </a:cubicBezTo>
                    <a:close/>
                  </a:path>
                </a:pathLst>
              </a:custGeom>
              <a:solidFill>
                <a:srgbClr val="8C6FC4"/>
              </a:solidFill>
            </p:spPr>
          </p:sp>
        </p:grpSp>
        <p:grpSp>
          <p:nvGrpSpPr>
            <p:cNvPr name="Group 88" id="88"/>
            <p:cNvGrpSpPr/>
            <p:nvPr/>
          </p:nvGrpSpPr>
          <p:grpSpPr>
            <a:xfrm rot="0">
              <a:off x="16292998" y="7390493"/>
              <a:ext cx="2645316" cy="966558"/>
              <a:chOff x="0" y="0"/>
              <a:chExt cx="2377440" cy="868680"/>
            </a:xfrm>
          </p:grpSpPr>
          <p:sp>
            <p:nvSpPr>
              <p:cNvPr name="Freeform 89" id="89"/>
              <p:cNvSpPr/>
              <p:nvPr/>
            </p:nvSpPr>
            <p:spPr>
              <a:xfrm flipH="false" flipV="false" rot="0">
                <a:off x="0" y="0"/>
                <a:ext cx="2377440" cy="868680"/>
              </a:xfrm>
              <a:custGeom>
                <a:avLst/>
                <a:gdLst/>
                <a:ahLst/>
                <a:cxnLst/>
                <a:rect r="r" b="b" t="t" l="l"/>
                <a:pathLst>
                  <a:path h="868680" w="2377440">
                    <a:moveTo>
                      <a:pt x="0" y="0"/>
                    </a:moveTo>
                    <a:lnTo>
                      <a:pt x="2377440" y="0"/>
                    </a:lnTo>
                    <a:lnTo>
                      <a:pt x="2377440" y="868680"/>
                    </a:lnTo>
                    <a:lnTo>
                      <a:pt x="0" y="868680"/>
                    </a:lnTo>
                    <a:close/>
                  </a:path>
                </a:pathLst>
              </a:custGeom>
              <a:blipFill>
                <a:blip r:embed="rId3">
                  <a:alphaModFix amt="0"/>
                </a:blip>
                <a:stretch>
                  <a:fillRect l="0" t="-3327" r="0" b="-3327"/>
                </a:stretch>
              </a:blipFill>
            </p:spPr>
          </p:sp>
          <p:sp>
            <p:nvSpPr>
              <p:cNvPr name="TextBox 90" id="90"/>
              <p:cNvSpPr txBox="true"/>
              <p:nvPr/>
            </p:nvSpPr>
            <p:spPr>
              <a:xfrm>
                <a:off x="0" y="-47625"/>
                <a:ext cx="2377440" cy="916305"/>
              </a:xfrm>
              <a:prstGeom prst="rect">
                <a:avLst/>
              </a:prstGeom>
            </p:spPr>
            <p:txBody>
              <a:bodyPr anchor="ctr" rtlCol="false" tIns="0" lIns="0" bIns="0" rIns="0"/>
              <a:lstStyle/>
              <a:p>
                <a:pPr algn="ctr">
                  <a:lnSpc>
                    <a:spcPts val="3360"/>
                  </a:lnSpc>
                </a:pPr>
                <a:r>
                  <a:rPr lang="en-US" sz="2800" b="true">
                    <a:solidFill>
                      <a:srgbClr val="FFFFFF"/>
                    </a:solidFill>
                    <a:latin typeface="Calibri (MS) Bold"/>
                    <a:ea typeface="Calibri (MS) Bold"/>
                    <a:cs typeface="Calibri (MS) Bold"/>
                    <a:sym typeface="Calibri (MS) Bold"/>
                  </a:rPr>
                  <a:t>100%</a:t>
                </a:r>
              </a:p>
            </p:txBody>
          </p:sp>
        </p:grpSp>
        <p:grpSp>
          <p:nvGrpSpPr>
            <p:cNvPr name="Group 91" id="91"/>
            <p:cNvGrpSpPr/>
            <p:nvPr/>
          </p:nvGrpSpPr>
          <p:grpSpPr>
            <a:xfrm rot="0">
              <a:off x="18938314" y="7390493"/>
              <a:ext cx="3967974" cy="966558"/>
              <a:chOff x="0" y="0"/>
              <a:chExt cx="3566160" cy="868680"/>
            </a:xfrm>
          </p:grpSpPr>
          <p:sp>
            <p:nvSpPr>
              <p:cNvPr name="Freeform 92" id="92"/>
              <p:cNvSpPr/>
              <p:nvPr/>
            </p:nvSpPr>
            <p:spPr>
              <a:xfrm flipH="false" flipV="false" rot="0">
                <a:off x="0" y="0"/>
                <a:ext cx="3566160" cy="868680"/>
              </a:xfrm>
              <a:custGeom>
                <a:avLst/>
                <a:gdLst/>
                <a:ahLst/>
                <a:cxnLst/>
                <a:rect r="r" b="b" t="t" l="l"/>
                <a:pathLst>
                  <a:path h="868680" w="3566160">
                    <a:moveTo>
                      <a:pt x="0" y="0"/>
                    </a:moveTo>
                    <a:lnTo>
                      <a:pt x="3566160" y="0"/>
                    </a:lnTo>
                    <a:lnTo>
                      <a:pt x="3566160" y="868680"/>
                    </a:lnTo>
                    <a:lnTo>
                      <a:pt x="0" y="868680"/>
                    </a:lnTo>
                    <a:close/>
                  </a:path>
                </a:pathLst>
              </a:custGeom>
              <a:blipFill>
                <a:blip r:embed="rId3">
                  <a:alphaModFix amt="0"/>
                </a:blip>
                <a:stretch>
                  <a:fillRect l="0" t="-29991" r="0" b="-29991"/>
                </a:stretch>
              </a:blipFill>
            </p:spPr>
          </p:sp>
          <p:sp>
            <p:nvSpPr>
              <p:cNvPr name="TextBox 93" id="93"/>
              <p:cNvSpPr txBox="true"/>
              <p:nvPr/>
            </p:nvSpPr>
            <p:spPr>
              <a:xfrm>
                <a:off x="0" y="-57150"/>
                <a:ext cx="3566160" cy="925830"/>
              </a:xfrm>
              <a:prstGeom prst="rect">
                <a:avLst/>
              </a:prstGeom>
            </p:spPr>
            <p:txBody>
              <a:bodyPr anchor="ctr" rtlCol="false" tIns="0" lIns="0" bIns="0" rIns="0"/>
              <a:lstStyle/>
              <a:p>
                <a:pPr algn="l">
                  <a:lnSpc>
                    <a:spcPts val="2012"/>
                  </a:lnSpc>
                </a:pPr>
                <a:r>
                  <a:rPr lang="en-US" sz="1524">
                    <a:solidFill>
                      <a:srgbClr val="E3DAF7"/>
                    </a:solidFill>
                    <a:latin typeface="Calibri (MS)"/>
                    <a:ea typeface="Calibri (MS)"/>
                    <a:cs typeface="Calibri (MS)"/>
                    <a:sym typeface="Calibri (MS)"/>
                  </a:rPr>
                  <a:t>CPU inference</a:t>
                </a:r>
              </a:p>
            </p:txBody>
          </p:sp>
        </p:grpSp>
        <p:sp>
          <p:nvSpPr>
            <p:cNvPr name="TextBox 94" id="94"/>
            <p:cNvSpPr txBox="true"/>
            <p:nvPr/>
          </p:nvSpPr>
          <p:spPr>
            <a:xfrm rot="0">
              <a:off x="16292998" y="8666175"/>
              <a:ext cx="6613290" cy="365205"/>
            </a:xfrm>
            <a:prstGeom prst="rect">
              <a:avLst/>
            </a:prstGeom>
          </p:spPr>
          <p:txBody>
            <a:bodyPr anchor="t" rtlCol="false" tIns="0" lIns="0" bIns="0" rIns="0">
              <a:spAutoFit/>
            </a:bodyPr>
            <a:lstStyle/>
            <a:p>
              <a:pPr algn="l">
                <a:lnSpc>
                  <a:spcPts val="2019"/>
                </a:lnSpc>
              </a:pPr>
              <a:r>
                <a:rPr lang="en-US" sz="1529" i="true">
                  <a:solidFill>
                    <a:srgbClr val="E3DAF7"/>
                  </a:solidFill>
                  <a:latin typeface="Calibri (MS) Italics"/>
                  <a:ea typeface="Calibri (MS) Italics"/>
                  <a:cs typeface="Calibri (MS) Italics"/>
                  <a:sym typeface="Calibri (MS) Italics"/>
                </a:rPr>
                <a:t>Tag  ·  PRISM_GENAI_HACKATHON_Y2026</a:t>
              </a:r>
            </a:p>
          </p:txBody>
        </p:sp>
      </p:grpSp>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284600" y="4752172"/>
            <a:ext cx="10149840" cy="1490513"/>
            <a:chOff x="0" y="0"/>
            <a:chExt cx="13533120" cy="1987351"/>
          </a:xfrm>
        </p:grpSpPr>
        <p:sp>
          <p:nvSpPr>
            <p:cNvPr name="Freeform 3" id="3"/>
            <p:cNvSpPr/>
            <p:nvPr/>
          </p:nvSpPr>
          <p:spPr>
            <a:xfrm flipH="false" flipV="false" rot="0">
              <a:off x="0" y="0"/>
              <a:ext cx="13533120" cy="1987351"/>
            </a:xfrm>
            <a:custGeom>
              <a:avLst/>
              <a:gdLst/>
              <a:ahLst/>
              <a:cxnLst/>
              <a:rect r="r" b="b" t="t" l="l"/>
              <a:pathLst>
                <a:path h="1987351" w="13533120">
                  <a:moveTo>
                    <a:pt x="0" y="0"/>
                  </a:moveTo>
                  <a:lnTo>
                    <a:pt x="13533120" y="0"/>
                  </a:lnTo>
                  <a:lnTo>
                    <a:pt x="13533120" y="1987351"/>
                  </a:lnTo>
                  <a:lnTo>
                    <a:pt x="0" y="1987351"/>
                  </a:lnTo>
                  <a:close/>
                </a:path>
              </a:pathLst>
            </a:custGeom>
            <a:blipFill>
              <a:blip r:embed="rId3">
                <a:alphaModFix amt="0"/>
              </a:blip>
              <a:stretch>
                <a:fillRect l="0" t="-88975" r="0" b="-76396"/>
              </a:stretch>
            </a:blipFill>
          </p:spPr>
        </p:sp>
        <p:sp>
          <p:nvSpPr>
            <p:cNvPr name="TextBox 4" id="4"/>
            <p:cNvSpPr txBox="true"/>
            <p:nvPr/>
          </p:nvSpPr>
          <p:spPr>
            <a:xfrm>
              <a:off x="0" y="-28575"/>
              <a:ext cx="13533120" cy="2015926"/>
            </a:xfrm>
            <a:prstGeom prst="rect">
              <a:avLst/>
            </a:prstGeom>
          </p:spPr>
          <p:txBody>
            <a:bodyPr anchor="ctr" rtlCol="false" tIns="0" lIns="0" bIns="0" rIns="0"/>
            <a:lstStyle/>
            <a:p>
              <a:pPr algn="l">
                <a:lnSpc>
                  <a:spcPts val="8639"/>
                </a:lnSpc>
              </a:pPr>
              <a:r>
                <a:rPr lang="en-US" sz="7199" b="true">
                  <a:solidFill>
                    <a:srgbClr val="14142B"/>
                  </a:solidFill>
                  <a:latin typeface="Arial Bold"/>
                  <a:ea typeface="Arial Bold"/>
                  <a:cs typeface="Arial Bold"/>
                  <a:sym typeface="Arial Bold"/>
                </a:rPr>
                <a:t>Thank you</a:t>
              </a:r>
            </a:p>
          </p:txBody>
        </p:sp>
      </p:grpSp>
      <p:grpSp>
        <p:nvGrpSpPr>
          <p:cNvPr name="Group 5" id="5"/>
          <p:cNvGrpSpPr/>
          <p:nvPr/>
        </p:nvGrpSpPr>
        <p:grpSpPr>
          <a:xfrm rot="0">
            <a:off x="1165860" y="8846820"/>
            <a:ext cx="15910560" cy="438912"/>
            <a:chOff x="0" y="0"/>
            <a:chExt cx="21214080" cy="585216"/>
          </a:xfrm>
        </p:grpSpPr>
        <p:sp>
          <p:nvSpPr>
            <p:cNvPr name="Freeform 6" id="6"/>
            <p:cNvSpPr/>
            <p:nvPr/>
          </p:nvSpPr>
          <p:spPr>
            <a:xfrm flipH="false" flipV="false" rot="0">
              <a:off x="0" y="0"/>
              <a:ext cx="21214080" cy="585216"/>
            </a:xfrm>
            <a:custGeom>
              <a:avLst/>
              <a:gdLst/>
              <a:ahLst/>
              <a:cxnLst/>
              <a:rect r="r" b="b" t="t" l="l"/>
              <a:pathLst>
                <a:path h="585216" w="21214080">
                  <a:moveTo>
                    <a:pt x="0" y="0"/>
                  </a:moveTo>
                  <a:lnTo>
                    <a:pt x="21214080" y="0"/>
                  </a:lnTo>
                  <a:lnTo>
                    <a:pt x="21214080" y="585216"/>
                  </a:lnTo>
                  <a:lnTo>
                    <a:pt x="0" y="585216"/>
                  </a:lnTo>
                  <a:close/>
                </a:path>
              </a:pathLst>
            </a:custGeom>
            <a:blipFill>
              <a:blip r:embed="rId3">
                <a:alphaModFix amt="0"/>
              </a:blip>
              <a:stretch>
                <a:fillRect l="0" t="-656332" r="0" b="-656332"/>
              </a:stretch>
            </a:blipFill>
          </p:spPr>
        </p:sp>
        <p:sp>
          <p:nvSpPr>
            <p:cNvPr name="TextBox 7" id="7"/>
            <p:cNvSpPr txBox="true"/>
            <p:nvPr/>
          </p:nvSpPr>
          <p:spPr>
            <a:xfrm>
              <a:off x="0" y="-28575"/>
              <a:ext cx="21214080" cy="613791"/>
            </a:xfrm>
            <a:prstGeom prst="rect">
              <a:avLst/>
            </a:prstGeom>
          </p:spPr>
          <p:txBody>
            <a:bodyPr anchor="ctr" rtlCol="false" tIns="0" lIns="0" bIns="0" rIns="0"/>
            <a:lstStyle/>
            <a:p>
              <a:pPr algn="l">
                <a:lnSpc>
                  <a:spcPts val="1980"/>
                </a:lnSpc>
              </a:pPr>
              <a:r>
                <a:rPr lang="en-US" sz="1650">
                  <a:solidFill>
                    <a:srgbClr val="63637E"/>
                  </a:solidFill>
                  <a:latin typeface="Calibri (MS)"/>
                  <a:ea typeface="Calibri (MS)"/>
                  <a:cs typeface="Calibri (MS)"/>
                  <a:sym typeface="Calibri (MS)"/>
                </a:rPr>
                <a:t>Organised by the Language AI Team and the PRISM Team, Samsung R&amp;D Institute India</a:t>
              </a:r>
            </a:p>
          </p:txBody>
        </p:sp>
      </p:grpSp>
      <p:sp>
        <p:nvSpPr>
          <p:cNvPr name="TextBox 8" id="8"/>
          <p:cNvSpPr txBox="true"/>
          <p:nvPr/>
        </p:nvSpPr>
        <p:spPr>
          <a:xfrm rot="0">
            <a:off x="9052560" y="4459605"/>
            <a:ext cx="8229600" cy="904875"/>
          </a:xfrm>
          <a:prstGeom prst="rect">
            <a:avLst/>
          </a:prstGeom>
        </p:spPr>
        <p:txBody>
          <a:bodyPr anchor="t" rtlCol="false" tIns="0" lIns="0" bIns="0" rIns="0">
            <a:spAutoFit/>
          </a:bodyPr>
          <a:lstStyle/>
          <a:p>
            <a:pPr algn="l">
              <a:lnSpc>
                <a:spcPts val="3359"/>
              </a:lnSpc>
            </a:pPr>
            <a:r>
              <a:rPr lang="en-US" sz="2799" b="true">
                <a:solidFill>
                  <a:srgbClr val="6D28D9"/>
                </a:solidFill>
                <a:latin typeface="Calibri (MS) Bold"/>
                <a:ea typeface="Calibri (MS) Bold"/>
                <a:cs typeface="Calibri (MS) Bold"/>
                <a:sym typeface="Calibri (MS) Bold"/>
              </a:rPr>
              <a:t>Team Trace  ·  Thapar Institute of Engineering and Technology</a:t>
            </a:r>
          </a:p>
        </p:txBody>
      </p:sp>
      <p:sp>
        <p:nvSpPr>
          <p:cNvPr name="TextBox 9" id="9"/>
          <p:cNvSpPr txBox="true"/>
          <p:nvPr/>
        </p:nvSpPr>
        <p:spPr>
          <a:xfrm rot="0">
            <a:off x="9121140" y="5561647"/>
            <a:ext cx="8229600" cy="1304925"/>
          </a:xfrm>
          <a:prstGeom prst="rect">
            <a:avLst/>
          </a:prstGeom>
        </p:spPr>
        <p:txBody>
          <a:bodyPr anchor="t" rtlCol="false" tIns="0" lIns="0" bIns="0" rIns="0">
            <a:spAutoFit/>
          </a:bodyPr>
          <a:lstStyle/>
          <a:p>
            <a:pPr algn="l">
              <a:lnSpc>
                <a:spcPts val="3419"/>
              </a:lnSpc>
            </a:pPr>
            <a:r>
              <a:rPr lang="en-US" sz="2849" b="true">
                <a:solidFill>
                  <a:srgbClr val="14142B"/>
                </a:solidFill>
                <a:latin typeface="Calibri (MS) Bold"/>
                <a:ea typeface="Calibri (MS) Bold"/>
                <a:cs typeface="Calibri (MS) Bold"/>
                <a:sym typeface="Calibri (MS) Bold"/>
              </a:rPr>
              <a:t>Abhavya Jha</a:t>
            </a:r>
          </a:p>
          <a:p>
            <a:pPr algn="l">
              <a:lnSpc>
                <a:spcPts val="3239"/>
              </a:lnSpc>
            </a:pPr>
            <a:r>
              <a:rPr lang="en-US" sz="2699">
                <a:solidFill>
                  <a:srgbClr val="33333D"/>
                </a:solidFill>
                <a:latin typeface="Calibri (MS)"/>
                <a:ea typeface="Calibri (MS)"/>
                <a:cs typeface="Calibri (MS)"/>
                <a:sym typeface="Calibri (MS)"/>
              </a:rPr>
              <a:t>ajha2_be24@thapar.edu</a:t>
            </a:r>
          </a:p>
          <a:p>
            <a:pPr algn="l">
              <a:lnSpc>
                <a:spcPts val="3239"/>
              </a:lnSpc>
            </a:pPr>
            <a:r>
              <a:rPr lang="en-US" sz="2699">
                <a:solidFill>
                  <a:srgbClr val="33333D"/>
                </a:solidFill>
                <a:latin typeface="Calibri (MS)"/>
                <a:ea typeface="Calibri (MS)"/>
                <a:cs typeface="Calibri (MS)"/>
                <a:sym typeface="Calibri (MS)"/>
              </a:rPr>
              <a:t>github.com/Ajha2005/samsung-prism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DAHWkeN0nqI</dc:identifier>
  <dcterms:modified xsi:type="dcterms:W3CDTF">2011-08-01T06:04:30Z</dcterms:modified>
  <cp:revision>1</cp:revision>
  <dc:title>Thapar_Trace_Submission_ppt.pptx</dc:title>
</cp:coreProperties>
</file>
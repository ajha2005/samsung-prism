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Team Trace (solo), Thapar Institute of Engineering and Technology, Patiala. Theme 1, Agentic Code Intelligence: rank code snippets for a natural-language query. Submitted result: NDCG@10 = 0.1151 and MRR@10 = 0.0986 on the CoIR AppsRetrieval test split, using e5-base-v2 on CPU.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code, the release with the results JSON, and the ablation log are public at github.com/Ajha2005/samsung-prism. Contact: Abhavya Jha, ajha2_be24@thapar.edu.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One-sentence framing: given a natural-language query and a library of code snippets, return them ranked by relevance. Pure retrieval, no generation. Screening ranks teams on the CoIR AppsRetrieval test split, scored by MTEB with NDCG@10 and MRR; the top teams then go to a hands-on review. The three constraints below aren't limitations we work around; they define the shape of the problem we're solving.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what most teams reach for, where it breaks down on AppsRetrieval, and what we built for each gap. Everything on the right was built and measured on the real split: HyDE and multi-view lost to baseline and are off in the submission; what moved the score instead was a retrieval-trained encoder, e5-base-v2. Note the cross-version gap: P1 is usually bolted on at the end; we designed the index versioned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CPU-friendly embedding model at the center, picked by measurement (submitted: e5-base-v2, 512-token window, CPU only). Query path: whitespace normalization plus the 'query: ' prefix. Snippet path: cleanup, splitting of very long snippets into windows that are max-pooled back into one vector, plus the 'passage: ' prefix. Scoring is cosine similarity, with optional cross-version disambiguation for near-duplicate versions of the same snippet. Code-flavored HyDE and multi-view embedding are built and switchable by config, but lost on the real split, so they are 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shows retrieval working on real behavioral queries — 'find two numbers that sum to a target', 'detect if a string is a palindrome' — with the right snippet ranked first in every case. This is the offline demo (hashing backend, no downloads), so the latency shown is that backend's: under 0.1 ms per query. With the submitted model, the full real eval (3,765 long problem statements against 8,765 solutions) ran in 84 minutes on a free Kaggle CPU, no GPU. The pipeline and ranking code are the same ones the leaderboard run uses; the submitted model swaps in by config. No LLM in the ranking loop.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Kept deliberately boring. Core ML: PyTorch CPU, sentence-transformers, MTEB as the official scorer — the same one the leaderboard uses. Retrieval signals: NumPy for dense scoring, rank-bm25 for sparse, Python's own ast module for structural normalization (no third-party parser). Reproducibility: Docker for one-command runs, 78 offline tests, and Makefile targets for every step. Nothing exotic; everything runs where the judges will run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concrete places this pays off. Onboarding: search behavior, not memorized names. Agentic coding: a fast retrieval step an AI agent calls before generating. Review/audit: find every place a pattern appears, not just a text match. Legacy modernization: compare behavior across historical versions — the P1 use case.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Submitted: e5-base-v2 with its query:/passage: prefixes and a 512-token window, NDCG@10 = 0.1151, MRR@10 = 0.0986 on the real CoIR AppsRetrieval test split via MTEB — +73.9% over the MiniLM baseline (0.0662). Ten configs measured, one kept. The pipeline differentiators on the left all lost to baseline on MiniLM — multi-view (−22%), HyDE (−6%), front-load keywords (−2.4%) — and so did every code-specialized model: UniXcoder (−34.5%), CodeSearchNet (−50%). What won was a stronger general model: mpnet (+30.1% at 512 tokens), then e5-base-v2, the same size but trained for query→passage retrieval (+33.7% over mpnet). Limitations up front: larger models are untested within the CPU budget, and the dropped features haven't been re-measured on e5.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ten real ablations: the gains came from picking a stronger general retrieval model — e5-base-v2, trained for query→passage retrieval, beat a same-size sentence-similarity model by a third — while every code-specialized swap lost. Next steps: re-test HyDE, multi-view and front-loading on top of e5; try e5-large-v2 within the CPU budget; then validate cross-version retrieval on real multi-version repositories — every step still measured against the current best.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separates this submission: we verified the full MTEB scoring path end-to-end on our own local synthetic task before trusting a number on the real split (our metrics match MTEB's trec_eval to 1e-4), and our e5-base-v2 score (0.1151) matches the published CoIR result for that model (11.5). Every feature is logged config → NDCG@10 → MRR → kept/dropped, so nothing ships on a hunch. The index is versioned from day one, not bolted on. Limitations are reported next to results,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the guidelines ask for, and where it lives: the public repo with the release tag PRISM_GENAI_HACKATHON_Y2026, a README with a one-command Docker run, the demo video linked in the form, this deck as PPTX and PDF, the MTEB results JSON attached to the release, and the full ablation record in docs/ablation_log.md.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Theme ID  –  1 (Agentic Code Intelligence)</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Team Name  –  Trace</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College Name  –  Thapar Institute of Engineering and Technology, Patiala</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Member  –  Abhavya Jha  –  ajha2_be24@thapar.edu</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Submission GitHub link  –  https://github.com/Ajha2005/samsung-prism</a:t>
            </a:r>
            <a:r>
              <a:rPr lang="en-US" sz="1600" dirty="0" err="1">
                <a:solidFill>
                  <a:srgbClr val="63637E"/>
                </a:solidFill>
                <a:latin typeface="Calibri" pitchFamily="34" charset="0"/>
                <a:ea typeface="Calibri" pitchFamily="34" charset="-122"/>
                <a:cs typeface="Calibri" pitchFamily="34" charset="-120"/>
              </a:rPr>
              <a:t/>
            </a: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Char char="•"/>
            </a:pPr>
            <a:endParaRPr lang="en-US" sz="1600" dirty="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TextBox 2"/>
          <p:cNvSpPr txBox="1"/>
          <p:nvPr/>
        </p:nvSpPr>
        <p:spPr>
          <a:xfrm>
            <a:off x="841248" y="1874519"/>
            <a:ext cx="10515600" cy="457200"/>
          </a:xfrm>
          <a:prstGeom prst="rect">
            <a:avLst/>
          </a:prstGeom>
          <a:noFill/>
        </p:spPr>
        <p:txBody>
          <a:bodyPr wrap="square" lIns="0" rIns="0" tIns="0" bIns="0">
            <a:spAutoFit/>
          </a:bodyPr>
          <a:lstStyle/>
          <a:p>
            <a:pPr algn="l">
              <a:spcBef>
                <a:spcPts val="0"/>
              </a:spcBef>
              <a:spcAft>
                <a:spcPts val="600"/>
              </a:spcAft>
            </a:pPr>
            <a:r>
              <a:rPr sz="2200" b="1" i="0">
                <a:solidFill>
                  <a:srgbClr val="6D28D9"/>
                </a:solidFill>
                <a:latin typeface="Calibri"/>
              </a:rPr>
              <a:t>Theme 1 — Agentic Code Intelligence</a:t>
            </a:r>
          </a:p>
        </p:txBody>
      </p:sp>
      <p:sp>
        <p:nvSpPr>
          <p:cNvPr id="4" name="TextBox 3"/>
          <p:cNvSpPr txBox="1"/>
          <p:nvPr/>
        </p:nvSpPr>
        <p:spPr>
          <a:xfrm>
            <a:off x="841248" y="2441448"/>
            <a:ext cx="10515600" cy="1417320"/>
          </a:xfrm>
          <a:prstGeom prst="rect">
            <a:avLst/>
          </a:prstGeom>
          <a:noFill/>
        </p:spPr>
        <p:txBody>
          <a:bodyPr wrap="square" lIns="0" rIns="0" tIns="0" bIns="0">
            <a:spAutoFit/>
          </a:bodyPr>
          <a:lstStyle/>
          <a:p>
            <a:pPr algn="l">
              <a:lnSpc>
                <a:spcPct val="115000"/>
              </a:lnSpc>
              <a:spcBef>
                <a:spcPts val="0"/>
              </a:spcBef>
              <a:spcAft>
                <a:spcPts val="800"/>
              </a:spcAft>
            </a:pPr>
            <a:r>
              <a:rPr sz="1700" b="1" i="0">
                <a:solidFill>
                  <a:srgbClr val="14142B"/>
                </a:solidFill>
                <a:latin typeface="Calibri"/>
              </a:rPr>
              <a:t>Given a natural-language query and a library of code snippets, return the snippets ranked by relevance — pure retrieval, no generation or explanation.</a:t>
            </a:r>
          </a:p>
          <a:p>
            <a:pPr algn="l">
              <a:lnSpc>
                <a:spcPct val="120000"/>
              </a:lnSpc>
              <a:spcBef>
                <a:spcPts val="0"/>
              </a:spcBef>
              <a:spcAft>
                <a:spcPts val="600"/>
              </a:spcAft>
            </a:pPr>
            <a:r>
              <a:rPr sz="1450" b="0" i="1">
                <a:solidFill>
                  <a:srgbClr val="6B6B76"/>
                </a:solidFill>
                <a:latin typeface="Calibri"/>
              </a:rPr>
              <a:t>Screening ranks teams on MTEB’s NDCG@10 and MRR over the CoIR AppsRetrieval test split; the top teams then go to a hands-on review of the code, deck and demo.</a:t>
            </a:r>
          </a:p>
        </p:txBody>
      </p:sp>
      <p:sp>
        <p:nvSpPr>
          <p:cNvPr id="5" name="Rounded Rectangle 4"/>
          <p:cNvSpPr/>
          <p:nvPr/>
        </p:nvSpPr>
        <p:spPr>
          <a:xfrm>
            <a:off x="841248" y="3886200"/>
            <a:ext cx="4480560" cy="123444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4014215"/>
            <a:ext cx="3931920" cy="237744"/>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THE SCOREBOARD  ·  SUBMITTED: e5-base-v2</a:t>
            </a:r>
          </a:p>
        </p:txBody>
      </p:sp>
      <p:sp>
        <p:nvSpPr>
          <p:cNvPr id="7" name="TextBox 6"/>
          <p:cNvSpPr txBox="1"/>
          <p:nvPr/>
        </p:nvSpPr>
        <p:spPr>
          <a:xfrm>
            <a:off x="1115568" y="4306824"/>
            <a:ext cx="3931920" cy="438912"/>
          </a:xfrm>
          <a:prstGeom prst="rect">
            <a:avLst/>
          </a:prstGeom>
          <a:noFill/>
        </p:spPr>
        <p:txBody>
          <a:bodyPr wrap="square" lIns="0" rIns="0" tIns="0" bIns="0">
            <a:spAutoFit/>
          </a:bodyPr>
          <a:lstStyle/>
          <a:p>
            <a:pPr algn="l">
              <a:lnSpc>
                <a:spcPct val="100000"/>
              </a:lnSpc>
              <a:spcBef>
                <a:spcPts val="0"/>
              </a:spcBef>
              <a:spcAft>
                <a:spcPts val="0"/>
              </a:spcAft>
            </a:pPr>
            <a:r>
              <a:rPr sz="2200" b="1" i="0">
                <a:solidFill>
                  <a:srgbClr val="FFFFFF"/>
                </a:solidFill>
                <a:latin typeface="Calibri"/>
              </a:rPr>
              <a:t>NDCG@10 = 0.1151</a:t>
            </a:r>
          </a:p>
        </p:txBody>
      </p:sp>
      <p:sp>
        <p:nvSpPr>
          <p:cNvPr id="8" name="TextBox 7"/>
          <p:cNvSpPr txBox="1"/>
          <p:nvPr/>
        </p:nvSpPr>
        <p:spPr>
          <a:xfrm>
            <a:off x="1115568" y="4764024"/>
            <a:ext cx="3931920" cy="237744"/>
          </a:xfrm>
          <a:prstGeom prst="rect">
            <a:avLst/>
          </a:prstGeom>
          <a:noFill/>
        </p:spPr>
        <p:txBody>
          <a:bodyPr wrap="square" lIns="0" rIns="0" tIns="0" bIns="0">
            <a:spAutoFit/>
          </a:bodyPr>
          <a:lstStyle/>
          <a:p>
            <a:pPr algn="l">
              <a:spcBef>
                <a:spcPts val="0"/>
              </a:spcBef>
              <a:spcAft>
                <a:spcPts val="0"/>
              </a:spcAft>
            </a:pPr>
            <a:r>
              <a:rPr sz="1200" b="0" i="0">
                <a:solidFill>
                  <a:srgbClr val="E3DAF7"/>
                </a:solidFill>
                <a:latin typeface="Calibri"/>
              </a:rPr>
              <a:t>MRR@10 = 0.0986   ·   +73.9% over baseline</a:t>
            </a:r>
          </a:p>
        </p:txBody>
      </p:sp>
      <p:sp>
        <p:nvSpPr>
          <p:cNvPr id="9" name="Rounded Rectangle 8"/>
          <p:cNvSpPr/>
          <p:nvPr/>
        </p:nvSpPr>
        <p:spPr>
          <a:xfrm>
            <a:off x="5596128" y="3886200"/>
            <a:ext cx="5760720" cy="123444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4014215"/>
            <a:ext cx="5248656" cy="237744"/>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THE DISCIPLINE THAT PRODUCED IT</a:t>
            </a:r>
          </a:p>
        </p:txBody>
      </p:sp>
      <p:sp>
        <p:nvSpPr>
          <p:cNvPr id="11" name="TextBox 10"/>
          <p:cNvSpPr txBox="1"/>
          <p:nvPr/>
        </p:nvSpPr>
        <p:spPr>
          <a:xfrm>
            <a:off x="5779008"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10</a:t>
            </a:r>
          </a:p>
          <a:p>
            <a:pPr algn="ctr">
              <a:lnSpc>
                <a:spcPct val="105000"/>
              </a:lnSpc>
              <a:spcBef>
                <a:spcPts val="100"/>
              </a:spcBef>
              <a:spcAft>
                <a:spcPts val="600"/>
              </a:spcAft>
            </a:pPr>
            <a:r>
              <a:rPr sz="850" b="0" i="0">
                <a:solidFill>
                  <a:srgbClr val="6B6B76"/>
                </a:solidFill>
                <a:latin typeface="Calibri"/>
              </a:rPr>
              <a:t>configs measured</a:t>
            </a:r>
          </a:p>
        </p:txBody>
      </p:sp>
      <p:sp>
        <p:nvSpPr>
          <p:cNvPr id="12" name="TextBox 11"/>
          <p:cNvSpPr txBox="1"/>
          <p:nvPr/>
        </p:nvSpPr>
        <p:spPr>
          <a:xfrm>
            <a:off x="7159752"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8</a:t>
            </a:r>
          </a:p>
          <a:p>
            <a:pPr algn="ctr">
              <a:lnSpc>
                <a:spcPct val="105000"/>
              </a:lnSpc>
              <a:spcBef>
                <a:spcPts val="100"/>
              </a:spcBef>
              <a:spcAft>
                <a:spcPts val="600"/>
              </a:spcAft>
            </a:pPr>
            <a:r>
              <a:rPr sz="850" b="0" i="0">
                <a:solidFill>
                  <a:srgbClr val="6B6B76"/>
                </a:solidFill>
                <a:latin typeface="Calibri"/>
              </a:rPr>
              <a:t>dropped</a:t>
            </a:r>
          </a:p>
        </p:txBody>
      </p:sp>
      <p:sp>
        <p:nvSpPr>
          <p:cNvPr id="13" name="TextBox 12"/>
          <p:cNvSpPr txBox="1"/>
          <p:nvPr/>
        </p:nvSpPr>
        <p:spPr>
          <a:xfrm>
            <a:off x="8540496"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1</a:t>
            </a:r>
          </a:p>
          <a:p>
            <a:pPr algn="ctr">
              <a:lnSpc>
                <a:spcPct val="105000"/>
              </a:lnSpc>
              <a:spcBef>
                <a:spcPts val="100"/>
              </a:spcBef>
              <a:spcAft>
                <a:spcPts val="600"/>
              </a:spcAft>
            </a:pPr>
            <a:r>
              <a:rPr sz="850" b="0" i="0">
                <a:solidFill>
                  <a:srgbClr val="6B6B76"/>
                </a:solidFill>
                <a:latin typeface="Calibri"/>
              </a:rPr>
              <a:t>kept: e5-base</a:t>
            </a:r>
          </a:p>
        </p:txBody>
      </p:sp>
      <p:sp>
        <p:nvSpPr>
          <p:cNvPr id="14" name="TextBox 13"/>
          <p:cNvSpPr txBox="1"/>
          <p:nvPr/>
        </p:nvSpPr>
        <p:spPr>
          <a:xfrm>
            <a:off x="9921240"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78</a:t>
            </a:r>
          </a:p>
          <a:p>
            <a:pPr algn="ctr">
              <a:lnSpc>
                <a:spcPct val="105000"/>
              </a:lnSpc>
              <a:spcBef>
                <a:spcPts val="100"/>
              </a:spcBef>
              <a:spcAft>
                <a:spcPts val="600"/>
              </a:spcAft>
            </a:pPr>
            <a:r>
              <a:rPr sz="850" b="0" i="0">
                <a:solidFill>
                  <a:srgbClr val="6B6B76"/>
                </a:solidFill>
                <a:latin typeface="Calibri"/>
              </a:rPr>
              <a:t>offline tests</a:t>
            </a:r>
          </a:p>
        </p:txBody>
      </p:sp>
      <p:sp>
        <p:nvSpPr>
          <p:cNvPr id="15" name="Rounded Rectangle 14"/>
          <p:cNvSpPr/>
          <p:nvPr/>
        </p:nvSpPr>
        <p:spPr>
          <a:xfrm>
            <a:off x="8412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55547"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1</a:t>
            </a:r>
          </a:p>
        </p:txBody>
      </p:sp>
      <p:sp>
        <p:nvSpPr>
          <p:cNvPr id="17" name="TextBox 16"/>
          <p:cNvSpPr txBox="1"/>
          <p:nvPr/>
        </p:nvSpPr>
        <p:spPr>
          <a:xfrm>
            <a:off x="15270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CPU-only, minimal GPU</a:t>
            </a:r>
          </a:p>
          <a:p>
            <a:pPr algn="l">
              <a:lnSpc>
                <a:spcPct val="115000"/>
              </a:lnSpc>
              <a:spcBef>
                <a:spcPts val="0"/>
              </a:spcBef>
              <a:spcAft>
                <a:spcPts val="600"/>
              </a:spcAft>
            </a:pPr>
            <a:r>
              <a:rPr sz="1000" b="0" i="0">
                <a:solidFill>
                  <a:srgbClr val="6B6B76"/>
                </a:solidFill>
                <a:latin typeface="Calibri"/>
              </a:rPr>
              <a:t>Innovation has to come from representation, not scale</a:t>
            </a:r>
          </a:p>
        </p:txBody>
      </p:sp>
      <p:sp>
        <p:nvSpPr>
          <p:cNvPr id="18" name="Rounded Rectangle 17"/>
          <p:cNvSpPr/>
          <p:nvPr/>
        </p:nvSpPr>
        <p:spPr>
          <a:xfrm>
            <a:off x="44226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6948"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2</a:t>
            </a:r>
          </a:p>
        </p:txBody>
      </p:sp>
      <p:sp>
        <p:nvSpPr>
          <p:cNvPr id="20" name="TextBox 19"/>
          <p:cNvSpPr txBox="1"/>
          <p:nvPr/>
        </p:nvSpPr>
        <p:spPr>
          <a:xfrm>
            <a:off x="51084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No LLM in the ranking loop</a:t>
            </a:r>
          </a:p>
          <a:p>
            <a:pPr algn="l">
              <a:lnSpc>
                <a:spcPct val="115000"/>
              </a:lnSpc>
              <a:spcBef>
                <a:spcPts val="0"/>
              </a:spcBef>
              <a:spcAft>
                <a:spcPts val="600"/>
              </a:spcAft>
            </a:pPr>
            <a:r>
              <a:rPr sz="1000" b="0" i="0">
                <a:solidFill>
                  <a:srgbClr val="6B6B76"/>
                </a:solidFill>
                <a:latin typeface="Calibri"/>
              </a:rPr>
              <a:t>Retrieval must beat generation on speed on a thousand-snippet corpus</a:t>
            </a:r>
          </a:p>
        </p:txBody>
      </p:sp>
      <p:sp>
        <p:nvSpPr>
          <p:cNvPr id="21" name="Rounded Rectangle 20"/>
          <p:cNvSpPr/>
          <p:nvPr/>
        </p:nvSpPr>
        <p:spPr>
          <a:xfrm>
            <a:off x="80040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18348"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3</a:t>
            </a:r>
          </a:p>
        </p:txBody>
      </p:sp>
      <p:sp>
        <p:nvSpPr>
          <p:cNvPr id="23" name="TextBox 22"/>
          <p:cNvSpPr txBox="1"/>
          <p:nvPr/>
        </p:nvSpPr>
        <p:spPr>
          <a:xfrm>
            <a:off x="86898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Cross-version retrieval (P1)</a:t>
            </a:r>
          </a:p>
          <a:p>
            <a:pPr algn="l">
              <a:lnSpc>
                <a:spcPct val="115000"/>
              </a:lnSpc>
              <a:spcBef>
                <a:spcPts val="0"/>
              </a:spcBef>
              <a:spcAft>
                <a:spcPts val="600"/>
              </a:spcAft>
            </a:pPr>
            <a:r>
              <a:rPr sz="1000" b="0" i="0">
                <a:solidFill>
                  <a:srgbClr val="6B6B76"/>
                </a:solidFill>
                <a:latin typeface="Calibri"/>
              </a:rPr>
              <a:t>The index must rebuild cheaply as code changes, by design from day one</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Rounded Rectangle 2"/>
          <p:cNvSpPr/>
          <p:nvPr/>
        </p:nvSpPr>
        <p:spPr>
          <a:xfrm>
            <a:off x="841248" y="1874519"/>
            <a:ext cx="3395472" cy="384048"/>
          </a:xfrm>
          <a:prstGeom prst="roundRect">
            <a:avLst>
              <a:gd name="adj" fmla="val 6000"/>
            </a:avLst>
          </a:prstGeom>
          <a:solidFill>
            <a:srgbClr val="F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401312" y="1874519"/>
            <a:ext cx="3395472" cy="384048"/>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61376" y="1874519"/>
            <a:ext cx="3395472" cy="384048"/>
          </a:xfrm>
          <a:prstGeom prst="roundRect">
            <a:avLst>
              <a:gd name="adj" fmla="val 6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6B6B76"/>
                </a:solidFill>
                <a:latin typeface="Calibri"/>
              </a:rPr>
              <a:t>WHAT TEAMS USUALLY TRY</a:t>
            </a:r>
          </a:p>
        </p:txBody>
      </p:sp>
      <p:sp>
        <p:nvSpPr>
          <p:cNvPr id="7" name="TextBox 6"/>
          <p:cNvSpPr txBox="1"/>
          <p:nvPr/>
        </p:nvSpPr>
        <p:spPr>
          <a:xfrm>
            <a:off x="4584192"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B33B3B"/>
                </a:solidFill>
                <a:latin typeface="Calibri"/>
              </a:rPr>
              <a:t>WHERE IT BREAKS DOWN</a:t>
            </a:r>
          </a:p>
        </p:txBody>
      </p:sp>
      <p:sp>
        <p:nvSpPr>
          <p:cNvPr id="8" name="TextBox 7"/>
          <p:cNvSpPr txBox="1"/>
          <p:nvPr/>
        </p:nvSpPr>
        <p:spPr>
          <a:xfrm>
            <a:off x="8144256"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FFFFFF"/>
                </a:solidFill>
                <a:latin typeface="Calibri"/>
              </a:rPr>
              <a:t>WHAT WE BUILT &amp; MEASURED</a:t>
            </a:r>
          </a:p>
        </p:txBody>
      </p:sp>
      <p:sp>
        <p:nvSpPr>
          <p:cNvPr id="9" name="Rounded Rectangle 8"/>
          <p:cNvSpPr/>
          <p:nvPr/>
        </p:nvSpPr>
        <p:spPr>
          <a:xfrm>
            <a:off x="841248" y="2386584"/>
            <a:ext cx="3395472" cy="77724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01312" y="2386584"/>
            <a:ext cx="3395472" cy="777240"/>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961376" y="2386584"/>
            <a:ext cx="3395472" cy="777240"/>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583180"/>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1</a:t>
            </a:r>
          </a:p>
        </p:txBody>
      </p:sp>
      <p:sp>
        <p:nvSpPr>
          <p:cNvPr id="13" name="TextBox 12"/>
          <p:cNvSpPr txBox="1"/>
          <p:nvPr/>
        </p:nvSpPr>
        <p:spPr>
          <a:xfrm>
            <a:off x="1435608" y="2496312"/>
            <a:ext cx="266395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Dense embedding + cosine similarity with an off-the-shelf text model</a:t>
            </a:r>
          </a:p>
        </p:txBody>
      </p:sp>
      <p:sp>
        <p:nvSpPr>
          <p:cNvPr id="14" name="TextBox 13"/>
          <p:cNvSpPr txBox="1"/>
          <p:nvPr/>
        </p:nvSpPr>
        <p:spPr>
          <a:xfrm>
            <a:off x="4584192" y="2496312"/>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NL and code sit in different “languages” — behavioral queries blur</a:t>
            </a:r>
          </a:p>
        </p:txBody>
      </p:sp>
      <p:sp>
        <p:nvSpPr>
          <p:cNvPr id="15" name="TextBox 14"/>
          <p:cNvSpPr txBox="1"/>
          <p:nvPr/>
        </p:nvSpPr>
        <p:spPr>
          <a:xfrm>
            <a:off x="8144256" y="2496312"/>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Code-flavored HyDE: compile query → deterministic code sketch, then embed code-vs-code</a:t>
            </a:r>
          </a:p>
        </p:txBody>
      </p:sp>
      <p:sp>
        <p:nvSpPr>
          <p:cNvPr id="16" name="TextBox 15"/>
          <p:cNvSpPr txBox="1"/>
          <p:nvPr/>
        </p:nvSpPr>
        <p:spPr>
          <a:xfrm>
            <a:off x="4209288" y="2638044"/>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17" name="TextBox 16"/>
          <p:cNvSpPr txBox="1"/>
          <p:nvPr/>
        </p:nvSpPr>
        <p:spPr>
          <a:xfrm>
            <a:off x="7769352" y="2638044"/>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18" name="Rounded Rectangle 17"/>
          <p:cNvSpPr/>
          <p:nvPr/>
        </p:nvSpPr>
        <p:spPr>
          <a:xfrm>
            <a:off x="841248" y="3291840"/>
            <a:ext cx="3395472" cy="77724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01312" y="3291840"/>
            <a:ext cx="3395472" cy="777240"/>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961376" y="3291840"/>
            <a:ext cx="3395472" cy="777240"/>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1832" y="3488436"/>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2</a:t>
            </a:r>
          </a:p>
        </p:txBody>
      </p:sp>
      <p:sp>
        <p:nvSpPr>
          <p:cNvPr id="22" name="TextBox 21"/>
          <p:cNvSpPr txBox="1"/>
          <p:nvPr/>
        </p:nvSpPr>
        <p:spPr>
          <a:xfrm>
            <a:off x="1435608" y="3401568"/>
            <a:ext cx="266395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LLM re-ranking on top of a first-pass retriever</a:t>
            </a:r>
          </a:p>
        </p:txBody>
      </p:sp>
      <p:sp>
        <p:nvSpPr>
          <p:cNvPr id="23" name="TextBox 22"/>
          <p:cNvSpPr txBox="1"/>
          <p:nvPr/>
        </p:nvSpPr>
        <p:spPr>
          <a:xfrm>
            <a:off x="4584192" y="3401568"/>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Corpus in the thousands → per-query LLM ranking slower than retrieval itself</a:t>
            </a:r>
          </a:p>
        </p:txBody>
      </p:sp>
      <p:sp>
        <p:nvSpPr>
          <p:cNvPr id="24" name="TextBox 23"/>
          <p:cNvSpPr txBox="1"/>
          <p:nvPr/>
        </p:nvSpPr>
        <p:spPr>
          <a:xfrm>
            <a:off x="8144256" y="3401568"/>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No LLM in the ranking loop; any LLM use is offline pre-processing, cached</a:t>
            </a:r>
          </a:p>
        </p:txBody>
      </p:sp>
      <p:sp>
        <p:nvSpPr>
          <p:cNvPr id="25" name="TextBox 24"/>
          <p:cNvSpPr txBox="1"/>
          <p:nvPr/>
        </p:nvSpPr>
        <p:spPr>
          <a:xfrm>
            <a:off x="4209288" y="3543300"/>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26" name="TextBox 25"/>
          <p:cNvSpPr txBox="1"/>
          <p:nvPr/>
        </p:nvSpPr>
        <p:spPr>
          <a:xfrm>
            <a:off x="7769352" y="3543300"/>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27" name="Rounded Rectangle 26"/>
          <p:cNvSpPr/>
          <p:nvPr/>
        </p:nvSpPr>
        <p:spPr>
          <a:xfrm>
            <a:off x="841248" y="4197096"/>
            <a:ext cx="3395472" cy="77724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401312" y="4197096"/>
            <a:ext cx="3395472" cy="777240"/>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61376" y="4197096"/>
            <a:ext cx="3395472" cy="777240"/>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41832" y="4393692"/>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3</a:t>
            </a:r>
          </a:p>
        </p:txBody>
      </p:sp>
      <p:sp>
        <p:nvSpPr>
          <p:cNvPr id="31" name="TextBox 30"/>
          <p:cNvSpPr txBox="1"/>
          <p:nvPr/>
        </p:nvSpPr>
        <p:spPr>
          <a:xfrm>
            <a:off x="1435608" y="4306824"/>
            <a:ext cx="266395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One raw-text view per snippet, straight into the encoder</a:t>
            </a:r>
          </a:p>
        </p:txBody>
      </p:sp>
      <p:sp>
        <p:nvSpPr>
          <p:cNvPr id="32" name="TextBox 31"/>
          <p:cNvSpPr txBox="1"/>
          <p:nvPr/>
        </p:nvSpPr>
        <p:spPr>
          <a:xfrm>
            <a:off x="4584192" y="4306824"/>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Raw text blurs the structure and identifiers usage &amp; structural queries need</a:t>
            </a:r>
          </a:p>
        </p:txBody>
      </p:sp>
      <p:sp>
        <p:nvSpPr>
          <p:cNvPr id="33" name="TextBox 32"/>
          <p:cNvSpPr txBox="1"/>
          <p:nvPr/>
        </p:nvSpPr>
        <p:spPr>
          <a:xfrm>
            <a:off x="8144256" y="4306824"/>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Multi-view snippet embedding: raw + AST-normalized + identifier bag, fused</a:t>
            </a:r>
          </a:p>
        </p:txBody>
      </p:sp>
      <p:sp>
        <p:nvSpPr>
          <p:cNvPr id="34" name="TextBox 33"/>
          <p:cNvSpPr txBox="1"/>
          <p:nvPr/>
        </p:nvSpPr>
        <p:spPr>
          <a:xfrm>
            <a:off x="4209288" y="4448555"/>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35" name="TextBox 34"/>
          <p:cNvSpPr txBox="1"/>
          <p:nvPr/>
        </p:nvSpPr>
        <p:spPr>
          <a:xfrm>
            <a:off x="7769352" y="4448555"/>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36" name="Rounded Rectangle 35"/>
          <p:cNvSpPr/>
          <p:nvPr/>
        </p:nvSpPr>
        <p:spPr>
          <a:xfrm>
            <a:off x="841248" y="5102352"/>
            <a:ext cx="3395472" cy="77724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01312" y="5102352"/>
            <a:ext cx="3395472" cy="777240"/>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61376" y="5102352"/>
            <a:ext cx="3395472" cy="777240"/>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41832" y="5298948"/>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4</a:t>
            </a:r>
          </a:p>
        </p:txBody>
      </p:sp>
      <p:sp>
        <p:nvSpPr>
          <p:cNvPr id="40" name="TextBox 39"/>
          <p:cNvSpPr txBox="1"/>
          <p:nvPr/>
        </p:nvSpPr>
        <p:spPr>
          <a:xfrm>
            <a:off x="1435608" y="5212080"/>
            <a:ext cx="266395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A single index built once for one code version</a:t>
            </a:r>
          </a:p>
        </p:txBody>
      </p:sp>
      <p:sp>
        <p:nvSpPr>
          <p:cNvPr id="41" name="TextBox 40"/>
          <p:cNvSpPr txBox="1"/>
          <p:nvPr/>
        </p:nvSpPr>
        <p:spPr>
          <a:xfrm>
            <a:off x="4584192" y="5212080"/>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Near-identical versions become indistinguishable; every change rebuilds all</a:t>
            </a:r>
          </a:p>
        </p:txBody>
      </p:sp>
      <p:sp>
        <p:nvSpPr>
          <p:cNvPr id="42" name="TextBox 41"/>
          <p:cNvSpPr txBox="1"/>
          <p:nvPr/>
        </p:nvSpPr>
        <p:spPr>
          <a:xfrm>
            <a:off x="8144256" y="5212080"/>
            <a:ext cx="3029712" cy="557784"/>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Content-addressed versioned index + stable-core / version-delta representation</a:t>
            </a:r>
          </a:p>
        </p:txBody>
      </p:sp>
      <p:sp>
        <p:nvSpPr>
          <p:cNvPr id="43" name="TextBox 42"/>
          <p:cNvSpPr txBox="1"/>
          <p:nvPr/>
        </p:nvSpPr>
        <p:spPr>
          <a:xfrm>
            <a:off x="4209288" y="5353812"/>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44" name="TextBox 43"/>
          <p:cNvSpPr txBox="1"/>
          <p:nvPr/>
        </p:nvSpPr>
        <p:spPr>
          <a:xfrm>
            <a:off x="7769352" y="5353812"/>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45" name="TextBox 44"/>
          <p:cNvSpPr txBox="1"/>
          <p:nvPr/>
        </p:nvSpPr>
        <p:spPr>
          <a:xfrm>
            <a:off x="841248" y="5952744"/>
            <a:ext cx="10515600" cy="237744"/>
          </a:xfrm>
          <a:prstGeom prst="rect">
            <a:avLst/>
          </a:prstGeom>
          <a:noFill/>
        </p:spPr>
        <p:txBody>
          <a:bodyPr wrap="square" lIns="0" rIns="0" tIns="0" bIns="0" anchor="ctr">
            <a:spAutoFit/>
          </a:bodyPr>
          <a:lstStyle/>
          <a:p>
            <a:pPr algn="l">
              <a:spcBef>
                <a:spcPts val="0"/>
              </a:spcBef>
              <a:spcAft>
                <a:spcPts val="600"/>
              </a:spcAft>
            </a:pPr>
            <a:r>
              <a:rPr sz="1000" b="0" i="1">
                <a:solidFill>
                  <a:srgbClr val="6B6B76"/>
                </a:solidFill>
                <a:latin typeface="Calibri"/>
              </a:rPr>
              <a:t>Measured on the real split: rows 1 and 3 (HyDE, multi-view) lost and are off; what moved the score was a retrieval-trained encoder, e5-base-v2.</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TextBox 2"/>
          <p:cNvSpPr txBox="1"/>
          <p:nvPr/>
        </p:nvSpPr>
        <p:spPr>
          <a:xfrm>
            <a:off x="841248" y="1810511"/>
            <a:ext cx="2743200" cy="274320"/>
          </a:xfrm>
          <a:prstGeom prst="rect">
            <a:avLst/>
          </a:prstGeom>
          <a:noFill/>
        </p:spPr>
        <p:txBody>
          <a:bodyPr wrap="square" lIns="0" rIns="0" tIns="0" bIns="0">
            <a:spAutoFit/>
          </a:bodyPr>
          <a:lstStyle/>
          <a:p>
            <a:pPr algn="l">
              <a:spcBef>
                <a:spcPts val="0"/>
              </a:spcBef>
              <a:spcAft>
                <a:spcPts val="600"/>
              </a:spcAft>
            </a:pPr>
            <a:r>
              <a:rPr sz="1000" b="1" i="0">
                <a:solidFill>
                  <a:srgbClr val="6D28D9"/>
                </a:solidFill>
                <a:latin typeface="Calibri"/>
              </a:rPr>
              <a:t>QUERY PATH</a:t>
            </a:r>
          </a:p>
        </p:txBody>
      </p:sp>
      <p:sp>
        <p:nvSpPr>
          <p:cNvPr id="4" name="TextBox 3"/>
          <p:cNvSpPr txBox="1"/>
          <p:nvPr/>
        </p:nvSpPr>
        <p:spPr>
          <a:xfrm>
            <a:off x="841248" y="3822191"/>
            <a:ext cx="2743200" cy="274320"/>
          </a:xfrm>
          <a:prstGeom prst="rect">
            <a:avLst/>
          </a:prstGeom>
          <a:noFill/>
        </p:spPr>
        <p:txBody>
          <a:bodyPr wrap="square" lIns="0" rIns="0" tIns="0" bIns="0">
            <a:spAutoFit/>
          </a:bodyPr>
          <a:lstStyle/>
          <a:p>
            <a:pPr algn="l">
              <a:spcBef>
                <a:spcPts val="0"/>
              </a:spcBef>
              <a:spcAft>
                <a:spcPts val="600"/>
              </a:spcAft>
            </a:pPr>
            <a:r>
              <a:rPr sz="1000" b="1" i="0">
                <a:solidFill>
                  <a:srgbClr val="6D28D9"/>
                </a:solidFill>
                <a:latin typeface="Calibri"/>
              </a:rPr>
              <a:t>SNIPPET PATH</a:t>
            </a:r>
          </a:p>
        </p:txBody>
      </p:sp>
      <p:sp>
        <p:nvSpPr>
          <p:cNvPr id="5" name="Rounded Rectangle 4"/>
          <p:cNvSpPr/>
          <p:nvPr/>
        </p:nvSpPr>
        <p:spPr>
          <a:xfrm>
            <a:off x="841248" y="2103120"/>
            <a:ext cx="1417320" cy="777240"/>
          </a:xfrm>
          <a:prstGeom prst="roundRect">
            <a:avLst>
              <a:gd name="adj" fmla="val 9000"/>
            </a:avLst>
          </a:prstGeom>
          <a:solidFill>
            <a:srgbClr val="EDE9FB"/>
          </a:solidFill>
          <a:ln w="1587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NL query</a:t>
            </a:r>
          </a:p>
        </p:txBody>
      </p:sp>
      <p:sp>
        <p:nvSpPr>
          <p:cNvPr id="6" name="Rounded Rectangle 5"/>
          <p:cNvSpPr/>
          <p:nvPr/>
        </p:nvSpPr>
        <p:spPr>
          <a:xfrm>
            <a:off x="2578608" y="2103120"/>
            <a:ext cx="233172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Query preprocess</a:t>
            </a:r>
          </a:p>
          <a:p>
            <a:pPr algn="ctr">
              <a:lnSpc>
                <a:spcPct val="105000"/>
              </a:lnSpc>
            </a:pPr>
            <a:r>
              <a:rPr sz="1150" b="0" i="0">
                <a:solidFill>
                  <a:srgbClr val="14142B"/>
                </a:solidFill>
                <a:latin typeface="Calibri"/>
              </a:rPr>
              <a:t>+ “query: ” prefix</a:t>
            </a:r>
          </a:p>
          <a:p>
            <a:pPr algn="ctr">
              <a:lnSpc>
                <a:spcPct val="105000"/>
              </a:lnSpc>
            </a:pPr>
            <a:r>
              <a:rPr sz="1000" b="0" i="1">
                <a:solidFill>
                  <a:srgbClr val="6B6B76"/>
                </a:solidFill>
                <a:latin typeface="Calibri"/>
              </a:rPr>
              <a:t>query→code HyDE: measured, off</a:t>
            </a:r>
          </a:p>
        </p:txBody>
      </p:sp>
      <p:sp>
        <p:nvSpPr>
          <p:cNvPr id="7" name="Rounded Rectangle 6"/>
          <p:cNvSpPr/>
          <p:nvPr/>
        </p:nvSpPr>
        <p:spPr>
          <a:xfrm>
            <a:off x="5230368" y="2103120"/>
            <a:ext cx="178308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Query encode</a:t>
            </a:r>
          </a:p>
          <a:p>
            <a:pPr algn="ctr">
              <a:lnSpc>
                <a:spcPct val="105000"/>
              </a:lnSpc>
            </a:pPr>
            <a:r>
              <a:rPr sz="1150" b="0" i="0">
                <a:solidFill>
                  <a:srgbClr val="14142B"/>
                </a:solidFill>
                <a:latin typeface="Calibri"/>
              </a:rPr>
              <a:t>e5-base-v2</a:t>
            </a:r>
          </a:p>
        </p:txBody>
      </p:sp>
      <p:sp>
        <p:nvSpPr>
          <p:cNvPr id="8" name="Rounded Rectangle 7"/>
          <p:cNvSpPr/>
          <p:nvPr/>
        </p:nvSpPr>
        <p:spPr>
          <a:xfrm>
            <a:off x="841248" y="4114800"/>
            <a:ext cx="1417320" cy="777240"/>
          </a:xfrm>
          <a:prstGeom prst="roundRect">
            <a:avLst>
              <a:gd name="adj" fmla="val 9000"/>
            </a:avLst>
          </a:prstGeom>
          <a:solidFill>
            <a:srgbClr val="EDE9FB"/>
          </a:solidFill>
          <a:ln w="1587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Code snippets</a:t>
            </a:r>
          </a:p>
        </p:txBody>
      </p:sp>
      <p:sp>
        <p:nvSpPr>
          <p:cNvPr id="9" name="Rounded Rectangle 8"/>
          <p:cNvSpPr/>
          <p:nvPr/>
        </p:nvSpPr>
        <p:spPr>
          <a:xfrm>
            <a:off x="2578608" y="4114800"/>
            <a:ext cx="233172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Snippet cleanup</a:t>
            </a:r>
          </a:p>
          <a:p>
            <a:pPr algn="ctr">
              <a:lnSpc>
                <a:spcPct val="105000"/>
              </a:lnSpc>
            </a:pPr>
            <a:r>
              <a:rPr sz="1150" b="0" i="0">
                <a:solidFill>
                  <a:srgbClr val="14142B"/>
                </a:solidFill>
                <a:latin typeface="Calibri"/>
              </a:rPr>
              <a:t>+ chunking + “passage: ”</a:t>
            </a:r>
          </a:p>
          <a:p>
            <a:pPr algn="ctr">
              <a:lnSpc>
                <a:spcPct val="105000"/>
              </a:lnSpc>
            </a:pPr>
            <a:r>
              <a:rPr sz="1000" b="0" i="1">
                <a:solidFill>
                  <a:srgbClr val="6B6B76"/>
                </a:solidFill>
                <a:latin typeface="Calibri"/>
              </a:rPr>
              <a:t>multi-view: measured, off</a:t>
            </a:r>
          </a:p>
        </p:txBody>
      </p:sp>
      <p:sp>
        <p:nvSpPr>
          <p:cNvPr id="10" name="Rounded Rectangle 9"/>
          <p:cNvSpPr/>
          <p:nvPr/>
        </p:nvSpPr>
        <p:spPr>
          <a:xfrm>
            <a:off x="5230368" y="4114800"/>
            <a:ext cx="178308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Snippet encode</a:t>
            </a:r>
          </a:p>
          <a:p>
            <a:pPr algn="ctr">
              <a:lnSpc>
                <a:spcPct val="105000"/>
              </a:lnSpc>
            </a:pPr>
            <a:r>
              <a:rPr sz="1150" b="0" i="0">
                <a:solidFill>
                  <a:srgbClr val="14142B"/>
                </a:solidFill>
                <a:latin typeface="Calibri"/>
              </a:rPr>
              <a:t>e5-base-v2</a:t>
            </a:r>
          </a:p>
          <a:p>
            <a:pPr algn="ctr">
              <a:lnSpc>
                <a:spcPct val="105000"/>
              </a:lnSpc>
            </a:pPr>
            <a:r>
              <a:rPr sz="1150" b="0" i="0">
                <a:solidFill>
                  <a:srgbClr val="14142B"/>
                </a:solidFill>
                <a:latin typeface="Calibri"/>
              </a:rPr>
              <a:t>+ versioned index</a:t>
            </a:r>
          </a:p>
        </p:txBody>
      </p:sp>
      <p:sp>
        <p:nvSpPr>
          <p:cNvPr id="11" name="Rounded Rectangle 10"/>
          <p:cNvSpPr/>
          <p:nvPr/>
        </p:nvSpPr>
        <p:spPr>
          <a:xfrm>
            <a:off x="7516368" y="3017520"/>
            <a:ext cx="1965960" cy="1600200"/>
          </a:xfrm>
          <a:prstGeom prst="roundRect">
            <a:avLst>
              <a:gd name="adj" fmla="val 9000"/>
            </a:avLst>
          </a:prstGeom>
          <a:solidFill>
            <a:srgbClr val="704EA6"/>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250" b="1" i="0">
                <a:solidFill>
                  <a:srgbClr val="FFFFFF"/>
                </a:solidFill>
                <a:latin typeface="Calibri"/>
              </a:rPr>
              <a:t>Cosine score</a:t>
            </a:r>
          </a:p>
          <a:p>
            <a:pPr algn="ctr">
              <a:lnSpc>
                <a:spcPct val="105000"/>
              </a:lnSpc>
            </a:pPr>
            <a:r>
              <a:rPr sz="1250" b="0" i="0">
                <a:solidFill>
                  <a:srgbClr val="FFFFFF"/>
                </a:solidFill>
                <a:latin typeface="Calibri"/>
              </a:rPr>
              <a:t>(+ cross-version, P1)</a:t>
            </a:r>
          </a:p>
        </p:txBody>
      </p:sp>
      <p:sp>
        <p:nvSpPr>
          <p:cNvPr id="12" name="Rounded Rectangle 11"/>
          <p:cNvSpPr/>
          <p:nvPr/>
        </p:nvSpPr>
        <p:spPr>
          <a:xfrm>
            <a:off x="9802368" y="3017520"/>
            <a:ext cx="1371600" cy="1600200"/>
          </a:xfrm>
          <a:prstGeom prst="roundRect">
            <a:avLst>
              <a:gd name="adj" fmla="val 9000"/>
            </a:avLst>
          </a:prstGeom>
          <a:solidFill>
            <a:srgbClr val="FFFFFF"/>
          </a:solidFill>
          <a:ln w="15875">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250" b="1" i="0">
                <a:solidFill>
                  <a:srgbClr val="14142B"/>
                </a:solidFill>
                <a:latin typeface="Calibri"/>
              </a:rPr>
              <a:t>Ranked</a:t>
            </a:r>
          </a:p>
          <a:p>
            <a:pPr algn="ctr">
              <a:lnSpc>
                <a:spcPct val="105000"/>
              </a:lnSpc>
            </a:pPr>
            <a:r>
              <a:rPr sz="1250" b="0" i="0">
                <a:solidFill>
                  <a:srgbClr val="14142B"/>
                </a:solidFill>
                <a:latin typeface="Calibri"/>
              </a:rPr>
              <a:t>snippets</a:t>
            </a:r>
          </a:p>
        </p:txBody>
      </p:sp>
      <p:cxnSp>
        <p:nvCxnSpPr>
          <p:cNvPr id="13" name="Connector 12"/>
          <p:cNvCxnSpPr/>
          <p:nvPr/>
        </p:nvCxnSpPr>
        <p:spPr>
          <a:xfrm>
            <a:off x="2258568" y="2491739"/>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910328" y="2491739"/>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58568" y="45034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910328" y="45034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013448" y="2491739"/>
            <a:ext cx="502920" cy="973837"/>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7013448" y="4169663"/>
            <a:ext cx="502920" cy="333757"/>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82328" y="38176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41248" y="5074920"/>
            <a:ext cx="10515600" cy="365760"/>
          </a:xfrm>
          <a:prstGeom prst="rect">
            <a:avLst/>
          </a:prstGeom>
          <a:noFill/>
        </p:spPr>
        <p:txBody>
          <a:bodyPr wrap="square" lIns="0" rIns="0" tIns="0" bIns="0">
            <a:spAutoFit/>
          </a:bodyPr>
          <a:lstStyle/>
          <a:p>
            <a:pPr algn="ctr">
              <a:spcBef>
                <a:spcPts val="0"/>
              </a:spcBef>
              <a:spcAft>
                <a:spcPts val="600"/>
              </a:spcAft>
            </a:pPr>
            <a:r>
              <a:rPr sz="1150" b="0" i="1">
                <a:solidFill>
                  <a:srgbClr val="6B6B76"/>
                </a:solidFill>
                <a:latin typeface="Calibri"/>
              </a:rPr>
              <a:t>Submitted: e5-base-v2, 512-token window, CPU-only. Grey items are built and switchable by config, but lost on the real split and are off.</a:t>
            </a:r>
          </a:p>
        </p:txBody>
      </p:sp>
      <p:sp>
        <p:nvSpPr>
          <p:cNvPr id="21" name="Rounded Rectangle 20"/>
          <p:cNvSpPr/>
          <p:nvPr/>
        </p:nvSpPr>
        <p:spPr>
          <a:xfrm>
            <a:off x="841248" y="5486400"/>
            <a:ext cx="10515600" cy="77724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5559552"/>
            <a:ext cx="10058400" cy="256032"/>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EXAMPLE TRACE  —  one real query through the pipeline</a:t>
            </a:r>
          </a:p>
        </p:txBody>
      </p:sp>
      <p:sp>
        <p:nvSpPr>
          <p:cNvPr id="23" name="Rounded Rectangle 22"/>
          <p:cNvSpPr/>
          <p:nvPr/>
        </p:nvSpPr>
        <p:spPr>
          <a:xfrm>
            <a:off x="111556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8872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Query</a:t>
            </a:r>
          </a:p>
          <a:p>
            <a:pPr algn="ctr">
              <a:spcBef>
                <a:spcPts val="0"/>
              </a:spcBef>
              <a:spcAft>
                <a:spcPts val="600"/>
              </a:spcAft>
            </a:pPr>
            <a:r>
              <a:rPr sz="850" b="0" i="0">
                <a:solidFill>
                  <a:srgbClr val="14142B"/>
                </a:solidFill>
                <a:latin typeface="Calibri"/>
              </a:rPr>
              <a:t>“find two numbers that sum to a target”</a:t>
            </a:r>
          </a:p>
        </p:txBody>
      </p:sp>
      <p:sp>
        <p:nvSpPr>
          <p:cNvPr id="25" name="TextBox 24"/>
          <p:cNvSpPr txBox="1"/>
          <p:nvPr/>
        </p:nvSpPr>
        <p:spPr>
          <a:xfrm>
            <a:off x="2986430"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26" name="Rounded Rectangle 25"/>
          <p:cNvSpPr/>
          <p:nvPr/>
        </p:nvSpPr>
        <p:spPr>
          <a:xfrm>
            <a:off x="314187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1503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Preprocess</a:t>
            </a:r>
          </a:p>
          <a:p>
            <a:pPr algn="ctr">
              <a:spcBef>
                <a:spcPts val="0"/>
              </a:spcBef>
              <a:spcAft>
                <a:spcPts val="600"/>
              </a:spcAft>
            </a:pPr>
            <a:r>
              <a:rPr sz="850" b="0" i="0">
                <a:solidFill>
                  <a:srgbClr val="14142B"/>
                </a:solidFill>
                <a:latin typeface="Calibri"/>
              </a:rPr>
              <a:t>“query: ” + normalized text</a:t>
            </a:r>
          </a:p>
        </p:txBody>
      </p:sp>
      <p:sp>
        <p:nvSpPr>
          <p:cNvPr id="28" name="TextBox 27"/>
          <p:cNvSpPr txBox="1"/>
          <p:nvPr/>
        </p:nvSpPr>
        <p:spPr>
          <a:xfrm>
            <a:off x="5012740"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29" name="Rounded Rectangle 28"/>
          <p:cNvSpPr/>
          <p:nvPr/>
        </p:nvSpPr>
        <p:spPr>
          <a:xfrm>
            <a:off x="516818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134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Encode</a:t>
            </a:r>
          </a:p>
          <a:p>
            <a:pPr algn="ctr">
              <a:spcBef>
                <a:spcPts val="0"/>
              </a:spcBef>
              <a:spcAft>
                <a:spcPts val="600"/>
              </a:spcAft>
            </a:pPr>
            <a:r>
              <a:rPr sz="850" b="0" i="0">
                <a:solidFill>
                  <a:srgbClr val="14142B"/>
                </a:solidFill>
                <a:latin typeface="Calibri"/>
              </a:rPr>
              <a:t>768-d vector (e5)</a:t>
            </a:r>
          </a:p>
        </p:txBody>
      </p:sp>
      <p:sp>
        <p:nvSpPr>
          <p:cNvPr id="31" name="TextBox 30"/>
          <p:cNvSpPr txBox="1"/>
          <p:nvPr/>
        </p:nvSpPr>
        <p:spPr>
          <a:xfrm>
            <a:off x="7039051"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32" name="Rounded Rectangle 31"/>
          <p:cNvSpPr/>
          <p:nvPr/>
        </p:nvSpPr>
        <p:spPr>
          <a:xfrm>
            <a:off x="7194499"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67651"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Score</a:t>
            </a:r>
          </a:p>
          <a:p>
            <a:pPr algn="ctr">
              <a:spcBef>
                <a:spcPts val="0"/>
              </a:spcBef>
              <a:spcAft>
                <a:spcPts val="600"/>
              </a:spcAft>
            </a:pPr>
            <a:r>
              <a:rPr sz="850" b="0" i="0">
                <a:solidFill>
                  <a:srgbClr val="14142B"/>
                </a:solidFill>
                <a:latin typeface="Calibri"/>
              </a:rPr>
              <a:t>cosine vs every snippet</a:t>
            </a:r>
          </a:p>
        </p:txBody>
      </p:sp>
      <p:sp>
        <p:nvSpPr>
          <p:cNvPr id="34" name="TextBox 33"/>
          <p:cNvSpPr txBox="1"/>
          <p:nvPr/>
        </p:nvSpPr>
        <p:spPr>
          <a:xfrm>
            <a:off x="9065361"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35" name="Rounded Rectangle 34"/>
          <p:cNvSpPr/>
          <p:nvPr/>
        </p:nvSpPr>
        <p:spPr>
          <a:xfrm>
            <a:off x="9220809" y="5833872"/>
            <a:ext cx="1861718" cy="365760"/>
          </a:xfrm>
          <a:prstGeom prst="roundRect">
            <a:avLst>
              <a:gd name="adj" fmla="val 50000"/>
            </a:avLst>
          </a:prstGeom>
          <a:solidFill>
            <a:srgbClr val="D9A441"/>
          </a:solidFill>
          <a:ln w="12700">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3961"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Top hit</a:t>
            </a:r>
          </a:p>
          <a:p>
            <a:pPr algn="ctr">
              <a:spcBef>
                <a:spcPts val="0"/>
              </a:spcBef>
              <a:spcAft>
                <a:spcPts val="600"/>
              </a:spcAft>
            </a:pPr>
            <a:r>
              <a:rPr sz="850" b="0" i="0">
                <a:solidFill>
                  <a:srgbClr val="14142B"/>
                </a:solidFill>
                <a:latin typeface="Calibri"/>
              </a:rPr>
              <a:t>[two_sum]</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Rounded Rectangle 2"/>
          <p:cNvSpPr/>
          <p:nvPr/>
        </p:nvSpPr>
        <p:spPr>
          <a:xfrm>
            <a:off x="841248" y="1874519"/>
            <a:ext cx="6720840" cy="2788920"/>
          </a:xfrm>
          <a:prstGeom prst="roundRect">
            <a:avLst>
              <a:gd name="adj" fmla="val 3500"/>
            </a:avLst>
          </a:prstGeom>
          <a:solidFill>
            <a:srgbClr val="1C1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2103120"/>
            <a:ext cx="128016" cy="128016"/>
          </a:xfrm>
          <a:prstGeom prst="ellipse">
            <a:avLst/>
          </a:prstGeom>
          <a:solidFill>
            <a:srgbClr val="E06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353312" y="2103120"/>
            <a:ext cx="128016" cy="128016"/>
          </a:xfrm>
          <a:prstGeom prst="ellipse">
            <a:avLst/>
          </a:prstGeom>
          <a:solidFill>
            <a:srgbClr val="E8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609344" y="2103120"/>
            <a:ext cx="128016" cy="128016"/>
          </a:xfrm>
          <a:prstGeom prst="ellipse">
            <a:avLst/>
          </a:prstGeom>
          <a:solidFill>
            <a:srgbClr val="7BC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61288" y="2468879"/>
            <a:ext cx="6080759" cy="2011679"/>
          </a:xfrm>
          <a:prstGeom prst="rect">
            <a:avLst/>
          </a:prstGeom>
          <a:noFill/>
        </p:spPr>
        <p:txBody>
          <a:bodyPr wrap="square" lIns="0" rIns="0" tIns="0" bIns="0">
            <a:spAutoFit/>
          </a:bodyPr>
          <a:lstStyle/>
          <a:p>
            <a:pPr algn="l">
              <a:spcBef>
                <a:spcPts val="0"/>
              </a:spcBef>
              <a:spcAft>
                <a:spcPts val="500"/>
              </a:spcAft>
            </a:pPr>
            <a:r>
              <a:rPr sz="1200" b="0" i="0">
                <a:solidFill>
                  <a:srgbClr val="9C94B8"/>
                </a:solidFill>
                <a:latin typeface="Courier New"/>
              </a:rPr>
              <a:t>$ python -m prism.cli demo --backend hashing</a:t>
            </a:r>
          </a:p>
          <a:p>
            <a:pPr algn="l">
              <a:spcBef>
                <a:spcPts val="0"/>
              </a:spcBef>
              <a:spcAft>
                <a:spcPts val="500"/>
              </a:spcAft>
            </a:pPr>
            <a:r>
              <a:rPr sz="1200" b="0" i="0">
                <a:solidFill>
                  <a:srgbClr val="9C94B8"/>
                </a:solidFill>
                <a:latin typeface="Courier New"/>
              </a:rPr>
              <a:t>[prism-demo] embedding backend: offline HashingBackend</a:t>
            </a:r>
          </a:p>
          <a:p>
            <a:pPr algn="l">
              <a:spcBef>
                <a:spcPts val="0"/>
              </a:spcBef>
              <a:spcAft>
                <a:spcPts val="500"/>
              </a:spcAft>
            </a:pPr>
            <a:r>
              <a:rPr sz="1200" b="0" i="0">
                <a:solidFill>
                  <a:srgbClr val="9C94B8"/>
                </a:solidFill>
                <a:latin typeface="Courier New"/>
              </a:rPr>
              <a:t> </a:t>
            </a:r>
          </a:p>
          <a:p>
            <a:pPr algn="l">
              <a:spcBef>
                <a:spcPts val="0"/>
              </a:spcBef>
              <a:spcAft>
                <a:spcPts val="500"/>
              </a:spcAft>
            </a:pPr>
            <a:r>
              <a:rPr sz="1200" b="0" i="0">
                <a:solidFill>
                  <a:srgbClr val="EFECF9"/>
                </a:solidFill>
                <a:latin typeface="Courier New"/>
              </a:rPr>
              <a:t>Q: find two numbers that sum to a target</a:t>
            </a:r>
          </a:p>
          <a:p>
            <a:pPr algn="l">
              <a:spcBef>
                <a:spcPts val="0"/>
              </a:spcBef>
              <a:spcAft>
                <a:spcPts val="500"/>
              </a:spcAft>
            </a:pPr>
            <a:r>
              <a:rPr sz="1200" b="0" i="0">
                <a:solidFill>
                  <a:srgbClr val="E8C17A"/>
                </a:solidFill>
                <a:latin typeface="Courier New"/>
              </a:rPr>
              <a:t>  1. [two_sum]         score=0.3810</a:t>
            </a:r>
          </a:p>
          <a:p>
            <a:pPr algn="l">
              <a:spcBef>
                <a:spcPts val="0"/>
              </a:spcBef>
              <a:spcAft>
                <a:spcPts val="500"/>
              </a:spcAft>
            </a:pPr>
            <a:r>
              <a:rPr sz="1200" b="0" i="0">
                <a:solidFill>
                  <a:srgbClr val="9C94B8"/>
                </a:solidFill>
                <a:latin typeface="Courier New"/>
              </a:rPr>
              <a:t>  2. [binary_search]   score=0.1483</a:t>
            </a:r>
          </a:p>
          <a:p>
            <a:pPr algn="l">
              <a:spcBef>
                <a:spcPts val="0"/>
              </a:spcBef>
              <a:spcAft>
                <a:spcPts val="500"/>
              </a:spcAft>
            </a:pPr>
            <a:r>
              <a:rPr sz="1200" b="0" i="0">
                <a:solidFill>
                  <a:srgbClr val="9C94B8"/>
                </a:solidFill>
                <a:latin typeface="Courier New"/>
              </a:rPr>
              <a:t> </a:t>
            </a:r>
          </a:p>
          <a:p>
            <a:pPr algn="l">
              <a:spcBef>
                <a:spcPts val="0"/>
              </a:spcBef>
              <a:spcAft>
                <a:spcPts val="500"/>
              </a:spcAft>
            </a:pPr>
            <a:r>
              <a:rPr sz="1200" b="1" i="0">
                <a:solidFill>
                  <a:srgbClr val="8FD9A8"/>
                </a:solidFill>
                <a:latin typeface="Courier New"/>
              </a:rPr>
              <a:t>mean query latency: 0.03 ms (31584 q/s)</a:t>
            </a:r>
          </a:p>
        </p:txBody>
      </p:sp>
      <p:sp>
        <p:nvSpPr>
          <p:cNvPr id="8" name="Rounded Rectangle 7"/>
          <p:cNvSpPr/>
          <p:nvPr/>
        </p:nvSpPr>
        <p:spPr>
          <a:xfrm>
            <a:off x="7836408" y="1874519"/>
            <a:ext cx="3520439" cy="125730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73568" y="2039112"/>
            <a:ext cx="3246120" cy="928116"/>
          </a:xfrm>
          <a:prstGeom prst="rect">
            <a:avLst/>
          </a:prstGeom>
          <a:noFill/>
        </p:spPr>
        <p:txBody>
          <a:bodyPr wrap="square" lIns="0" rIns="0" tIns="0" bIns="0" anchor="ctr">
            <a:spAutoFit/>
          </a:bodyPr>
          <a:lstStyle/>
          <a:p>
            <a:pPr algn="ctr">
              <a:spcBef>
                <a:spcPts val="0"/>
              </a:spcBef>
              <a:spcAft>
                <a:spcPts val="200"/>
              </a:spcAft>
            </a:pPr>
            <a:r>
              <a:rPr sz="2800" b="1" i="0">
                <a:solidFill>
                  <a:srgbClr val="6D28D9"/>
                </a:solidFill>
                <a:latin typeface="Calibri"/>
              </a:rPr>
              <a:t>&lt; 0.1 ms</a:t>
            </a:r>
          </a:p>
          <a:p>
            <a:pPr algn="ctr">
              <a:spcBef>
                <a:spcPts val="0"/>
              </a:spcBef>
              <a:spcAft>
                <a:spcPts val="0"/>
              </a:spcAft>
            </a:pPr>
            <a:r>
              <a:rPr sz="1100" b="0" i="0">
                <a:solidFill>
                  <a:srgbClr val="6B6B76"/>
                </a:solidFill>
                <a:latin typeface="Calibri"/>
              </a:rPr>
              <a:t>per query, offline demo backend</a:t>
            </a:r>
          </a:p>
        </p:txBody>
      </p:sp>
      <p:sp>
        <p:nvSpPr>
          <p:cNvPr id="10" name="Rounded Rectangle 9"/>
          <p:cNvSpPr/>
          <p:nvPr/>
        </p:nvSpPr>
        <p:spPr>
          <a:xfrm>
            <a:off x="7836408" y="3406139"/>
            <a:ext cx="3520439" cy="125730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73568" y="3570732"/>
            <a:ext cx="3246120" cy="928116"/>
          </a:xfrm>
          <a:prstGeom prst="rect">
            <a:avLst/>
          </a:prstGeom>
          <a:noFill/>
        </p:spPr>
        <p:txBody>
          <a:bodyPr wrap="square" lIns="0" rIns="0" tIns="0" bIns="0" anchor="ctr">
            <a:spAutoFit/>
          </a:bodyPr>
          <a:lstStyle/>
          <a:p>
            <a:pPr algn="ctr">
              <a:spcBef>
                <a:spcPts val="0"/>
              </a:spcBef>
              <a:spcAft>
                <a:spcPts val="200"/>
              </a:spcAft>
            </a:pPr>
            <a:r>
              <a:rPr sz="2800" b="1" i="0">
                <a:solidFill>
                  <a:srgbClr val="6D28D9"/>
                </a:solidFill>
                <a:latin typeface="Calibri"/>
              </a:rPr>
              <a:t>84 min</a:t>
            </a:r>
          </a:p>
          <a:p>
            <a:pPr algn="ctr">
              <a:spcBef>
                <a:spcPts val="0"/>
              </a:spcBef>
              <a:spcAft>
                <a:spcPts val="0"/>
              </a:spcAft>
            </a:pPr>
            <a:r>
              <a:rPr sz="1100" b="0" i="0">
                <a:solidFill>
                  <a:srgbClr val="6B6B76"/>
                </a:solidFill>
                <a:latin typeface="Calibri"/>
              </a:rPr>
              <a:t>full real eval, e5-base-v2</a:t>
            </a:r>
          </a:p>
          <a:p>
            <a:pPr algn="ctr">
              <a:spcBef>
                <a:spcPts val="0"/>
              </a:spcBef>
              <a:spcAft>
                <a:spcPts val="0"/>
              </a:spcAft>
            </a:pPr>
            <a:r>
              <a:rPr sz="1100" b="0" i="0">
                <a:solidFill>
                  <a:srgbClr val="6B6B76"/>
                </a:solidFill>
                <a:latin typeface="Calibri"/>
              </a:rPr>
              <a:t>12,530 texts on a free Kaggle CPU</a:t>
            </a:r>
          </a:p>
        </p:txBody>
      </p:sp>
      <p:sp>
        <p:nvSpPr>
          <p:cNvPr id="12" name="TextBox 11"/>
          <p:cNvSpPr txBox="1"/>
          <p:nvPr/>
        </p:nvSpPr>
        <p:spPr>
          <a:xfrm>
            <a:off x="841248" y="4636007"/>
            <a:ext cx="10515600" cy="256032"/>
          </a:xfrm>
          <a:prstGeom prst="rect">
            <a:avLst/>
          </a:prstGeom>
          <a:noFill/>
        </p:spPr>
        <p:txBody>
          <a:bodyPr wrap="square" lIns="0" rIns="0" tIns="0" bIns="0">
            <a:spAutoFit/>
          </a:bodyPr>
          <a:lstStyle/>
          <a:p>
            <a:pPr algn="l">
              <a:spcBef>
                <a:spcPts val="0"/>
              </a:spcBef>
              <a:spcAft>
                <a:spcPts val="600"/>
              </a:spcAft>
            </a:pPr>
            <a:r>
              <a:rPr sz="1050" b="1" i="0">
                <a:solidFill>
                  <a:srgbClr val="6D28D9"/>
                </a:solidFill>
                <a:latin typeface="Calibri"/>
              </a:rPr>
              <a:t>3 more behavioural queries, top-1 hits on the same corpus</a:t>
            </a:r>
          </a:p>
        </p:txBody>
      </p:sp>
      <p:sp>
        <p:nvSpPr>
          <p:cNvPr id="13" name="Rounded Rectangle 12"/>
          <p:cNvSpPr/>
          <p:nvPr/>
        </p:nvSpPr>
        <p:spPr>
          <a:xfrm>
            <a:off x="841248" y="4892040"/>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498347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“check if a string is a palindrome”</a:t>
            </a:r>
          </a:p>
        </p:txBody>
      </p:sp>
      <p:sp>
        <p:nvSpPr>
          <p:cNvPr id="15" name="TextBox 14"/>
          <p:cNvSpPr txBox="1"/>
          <p:nvPr/>
        </p:nvSpPr>
        <p:spPr>
          <a:xfrm>
            <a:off x="987552" y="5422392"/>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is_palindrome</a:t>
            </a:r>
          </a:p>
          <a:p>
            <a:pPr algn="l">
              <a:spcBef>
                <a:spcPts val="0"/>
              </a:spcBef>
              <a:spcAft>
                <a:spcPts val="0"/>
              </a:spcAft>
            </a:pPr>
            <a:r>
              <a:rPr sz="1000" b="0" i="0">
                <a:solidFill>
                  <a:srgbClr val="6B6B76"/>
                </a:solidFill>
                <a:latin typeface="Calibri"/>
              </a:rPr>
              <a:t>score  0.44</a:t>
            </a:r>
          </a:p>
        </p:txBody>
      </p:sp>
      <p:sp>
        <p:nvSpPr>
          <p:cNvPr id="16" name="Rounded Rectangle 15"/>
          <p:cNvSpPr/>
          <p:nvPr/>
        </p:nvSpPr>
        <p:spPr>
          <a:xfrm>
            <a:off x="4422648" y="4892040"/>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8952" y="498347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“shortest path in an unweighted graph”</a:t>
            </a:r>
          </a:p>
        </p:txBody>
      </p:sp>
      <p:sp>
        <p:nvSpPr>
          <p:cNvPr id="18" name="TextBox 17"/>
          <p:cNvSpPr txBox="1"/>
          <p:nvPr/>
        </p:nvSpPr>
        <p:spPr>
          <a:xfrm>
            <a:off x="4568952" y="5422392"/>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bfs</a:t>
            </a:r>
          </a:p>
          <a:p>
            <a:pPr algn="l">
              <a:spcBef>
                <a:spcPts val="0"/>
              </a:spcBef>
              <a:spcAft>
                <a:spcPts val="0"/>
              </a:spcAft>
            </a:pPr>
            <a:r>
              <a:rPr sz="1000" b="0" i="0">
                <a:solidFill>
                  <a:srgbClr val="6B6B76"/>
                </a:solidFill>
                <a:latin typeface="Calibri"/>
              </a:rPr>
              <a:t>score  0.15</a:t>
            </a:r>
          </a:p>
        </p:txBody>
      </p:sp>
      <p:sp>
        <p:nvSpPr>
          <p:cNvPr id="19" name="Rounded Rectangle 18"/>
          <p:cNvSpPr/>
          <p:nvPr/>
        </p:nvSpPr>
        <p:spPr>
          <a:xfrm>
            <a:off x="8004048" y="4892040"/>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0352" y="498347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“count word frequencies in a text”</a:t>
            </a:r>
          </a:p>
        </p:txBody>
      </p:sp>
      <p:sp>
        <p:nvSpPr>
          <p:cNvPr id="21" name="TextBox 20"/>
          <p:cNvSpPr txBox="1"/>
          <p:nvPr/>
        </p:nvSpPr>
        <p:spPr>
          <a:xfrm>
            <a:off x="8150352" y="5422392"/>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word_count</a:t>
            </a:r>
          </a:p>
          <a:p>
            <a:pPr algn="l">
              <a:spcBef>
                <a:spcPts val="0"/>
              </a:spcBef>
              <a:spcAft>
                <a:spcPts val="0"/>
              </a:spcAft>
            </a:pPr>
            <a:r>
              <a:rPr sz="1000" b="0" i="0">
                <a:solidFill>
                  <a:srgbClr val="6B6B76"/>
                </a:solidFill>
                <a:latin typeface="Calibri"/>
              </a:rPr>
              <a:t>score  0.48</a:t>
            </a:r>
          </a:p>
        </p:txBody>
      </p:sp>
      <p:sp>
        <p:nvSpPr>
          <p:cNvPr id="22" name="TextBox 21"/>
          <p:cNvSpPr txBox="1"/>
          <p:nvPr/>
        </p:nvSpPr>
        <p:spPr>
          <a:xfrm>
            <a:off x="841248" y="6035040"/>
            <a:ext cx="10515600" cy="274320"/>
          </a:xfrm>
          <a:prstGeom prst="rect">
            <a:avLst/>
          </a:prstGeom>
          <a:noFill/>
        </p:spPr>
        <p:txBody>
          <a:bodyPr wrap="square" lIns="0" rIns="0" tIns="0" bIns="0">
            <a:spAutoFit/>
          </a:bodyPr>
          <a:lstStyle/>
          <a:p>
            <a:pPr algn="l">
              <a:spcBef>
                <a:spcPts val="0"/>
              </a:spcBef>
              <a:spcAft>
                <a:spcPts val="600"/>
              </a:spcAft>
            </a:pPr>
            <a:r>
              <a:rPr sz="1050" b="0" i="1">
                <a:solidFill>
                  <a:srgbClr val="6B6B76"/>
                </a:solidFill>
                <a:latin typeface="Calibri"/>
              </a:rPr>
              <a:t>Offline demo (hashing backend, no downloads): same pipeline and ranking code as the leaderboard run — the submitted model swaps in by config.</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Rounded Rectangle 2"/>
          <p:cNvSpPr/>
          <p:nvPr/>
        </p:nvSpPr>
        <p:spPr>
          <a:xfrm>
            <a:off x="841248" y="1874519"/>
            <a:ext cx="10515600" cy="88392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 y="20878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1</a:t>
            </a:r>
          </a:p>
        </p:txBody>
      </p:sp>
      <p:sp>
        <p:nvSpPr>
          <p:cNvPr id="5" name="TextBox 4"/>
          <p:cNvSpPr txBox="1"/>
          <p:nvPr/>
        </p:nvSpPr>
        <p:spPr>
          <a:xfrm>
            <a:off x="1709928" y="2002536"/>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Core ML &amp; evaluation</a:t>
            </a:r>
          </a:p>
          <a:p>
            <a:pPr algn="l">
              <a:lnSpc>
                <a:spcPct val="112000"/>
              </a:lnSpc>
              <a:spcBef>
                <a:spcPts val="0"/>
              </a:spcBef>
              <a:spcAft>
                <a:spcPts val="600"/>
              </a:spcAft>
            </a:pPr>
            <a:r>
              <a:rPr sz="950" b="0" i="1">
                <a:solidFill>
                  <a:srgbClr val="6B6B76"/>
                </a:solidFill>
                <a:latin typeface="Calibri"/>
              </a:rPr>
              <a:t>MTEB is the same library the leaderboard runs; picking it removes any doubt about metric parity.</a:t>
            </a:r>
          </a:p>
        </p:txBody>
      </p:sp>
      <p:sp>
        <p:nvSpPr>
          <p:cNvPr id="6" name="TextBox 5"/>
          <p:cNvSpPr txBox="1"/>
          <p:nvPr/>
        </p:nvSpPr>
        <p:spPr>
          <a:xfrm>
            <a:off x="4087368" y="2002536"/>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Python 3.11   ·   PyTorch (CPU)   ·   sentence-transformers   ·   MTEB (official scorer)</a:t>
            </a:r>
          </a:p>
        </p:txBody>
      </p:sp>
      <p:sp>
        <p:nvSpPr>
          <p:cNvPr id="7" name="Rounded Rectangle 6"/>
          <p:cNvSpPr/>
          <p:nvPr/>
        </p:nvSpPr>
        <p:spPr>
          <a:xfrm>
            <a:off x="841248" y="2941320"/>
            <a:ext cx="10515600" cy="88392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69848" y="31546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2</a:t>
            </a:r>
          </a:p>
        </p:txBody>
      </p:sp>
      <p:sp>
        <p:nvSpPr>
          <p:cNvPr id="9" name="TextBox 8"/>
          <p:cNvSpPr txBox="1"/>
          <p:nvPr/>
        </p:nvSpPr>
        <p:spPr>
          <a:xfrm>
            <a:off x="1709928" y="3069336"/>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Retrieval signals</a:t>
            </a:r>
          </a:p>
          <a:p>
            <a:pPr algn="l">
              <a:lnSpc>
                <a:spcPct val="112000"/>
              </a:lnSpc>
              <a:spcBef>
                <a:spcPts val="0"/>
              </a:spcBef>
              <a:spcAft>
                <a:spcPts val="600"/>
              </a:spcAft>
            </a:pPr>
            <a:r>
              <a:rPr sz="950" b="0" i="1">
                <a:solidFill>
                  <a:srgbClr val="6B6B76"/>
                </a:solidFill>
                <a:latin typeface="Calibri"/>
              </a:rPr>
              <a:t>Stdlib `ast` avoids a third-party parser dependency — the eval box does not need to install one.</a:t>
            </a:r>
          </a:p>
        </p:txBody>
      </p:sp>
      <p:sp>
        <p:nvSpPr>
          <p:cNvPr id="10" name="TextBox 9"/>
          <p:cNvSpPr txBox="1"/>
          <p:nvPr/>
        </p:nvSpPr>
        <p:spPr>
          <a:xfrm>
            <a:off x="4087368" y="3069336"/>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NumPy   ·   rank-bm25 (sparse/BM25)   ·   Python `ast` (structural normalization)</a:t>
            </a:r>
          </a:p>
        </p:txBody>
      </p:sp>
      <p:sp>
        <p:nvSpPr>
          <p:cNvPr id="11" name="Rounded Rectangle 10"/>
          <p:cNvSpPr/>
          <p:nvPr/>
        </p:nvSpPr>
        <p:spPr>
          <a:xfrm>
            <a:off x="841248" y="4008119"/>
            <a:ext cx="10515600" cy="88392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9848" y="42214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3</a:t>
            </a:r>
          </a:p>
        </p:txBody>
      </p:sp>
      <p:sp>
        <p:nvSpPr>
          <p:cNvPr id="13" name="TextBox 12"/>
          <p:cNvSpPr txBox="1"/>
          <p:nvPr/>
        </p:nvSpPr>
        <p:spPr>
          <a:xfrm>
            <a:off x="1709928" y="4136135"/>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Reproducibility &amp; infra</a:t>
            </a:r>
          </a:p>
          <a:p>
            <a:pPr algn="l">
              <a:lnSpc>
                <a:spcPct val="112000"/>
              </a:lnSpc>
              <a:spcBef>
                <a:spcPts val="0"/>
              </a:spcBef>
              <a:spcAft>
                <a:spcPts val="600"/>
              </a:spcAft>
            </a:pPr>
            <a:r>
              <a:rPr sz="950" b="0" i="1">
                <a:solidFill>
                  <a:srgbClr val="6B6B76"/>
                </a:solidFill>
                <a:latin typeface="Calibri"/>
              </a:rPr>
              <a:t>The default `docker run` runs the whole test suite and demo with no HuggingFace round-trip needed.</a:t>
            </a:r>
          </a:p>
        </p:txBody>
      </p:sp>
      <p:sp>
        <p:nvSpPr>
          <p:cNvPr id="14" name="TextBox 13"/>
          <p:cNvSpPr txBox="1"/>
          <p:nvPr/>
        </p:nvSpPr>
        <p:spPr>
          <a:xfrm>
            <a:off x="4087368" y="4136135"/>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Docker   ·   pytest — 78 offline tests   ·   Makefile: one command per step</a:t>
            </a:r>
          </a:p>
        </p:txBody>
      </p:sp>
      <p:sp>
        <p:nvSpPr>
          <p:cNvPr id="15" name="Rounded Rectangle 14"/>
          <p:cNvSpPr/>
          <p:nvPr/>
        </p:nvSpPr>
        <p:spPr>
          <a:xfrm>
            <a:off x="841248" y="4937759"/>
            <a:ext cx="10515600" cy="105156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5056631"/>
            <a:ext cx="9966960" cy="274320"/>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BY THE NUMBERS</a:t>
            </a:r>
          </a:p>
        </p:txBody>
      </p:sp>
      <p:sp>
        <p:nvSpPr>
          <p:cNvPr id="17" name="TextBox 16"/>
          <p:cNvSpPr txBox="1"/>
          <p:nvPr/>
        </p:nvSpPr>
        <p:spPr>
          <a:xfrm>
            <a:off x="1115568"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78</a:t>
            </a:r>
          </a:p>
          <a:p>
            <a:pPr algn="ctr">
              <a:spcBef>
                <a:spcPts val="0"/>
              </a:spcBef>
              <a:spcAft>
                <a:spcPts val="600"/>
              </a:spcAft>
            </a:pPr>
            <a:r>
              <a:rPr sz="1000" b="0" i="0">
                <a:solidFill>
                  <a:srgbClr val="E3DAF7"/>
                </a:solidFill>
                <a:latin typeface="Calibri"/>
              </a:rPr>
              <a:t>offline tests</a:t>
            </a:r>
          </a:p>
        </p:txBody>
      </p:sp>
      <p:sp>
        <p:nvSpPr>
          <p:cNvPr id="18" name="TextBox 17"/>
          <p:cNvSpPr txBox="1"/>
          <p:nvPr/>
        </p:nvSpPr>
        <p:spPr>
          <a:xfrm>
            <a:off x="3154680"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10</a:t>
            </a:r>
          </a:p>
          <a:p>
            <a:pPr algn="ctr">
              <a:spcBef>
                <a:spcPts val="0"/>
              </a:spcBef>
              <a:spcAft>
                <a:spcPts val="600"/>
              </a:spcAft>
            </a:pPr>
            <a:r>
              <a:rPr sz="1000" b="0" i="0">
                <a:solidFill>
                  <a:srgbClr val="E3DAF7"/>
                </a:solidFill>
                <a:latin typeface="Calibri"/>
              </a:rPr>
              <a:t>configs measured</a:t>
            </a:r>
          </a:p>
        </p:txBody>
      </p:sp>
      <p:sp>
        <p:nvSpPr>
          <p:cNvPr id="19" name="TextBox 18"/>
          <p:cNvSpPr txBox="1"/>
          <p:nvPr/>
        </p:nvSpPr>
        <p:spPr>
          <a:xfrm>
            <a:off x="5193792"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a:t>
            </a:r>
          </a:p>
          <a:p>
            <a:pPr algn="ctr">
              <a:spcBef>
                <a:spcPts val="0"/>
              </a:spcBef>
              <a:spcAft>
                <a:spcPts val="600"/>
              </a:spcAft>
            </a:pPr>
            <a:r>
              <a:rPr sz="1000" b="0" i="0">
                <a:solidFill>
                  <a:srgbClr val="E3DAF7"/>
                </a:solidFill>
                <a:latin typeface="Calibri"/>
              </a:rPr>
              <a:t>docker run</a:t>
            </a:r>
          </a:p>
        </p:txBody>
      </p:sp>
      <p:sp>
        <p:nvSpPr>
          <p:cNvPr id="20" name="TextBox 19"/>
          <p:cNvSpPr txBox="1"/>
          <p:nvPr/>
        </p:nvSpPr>
        <p:spPr>
          <a:xfrm>
            <a:off x="7232903"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&lt; 0.1 ms</a:t>
            </a:r>
          </a:p>
          <a:p>
            <a:pPr algn="ctr">
              <a:spcBef>
                <a:spcPts val="0"/>
              </a:spcBef>
              <a:spcAft>
                <a:spcPts val="600"/>
              </a:spcAft>
            </a:pPr>
            <a:r>
              <a:rPr sz="1000" b="0" i="0">
                <a:solidFill>
                  <a:srgbClr val="E3DAF7"/>
                </a:solidFill>
                <a:latin typeface="Calibri"/>
              </a:rPr>
              <a:t>offline demo latency</a:t>
            </a:r>
          </a:p>
        </p:txBody>
      </p:sp>
      <p:sp>
        <p:nvSpPr>
          <p:cNvPr id="21" name="TextBox 20"/>
          <p:cNvSpPr txBox="1"/>
          <p:nvPr/>
        </p:nvSpPr>
        <p:spPr>
          <a:xfrm>
            <a:off x="9272016"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100%</a:t>
            </a:r>
          </a:p>
          <a:p>
            <a:pPr algn="ctr">
              <a:spcBef>
                <a:spcPts val="0"/>
              </a:spcBef>
              <a:spcAft>
                <a:spcPts val="600"/>
              </a:spcAft>
            </a:pPr>
            <a:r>
              <a:rPr sz="1000" b="0" i="0">
                <a:solidFill>
                  <a:srgbClr val="E3DAF7"/>
                </a:solidFill>
                <a:latin typeface="Calibri"/>
              </a:rPr>
              <a:t>CPU inference</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Rounded Rectangle 2"/>
          <p:cNvSpPr/>
          <p:nvPr/>
        </p:nvSpPr>
        <p:spPr>
          <a:xfrm>
            <a:off x="841248" y="1874519"/>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6988" y="2080260"/>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1</a:t>
            </a:r>
          </a:p>
        </p:txBody>
      </p:sp>
      <p:sp>
        <p:nvSpPr>
          <p:cNvPr id="5" name="TextBox 4"/>
          <p:cNvSpPr txBox="1"/>
          <p:nvPr/>
        </p:nvSpPr>
        <p:spPr>
          <a:xfrm>
            <a:off x="1709928" y="2075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Faster onboarding</a:t>
            </a:r>
          </a:p>
        </p:txBody>
      </p:sp>
      <p:sp>
        <p:nvSpPr>
          <p:cNvPr id="6" name="Rounded Rectangle 5"/>
          <p:cNvSpPr/>
          <p:nvPr/>
        </p:nvSpPr>
        <p:spPr>
          <a:xfrm>
            <a:off x="1709928" y="2423160"/>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09928" y="2423160"/>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new engineers</a:t>
            </a:r>
          </a:p>
        </p:txBody>
      </p:sp>
      <p:sp>
        <p:nvSpPr>
          <p:cNvPr id="8" name="TextBox 7"/>
          <p:cNvSpPr txBox="1"/>
          <p:nvPr/>
        </p:nvSpPr>
        <p:spPr>
          <a:xfrm>
            <a:off x="1097280" y="2743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Search unfamiliar code by describing behavior, not memorized function names.</a:t>
            </a:r>
          </a:p>
        </p:txBody>
      </p:sp>
      <p:sp>
        <p:nvSpPr>
          <p:cNvPr id="9" name="Rounded Rectangle 8"/>
          <p:cNvSpPr/>
          <p:nvPr/>
        </p:nvSpPr>
        <p:spPr>
          <a:xfrm>
            <a:off x="1097280" y="3154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191256"/>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11" name="TextBox 10"/>
          <p:cNvSpPr txBox="1"/>
          <p:nvPr/>
        </p:nvSpPr>
        <p:spPr>
          <a:xfrm>
            <a:off x="1243584" y="3374135"/>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“where do we retry a failed payment?”</a:t>
            </a:r>
          </a:p>
        </p:txBody>
      </p:sp>
      <p:sp>
        <p:nvSpPr>
          <p:cNvPr id="12" name="TextBox 11"/>
          <p:cNvSpPr txBox="1"/>
          <p:nvPr/>
        </p:nvSpPr>
        <p:spPr>
          <a:xfrm>
            <a:off x="1097280" y="3611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Days-to-productivity → hours.</a:t>
            </a:r>
          </a:p>
        </p:txBody>
      </p:sp>
      <p:sp>
        <p:nvSpPr>
          <p:cNvPr id="13" name="Rounded Rectangle 12"/>
          <p:cNvSpPr/>
          <p:nvPr/>
        </p:nvSpPr>
        <p:spPr>
          <a:xfrm>
            <a:off x="6236207" y="1874519"/>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7" y="2080260"/>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2</a:t>
            </a:r>
          </a:p>
        </p:txBody>
      </p:sp>
      <p:sp>
        <p:nvSpPr>
          <p:cNvPr id="15" name="TextBox 14"/>
          <p:cNvSpPr txBox="1"/>
          <p:nvPr/>
        </p:nvSpPr>
        <p:spPr>
          <a:xfrm>
            <a:off x="7104888" y="2075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Agentic coding backend</a:t>
            </a:r>
          </a:p>
        </p:txBody>
      </p:sp>
      <p:sp>
        <p:nvSpPr>
          <p:cNvPr id="16" name="Rounded Rectangle 15"/>
          <p:cNvSpPr/>
          <p:nvPr/>
        </p:nvSpPr>
        <p:spPr>
          <a:xfrm>
            <a:off x="7104888" y="2423160"/>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04888" y="2423160"/>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AI coding agents</a:t>
            </a:r>
          </a:p>
        </p:txBody>
      </p:sp>
      <p:sp>
        <p:nvSpPr>
          <p:cNvPr id="18" name="TextBox 17"/>
          <p:cNvSpPr txBox="1"/>
          <p:nvPr/>
        </p:nvSpPr>
        <p:spPr>
          <a:xfrm>
            <a:off x="6492240" y="2743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A fast retrieval step an agent calls before it generates or edits code.</a:t>
            </a:r>
          </a:p>
        </p:txBody>
      </p:sp>
      <p:sp>
        <p:nvSpPr>
          <p:cNvPr id="19" name="Rounded Rectangle 18"/>
          <p:cNvSpPr/>
          <p:nvPr/>
        </p:nvSpPr>
        <p:spPr>
          <a:xfrm>
            <a:off x="6492240" y="3154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38544" y="3191256"/>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RETRIEVAL BUDGET</a:t>
            </a:r>
          </a:p>
        </p:txBody>
      </p:sp>
      <p:sp>
        <p:nvSpPr>
          <p:cNvPr id="21" name="TextBox 20"/>
          <p:cNvSpPr txBox="1"/>
          <p:nvPr/>
        </p:nvSpPr>
        <p:spPr>
          <a:xfrm>
            <a:off x="6638544" y="3374135"/>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one encoder pass per query, no LLM in the loop.</a:t>
            </a:r>
          </a:p>
        </p:txBody>
      </p:sp>
      <p:sp>
        <p:nvSpPr>
          <p:cNvPr id="22" name="TextBox 21"/>
          <p:cNvSpPr txBox="1"/>
          <p:nvPr/>
        </p:nvSpPr>
        <p:spPr>
          <a:xfrm>
            <a:off x="6492240" y="3611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Retrieval faster than generation, by design.</a:t>
            </a:r>
          </a:p>
        </p:txBody>
      </p:sp>
      <p:sp>
        <p:nvSpPr>
          <p:cNvPr id="23" name="Rounded Rectangle 22"/>
          <p:cNvSpPr/>
          <p:nvPr/>
        </p:nvSpPr>
        <p:spPr>
          <a:xfrm>
            <a:off x="841248" y="4160520"/>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46988" y="4366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3</a:t>
            </a:r>
          </a:p>
        </p:txBody>
      </p:sp>
      <p:sp>
        <p:nvSpPr>
          <p:cNvPr id="25" name="TextBox 24"/>
          <p:cNvSpPr txBox="1"/>
          <p:nvPr/>
        </p:nvSpPr>
        <p:spPr>
          <a:xfrm>
            <a:off x="1709928" y="4361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Code review &amp; audit</a:t>
            </a:r>
          </a:p>
        </p:txBody>
      </p:sp>
      <p:sp>
        <p:nvSpPr>
          <p:cNvPr id="26" name="Rounded Rectangle 25"/>
          <p:cNvSpPr/>
          <p:nvPr/>
        </p:nvSpPr>
        <p:spPr>
          <a:xfrm>
            <a:off x="1709928" y="4709159"/>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09928" y="4709159"/>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reviewers / security</a:t>
            </a:r>
          </a:p>
        </p:txBody>
      </p:sp>
      <p:sp>
        <p:nvSpPr>
          <p:cNvPr id="28" name="TextBox 27"/>
          <p:cNvSpPr txBox="1"/>
          <p:nvPr/>
        </p:nvSpPr>
        <p:spPr>
          <a:xfrm>
            <a:off x="1097280" y="5029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Locate every place a pattern or behavior appears — not just a grep match.</a:t>
            </a:r>
          </a:p>
        </p:txBody>
      </p:sp>
      <p:sp>
        <p:nvSpPr>
          <p:cNvPr id="29" name="Rounded Rectangle 28"/>
          <p:cNvSpPr/>
          <p:nvPr/>
        </p:nvSpPr>
        <p:spPr>
          <a:xfrm>
            <a:off x="1097280" y="5440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5477255"/>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31" name="TextBox 30"/>
          <p:cNvSpPr txBox="1"/>
          <p:nvPr/>
        </p:nvSpPr>
        <p:spPr>
          <a:xfrm>
            <a:off x="1243584" y="5660136"/>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“all endpoints that write user email unmasked”</a:t>
            </a:r>
          </a:p>
        </p:txBody>
      </p:sp>
      <p:sp>
        <p:nvSpPr>
          <p:cNvPr id="32" name="TextBox 31"/>
          <p:cNvSpPr txBox="1"/>
          <p:nvPr/>
        </p:nvSpPr>
        <p:spPr>
          <a:xfrm>
            <a:off x="1097280" y="5897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Finds behavioral clones grep misses.</a:t>
            </a:r>
          </a:p>
        </p:txBody>
      </p:sp>
      <p:sp>
        <p:nvSpPr>
          <p:cNvPr id="33" name="Rounded Rectangle 32"/>
          <p:cNvSpPr/>
          <p:nvPr/>
        </p:nvSpPr>
        <p:spPr>
          <a:xfrm>
            <a:off x="6236207" y="4160520"/>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7" y="4366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4</a:t>
            </a:r>
          </a:p>
        </p:txBody>
      </p:sp>
      <p:sp>
        <p:nvSpPr>
          <p:cNvPr id="35" name="TextBox 34"/>
          <p:cNvSpPr txBox="1"/>
          <p:nvPr/>
        </p:nvSpPr>
        <p:spPr>
          <a:xfrm>
            <a:off x="7104888" y="4361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Legacy modernization</a:t>
            </a:r>
          </a:p>
        </p:txBody>
      </p:sp>
      <p:sp>
        <p:nvSpPr>
          <p:cNvPr id="36" name="Rounded Rectangle 35"/>
          <p:cNvSpPr/>
          <p:nvPr/>
        </p:nvSpPr>
        <p:spPr>
          <a:xfrm>
            <a:off x="7104888" y="4709159"/>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4888" y="4709159"/>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platform teams (P1)</a:t>
            </a:r>
          </a:p>
        </p:txBody>
      </p:sp>
      <p:sp>
        <p:nvSpPr>
          <p:cNvPr id="38" name="TextBox 37"/>
          <p:cNvSpPr txBox="1"/>
          <p:nvPr/>
        </p:nvSpPr>
        <p:spPr>
          <a:xfrm>
            <a:off x="6492240" y="5029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Search &amp; compare behavior across many historical versions of the same code.</a:t>
            </a:r>
          </a:p>
        </p:txBody>
      </p:sp>
      <p:sp>
        <p:nvSpPr>
          <p:cNvPr id="39" name="Rounded Rectangle 38"/>
          <p:cNvSpPr/>
          <p:nvPr/>
        </p:nvSpPr>
        <p:spPr>
          <a:xfrm>
            <a:off x="6492240" y="5440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38544" y="5477255"/>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41" name="TextBox 40"/>
          <p:cNvSpPr txBox="1"/>
          <p:nvPr/>
        </p:nvSpPr>
        <p:spPr>
          <a:xfrm>
            <a:off x="6638544" y="5660136"/>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“auth check pre-v3.2 vs post-v3.2”</a:t>
            </a:r>
          </a:p>
        </p:txBody>
      </p:sp>
      <p:sp>
        <p:nvSpPr>
          <p:cNvPr id="42" name="TextBox 41"/>
          <p:cNvSpPr txBox="1"/>
          <p:nvPr/>
        </p:nvSpPr>
        <p:spPr>
          <a:xfrm>
            <a:off x="6492240" y="5897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Cross-version rebuilds cheap by design.</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Rounded Rectangle 2"/>
          <p:cNvSpPr/>
          <p:nvPr/>
        </p:nvSpPr>
        <p:spPr>
          <a:xfrm>
            <a:off x="841248" y="1874519"/>
            <a:ext cx="4663440" cy="4297680"/>
          </a:xfrm>
          <a:prstGeom prst="roundRect">
            <a:avLst>
              <a:gd name="adj" fmla="val 35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039112"/>
            <a:ext cx="4151375" cy="329184"/>
          </a:xfrm>
          <a:prstGeom prst="rect">
            <a:avLst/>
          </a:prstGeom>
          <a:noFill/>
        </p:spPr>
        <p:txBody>
          <a:bodyPr wrap="square" lIns="0" rIns="0" tIns="0" bIns="0">
            <a:spAutoFit/>
          </a:bodyPr>
          <a:lstStyle/>
          <a:p>
            <a:pPr algn="l">
              <a:spcBef>
                <a:spcPts val="0"/>
              </a:spcBef>
              <a:spcAft>
                <a:spcPts val="600"/>
              </a:spcAft>
            </a:pPr>
            <a:r>
              <a:rPr sz="1400" b="1" i="0">
                <a:solidFill>
                  <a:srgbClr val="6D28D9"/>
                </a:solidFill>
                <a:latin typeface="Calibri"/>
              </a:rPr>
              <a:t>Innovation highlights</a:t>
            </a:r>
          </a:p>
        </p:txBody>
      </p:sp>
      <p:sp>
        <p:nvSpPr>
          <p:cNvPr id="5" name="TextBox 4"/>
          <p:cNvSpPr txBox="1"/>
          <p:nvPr/>
        </p:nvSpPr>
        <p:spPr>
          <a:xfrm>
            <a:off x="1097280" y="2313432"/>
            <a:ext cx="4151375" cy="274320"/>
          </a:xfrm>
          <a:prstGeom prst="rect">
            <a:avLst/>
          </a:prstGeom>
          <a:noFill/>
        </p:spPr>
        <p:txBody>
          <a:bodyPr wrap="square" lIns="0" rIns="0" tIns="0" bIns="0">
            <a:spAutoFit/>
          </a:bodyPr>
          <a:lstStyle/>
          <a:p>
            <a:pPr algn="l">
              <a:lnSpc>
                <a:spcPct val="110000"/>
              </a:lnSpc>
              <a:spcBef>
                <a:spcPts val="0"/>
              </a:spcBef>
              <a:spcAft>
                <a:spcPts val="600"/>
              </a:spcAft>
            </a:pPr>
            <a:r>
              <a:rPr sz="1000" b="0" i="1">
                <a:solidFill>
                  <a:srgbClr val="6B6B76"/>
                </a:solidFill>
                <a:latin typeface="Calibri"/>
              </a:rPr>
              <a:t>Built and rigorously measured — kept only where the number agreed (see results →)</a:t>
            </a:r>
          </a:p>
        </p:txBody>
      </p:sp>
      <p:sp>
        <p:nvSpPr>
          <p:cNvPr id="6" name="TextBox 5"/>
          <p:cNvSpPr txBox="1"/>
          <p:nvPr/>
        </p:nvSpPr>
        <p:spPr>
          <a:xfrm>
            <a:off x="1097280" y="2651760"/>
            <a:ext cx="4151375" cy="1965960"/>
          </a:xfrm>
          <a:prstGeom prst="rect">
            <a:avLst/>
          </a:prstGeom>
          <a:noFill/>
        </p:spPr>
        <p:txBody>
          <a:bodyPr wrap="square" lIns="0" rIns="0" tIns="0" bIns="0">
            <a:spAutoFit/>
          </a:bodyPr>
          <a:lstStyle/>
          <a:p>
            <a:pPr algn="l">
              <a:lnSpc>
                <a:spcPct val="112000"/>
              </a:lnSpc>
              <a:spcBef>
                <a:spcPts val="0"/>
              </a:spcBef>
              <a:spcAft>
                <a:spcPts val="600"/>
              </a:spcAft>
            </a:pPr>
            <a:r>
              <a:rPr sz="1050" b="0" i="0">
                <a:solidFill>
                  <a:srgbClr val="33333D"/>
                </a:solidFill>
                <a:latin typeface="Calibri"/>
              </a:rPr>
              <a:t>—  Query→code compilation (code-flavored HyDE), LLM-free at eval time</a:t>
            </a:r>
          </a:p>
          <a:p>
            <a:pPr algn="l">
              <a:lnSpc>
                <a:spcPct val="112000"/>
              </a:lnSpc>
              <a:spcBef>
                <a:spcPts val="0"/>
              </a:spcBef>
              <a:spcAft>
                <a:spcPts val="600"/>
              </a:spcAft>
            </a:pPr>
            <a:r>
              <a:rPr sz="1050" b="0" i="0">
                <a:solidFill>
                  <a:srgbClr val="33333D"/>
                </a:solidFill>
                <a:latin typeface="Calibri"/>
              </a:rPr>
              <a:t>—  Multi-view snippet embedding: raw + AST-normalized + identifier bag</a:t>
            </a:r>
          </a:p>
          <a:p>
            <a:pPr algn="l">
              <a:lnSpc>
                <a:spcPct val="112000"/>
              </a:lnSpc>
              <a:spcBef>
                <a:spcPts val="0"/>
              </a:spcBef>
              <a:spcAft>
                <a:spcPts val="600"/>
              </a:spcAft>
            </a:pPr>
            <a:r>
              <a:rPr sz="1050" b="0" i="0">
                <a:solidFill>
                  <a:srgbClr val="33333D"/>
                </a:solidFill>
                <a:latin typeface="Calibri"/>
              </a:rPr>
              <a:t>—  Keyword front-loading: salient signals survive a 256-token tokenizer cap</a:t>
            </a:r>
          </a:p>
          <a:p>
            <a:pPr algn="l">
              <a:lnSpc>
                <a:spcPct val="112000"/>
              </a:lnSpc>
              <a:spcBef>
                <a:spcPts val="0"/>
              </a:spcBef>
              <a:spcAft>
                <a:spcPts val="600"/>
              </a:spcAft>
            </a:pPr>
            <a:r>
              <a:rPr sz="1050" b="0" i="0">
                <a:solidFill>
                  <a:srgbClr val="33333D"/>
                </a:solidFill>
                <a:latin typeface="Calibri"/>
              </a:rPr>
              <a:t>—  Stable-core + version-delta representation for cross-version retrieval</a:t>
            </a:r>
          </a:p>
          <a:p>
            <a:pPr algn="l">
              <a:lnSpc>
                <a:spcPct val="112000"/>
              </a:lnSpc>
              <a:spcBef>
                <a:spcPts val="0"/>
              </a:spcBef>
              <a:spcAft>
                <a:spcPts val="600"/>
              </a:spcAft>
            </a:pPr>
            <a:r>
              <a:rPr sz="1050" b="0" i="0">
                <a:solidFill>
                  <a:srgbClr val="33333D"/>
                </a:solidFill>
                <a:latin typeface="Calibri"/>
              </a:rPr>
              <a:t>—  Content-addressed versioned index — rebuilds only what changed</a:t>
            </a:r>
          </a:p>
        </p:txBody>
      </p:sp>
      <p:sp>
        <p:nvSpPr>
          <p:cNvPr id="7" name="Rounded Rectangle 6"/>
          <p:cNvSpPr/>
          <p:nvPr/>
        </p:nvSpPr>
        <p:spPr>
          <a:xfrm>
            <a:off x="950976" y="4754879"/>
            <a:ext cx="4443983" cy="137160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846319"/>
            <a:ext cx="4151375" cy="256032"/>
          </a:xfrm>
          <a:prstGeom prst="rect">
            <a:avLst/>
          </a:prstGeom>
          <a:noFill/>
        </p:spPr>
        <p:txBody>
          <a:bodyPr wrap="square" lIns="0" rIns="0" tIns="0" bIns="0">
            <a:spAutoFit/>
          </a:bodyPr>
          <a:lstStyle/>
          <a:p>
            <a:pPr algn="l">
              <a:spcBef>
                <a:spcPts val="0"/>
              </a:spcBef>
              <a:spcAft>
                <a:spcPts val="600"/>
              </a:spcAft>
            </a:pPr>
            <a:r>
              <a:rPr sz="850" b="1" i="0">
                <a:solidFill>
                  <a:srgbClr val="6D28D9"/>
                </a:solidFill>
                <a:latin typeface="Calibri"/>
              </a:rPr>
              <a:t>THE DISCIPLINE THAT PRODUCED THAT NUMBER</a:t>
            </a:r>
          </a:p>
        </p:txBody>
      </p:sp>
      <p:sp>
        <p:nvSpPr>
          <p:cNvPr id="9" name="Rounded Rectangle 8"/>
          <p:cNvSpPr/>
          <p:nvPr/>
        </p:nvSpPr>
        <p:spPr>
          <a:xfrm>
            <a:off x="1115568"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Propose</a:t>
            </a:r>
          </a:p>
          <a:p>
            <a:pPr algn="ctr">
              <a:lnSpc>
                <a:spcPct val="110000"/>
              </a:lnSpc>
              <a:spcBef>
                <a:spcPts val="0"/>
              </a:spcBef>
              <a:spcAft>
                <a:spcPts val="600"/>
              </a:spcAft>
            </a:pPr>
            <a:r>
              <a:rPr sz="800" b="0" i="0">
                <a:solidFill>
                  <a:srgbClr val="6B6B76"/>
                </a:solidFill>
                <a:latin typeface="Calibri"/>
              </a:rPr>
              <a:t>one config</a:t>
            </a:r>
          </a:p>
        </p:txBody>
      </p:sp>
      <p:sp>
        <p:nvSpPr>
          <p:cNvPr id="11" name="TextBox 10"/>
          <p:cNvSpPr txBox="1"/>
          <p:nvPr/>
        </p:nvSpPr>
        <p:spPr>
          <a:xfrm>
            <a:off x="2039112"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2" name="Rounded Rectangle 11"/>
          <p:cNvSpPr/>
          <p:nvPr/>
        </p:nvSpPr>
        <p:spPr>
          <a:xfrm>
            <a:off x="2176272"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21991"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Measure</a:t>
            </a:r>
          </a:p>
          <a:p>
            <a:pPr algn="ctr">
              <a:lnSpc>
                <a:spcPct val="110000"/>
              </a:lnSpc>
              <a:spcBef>
                <a:spcPts val="0"/>
              </a:spcBef>
              <a:spcAft>
                <a:spcPts val="600"/>
              </a:spcAft>
            </a:pPr>
            <a:r>
              <a:rPr sz="800" b="0" i="0">
                <a:solidFill>
                  <a:srgbClr val="6B6B76"/>
                </a:solidFill>
                <a:latin typeface="Calibri"/>
              </a:rPr>
              <a:t>NDCG@10 on real split</a:t>
            </a:r>
          </a:p>
        </p:txBody>
      </p:sp>
      <p:sp>
        <p:nvSpPr>
          <p:cNvPr id="14" name="TextBox 13"/>
          <p:cNvSpPr txBox="1"/>
          <p:nvPr/>
        </p:nvSpPr>
        <p:spPr>
          <a:xfrm>
            <a:off x="3099815"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5" name="Rounded Rectangle 14"/>
          <p:cNvSpPr/>
          <p:nvPr/>
        </p:nvSpPr>
        <p:spPr>
          <a:xfrm>
            <a:off x="3236976"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6"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Compare</a:t>
            </a:r>
          </a:p>
          <a:p>
            <a:pPr algn="ctr">
              <a:lnSpc>
                <a:spcPct val="110000"/>
              </a:lnSpc>
              <a:spcBef>
                <a:spcPts val="0"/>
              </a:spcBef>
              <a:spcAft>
                <a:spcPts val="600"/>
              </a:spcAft>
            </a:pPr>
            <a:r>
              <a:rPr sz="800" b="0" i="0">
                <a:solidFill>
                  <a:srgbClr val="6B6B76"/>
                </a:solidFill>
                <a:latin typeface="Calibri"/>
              </a:rPr>
              <a:t>vs live baseline</a:t>
            </a:r>
          </a:p>
        </p:txBody>
      </p:sp>
      <p:sp>
        <p:nvSpPr>
          <p:cNvPr id="17" name="TextBox 16"/>
          <p:cNvSpPr txBox="1"/>
          <p:nvPr/>
        </p:nvSpPr>
        <p:spPr>
          <a:xfrm>
            <a:off x="4160520"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8" name="Rounded Rectangle 17"/>
          <p:cNvSpPr/>
          <p:nvPr/>
        </p:nvSpPr>
        <p:spPr>
          <a:xfrm>
            <a:off x="4297680" y="5138927"/>
            <a:ext cx="932688" cy="914400"/>
          </a:xfrm>
          <a:prstGeom prst="roundRect">
            <a:avLst>
              <a:gd name="adj" fmla="val 6000"/>
            </a:avLst>
          </a:prstGeom>
          <a:solidFill>
            <a:srgbClr val="D9A441"/>
          </a:solidFill>
          <a:ln w="12700">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43400"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14142B"/>
                </a:solidFill>
                <a:latin typeface="Calibri"/>
              </a:rPr>
              <a:t>Keep or drop</a:t>
            </a:r>
          </a:p>
          <a:p>
            <a:pPr algn="ctr">
              <a:lnSpc>
                <a:spcPct val="110000"/>
              </a:lnSpc>
              <a:spcBef>
                <a:spcPts val="0"/>
              </a:spcBef>
              <a:spcAft>
                <a:spcPts val="600"/>
              </a:spcAft>
            </a:pPr>
            <a:r>
              <a:rPr sz="800" b="0" i="0">
                <a:solidFill>
                  <a:srgbClr val="33333D"/>
                </a:solidFill>
                <a:latin typeface="Calibri"/>
              </a:rPr>
              <a:t>no drift, ever</a:t>
            </a:r>
          </a:p>
        </p:txBody>
      </p:sp>
      <p:sp>
        <p:nvSpPr>
          <p:cNvPr id="20" name="TextBox 19"/>
          <p:cNvSpPr txBox="1"/>
          <p:nvPr/>
        </p:nvSpPr>
        <p:spPr>
          <a:xfrm>
            <a:off x="5824727" y="1874519"/>
            <a:ext cx="5532120" cy="320040"/>
          </a:xfrm>
          <a:prstGeom prst="rect">
            <a:avLst/>
          </a:prstGeom>
          <a:noFill/>
        </p:spPr>
        <p:txBody>
          <a:bodyPr wrap="square" lIns="0" rIns="0" tIns="0" bIns="0">
            <a:spAutoFit/>
          </a:bodyPr>
          <a:lstStyle/>
          <a:p>
            <a:pPr algn="l">
              <a:spcBef>
                <a:spcPts val="0"/>
              </a:spcBef>
              <a:spcAft>
                <a:spcPts val="600"/>
              </a:spcAft>
            </a:pPr>
            <a:r>
              <a:rPr sz="1100" b="1" i="0">
                <a:solidFill>
                  <a:srgbClr val="6D28D9"/>
                </a:solidFill>
                <a:latin typeface="Calibri"/>
              </a:rPr>
              <a:t>NDCG@10, real CoIR AppsRetrieval split  ·  10 configs, 1 kept</a:t>
            </a:r>
          </a:p>
        </p:txBody>
      </p:sp>
      <p:sp>
        <p:nvSpPr>
          <p:cNvPr id="21" name="TextBox 20"/>
          <p:cNvSpPr txBox="1"/>
          <p:nvPr/>
        </p:nvSpPr>
        <p:spPr>
          <a:xfrm>
            <a:off x="5824727" y="2167127"/>
            <a:ext cx="5532120" cy="274320"/>
          </a:xfrm>
          <a:prstGeom prst="rect">
            <a:avLst/>
          </a:prstGeom>
          <a:noFill/>
        </p:spPr>
        <p:txBody>
          <a:bodyPr wrap="square" lIns="0" rIns="0" tIns="0" bIns="0">
            <a:spAutoFit/>
          </a:bodyPr>
          <a:lstStyle/>
          <a:p>
            <a:pPr algn="l">
              <a:spcBef>
                <a:spcPts val="0"/>
              </a:spcBef>
              <a:spcAft>
                <a:spcPts val="600"/>
              </a:spcAft>
            </a:pPr>
            <a:r>
              <a:rPr sz="1000" b="0" i="1">
                <a:solidFill>
                  <a:srgbClr val="6B6B76"/>
                </a:solidFill>
                <a:latin typeface="Calibri"/>
              </a:rPr>
              <a:t>Submitted: e5-base-v2 — MRR@10 0.0986 (baseline 0.0561).</a:t>
            </a:r>
          </a:p>
        </p:txBody>
      </p:sp>
      <p:pic>
        <p:nvPicPr>
          <p:cNvPr id="22" name="Picture 21" descr="ablation_chart.png"/>
          <p:cNvPicPr>
            <a:picLocks noChangeAspect="1"/>
          </p:cNvPicPr>
          <p:nvPr/>
        </p:nvPicPr>
        <p:blipFill>
          <a:blip r:embed="rId2"/>
          <a:stretch>
            <a:fillRect/>
          </a:stretch>
        </p:blipFill>
        <p:spPr>
          <a:xfrm>
            <a:off x="6130515" y="2478024"/>
            <a:ext cx="4920545" cy="2642615"/>
          </a:xfrm>
          <a:prstGeom prst="rect">
            <a:avLst/>
          </a:prstGeom>
        </p:spPr>
      </p:pic>
      <p:sp>
        <p:nvSpPr>
          <p:cNvPr id="23" name="Rounded Rectangle 22"/>
          <p:cNvSpPr/>
          <p:nvPr/>
        </p:nvSpPr>
        <p:spPr>
          <a:xfrm>
            <a:off x="5824727" y="5212079"/>
            <a:ext cx="5532120" cy="96012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7" y="5285231"/>
            <a:ext cx="5074920" cy="256032"/>
          </a:xfrm>
          <a:prstGeom prst="rect">
            <a:avLst/>
          </a:prstGeom>
          <a:noFill/>
        </p:spPr>
        <p:txBody>
          <a:bodyPr wrap="square" lIns="0" rIns="0" tIns="0" bIns="0">
            <a:spAutoFit/>
          </a:bodyPr>
          <a:lstStyle/>
          <a:p>
            <a:pPr algn="l">
              <a:spcBef>
                <a:spcPts val="0"/>
              </a:spcBef>
              <a:spcAft>
                <a:spcPts val="600"/>
              </a:spcAft>
            </a:pPr>
            <a:r>
              <a:rPr sz="1200" b="1" i="0">
                <a:solidFill>
                  <a:srgbClr val="14142B"/>
                </a:solidFill>
                <a:latin typeface="Calibri"/>
              </a:rPr>
              <a:t>Limitations — stated up front</a:t>
            </a:r>
          </a:p>
        </p:txBody>
      </p:sp>
      <p:sp>
        <p:nvSpPr>
          <p:cNvPr id="25" name="TextBox 24"/>
          <p:cNvSpPr txBox="1"/>
          <p:nvPr/>
        </p:nvSpPr>
        <p:spPr>
          <a:xfrm>
            <a:off x="6053327" y="5559551"/>
            <a:ext cx="5074920" cy="557784"/>
          </a:xfrm>
          <a:prstGeom prst="rect">
            <a:avLst/>
          </a:prstGeom>
          <a:noFill/>
        </p:spPr>
        <p:txBody>
          <a:bodyPr wrap="square" lIns="0" rIns="0" tIns="0" bIns="0">
            <a:spAutoFit/>
          </a:bodyPr>
          <a:lstStyle/>
          <a:p>
            <a:pPr algn="l">
              <a:lnSpc>
                <a:spcPct val="105000"/>
              </a:lnSpc>
              <a:spcBef>
                <a:spcPts val="0"/>
              </a:spcBef>
              <a:spcAft>
                <a:spcPts val="200"/>
              </a:spcAft>
            </a:pPr>
            <a:r>
              <a:rPr sz="1000" b="0" i="0">
                <a:solidFill>
                  <a:srgbClr val="33333D"/>
                </a:solidFill>
                <a:latin typeface="Calibri"/>
              </a:rPr>
              <a:t>—  CPU-only caps model size by design — the trade this theme asks for</a:t>
            </a:r>
          </a:p>
          <a:p>
            <a:pPr algn="l">
              <a:lnSpc>
                <a:spcPct val="105000"/>
              </a:lnSpc>
              <a:spcBef>
                <a:spcPts val="0"/>
              </a:spcBef>
              <a:spcAft>
                <a:spcPts val="200"/>
              </a:spcAft>
            </a:pPr>
            <a:r>
              <a:rPr sz="1000" b="0" i="0">
                <a:solidFill>
                  <a:srgbClr val="33333D"/>
                </a:solidFill>
                <a:latin typeface="Calibri"/>
              </a:rPr>
              <a:t>—  Larger retrieval models (e.g. e5-large) untested — ~3× the CPU time</a:t>
            </a:r>
          </a:p>
          <a:p>
            <a:pPr algn="l">
              <a:lnSpc>
                <a:spcPct val="105000"/>
              </a:lnSpc>
              <a:spcBef>
                <a:spcPts val="0"/>
              </a:spcBef>
              <a:spcAft>
                <a:spcPts val="200"/>
              </a:spcAft>
            </a:pPr>
            <a:r>
              <a:rPr sz="1000" b="0" i="0">
                <a:solidFill>
                  <a:srgbClr val="33333D"/>
                </a:solidFill>
                <a:latin typeface="Calibri"/>
              </a:rPr>
              <a:t>—  HyDE, multi-view, front-load not yet re-measured on top of e5</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Rounded Rectangle 2"/>
          <p:cNvSpPr/>
          <p:nvPr/>
        </p:nvSpPr>
        <p:spPr>
          <a:xfrm>
            <a:off x="841248" y="1874519"/>
            <a:ext cx="10515600" cy="91440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5568" y="1965960"/>
            <a:ext cx="9966960" cy="256032"/>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WHAT THE ABLATION TAUGHT US</a:t>
            </a:r>
          </a:p>
        </p:txBody>
      </p:sp>
      <p:sp>
        <p:nvSpPr>
          <p:cNvPr id="5" name="TextBox 4"/>
          <p:cNvSpPr txBox="1"/>
          <p:nvPr/>
        </p:nvSpPr>
        <p:spPr>
          <a:xfrm>
            <a:off x="1115568" y="2203703"/>
            <a:ext cx="9966960" cy="512064"/>
          </a:xfrm>
          <a:prstGeom prst="rect">
            <a:avLst/>
          </a:prstGeom>
          <a:noFill/>
        </p:spPr>
        <p:txBody>
          <a:bodyPr wrap="square" lIns="0" rIns="0" tIns="0" bIns="0">
            <a:spAutoFit/>
          </a:bodyPr>
          <a:lstStyle/>
          <a:p>
            <a:pPr algn="l">
              <a:lnSpc>
                <a:spcPct val="120000"/>
              </a:lnSpc>
              <a:spcBef>
                <a:spcPts val="0"/>
              </a:spcBef>
              <a:spcAft>
                <a:spcPts val="600"/>
              </a:spcAft>
            </a:pPr>
            <a:r>
              <a:rPr sz="1100" b="0" i="0">
                <a:solidFill>
                  <a:srgbClr val="33333D"/>
                </a:solidFill>
                <a:latin typeface="Calibri"/>
              </a:rPr>
              <a:t>Ten configs on the real split. The winner, e5-base-v2, is the same size as mpnet but trained for query→passage retrieval: +73.9% over baseline, +33.7% over mpnet. Every code-specialized swap (CodeSearchNet, UniXcoder) lost — the roadmap follows that evidence.</a:t>
            </a:r>
          </a:p>
        </p:txBody>
      </p:sp>
      <p:cxnSp>
        <p:nvCxnSpPr>
          <p:cNvPr id="6" name="Connector 5"/>
          <p:cNvCxnSpPr/>
          <p:nvPr/>
        </p:nvCxnSpPr>
        <p:spPr>
          <a:xfrm>
            <a:off x="2475738" y="3337560"/>
            <a:ext cx="7246620" cy="0"/>
          </a:xfrm>
          <a:prstGeom prst="line">
            <a:avLst/>
          </a:prstGeom>
          <a:ln w="31750">
            <a:solidFill>
              <a:srgbClr val="D9D3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835657"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1</a:t>
            </a:r>
          </a:p>
        </p:txBody>
      </p:sp>
      <p:sp>
        <p:nvSpPr>
          <p:cNvPr id="8" name="TextBox 7"/>
          <p:cNvSpPr txBox="1"/>
          <p:nvPr/>
        </p:nvSpPr>
        <p:spPr>
          <a:xfrm>
            <a:off x="9326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Re-test on e5</a:t>
            </a:r>
          </a:p>
        </p:txBody>
      </p:sp>
      <p:sp>
        <p:nvSpPr>
          <p:cNvPr id="9" name="Rounded Rectangle 8"/>
          <p:cNvSpPr/>
          <p:nvPr/>
        </p:nvSpPr>
        <p:spPr>
          <a:xfrm>
            <a:off x="1835657" y="4315968"/>
            <a:ext cx="640080" cy="219456"/>
          </a:xfrm>
          <a:prstGeom prst="roundRect">
            <a:avLst>
              <a:gd name="adj" fmla="val 4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35657"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HIGH</a:t>
            </a:r>
          </a:p>
        </p:txBody>
      </p:sp>
      <p:sp>
        <p:nvSpPr>
          <p:cNvPr id="11" name="TextBox 10"/>
          <p:cNvSpPr txBox="1"/>
          <p:nvPr/>
        </p:nvSpPr>
        <p:spPr>
          <a:xfrm>
            <a:off x="9326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HyDE, multi-view and front-loading lost on MiniLM; the stronger e5 encoder may use them differently.</a:t>
            </a:r>
          </a:p>
        </p:txBody>
      </p:sp>
      <p:sp>
        <p:nvSpPr>
          <p:cNvPr id="12" name="Oval 11"/>
          <p:cNvSpPr/>
          <p:nvPr/>
        </p:nvSpPr>
        <p:spPr>
          <a:xfrm>
            <a:off x="44645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2</a:t>
            </a:r>
          </a:p>
        </p:txBody>
      </p:sp>
      <p:sp>
        <p:nvSpPr>
          <p:cNvPr id="13" name="TextBox 12"/>
          <p:cNvSpPr txBox="1"/>
          <p:nvPr/>
        </p:nvSpPr>
        <p:spPr>
          <a:xfrm>
            <a:off x="35615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Scale the winner</a:t>
            </a:r>
          </a:p>
        </p:txBody>
      </p:sp>
      <p:sp>
        <p:nvSpPr>
          <p:cNvPr id="14" name="Rounded Rectangle 13"/>
          <p:cNvSpPr/>
          <p:nvPr/>
        </p:nvSpPr>
        <p:spPr>
          <a:xfrm>
            <a:off x="4464558" y="4315968"/>
            <a:ext cx="640080" cy="219456"/>
          </a:xfrm>
          <a:prstGeom prst="roundRect">
            <a:avLst>
              <a:gd name="adj" fmla="val 40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45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MED</a:t>
            </a:r>
          </a:p>
        </p:txBody>
      </p:sp>
      <p:sp>
        <p:nvSpPr>
          <p:cNvPr id="16" name="TextBox 15"/>
          <p:cNvSpPr txBox="1"/>
          <p:nvPr/>
        </p:nvSpPr>
        <p:spPr>
          <a:xfrm>
            <a:off x="35615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e5-large-v2 is the natural next test, at roughly 3× the CPU time.</a:t>
            </a:r>
          </a:p>
        </p:txBody>
      </p:sp>
      <p:sp>
        <p:nvSpPr>
          <p:cNvPr id="17" name="Oval 16"/>
          <p:cNvSpPr/>
          <p:nvPr/>
        </p:nvSpPr>
        <p:spPr>
          <a:xfrm>
            <a:off x="70934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3</a:t>
            </a:r>
          </a:p>
        </p:txBody>
      </p:sp>
      <p:sp>
        <p:nvSpPr>
          <p:cNvPr id="18" name="TextBox 17"/>
          <p:cNvSpPr txBox="1"/>
          <p:nvPr/>
        </p:nvSpPr>
        <p:spPr>
          <a:xfrm>
            <a:off x="61904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Validate at scale</a:t>
            </a:r>
          </a:p>
        </p:txBody>
      </p:sp>
      <p:sp>
        <p:nvSpPr>
          <p:cNvPr id="19" name="Rounded Rectangle 18"/>
          <p:cNvSpPr/>
          <p:nvPr/>
        </p:nvSpPr>
        <p:spPr>
          <a:xfrm>
            <a:off x="7093458" y="4315968"/>
            <a:ext cx="640080" cy="219456"/>
          </a:xfrm>
          <a:prstGeom prst="roundRect">
            <a:avLst>
              <a:gd name="adj" fmla="val 40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34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MED</a:t>
            </a:r>
          </a:p>
        </p:txBody>
      </p:sp>
      <p:sp>
        <p:nvSpPr>
          <p:cNvPr id="21" name="TextBox 20"/>
          <p:cNvSpPr txBox="1"/>
          <p:nvPr/>
        </p:nvSpPr>
        <p:spPr>
          <a:xfrm>
            <a:off x="61904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Prove cross-version retrieval on real multi-version repositories, not just the prototype set.</a:t>
            </a:r>
          </a:p>
        </p:txBody>
      </p:sp>
      <p:sp>
        <p:nvSpPr>
          <p:cNvPr id="22" name="Oval 21"/>
          <p:cNvSpPr/>
          <p:nvPr/>
        </p:nvSpPr>
        <p:spPr>
          <a:xfrm>
            <a:off x="97223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4</a:t>
            </a:r>
          </a:p>
        </p:txBody>
      </p:sp>
      <p:sp>
        <p:nvSpPr>
          <p:cNvPr id="23" name="TextBox 22"/>
          <p:cNvSpPr txBox="1"/>
          <p:nvPr/>
        </p:nvSpPr>
        <p:spPr>
          <a:xfrm>
            <a:off x="88193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Publish the findings</a:t>
            </a:r>
          </a:p>
        </p:txBody>
      </p:sp>
      <p:sp>
        <p:nvSpPr>
          <p:cNvPr id="24" name="Rounded Rectangle 23"/>
          <p:cNvSpPr/>
          <p:nvPr/>
        </p:nvSpPr>
        <p:spPr>
          <a:xfrm>
            <a:off x="9722358" y="4315968"/>
            <a:ext cx="640080" cy="219456"/>
          </a:xfrm>
          <a:prstGeom prst="roundRect">
            <a:avLst>
              <a:gd name="adj" fmla="val 40000"/>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223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LONG</a:t>
            </a:r>
          </a:p>
        </p:txBody>
      </p:sp>
      <p:sp>
        <p:nvSpPr>
          <p:cNvPr id="26" name="TextBox 25"/>
          <p:cNvSpPr txBox="1"/>
          <p:nvPr/>
        </p:nvSpPr>
        <p:spPr>
          <a:xfrm>
            <a:off x="88193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Cross-version code retrieval is under-explored; write up these ablation findings as a short paper.</a:t>
            </a:r>
          </a:p>
        </p:txBody>
      </p:sp>
      <p:sp>
        <p:nvSpPr>
          <p:cNvPr id="27" name="Rounded Rectangle 26"/>
          <p:cNvSpPr/>
          <p:nvPr/>
        </p:nvSpPr>
        <p:spPr>
          <a:xfrm>
            <a:off x="841248" y="5669280"/>
            <a:ext cx="10515600" cy="457200"/>
          </a:xfrm>
          <a:prstGeom prst="roundRect">
            <a:avLst>
              <a:gd name="adj" fmla="val 8000"/>
            </a:avLst>
          </a:prstGeom>
          <a:solidFill>
            <a:srgbClr val="FFFFFF"/>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15568" y="5669280"/>
            <a:ext cx="9966960" cy="457200"/>
          </a:xfrm>
          <a:prstGeom prst="rect">
            <a:avLst/>
          </a:prstGeom>
          <a:noFill/>
        </p:spPr>
        <p:txBody>
          <a:bodyPr wrap="square" lIns="0" rIns="0" tIns="0" bIns="0" anchor="ctr">
            <a:spAutoFit/>
          </a:bodyPr>
          <a:lstStyle/>
          <a:p>
            <a:pPr algn="ctr">
              <a:spcBef>
                <a:spcPts val="0"/>
              </a:spcBef>
              <a:spcAft>
                <a:spcPts val="600"/>
              </a:spcAft>
            </a:pPr>
            <a:r>
              <a:rPr sz="1150" b="1" i="1">
                <a:solidFill>
                  <a:srgbClr val="6D28D9"/>
                </a:solidFill>
                <a:latin typeface="Calibri"/>
              </a:rPr>
              <a:t>Every step above is measured the same way as everything before it — one change, one number, keep or revert.</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Rounded Rectangle 2"/>
          <p:cNvSpPr/>
          <p:nvPr/>
        </p:nvSpPr>
        <p:spPr>
          <a:xfrm>
            <a:off x="841248" y="1874519"/>
            <a:ext cx="5120640" cy="148590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 y="2057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5" name="TextBox 4"/>
          <p:cNvSpPr txBox="1"/>
          <p:nvPr/>
        </p:nvSpPr>
        <p:spPr>
          <a:xfrm>
            <a:off x="1664208" y="207568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Verified, not assumed</a:t>
            </a:r>
          </a:p>
        </p:txBody>
      </p:sp>
      <p:sp>
        <p:nvSpPr>
          <p:cNvPr id="6" name="TextBox 5"/>
          <p:cNvSpPr txBox="1"/>
          <p:nvPr/>
        </p:nvSpPr>
        <p:spPr>
          <a:xfrm>
            <a:off x="1097280" y="251460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Proven end-to-end, and checked against a published number.</a:t>
            </a:r>
          </a:p>
        </p:txBody>
      </p:sp>
      <p:sp>
        <p:nvSpPr>
          <p:cNvPr id="7" name="Rounded Rectangle 6"/>
          <p:cNvSpPr/>
          <p:nvPr/>
        </p:nvSpPr>
        <p:spPr>
          <a:xfrm>
            <a:off x="1097280" y="2738627"/>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2775203"/>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9" name="TextBox 8"/>
          <p:cNvSpPr txBox="1"/>
          <p:nvPr/>
        </p:nvSpPr>
        <p:spPr>
          <a:xfrm>
            <a:off x="1243584" y="292150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Our e5-base-v2 run (0.1151) matches the published CoIR score for that model (11.5); 6 tests lock the file shape.</a:t>
            </a:r>
          </a:p>
        </p:txBody>
      </p:sp>
      <p:sp>
        <p:nvSpPr>
          <p:cNvPr id="10" name="Rounded Rectangle 9"/>
          <p:cNvSpPr/>
          <p:nvPr/>
        </p:nvSpPr>
        <p:spPr>
          <a:xfrm>
            <a:off x="6236207" y="1874519"/>
            <a:ext cx="5120640" cy="14859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4807" y="2057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12" name="TextBox 11"/>
          <p:cNvSpPr txBox="1"/>
          <p:nvPr/>
        </p:nvSpPr>
        <p:spPr>
          <a:xfrm>
            <a:off x="7059168" y="207568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Discipline over guesswork</a:t>
            </a:r>
          </a:p>
        </p:txBody>
      </p:sp>
      <p:sp>
        <p:nvSpPr>
          <p:cNvPr id="13" name="TextBox 12"/>
          <p:cNvSpPr txBox="1"/>
          <p:nvPr/>
        </p:nvSpPr>
        <p:spPr>
          <a:xfrm>
            <a:off x="6492240" y="251460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Every feature logged config → NDCG@10 → kept/dropped, every time.</a:t>
            </a:r>
          </a:p>
        </p:txBody>
      </p:sp>
      <p:sp>
        <p:nvSpPr>
          <p:cNvPr id="14" name="Rounded Rectangle 13"/>
          <p:cNvSpPr/>
          <p:nvPr/>
        </p:nvSpPr>
        <p:spPr>
          <a:xfrm>
            <a:off x="6492240" y="2738627"/>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38544" y="2775203"/>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16" name="TextBox 15"/>
          <p:cNvSpPr txBox="1"/>
          <p:nvPr/>
        </p:nvSpPr>
        <p:spPr>
          <a:xfrm>
            <a:off x="6638544" y="292150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docs/ablation_log.md — 10 real experiments, 8 dropped, 1 kept (+73.9%); every row reproducible from the repo.</a:t>
            </a:r>
          </a:p>
        </p:txBody>
      </p:sp>
      <p:sp>
        <p:nvSpPr>
          <p:cNvPr id="17" name="Rounded Rectangle 16"/>
          <p:cNvSpPr/>
          <p:nvPr/>
        </p:nvSpPr>
        <p:spPr>
          <a:xfrm>
            <a:off x="841248" y="3634740"/>
            <a:ext cx="5120640" cy="14859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69848" y="381762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19" name="TextBox 18"/>
          <p:cNvSpPr txBox="1"/>
          <p:nvPr/>
        </p:nvSpPr>
        <p:spPr>
          <a:xfrm>
            <a:off x="1664208" y="383590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Versioned from day one</a:t>
            </a:r>
          </a:p>
        </p:txBody>
      </p:sp>
      <p:sp>
        <p:nvSpPr>
          <p:cNvPr id="20" name="TextBox 19"/>
          <p:cNvSpPr txBox="1"/>
          <p:nvPr/>
        </p:nvSpPr>
        <p:spPr>
          <a:xfrm>
            <a:off x="1097280" y="427482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Content-addressed index; cross-version retrieval never bolted on.</a:t>
            </a:r>
          </a:p>
        </p:txBody>
      </p:sp>
      <p:sp>
        <p:nvSpPr>
          <p:cNvPr id="21" name="Rounded Rectangle 20"/>
          <p:cNvSpPr/>
          <p:nvPr/>
        </p:nvSpPr>
        <p:spPr>
          <a:xfrm>
            <a:off x="1097280" y="4498848"/>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43584" y="4535424"/>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23" name="TextBox 22"/>
          <p:cNvSpPr txBox="1"/>
          <p:nvPr/>
        </p:nvSpPr>
        <p:spPr>
          <a:xfrm>
            <a:off x="1243584" y="468172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prism/index/versioned.py + stable-core / version-delta — the P1 requirement is a first-class feature.</a:t>
            </a:r>
          </a:p>
        </p:txBody>
      </p:sp>
      <p:sp>
        <p:nvSpPr>
          <p:cNvPr id="24" name="Rounded Rectangle 23"/>
          <p:cNvSpPr/>
          <p:nvPr/>
        </p:nvSpPr>
        <p:spPr>
          <a:xfrm>
            <a:off x="6236207" y="3634740"/>
            <a:ext cx="5120640" cy="148590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64807" y="381762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26" name="TextBox 25"/>
          <p:cNvSpPr txBox="1"/>
          <p:nvPr/>
        </p:nvSpPr>
        <p:spPr>
          <a:xfrm>
            <a:off x="7059168" y="383590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Honest about limits</a:t>
            </a:r>
          </a:p>
        </p:txBody>
      </p:sp>
      <p:sp>
        <p:nvSpPr>
          <p:cNvPr id="27" name="TextBox 26"/>
          <p:cNvSpPr txBox="1"/>
          <p:nvPr/>
        </p:nvSpPr>
        <p:spPr>
          <a:xfrm>
            <a:off x="6492240" y="427482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Limitations reported next to results — credibility over overselling.</a:t>
            </a:r>
          </a:p>
        </p:txBody>
      </p:sp>
      <p:sp>
        <p:nvSpPr>
          <p:cNvPr id="28" name="Rounded Rectangle 27"/>
          <p:cNvSpPr/>
          <p:nvPr/>
        </p:nvSpPr>
        <p:spPr>
          <a:xfrm>
            <a:off x="6492240" y="4498848"/>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38544" y="4535424"/>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30" name="TextBox 29"/>
          <p:cNvSpPr txBox="1"/>
          <p:nvPr/>
        </p:nvSpPr>
        <p:spPr>
          <a:xfrm>
            <a:off x="6638544" y="468172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docs/ablation_log.md — every failure named up front; a code-model swap losing 50% is documented, not hidden.</a:t>
            </a:r>
          </a:p>
        </p:txBody>
      </p:sp>
      <p:sp>
        <p:nvSpPr>
          <p:cNvPr id="31" name="Rounded Rectangle 30"/>
          <p:cNvSpPr/>
          <p:nvPr/>
        </p:nvSpPr>
        <p:spPr>
          <a:xfrm>
            <a:off x="841248" y="5257800"/>
            <a:ext cx="10515600" cy="86868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15568" y="5349240"/>
            <a:ext cx="9966960" cy="256032"/>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BY THE NUMBERS</a:t>
            </a:r>
          </a:p>
        </p:txBody>
      </p:sp>
      <p:sp>
        <p:nvSpPr>
          <p:cNvPr id="33" name="TextBox 32"/>
          <p:cNvSpPr txBox="1"/>
          <p:nvPr/>
        </p:nvSpPr>
        <p:spPr>
          <a:xfrm>
            <a:off x="1115568"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10</a:t>
            </a:r>
          </a:p>
          <a:p>
            <a:pPr algn="ctr">
              <a:spcBef>
                <a:spcPts val="0"/>
              </a:spcBef>
              <a:spcAft>
                <a:spcPts val="600"/>
              </a:spcAft>
            </a:pPr>
            <a:r>
              <a:rPr sz="950" b="0" i="0">
                <a:solidFill>
                  <a:srgbClr val="E3DAF7"/>
                </a:solidFill>
                <a:latin typeface="Calibri"/>
              </a:rPr>
              <a:t>real experiments</a:t>
            </a:r>
          </a:p>
        </p:txBody>
      </p:sp>
      <p:sp>
        <p:nvSpPr>
          <p:cNvPr id="34" name="TextBox 33"/>
          <p:cNvSpPr txBox="1"/>
          <p:nvPr/>
        </p:nvSpPr>
        <p:spPr>
          <a:xfrm>
            <a:off x="3145536"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8</a:t>
            </a:r>
          </a:p>
          <a:p>
            <a:pPr algn="ctr">
              <a:spcBef>
                <a:spcPts val="0"/>
              </a:spcBef>
              <a:spcAft>
                <a:spcPts val="600"/>
              </a:spcAft>
            </a:pPr>
            <a:r>
              <a:rPr sz="950" b="0" i="0">
                <a:solidFill>
                  <a:srgbClr val="E3DAF7"/>
                </a:solidFill>
                <a:latin typeface="Calibri"/>
              </a:rPr>
              <a:t>dropped, still in repo</a:t>
            </a:r>
          </a:p>
        </p:txBody>
      </p:sp>
      <p:sp>
        <p:nvSpPr>
          <p:cNvPr id="35" name="TextBox 34"/>
          <p:cNvSpPr txBox="1"/>
          <p:nvPr/>
        </p:nvSpPr>
        <p:spPr>
          <a:xfrm>
            <a:off x="5175504"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78</a:t>
            </a:r>
          </a:p>
          <a:p>
            <a:pPr algn="ctr">
              <a:spcBef>
                <a:spcPts val="0"/>
              </a:spcBef>
              <a:spcAft>
                <a:spcPts val="600"/>
              </a:spcAft>
            </a:pPr>
            <a:r>
              <a:rPr sz="950" b="0" i="0">
                <a:solidFill>
                  <a:srgbClr val="E3DAF7"/>
                </a:solidFill>
                <a:latin typeface="Calibri"/>
              </a:rPr>
              <a:t>offline tests</a:t>
            </a:r>
          </a:p>
        </p:txBody>
      </p:sp>
      <p:sp>
        <p:nvSpPr>
          <p:cNvPr id="36" name="TextBox 35"/>
          <p:cNvSpPr txBox="1"/>
          <p:nvPr/>
        </p:nvSpPr>
        <p:spPr>
          <a:xfrm>
            <a:off x="7205472"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0</a:t>
            </a:r>
          </a:p>
          <a:p>
            <a:pPr algn="ctr">
              <a:spcBef>
                <a:spcPts val="0"/>
              </a:spcBef>
              <a:spcAft>
                <a:spcPts val="600"/>
              </a:spcAft>
            </a:pPr>
            <a:r>
              <a:rPr sz="950" b="0" i="0">
                <a:solidFill>
                  <a:srgbClr val="E3DAF7"/>
                </a:solidFill>
                <a:latin typeface="Calibri"/>
              </a:rPr>
              <a:t>mocks in leaderboard eval</a:t>
            </a:r>
          </a:p>
        </p:txBody>
      </p:sp>
      <p:sp>
        <p:nvSpPr>
          <p:cNvPr id="37" name="TextBox 36"/>
          <p:cNvSpPr txBox="1"/>
          <p:nvPr/>
        </p:nvSpPr>
        <p:spPr>
          <a:xfrm>
            <a:off x="9235440"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1</a:t>
            </a:r>
          </a:p>
          <a:p>
            <a:pPr algn="ctr">
              <a:spcBef>
                <a:spcPts val="0"/>
              </a:spcBef>
              <a:spcAft>
                <a:spcPts val="600"/>
              </a:spcAft>
            </a:pPr>
            <a:r>
              <a:rPr sz="950" b="0" i="0">
                <a:solidFill>
                  <a:srgbClr val="E3DAF7"/>
                </a:solidFill>
                <a:latin typeface="Calibri"/>
              </a:rPr>
              <a:t>reproducible docker run</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Rounded Rectangle 2"/>
          <p:cNvSpPr/>
          <p:nvPr/>
        </p:nvSpPr>
        <p:spPr>
          <a:xfrm>
            <a:off x="841248" y="1874519"/>
            <a:ext cx="6858000" cy="4297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5568" y="2057400"/>
            <a:ext cx="6309360" cy="365760"/>
          </a:xfrm>
          <a:prstGeom prst="rect">
            <a:avLst/>
          </a:prstGeom>
          <a:noFill/>
        </p:spPr>
        <p:txBody>
          <a:bodyPr wrap="square" lIns="0" rIns="0" tIns="0" bIns="0">
            <a:spAutoFit/>
          </a:bodyPr>
          <a:lstStyle/>
          <a:p>
            <a:pPr algn="l">
              <a:spcBef>
                <a:spcPts val="0"/>
              </a:spcBef>
              <a:spcAft>
                <a:spcPts val="600"/>
              </a:spcAft>
            </a:pPr>
            <a:r>
              <a:rPr sz="1100" b="1" i="0">
                <a:solidFill>
                  <a:srgbClr val="6D28D9"/>
                </a:solidFill>
                <a:latin typeface="Calibri"/>
              </a:rPr>
              <a:t>SUBMISSION CHECKLIST</a:t>
            </a:r>
          </a:p>
        </p:txBody>
      </p:sp>
      <p:sp>
        <p:nvSpPr>
          <p:cNvPr id="5" name="Rounded Rectangle 4"/>
          <p:cNvSpPr/>
          <p:nvPr/>
        </p:nvSpPr>
        <p:spPr>
          <a:xfrm>
            <a:off x="1024128" y="2514600"/>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52144" y="2593086"/>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7" name="TextBox 6"/>
          <p:cNvSpPr txBox="1"/>
          <p:nvPr/>
        </p:nvSpPr>
        <p:spPr>
          <a:xfrm>
            <a:off x="1709928" y="2587752"/>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Working prototype code</a:t>
            </a:r>
          </a:p>
          <a:p>
            <a:pPr algn="l">
              <a:lnSpc>
                <a:spcPct val="110000"/>
              </a:lnSpc>
              <a:spcBef>
                <a:spcPts val="0"/>
              </a:spcBef>
              <a:spcAft>
                <a:spcPts val="100"/>
              </a:spcAft>
            </a:pPr>
            <a:r>
              <a:rPr sz="950" b="0" i="1">
                <a:solidFill>
                  <a:srgbClr val="6B6B76"/>
                </a:solidFill>
                <a:latin typeface="Calibri"/>
              </a:rPr>
              <a:t>Public GitHub repo, tag PRISM_GENAI_HACKATHON_Y2026</a:t>
            </a:r>
          </a:p>
          <a:p>
            <a:pPr algn="l">
              <a:lnSpc>
                <a:spcPct val="110000"/>
              </a:lnSpc>
              <a:spcBef>
                <a:spcPts val="0"/>
              </a:spcBef>
              <a:spcAft>
                <a:spcPts val="600"/>
              </a:spcAft>
            </a:pPr>
            <a:r>
              <a:rPr sz="950" b="0" i="0">
                <a:solidFill>
                  <a:srgbClr val="6D28D9"/>
                </a:solidFill>
                <a:latin typeface="Courier New"/>
              </a:rPr>
              <a:t>github.com/Ajha2005/samsung-prism</a:t>
            </a:r>
          </a:p>
        </p:txBody>
      </p:sp>
      <p:sp>
        <p:nvSpPr>
          <p:cNvPr id="8" name="Rounded Rectangle 7"/>
          <p:cNvSpPr/>
          <p:nvPr/>
        </p:nvSpPr>
        <p:spPr>
          <a:xfrm>
            <a:off x="1024128" y="3110483"/>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2144" y="3188970"/>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0" name="TextBox 9"/>
          <p:cNvSpPr txBox="1"/>
          <p:nvPr/>
        </p:nvSpPr>
        <p:spPr>
          <a:xfrm>
            <a:off x="1709928" y="3183636"/>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README with reproducible setup</a:t>
            </a:r>
          </a:p>
          <a:p>
            <a:pPr algn="l">
              <a:lnSpc>
                <a:spcPct val="110000"/>
              </a:lnSpc>
              <a:spcBef>
                <a:spcPts val="0"/>
              </a:spcBef>
              <a:spcAft>
                <a:spcPts val="100"/>
              </a:spcAft>
            </a:pPr>
            <a:r>
              <a:rPr sz="950" b="0" i="1">
                <a:solidFill>
                  <a:srgbClr val="6B6B76"/>
                </a:solidFill>
                <a:latin typeface="Calibri"/>
              </a:rPr>
              <a:t>Docker one-command run + full CLI</a:t>
            </a:r>
          </a:p>
          <a:p>
            <a:pPr algn="l">
              <a:lnSpc>
                <a:spcPct val="110000"/>
              </a:lnSpc>
              <a:spcBef>
                <a:spcPts val="0"/>
              </a:spcBef>
              <a:spcAft>
                <a:spcPts val="600"/>
              </a:spcAft>
            </a:pPr>
            <a:r>
              <a:rPr sz="950" b="0" i="0">
                <a:solidFill>
                  <a:srgbClr val="6D28D9"/>
                </a:solidFill>
                <a:latin typeface="Courier New"/>
              </a:rPr>
              <a:t>docker build -t prism-code-search .  →  docker run</a:t>
            </a:r>
          </a:p>
        </p:txBody>
      </p:sp>
      <p:sp>
        <p:nvSpPr>
          <p:cNvPr id="11" name="Rounded Rectangle 10"/>
          <p:cNvSpPr/>
          <p:nvPr/>
        </p:nvSpPr>
        <p:spPr>
          <a:xfrm>
            <a:off x="1024128" y="3706367"/>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52144" y="3784853"/>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3" name="TextBox 12"/>
          <p:cNvSpPr txBox="1"/>
          <p:nvPr/>
        </p:nvSpPr>
        <p:spPr>
          <a:xfrm>
            <a:off x="1709928" y="3779519"/>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Demo video (≤ 5 min)</a:t>
            </a:r>
          </a:p>
          <a:p>
            <a:pPr algn="l">
              <a:lnSpc>
                <a:spcPct val="110000"/>
              </a:lnSpc>
              <a:spcBef>
                <a:spcPts val="0"/>
              </a:spcBef>
              <a:spcAft>
                <a:spcPts val="100"/>
              </a:spcAft>
            </a:pPr>
            <a:r>
              <a:rPr sz="950" b="0" i="1">
                <a:solidFill>
                  <a:srgbClr val="6B6B76"/>
                </a:solidFill>
                <a:latin typeface="Calibri"/>
              </a:rPr>
              <a:t>Recorded and linked in the submission form</a:t>
            </a:r>
          </a:p>
          <a:p>
            <a:pPr algn="l">
              <a:lnSpc>
                <a:spcPct val="110000"/>
              </a:lnSpc>
              <a:spcBef>
                <a:spcPts val="0"/>
              </a:spcBef>
              <a:spcAft>
                <a:spcPts val="600"/>
              </a:spcAft>
            </a:pPr>
            <a:r>
              <a:rPr sz="950" b="0" i="0">
                <a:solidFill>
                  <a:srgbClr val="6D28D9"/>
                </a:solidFill>
                <a:latin typeface="Courier New"/>
              </a:rPr>
              <a:t>YouTube / Drive link — see form</a:t>
            </a:r>
          </a:p>
        </p:txBody>
      </p:sp>
      <p:sp>
        <p:nvSpPr>
          <p:cNvPr id="14" name="Rounded Rectangle 13"/>
          <p:cNvSpPr/>
          <p:nvPr/>
        </p:nvSpPr>
        <p:spPr>
          <a:xfrm>
            <a:off x="1024128" y="4302252"/>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52144" y="4380738"/>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6" name="TextBox 15"/>
          <p:cNvSpPr txBox="1"/>
          <p:nvPr/>
        </p:nvSpPr>
        <p:spPr>
          <a:xfrm>
            <a:off x="1709928" y="4375404"/>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Presentation file (PPT + PDF)</a:t>
            </a:r>
          </a:p>
          <a:p>
            <a:pPr algn="l">
              <a:lnSpc>
                <a:spcPct val="110000"/>
              </a:lnSpc>
              <a:spcBef>
                <a:spcPts val="0"/>
              </a:spcBef>
              <a:spcAft>
                <a:spcPts val="100"/>
              </a:spcAft>
            </a:pPr>
            <a:r>
              <a:rPr sz="950" b="0" i="1">
                <a:solidFill>
                  <a:srgbClr val="6B6B76"/>
                </a:solidFill>
                <a:latin typeface="Calibri"/>
              </a:rPr>
              <a:t>This deck — 12 slides, speaker notes on every content slide</a:t>
            </a:r>
          </a:p>
          <a:p>
            <a:pPr algn="l">
              <a:lnSpc>
                <a:spcPct val="110000"/>
              </a:lnSpc>
              <a:spcBef>
                <a:spcPts val="0"/>
              </a:spcBef>
              <a:spcAft>
                <a:spcPts val="600"/>
              </a:spcAft>
            </a:pPr>
            <a:r>
              <a:rPr sz="950" b="0" i="0">
                <a:solidFill>
                  <a:srgbClr val="6D28D9"/>
                </a:solidFill>
                <a:latin typeface="Courier New"/>
              </a:rPr>
              <a:t>Thapar_Trace_Submission_ppt.pptx / .pdf</a:t>
            </a:r>
          </a:p>
        </p:txBody>
      </p:sp>
      <p:sp>
        <p:nvSpPr>
          <p:cNvPr id="17" name="Rounded Rectangle 16"/>
          <p:cNvSpPr/>
          <p:nvPr/>
        </p:nvSpPr>
        <p:spPr>
          <a:xfrm>
            <a:off x="1024128" y="4898136"/>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52144" y="4976622"/>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9" name="TextBox 18"/>
          <p:cNvSpPr txBox="1"/>
          <p:nvPr/>
        </p:nvSpPr>
        <p:spPr>
          <a:xfrm>
            <a:off x="1709928" y="4971288"/>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Leaderboard results JSON</a:t>
            </a:r>
          </a:p>
          <a:p>
            <a:pPr algn="l">
              <a:lnSpc>
                <a:spcPct val="110000"/>
              </a:lnSpc>
              <a:spcBef>
                <a:spcPts val="0"/>
              </a:spcBef>
              <a:spcAft>
                <a:spcPts val="100"/>
              </a:spcAft>
            </a:pPr>
            <a:r>
              <a:rPr sz="950" b="0" i="1">
                <a:solidFill>
                  <a:srgbClr val="6B6B76"/>
                </a:solidFill>
                <a:latin typeface="Calibri"/>
              </a:rPr>
              <a:t>Real CoIR AppsRetrieval, produced by mteb.evaluate()</a:t>
            </a:r>
          </a:p>
          <a:p>
            <a:pPr algn="l">
              <a:lnSpc>
                <a:spcPct val="110000"/>
              </a:lnSpc>
              <a:spcBef>
                <a:spcPts val="0"/>
              </a:spcBef>
              <a:spcAft>
                <a:spcPts val="600"/>
              </a:spcAft>
            </a:pPr>
            <a:r>
              <a:rPr sz="950" b="0" i="0">
                <a:solidFill>
                  <a:srgbClr val="6D28D9"/>
                </a:solidFill>
                <a:latin typeface="Courier New"/>
              </a:rPr>
              <a:t>results/appsretrieval_results.json  (attached to release)</a:t>
            </a:r>
          </a:p>
        </p:txBody>
      </p:sp>
      <p:sp>
        <p:nvSpPr>
          <p:cNvPr id="20" name="Rounded Rectangle 19"/>
          <p:cNvSpPr/>
          <p:nvPr/>
        </p:nvSpPr>
        <p:spPr>
          <a:xfrm>
            <a:off x="1024128" y="5494020"/>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52144" y="5572506"/>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22" name="TextBox 21"/>
          <p:cNvSpPr txBox="1"/>
          <p:nvPr/>
        </p:nvSpPr>
        <p:spPr>
          <a:xfrm>
            <a:off x="1709928" y="5567172"/>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Ablation record</a:t>
            </a:r>
          </a:p>
          <a:p>
            <a:pPr algn="l">
              <a:lnSpc>
                <a:spcPct val="110000"/>
              </a:lnSpc>
              <a:spcBef>
                <a:spcPts val="0"/>
              </a:spcBef>
              <a:spcAft>
                <a:spcPts val="100"/>
              </a:spcAft>
            </a:pPr>
            <a:r>
              <a:rPr sz="950" b="0" i="1">
                <a:solidFill>
                  <a:srgbClr val="6B6B76"/>
                </a:solidFill>
                <a:latin typeface="Calibri"/>
              </a:rPr>
              <a:t>10 configs measured, 8 dropped, e5-base kept (+73.9%)</a:t>
            </a:r>
          </a:p>
          <a:p>
            <a:pPr algn="l">
              <a:lnSpc>
                <a:spcPct val="110000"/>
              </a:lnSpc>
              <a:spcBef>
                <a:spcPts val="0"/>
              </a:spcBef>
              <a:spcAft>
                <a:spcPts val="600"/>
              </a:spcAft>
            </a:pPr>
            <a:r>
              <a:rPr sz="950" b="0" i="0">
                <a:solidFill>
                  <a:srgbClr val="6D28D9"/>
                </a:solidFill>
                <a:latin typeface="Courier New"/>
              </a:rPr>
              <a:t>docs/ablation_log.md</a:t>
            </a:r>
          </a:p>
        </p:txBody>
      </p:sp>
      <p:sp>
        <p:nvSpPr>
          <p:cNvPr id="23" name="Rounded Rectangle 22"/>
          <p:cNvSpPr/>
          <p:nvPr/>
        </p:nvSpPr>
        <p:spPr>
          <a:xfrm>
            <a:off x="7927848" y="1874519"/>
            <a:ext cx="3429000" cy="4297680"/>
          </a:xfrm>
          <a:prstGeom prst="roundRect">
            <a:avLst>
              <a:gd name="adj" fmla="val 6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56448" y="2057400"/>
            <a:ext cx="2971800" cy="292608"/>
          </a:xfrm>
          <a:prstGeom prst="rect">
            <a:avLst/>
          </a:prstGeom>
          <a:noFill/>
        </p:spPr>
        <p:txBody>
          <a:bodyPr wrap="square" lIns="0" rIns="0" tIns="0" bIns="0">
            <a:spAutoFit/>
          </a:bodyPr>
          <a:lstStyle/>
          <a:p>
            <a:pPr algn="l">
              <a:spcBef>
                <a:spcPts val="0"/>
              </a:spcBef>
              <a:spcAft>
                <a:spcPts val="600"/>
              </a:spcAft>
            </a:pPr>
            <a:r>
              <a:rPr sz="1050" b="1" i="0">
                <a:solidFill>
                  <a:srgbClr val="E3DAF7"/>
                </a:solidFill>
                <a:latin typeface="Calibri"/>
              </a:rPr>
              <a:t>SUBMISSION AT A GLANCE</a:t>
            </a:r>
          </a:p>
        </p:txBody>
      </p:sp>
      <p:sp>
        <p:nvSpPr>
          <p:cNvPr id="25" name="TextBox 24"/>
          <p:cNvSpPr txBox="1"/>
          <p:nvPr/>
        </p:nvSpPr>
        <p:spPr>
          <a:xfrm>
            <a:off x="8156448" y="2423160"/>
            <a:ext cx="2971800" cy="640080"/>
          </a:xfrm>
          <a:prstGeom prst="rect">
            <a:avLst/>
          </a:prstGeom>
          <a:noFill/>
        </p:spPr>
        <p:txBody>
          <a:bodyPr wrap="square" lIns="0" rIns="0" tIns="0" bIns="0">
            <a:spAutoFit/>
          </a:bodyPr>
          <a:lstStyle/>
          <a:p>
            <a:pPr algn="l">
              <a:lnSpc>
                <a:spcPct val="100000"/>
              </a:lnSpc>
              <a:spcBef>
                <a:spcPts val="0"/>
              </a:spcBef>
              <a:spcAft>
                <a:spcPts val="0"/>
              </a:spcAft>
            </a:pPr>
            <a:r>
              <a:rPr sz="3200" b="1" i="0">
                <a:solidFill>
                  <a:srgbClr val="FFFFFF"/>
                </a:solidFill>
                <a:latin typeface="Calibri"/>
              </a:rPr>
              <a:t>0.1151</a:t>
            </a:r>
          </a:p>
          <a:p>
            <a:pPr algn="l">
              <a:lnSpc>
                <a:spcPct val="110000"/>
              </a:lnSpc>
              <a:spcBef>
                <a:spcPts val="0"/>
              </a:spcBef>
              <a:spcAft>
                <a:spcPts val="600"/>
              </a:spcAft>
            </a:pPr>
            <a:r>
              <a:rPr sz="1000" b="0" i="1">
                <a:solidFill>
                  <a:srgbClr val="E3DAF7"/>
                </a:solidFill>
                <a:latin typeface="Calibri"/>
              </a:rPr>
              <a:t>NDCG@10 · CoIR AppsRetrieval · MTEB</a:t>
            </a:r>
          </a:p>
        </p:txBody>
      </p:sp>
      <p:sp>
        <p:nvSpPr>
          <p:cNvPr id="26" name="TextBox 25"/>
          <p:cNvSpPr txBox="1"/>
          <p:nvPr/>
        </p:nvSpPr>
        <p:spPr>
          <a:xfrm>
            <a:off x="8156448" y="3474720"/>
            <a:ext cx="2971800" cy="219456"/>
          </a:xfrm>
          <a:prstGeom prst="rect">
            <a:avLst/>
          </a:prstGeom>
          <a:noFill/>
        </p:spPr>
        <p:txBody>
          <a:bodyPr wrap="square" lIns="0" rIns="0" tIns="0" bIns="0">
            <a:spAutoFit/>
          </a:bodyPr>
          <a:lstStyle/>
          <a:p>
            <a:pPr algn="l">
              <a:spcBef>
                <a:spcPts val="0"/>
              </a:spcBef>
              <a:spcAft>
                <a:spcPts val="600"/>
              </a:spcAft>
            </a:pPr>
            <a:r>
              <a:rPr sz="900" b="1" i="0">
                <a:solidFill>
                  <a:srgbClr val="E3DAF7"/>
                </a:solidFill>
                <a:latin typeface="Calibri"/>
              </a:rPr>
              <a:t>VERIFIED</a:t>
            </a:r>
          </a:p>
        </p:txBody>
      </p:sp>
      <p:sp>
        <p:nvSpPr>
          <p:cNvPr id="27" name="Rounded Rectangle 26"/>
          <p:cNvSpPr/>
          <p:nvPr/>
        </p:nvSpPr>
        <p:spPr>
          <a:xfrm>
            <a:off x="8156448" y="3749039"/>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56448" y="3749039"/>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10</a:t>
            </a:r>
          </a:p>
        </p:txBody>
      </p:sp>
      <p:sp>
        <p:nvSpPr>
          <p:cNvPr id="29" name="TextBox 28"/>
          <p:cNvSpPr txBox="1"/>
          <p:nvPr/>
        </p:nvSpPr>
        <p:spPr>
          <a:xfrm>
            <a:off x="9345168" y="3749039"/>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real ablations</a:t>
            </a:r>
          </a:p>
        </p:txBody>
      </p:sp>
      <p:sp>
        <p:nvSpPr>
          <p:cNvPr id="30" name="Rounded Rectangle 29"/>
          <p:cNvSpPr/>
          <p:nvPr/>
        </p:nvSpPr>
        <p:spPr>
          <a:xfrm>
            <a:off x="8156448" y="422910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22910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+73.9%</a:t>
            </a:r>
          </a:p>
        </p:txBody>
      </p:sp>
      <p:sp>
        <p:nvSpPr>
          <p:cNvPr id="32" name="TextBox 31"/>
          <p:cNvSpPr txBox="1"/>
          <p:nvPr/>
        </p:nvSpPr>
        <p:spPr>
          <a:xfrm>
            <a:off x="9345168" y="422910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over baseline</a:t>
            </a:r>
          </a:p>
        </p:txBody>
      </p:sp>
      <p:sp>
        <p:nvSpPr>
          <p:cNvPr id="33" name="Rounded Rectangle 32"/>
          <p:cNvSpPr/>
          <p:nvPr/>
        </p:nvSpPr>
        <p:spPr>
          <a:xfrm>
            <a:off x="8156448" y="470916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56448" y="470916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78</a:t>
            </a:r>
          </a:p>
        </p:txBody>
      </p:sp>
      <p:sp>
        <p:nvSpPr>
          <p:cNvPr id="35" name="TextBox 34"/>
          <p:cNvSpPr txBox="1"/>
          <p:nvPr/>
        </p:nvSpPr>
        <p:spPr>
          <a:xfrm>
            <a:off x="9345168" y="470916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offline tests</a:t>
            </a:r>
          </a:p>
        </p:txBody>
      </p:sp>
      <p:sp>
        <p:nvSpPr>
          <p:cNvPr id="36" name="Rounded Rectangle 35"/>
          <p:cNvSpPr/>
          <p:nvPr/>
        </p:nvSpPr>
        <p:spPr>
          <a:xfrm>
            <a:off x="8156448" y="518922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56448" y="518922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100%</a:t>
            </a:r>
          </a:p>
        </p:txBody>
      </p:sp>
      <p:sp>
        <p:nvSpPr>
          <p:cNvPr id="38" name="TextBox 37"/>
          <p:cNvSpPr txBox="1"/>
          <p:nvPr/>
        </p:nvSpPr>
        <p:spPr>
          <a:xfrm>
            <a:off x="9345168" y="518922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CPU inference</a:t>
            </a:r>
          </a:p>
        </p:txBody>
      </p:sp>
      <p:sp>
        <p:nvSpPr>
          <p:cNvPr id="39" name="TextBox 38"/>
          <p:cNvSpPr txBox="1"/>
          <p:nvPr/>
        </p:nvSpPr>
        <p:spPr>
          <a:xfrm>
            <a:off x="8156448" y="5788152"/>
            <a:ext cx="2971800" cy="292608"/>
          </a:xfrm>
          <a:prstGeom prst="rect">
            <a:avLst/>
          </a:prstGeom>
          <a:noFill/>
        </p:spPr>
        <p:txBody>
          <a:bodyPr wrap="square" lIns="0" rIns="0" tIns="0" bIns="0">
            <a:spAutoFit/>
          </a:bodyPr>
          <a:lstStyle/>
          <a:p>
            <a:pPr algn="l">
              <a:lnSpc>
                <a:spcPct val="110000"/>
              </a:lnSpc>
              <a:spcBef>
                <a:spcPts val="0"/>
              </a:spcBef>
              <a:spcAft>
                <a:spcPts val="600"/>
              </a:spcAft>
            </a:pPr>
            <a:r>
              <a:rPr sz="850" b="0" i="1">
                <a:solidFill>
                  <a:srgbClr val="E3DAF7"/>
                </a:solidFill>
                <a:latin typeface="Calibri"/>
              </a:rPr>
              <a:t>Tag  ·  PRISM_GENAI_HACKATHON_Y2026</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
        <p:nvSpPr>
          <p:cNvPr id="29" name="TextBox 28"/>
          <p:cNvSpPr txBox="1"/>
          <p:nvPr/>
        </p:nvSpPr>
        <p:spPr>
          <a:xfrm>
            <a:off x="6035040" y="3017520"/>
            <a:ext cx="5486400" cy="457200"/>
          </a:xfrm>
          <a:prstGeom prst="rect">
            <a:avLst/>
          </a:prstGeom>
          <a:noFill/>
        </p:spPr>
        <p:txBody>
          <a:bodyPr wrap="square" lIns="0" rIns="0" tIns="0" bIns="0">
            <a:spAutoFit/>
          </a:bodyPr>
          <a:lstStyle/>
          <a:p>
            <a:pPr algn="l">
              <a:spcBef>
                <a:spcPts val="0"/>
              </a:spcBef>
              <a:spcAft>
                <a:spcPts val="600"/>
              </a:spcAft>
            </a:pPr>
            <a:r>
              <a:rPr sz="1400" b="1" i="0">
                <a:solidFill>
                  <a:srgbClr val="6D28D9"/>
                </a:solidFill>
                <a:latin typeface="Calibri"/>
              </a:rPr>
              <a:t>Team Trace  ·  Thapar Institute of Engineering and Technology</a:t>
            </a:r>
          </a:p>
        </p:txBody>
      </p:sp>
      <p:sp>
        <p:nvSpPr>
          <p:cNvPr id="30" name="TextBox 29"/>
          <p:cNvSpPr txBox="1"/>
          <p:nvPr/>
        </p:nvSpPr>
        <p:spPr>
          <a:xfrm>
            <a:off x="6035040" y="3520440"/>
            <a:ext cx="5486400" cy="1188720"/>
          </a:xfrm>
          <a:prstGeom prst="rect">
            <a:avLst/>
          </a:prstGeom>
          <a:noFill/>
        </p:spPr>
        <p:txBody>
          <a:bodyPr wrap="square" lIns="0" rIns="0" tIns="0" bIns="0">
            <a:spAutoFit/>
          </a:bodyPr>
          <a:lstStyle/>
          <a:p>
            <a:pPr algn="l">
              <a:spcBef>
                <a:spcPts val="0"/>
              </a:spcBef>
              <a:spcAft>
                <a:spcPts val="300"/>
              </a:spcAft>
            </a:pPr>
            <a:r>
              <a:rPr sz="1300" b="1" i="0">
                <a:solidFill>
                  <a:srgbClr val="14142B"/>
                </a:solidFill>
                <a:latin typeface="Calibri"/>
              </a:rPr>
              <a:t>Abhavya Jha</a:t>
            </a:r>
          </a:p>
          <a:p>
            <a:pPr algn="l">
              <a:spcBef>
                <a:spcPts val="0"/>
              </a:spcBef>
              <a:spcAft>
                <a:spcPts val="300"/>
              </a:spcAft>
            </a:pPr>
            <a:r>
              <a:rPr sz="1200" b="0" i="0">
                <a:solidFill>
                  <a:srgbClr val="33333D"/>
                </a:solidFill>
                <a:latin typeface="Calibri"/>
              </a:rPr>
              <a:t>ajha2_be24@thapar.edu</a:t>
            </a:r>
          </a:p>
          <a:p>
            <a:pPr algn="l">
              <a:spcBef>
                <a:spcPts val="0"/>
              </a:spcBef>
              <a:spcAft>
                <a:spcPts val="600"/>
              </a:spcAft>
            </a:pPr>
            <a:r>
              <a:rPr sz="1200" b="0" i="0">
                <a:solidFill>
                  <a:srgbClr val="33333D"/>
                </a:solidFill>
                <a:latin typeface="Calibri"/>
              </a:rPr>
              <a:t>github.com/Ajha2005/samsung-prism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266</Words>
  <Application>Microsoft Office PowerPoint</Application>
  <PresentationFormat>Widescreen</PresentationFormat>
  <Paragraphs>32</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Thapar_Trace_Submission_ppt</dc:title>
  <dc:creator>Abhavya Jha</dc:creator>
  <cp:lastModifiedBy>Abhavya Jha</cp:lastModifiedBy>
  <cp:revision>6</cp:revision>
  <dcterms:created xsi:type="dcterms:W3CDTF">2026-09-07T12:01:01Z</dcterms:created>
  <dcterms:modified xsi:type="dcterms:W3CDTF">2026-09-08T10:03:30Z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